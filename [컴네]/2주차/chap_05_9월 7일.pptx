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778" r:id="rId2"/>
    <p:sldId id="636" r:id="rId3"/>
    <p:sldId id="751" r:id="rId4"/>
    <p:sldId id="779" r:id="rId5"/>
    <p:sldId id="805" r:id="rId6"/>
    <p:sldId id="806" r:id="rId7"/>
    <p:sldId id="802" r:id="rId8"/>
    <p:sldId id="807" r:id="rId9"/>
    <p:sldId id="781" r:id="rId10"/>
    <p:sldId id="782" r:id="rId11"/>
    <p:sldId id="783" r:id="rId12"/>
    <p:sldId id="808" r:id="rId13"/>
    <p:sldId id="785" r:id="rId14"/>
    <p:sldId id="786" r:id="rId15"/>
    <p:sldId id="787" r:id="rId16"/>
    <p:sldId id="788" r:id="rId17"/>
    <p:sldId id="789" r:id="rId18"/>
    <p:sldId id="790" r:id="rId19"/>
    <p:sldId id="809" r:id="rId2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43F53F6-B523-C44E-B4C1-FCBC5EB64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498B073-F070-8F40-A264-45FE158B6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1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E2E980-7D79-7040-B5D8-18DB88480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2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735F25A-B97A-024B-B408-E1A4C1DF4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8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D8B96B1-2EDF-B64A-A4F1-BB54A74AC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6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0DCF9BDD-CFA9-4940-A134-4E3EBF4AC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14D338-4107-944C-9C9F-B78F8039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FD97474-BCA4-8B48-AA21-40B47D81E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2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38D61CF4-3907-BD48-A0AD-B97C00B71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1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4E5268B6-BFED-754B-A245-6D16E75F0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64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C0F1923-A596-1A47-A249-877B26CCB9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</a:t>
            </a:r>
            <a:r>
              <a:rPr lang="en-US" sz="2800" i="1">
                <a:solidFill>
                  <a:srgbClr val="008000"/>
                </a:solidFill>
                <a:cs typeface="Arial" charset="0"/>
              </a:rPr>
              <a:t>Down </a:t>
            </a:r>
            <a:r>
              <a:rPr lang="en-US" sz="2800" i="1" smtClean="0">
                <a:solidFill>
                  <a:srgbClr val="008000"/>
                </a:solidFill>
                <a:cs typeface="Arial" charset="0"/>
              </a:rPr>
              <a:t>Approach </a:t>
            </a:r>
            <a:r>
              <a:rPr lang="en-US" sz="28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 smtClean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use these slides (e.g., in a class) that you mention their source (after all, we</a:t>
            </a:r>
            <a:r>
              <a:rPr lang="ja-JP" altLang="en-US" sz="1200" dirty="0" smtClean="0"/>
              <a:t>’</a:t>
            </a:r>
            <a:r>
              <a:rPr lang="en-US" altLang="ja-JP" sz="1200" dirty="0" smtClean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 smtClean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 smtClean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 smtClean="0"/>
          </a:p>
          <a:p>
            <a:pPr>
              <a:defRPr/>
            </a:pPr>
            <a:r>
              <a:rPr lang="en-US" sz="1200" dirty="0" smtClean="0"/>
              <a:t>     All material copyright 1996-2016</a:t>
            </a:r>
          </a:p>
          <a:p>
            <a:pPr>
              <a:defRPr/>
            </a:pPr>
            <a:r>
              <a:rPr lang="en-US" sz="1200" dirty="0" smtClean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Edition, </a:t>
            </a:r>
            <a:r>
              <a:rPr lang="en-US" dirty="0" smtClean="0">
                <a:solidFill>
                  <a:srgbClr val="008000"/>
                </a:solidFill>
              </a:rPr>
              <a:t>Global Edition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r>
              <a:rPr lang="en-US">
                <a:solidFill>
                  <a:srgbClr val="008000"/>
                </a:solidFill>
                <a:cs typeface="Arial" charset="0"/>
              </a:rPr>
              <a:t/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 smtClean="0">
                <a:solidFill>
                  <a:srgbClr val="008000"/>
                </a:solidFill>
                <a:cs typeface="Arial" charset="0"/>
              </a:rPr>
              <a:t>Pearson</a:t>
            </a:r>
            <a:r>
              <a:rPr lang="en-US" sz="14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5</a:t>
            </a:r>
            <a: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  <a:t/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Control Plane</a:t>
            </a:r>
            <a:endParaRPr lang="en-US" sz="4400" dirty="0">
              <a:solidFill>
                <a:srgbClr val="000099"/>
              </a:solidFill>
              <a:latin typeface="Gill Sans MT" charset="0"/>
              <a:cs typeface="Arial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543936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7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1027113"/>
            <a:ext cx="7324366" cy="22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cs typeface="+mj-cs"/>
              </a:rPr>
              <a:t>Chapter </a:t>
            </a:r>
            <a:r>
              <a:rPr lang="en-US" sz="4000" dirty="0" smtClean="0">
                <a:cs typeface="+mj-cs"/>
              </a:rPr>
              <a:t>5: </a:t>
            </a:r>
            <a:r>
              <a:rPr lang="en-US" sz="3600" dirty="0">
                <a:cs typeface="+mj-cs"/>
              </a:rPr>
              <a:t>network </a:t>
            </a:r>
            <a:r>
              <a:rPr lang="en-US" sz="3600" dirty="0" smtClean="0">
                <a:cs typeface="+mj-cs"/>
              </a:rPr>
              <a:t>layer control plane</a:t>
            </a:r>
            <a:endParaRPr lang="en-US" sz="3600" dirty="0">
              <a:cs typeface="+mj-cs"/>
            </a:endParaRP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645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cs typeface="+mn-cs"/>
              </a:rPr>
              <a:t>chapter goals:</a:t>
            </a:r>
            <a:r>
              <a:rPr lang="en-US" sz="3200" dirty="0">
                <a:solidFill>
                  <a:srgbClr val="CC0000"/>
                </a:solidFill>
                <a:cs typeface="+mn-cs"/>
              </a:rPr>
              <a:t> </a:t>
            </a:r>
            <a:r>
              <a:rPr lang="en-US" sz="3200" dirty="0" smtClean="0">
                <a:solidFill>
                  <a:srgbClr val="CC0000"/>
                </a:solidFill>
                <a:cs typeface="+mn-cs"/>
              </a:rPr>
              <a:t> </a:t>
            </a:r>
            <a:r>
              <a:rPr lang="en-US" dirty="0" smtClean="0">
                <a:cs typeface="+mn-cs"/>
              </a:rPr>
              <a:t>understand </a:t>
            </a:r>
            <a:r>
              <a:rPr lang="en-US" dirty="0">
                <a:cs typeface="+mn-cs"/>
              </a:rPr>
              <a:t>principles behind network </a:t>
            </a:r>
            <a:r>
              <a:rPr lang="en-US" dirty="0" smtClean="0">
                <a:cs typeface="+mn-cs"/>
              </a:rPr>
              <a:t>control plane</a:t>
            </a: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 smtClean="0">
                <a:cs typeface="+mn-cs"/>
              </a:rPr>
              <a:t>traditional routing algorithms</a:t>
            </a:r>
          </a:p>
          <a:p>
            <a:pPr>
              <a:defRPr/>
            </a:pPr>
            <a:r>
              <a:rPr lang="en-US" dirty="0" smtClean="0">
                <a:cs typeface="+mn-cs"/>
              </a:rPr>
              <a:t>SDN controllers</a:t>
            </a:r>
          </a:p>
          <a:p>
            <a:pPr>
              <a:defRPr/>
            </a:pPr>
            <a:r>
              <a:rPr lang="en-US" dirty="0"/>
              <a:t>Internet Control Message </a:t>
            </a:r>
            <a:r>
              <a:rPr lang="en-US" dirty="0" smtClean="0"/>
              <a:t>Protocol</a:t>
            </a: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 smtClean="0">
                <a:cs typeface="+mn-cs"/>
              </a:rPr>
              <a:t>network management</a:t>
            </a:r>
          </a:p>
          <a:p>
            <a:pPr marL="0" indent="0">
              <a:buNone/>
              <a:defRPr/>
            </a:pPr>
            <a:endParaRPr lang="en-US" dirty="0">
              <a:cs typeface="+mn-cs"/>
            </a:endParaRPr>
          </a:p>
          <a:p>
            <a:pPr marL="0" indent="0">
              <a:buNone/>
              <a:defRPr/>
            </a:pPr>
            <a:r>
              <a:rPr lang="en-US" dirty="0" smtClean="0">
                <a:cs typeface="+mn-cs"/>
              </a:rPr>
              <a:t>and their instantiation</a:t>
            </a:r>
            <a:r>
              <a:rPr lang="en-US" dirty="0">
                <a:cs typeface="+mn-cs"/>
              </a:rPr>
              <a:t>, implementation in the </a:t>
            </a:r>
            <a:r>
              <a:rPr lang="en-US" dirty="0" smtClean="0">
                <a:cs typeface="+mn-cs"/>
              </a:rPr>
              <a:t>Internet:</a:t>
            </a:r>
          </a:p>
          <a:p>
            <a:pPr>
              <a:defRPr/>
            </a:pPr>
            <a:r>
              <a:rPr lang="en-US" dirty="0" smtClean="0">
                <a:cs typeface="+mn-cs"/>
              </a:rPr>
              <a:t>OSPF, BGP, OpenFlow, ODL and ONOS controllers, ICMP, SNMP</a:t>
            </a:r>
            <a:endParaRPr lang="en-US" dirty="0"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5" y="6475895"/>
            <a:ext cx="458808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5.1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5.2 routing protocols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link state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distance vector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5.3 intra</a:t>
            </a:r>
            <a:r>
              <a:rPr lang="en-US" sz="2400" dirty="0"/>
              <a:t>-AS </a:t>
            </a:r>
            <a:r>
              <a:rPr lang="en-US" sz="2400" dirty="0" smtClean="0"/>
              <a:t>routing </a:t>
            </a:r>
            <a:r>
              <a:rPr lang="en-US" sz="2400" dirty="0"/>
              <a:t>in the Internet: </a:t>
            </a:r>
            <a:r>
              <a:rPr lang="en-US" sz="2400" dirty="0" smtClean="0"/>
              <a:t>OSPF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5.4 routing among </a:t>
            </a:r>
            <a:r>
              <a:rPr lang="en-US" sz="2400" dirty="0"/>
              <a:t>the ISPs: B</a:t>
            </a:r>
            <a:r>
              <a:rPr lang="en-US" sz="2400" dirty="0" smtClean="0"/>
              <a:t>GP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61963" indent="-461963"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5.5 The SDN control plane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5.6 </a:t>
            </a:r>
            <a:r>
              <a:rPr lang="en-US" sz="2400" dirty="0"/>
              <a:t>ICMP: The Internet Control Message Protocol 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/>
              <a:t>5.7 Network </a:t>
            </a:r>
            <a:r>
              <a:rPr lang="en-US" sz="2400" dirty="0" smtClean="0"/>
              <a:t>management </a:t>
            </a:r>
            <a:r>
              <a:rPr lang="en-US" sz="2400" dirty="0"/>
              <a:t>and SNMP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</a:rPr>
              <a:t>5: </a:t>
            </a:r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outline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5" y="6475895"/>
            <a:ext cx="458808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6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6" y="1035050"/>
            <a:ext cx="5659786" cy="177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N</a:t>
            </a:r>
            <a:r>
              <a:rPr lang="en-US" dirty="0" smtClean="0">
                <a:cs typeface="+mj-cs"/>
              </a:rPr>
              <a:t>etwork</a:t>
            </a:r>
            <a:r>
              <a:rPr lang="en-US" dirty="0">
                <a:cs typeface="+mj-cs"/>
              </a:rPr>
              <a:t>-layer functions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4" y="2001352"/>
            <a:ext cx="4184626" cy="1308577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sz="2400" i="1" dirty="0" smtClean="0">
                <a:solidFill>
                  <a:srgbClr val="000099"/>
                </a:solidFill>
                <a:latin typeface="Gill Sans MT" charset="0"/>
              </a:rPr>
              <a:t>forwarding</a:t>
            </a:r>
            <a:r>
              <a:rPr lang="en-US" sz="2400" i="1" dirty="0">
                <a:solidFill>
                  <a:srgbClr val="000099"/>
                </a:solidFill>
                <a:latin typeface="Gill Sans MT" charset="0"/>
              </a:rPr>
              <a:t>:</a:t>
            </a:r>
            <a:r>
              <a:rPr lang="en-US" sz="2400" dirty="0">
                <a:latin typeface="Gill Sans MT" charset="0"/>
              </a:rPr>
              <a:t> move packets from router</a:t>
            </a:r>
            <a:r>
              <a:rPr lang="ja-JP" altLang="en-US" sz="2400" dirty="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s input to appropriate router </a:t>
            </a:r>
            <a:r>
              <a:rPr lang="en-US" altLang="ja-JP" sz="2400" dirty="0" smtClean="0">
                <a:latin typeface="Gill Sans MT" charset="0"/>
              </a:rPr>
              <a:t>output</a:t>
            </a:r>
            <a:endParaRPr lang="en-US" altLang="ja-JP" sz="2400" dirty="0">
              <a:latin typeface="Gill Sans MT" charset="0"/>
            </a:endParaRPr>
          </a:p>
          <a:p>
            <a:pPr>
              <a:buFont typeface="Wingdings" charset="0"/>
              <a:buNone/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45062" name="Rectangle 4"/>
          <p:cNvSpPr>
            <a:spLocks noChangeArrowheads="1"/>
          </p:cNvSpPr>
          <p:nvPr/>
        </p:nvSpPr>
        <p:spPr bwMode="auto">
          <a:xfrm>
            <a:off x="4904354" y="2211504"/>
            <a:ext cx="2888003" cy="694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3600" i="1" dirty="0" smtClean="0">
                <a:solidFill>
                  <a:srgbClr val="000090"/>
                </a:solidFill>
                <a:latin typeface="Gill Sans MT" charset="0"/>
              </a:rPr>
              <a:t>data plane</a:t>
            </a:r>
          </a:p>
          <a:p>
            <a:pPr marL="342900" indent="-342900"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800" dirty="0">
              <a:latin typeface="Gill Sans MT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800" dirty="0">
              <a:latin typeface="Gill Sans MT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941818" y="3342607"/>
            <a:ext cx="3293068" cy="814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ts val="600"/>
              </a:spcBef>
              <a:buClr>
                <a:srgbClr val="000099"/>
              </a:buClr>
              <a:buSzPct val="100000"/>
              <a:defRPr/>
            </a:pPr>
            <a:r>
              <a:rPr lang="en-US" sz="3600" i="1" dirty="0" smtClean="0">
                <a:solidFill>
                  <a:srgbClr val="000099"/>
                </a:solidFill>
                <a:latin typeface="Gill Sans MT" charset="0"/>
              </a:rPr>
              <a:t>control</a:t>
            </a:r>
            <a:r>
              <a:rPr lang="en-US" sz="3600" b="1" i="1" dirty="0" smtClean="0">
                <a:solidFill>
                  <a:srgbClr val="000099"/>
                </a:solidFill>
                <a:latin typeface="Gill Sans MT" charset="0"/>
              </a:rPr>
              <a:t> </a:t>
            </a:r>
            <a:r>
              <a:rPr lang="en-US" sz="3600" i="1" dirty="0" smtClean="0">
                <a:solidFill>
                  <a:srgbClr val="000099"/>
                </a:solidFill>
                <a:latin typeface="Gill Sans MT" charset="0"/>
              </a:rPr>
              <a:t>plane</a:t>
            </a:r>
            <a:endParaRPr lang="en-US" sz="3600" i="1" dirty="0">
              <a:latin typeface="Gill Sans MT" charset="0"/>
            </a:endParaRPr>
          </a:p>
          <a:p>
            <a:pPr marL="342900" indent="-342900">
              <a:lnSpc>
                <a:spcPct val="85000"/>
              </a:lnSpc>
              <a:spcBef>
                <a:spcPct val="7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800" dirty="0">
              <a:latin typeface="Gill Sans MT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endParaRPr lang="en-US" sz="2800" dirty="0">
              <a:latin typeface="Gill Sans MT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6449" y="4426071"/>
            <a:ext cx="772519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smtClean="0">
                <a:solidFill>
                  <a:srgbClr val="CC0000"/>
                </a:solidFill>
                <a:latin typeface="Gill Sans MT"/>
                <a:cs typeface="Gill Sans MT"/>
              </a:rPr>
              <a:t>Two approaches to structuring network control plane:</a:t>
            </a:r>
          </a:p>
          <a:p>
            <a:pPr marL="346075" indent="-346075">
              <a:buClr>
                <a:srgbClr val="000090"/>
              </a:buClr>
              <a:buFont typeface="Wingdings" charset="2"/>
              <a:buChar char="§"/>
            </a:pPr>
            <a:r>
              <a:rPr lang="en-US" sz="2400" dirty="0" smtClean="0">
                <a:latin typeface="Gill Sans MT"/>
                <a:cs typeface="Gill Sans MT"/>
              </a:rPr>
              <a:t>per-router control (traditional)</a:t>
            </a:r>
          </a:p>
          <a:p>
            <a:pPr marL="346075" indent="-346075">
              <a:buClr>
                <a:srgbClr val="000090"/>
              </a:buClr>
              <a:buFont typeface="Wingdings" charset="2"/>
              <a:buChar char="§"/>
            </a:pPr>
            <a:r>
              <a:rPr lang="en-US" sz="2400" dirty="0" smtClean="0">
                <a:latin typeface="Gill Sans MT"/>
                <a:cs typeface="Gill Sans MT"/>
              </a:rPr>
              <a:t>logically centralized control (software defined networking)</a:t>
            </a:r>
            <a:endParaRPr lang="en-US" sz="2400" dirty="0">
              <a:latin typeface="Gill Sans MT"/>
              <a:cs typeface="Gill Sans MT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81672" y="1480083"/>
            <a:ext cx="5783102" cy="579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spcBef>
                <a:spcPts val="600"/>
              </a:spcBef>
              <a:buFont typeface="Wingdings" charset="0"/>
              <a:buNone/>
              <a:defRPr/>
            </a:pPr>
            <a:r>
              <a:rPr lang="en-US" i="1" dirty="0" smtClean="0">
                <a:solidFill>
                  <a:srgbClr val="CC0000"/>
                </a:solidFill>
                <a:latin typeface="Gill Sans MT" charset="0"/>
              </a:rPr>
              <a:t>Recall: two network-layer functions:</a:t>
            </a:r>
            <a:endParaRPr lang="en-US" dirty="0">
              <a:latin typeface="Gill Sans MT" charset="0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5" y="6475895"/>
            <a:ext cx="458808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623952" y="3135187"/>
            <a:ext cx="4184626" cy="1329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sz="2400" i="1" dirty="0" smtClean="0">
                <a:solidFill>
                  <a:srgbClr val="000099"/>
                </a:solidFill>
                <a:latin typeface="Gill Sans MT" charset="0"/>
              </a:rPr>
              <a:t>routing:</a:t>
            </a:r>
            <a:r>
              <a:rPr lang="en-US" sz="2400" dirty="0" smtClean="0">
                <a:latin typeface="Gill Sans MT" charset="0"/>
              </a:rPr>
              <a:t> determine route taken by packets from source to destination</a:t>
            </a:r>
          </a:p>
          <a:p>
            <a:pPr>
              <a:buFont typeface="Wingdings" charset="0"/>
              <a:buNone/>
              <a:defRPr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581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build="p"/>
      <p:bldP spid="45062" grpId="0"/>
      <p:bldP spid="2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43" name="Picture 5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3" y="819150"/>
            <a:ext cx="4727928" cy="181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5" name="Freeform 2"/>
          <p:cNvSpPr>
            <a:spLocks/>
          </p:cNvSpPr>
          <p:nvPr/>
        </p:nvSpPr>
        <p:spPr bwMode="auto">
          <a:xfrm>
            <a:off x="2592388" y="5766426"/>
            <a:ext cx="4027487" cy="939800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8" name="Straight Connector 147"/>
          <p:cNvCxnSpPr/>
          <p:nvPr/>
        </p:nvCxnSpPr>
        <p:spPr>
          <a:xfrm flipV="1">
            <a:off x="3222625" y="5918826"/>
            <a:ext cx="1316038" cy="1317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3111500" y="6104563"/>
            <a:ext cx="2259013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3124200" y="6210926"/>
            <a:ext cx="714375" cy="27463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4141788" y="6404601"/>
            <a:ext cx="1247775" cy="809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4802188" y="5950576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4086225" y="6104563"/>
            <a:ext cx="1790700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5413375" y="6133138"/>
            <a:ext cx="588963" cy="27146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4556125" y="5918826"/>
            <a:ext cx="814388" cy="4000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128" name="Group 7"/>
          <p:cNvGrpSpPr>
            <a:grpSpLocks/>
          </p:cNvGrpSpPr>
          <p:nvPr/>
        </p:nvGrpSpPr>
        <p:grpSpPr bwMode="auto">
          <a:xfrm>
            <a:off x="3681413" y="6344276"/>
            <a:ext cx="563562" cy="293687"/>
            <a:chOff x="1871277" y="1576300"/>
            <a:chExt cx="1128371" cy="437861"/>
          </a:xfrm>
        </p:grpSpPr>
        <p:sp>
          <p:nvSpPr>
            <p:cNvPr id="318" name="Oval 317"/>
            <p:cNvSpPr/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9" name="Rectangle 318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0" name="Oval 319"/>
            <p:cNvSpPr/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4" name="Freeform 323"/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5" name="Freeform 324"/>
            <p:cNvSpPr/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6" name="Freeform 325"/>
            <p:cNvSpPr/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7" name="Freeform 326"/>
            <p:cNvSpPr/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22" name="Straight Connector 321"/>
            <p:cNvCxnSpPr>
              <a:endCxn id="32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29" name="Group 327"/>
          <p:cNvGrpSpPr>
            <a:grpSpLocks/>
          </p:cNvGrpSpPr>
          <p:nvPr/>
        </p:nvGrpSpPr>
        <p:grpSpPr bwMode="auto">
          <a:xfrm>
            <a:off x="4376738" y="5802938"/>
            <a:ext cx="565150" cy="292100"/>
            <a:chOff x="1871277" y="1576300"/>
            <a:chExt cx="1128371" cy="437861"/>
          </a:xfrm>
        </p:grpSpPr>
        <p:sp>
          <p:nvSpPr>
            <p:cNvPr id="329" name="Oval 328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0" name="Rectangle 329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1" name="Oval 330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2" name="Freeform 331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3" name="Freeform 332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4" name="Freeform 333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5" name="Freeform 334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36" name="Straight Connector 335"/>
            <p:cNvCxnSpPr>
              <a:endCxn id="331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0" name="Group 337"/>
          <p:cNvGrpSpPr>
            <a:grpSpLocks/>
          </p:cNvGrpSpPr>
          <p:nvPr/>
        </p:nvGrpSpPr>
        <p:grpSpPr bwMode="auto">
          <a:xfrm>
            <a:off x="5019675" y="6256963"/>
            <a:ext cx="563563" cy="293688"/>
            <a:chOff x="1871277" y="1576300"/>
            <a:chExt cx="1128371" cy="437861"/>
          </a:xfrm>
        </p:grpSpPr>
        <p:sp>
          <p:nvSpPr>
            <p:cNvPr id="339" name="Oval 338"/>
            <p:cNvSpPr/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0" name="Rectangle 33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1" name="Oval 340"/>
            <p:cNvSpPr/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2" name="Freeform 341"/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3" name="Freeform 342"/>
            <p:cNvSpPr/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4" name="Freeform 343"/>
            <p:cNvSpPr/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5" name="Freeform 344"/>
            <p:cNvSpPr/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46" name="Straight Connector 345"/>
            <p:cNvCxnSpPr>
              <a:endCxn id="341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1" name="Group 347"/>
          <p:cNvGrpSpPr>
            <a:grpSpLocks/>
          </p:cNvGrpSpPr>
          <p:nvPr/>
        </p:nvGrpSpPr>
        <p:grpSpPr bwMode="auto">
          <a:xfrm>
            <a:off x="5741988" y="5942638"/>
            <a:ext cx="565150" cy="293688"/>
            <a:chOff x="1871277" y="1576300"/>
            <a:chExt cx="1128371" cy="437861"/>
          </a:xfrm>
        </p:grpSpPr>
        <p:sp>
          <p:nvSpPr>
            <p:cNvPr id="349" name="Oval 34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0" name="Rectangle 34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1" name="Oval 35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2" name="Freeform 351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3" name="Freeform 352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4" name="Freeform 353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5" name="Freeform 35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56" name="Straight Connector 355"/>
            <p:cNvCxnSpPr>
              <a:endCxn id="35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2" name="Group 357"/>
          <p:cNvGrpSpPr>
            <a:grpSpLocks/>
          </p:cNvGrpSpPr>
          <p:nvPr/>
        </p:nvGrpSpPr>
        <p:grpSpPr bwMode="auto">
          <a:xfrm>
            <a:off x="2714625" y="5988676"/>
            <a:ext cx="565150" cy="293687"/>
            <a:chOff x="1871277" y="1576300"/>
            <a:chExt cx="1128371" cy="437861"/>
          </a:xfrm>
        </p:grpSpPr>
        <p:sp>
          <p:nvSpPr>
            <p:cNvPr id="359" name="Oval 358"/>
            <p:cNvSpPr/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0" name="Rectangle 359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1" name="Oval 360"/>
            <p:cNvSpPr/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2" name="Freeform 361"/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3" name="Freeform 362"/>
            <p:cNvSpPr/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4" name="Freeform 363"/>
            <p:cNvSpPr/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5" name="Freeform 364"/>
            <p:cNvSpPr/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66" name="Straight Connector 365"/>
            <p:cNvCxnSpPr>
              <a:endCxn id="361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757805" y="2660292"/>
            <a:ext cx="5270058" cy="3804634"/>
            <a:chOff x="1757805" y="2331054"/>
            <a:chExt cx="5270058" cy="3804634"/>
          </a:xfrm>
        </p:grpSpPr>
        <p:sp>
          <p:nvSpPr>
            <p:cNvPr id="268" name="Freeform 267"/>
            <p:cNvSpPr/>
            <p:nvPr/>
          </p:nvSpPr>
          <p:spPr>
            <a:xfrm>
              <a:off x="1776413" y="4829175"/>
              <a:ext cx="1220787" cy="920750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6102350" y="4916488"/>
              <a:ext cx="925513" cy="75723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287963" y="4937125"/>
              <a:ext cx="725487" cy="110013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4300538" y="4956175"/>
              <a:ext cx="514350" cy="577850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3521075" y="4919663"/>
              <a:ext cx="593725" cy="121602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108" name="Rectangle 107"/>
              <p:cNvSpPr/>
              <p:nvPr/>
            </p:nvSpPr>
            <p:spPr bwMode="auto">
              <a:xfrm rot="10800000">
                <a:off x="1789113" y="2580876"/>
                <a:ext cx="1027112" cy="108307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7266" name="Group 104"/>
              <p:cNvGrpSpPr>
                <a:grpSpLocks/>
              </p:cNvGrpSpPr>
              <p:nvPr/>
            </p:nvGrpSpPr>
            <p:grpSpPr bwMode="auto"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0" name="Rectangle 119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7" name="Rectangle 146"/>
              <p:cNvSpPr/>
              <p:nvPr/>
            </p:nvSpPr>
            <p:spPr bwMode="auto">
              <a:xfrm>
                <a:off x="1801813" y="3602038"/>
                <a:ext cx="1027112" cy="1163637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3" name="Straight Connector 112"/>
              <p:cNvCxnSpPr/>
              <p:nvPr/>
            </p:nvCxnSpPr>
            <p:spPr bwMode="auto">
              <a:xfrm>
                <a:off x="1781175" y="2805113"/>
                <a:ext cx="20638" cy="202088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 bwMode="auto">
              <a:xfrm flipH="1">
                <a:off x="2817813" y="2805113"/>
                <a:ext cx="4762" cy="197643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72" name="Group 9"/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69" name="Oval 368"/>
                <p:cNvSpPr/>
                <p:nvPr/>
              </p:nvSpPr>
              <p:spPr bwMode="auto">
                <a:xfrm flipV="1">
                  <a:off x="2186832" y="1690517"/>
                  <a:ext cx="1194859" cy="3143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0" name="Rectangle 369"/>
                <p:cNvSpPr/>
                <p:nvPr/>
              </p:nvSpPr>
              <p:spPr bwMode="auto"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1" name="Oval 370"/>
                <p:cNvSpPr/>
                <p:nvPr/>
              </p:nvSpPr>
              <p:spPr bwMode="auto">
                <a:xfrm flipV="1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2" name="Freeform 371"/>
                <p:cNvSpPr/>
                <p:nvPr/>
              </p:nvSpPr>
              <p:spPr bwMode="auto">
                <a:xfrm>
                  <a:off x="2490400" y="1671469"/>
                  <a:ext cx="582428" cy="15715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3" name="Freeform 372"/>
                <p:cNvSpPr/>
                <p:nvPr/>
              </p:nvSpPr>
              <p:spPr bwMode="auto">
                <a:xfrm>
                  <a:off x="2430393" y="1630197"/>
                  <a:ext cx="702443" cy="10952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4" name="Freeform 373"/>
                <p:cNvSpPr/>
                <p:nvPr/>
              </p:nvSpPr>
              <p:spPr bwMode="auto">
                <a:xfrm>
                  <a:off x="2892805" y="1723852"/>
                  <a:ext cx="257680" cy="952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5" name="Freeform 374"/>
                <p:cNvSpPr/>
                <p:nvPr/>
              </p:nvSpPr>
              <p:spPr bwMode="auto">
                <a:xfrm>
                  <a:off x="2418037" y="1725440"/>
                  <a:ext cx="254150" cy="9524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76" name="Straight Connector 375"/>
                <p:cNvCxnSpPr>
                  <a:endCxn id="371" idx="2"/>
                </p:cNvCxnSpPr>
                <p:nvPr/>
              </p:nvCxnSpPr>
              <p:spPr bwMode="auto">
                <a:xfrm flipH="1" flipV="1">
                  <a:off x="2183302" y="1731787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/>
              </p:nvCxnSpPr>
              <p:spPr bwMode="auto">
                <a:xfrm flipH="1" flipV="1">
                  <a:off x="3379926" y="1728615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oup 18"/>
            <p:cNvGrpSpPr/>
            <p:nvPr/>
          </p:nvGrpSpPr>
          <p:grpSpPr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171" name="Rectangle 170"/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0" name="Straight Connector 89"/>
              <p:cNvCxnSpPr/>
              <p:nvPr/>
            </p:nvCxnSpPr>
            <p:spPr bwMode="auto">
              <a:xfrm flipH="1">
                <a:off x="4019550" y="3321180"/>
                <a:ext cx="1059" cy="153657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247" name="Picture 86" descr="router_top.png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7249" name="Group 82"/>
              <p:cNvGrpSpPr>
                <a:grpSpLocks/>
              </p:cNvGrpSpPr>
              <p:nvPr/>
            </p:nvGrpSpPr>
            <p:grpSpPr bwMode="auto"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97" name="Oval 96"/>
                <p:cNvSpPr/>
                <p:nvPr/>
              </p:nvSpPr>
              <p:spPr>
                <a:xfrm>
                  <a:off x="4128757" y="3719873"/>
                  <a:ext cx="568304" cy="225383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4128757" y="3719873"/>
                  <a:ext cx="568304" cy="111479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9" name="Oval 98"/>
                <p:cNvSpPr/>
                <p:nvPr/>
              </p:nvSpPr>
              <p:spPr>
                <a:xfrm>
                  <a:off x="4128757" y="3605971"/>
                  <a:ext cx="568304" cy="22538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4697061" y="3719873"/>
                  <a:ext cx="0" cy="11147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4128757" y="3719873"/>
                  <a:ext cx="0" cy="11147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5" name="Rectangle 154"/>
              <p:cNvSpPr/>
              <p:nvPr/>
            </p:nvSpPr>
            <p:spPr bwMode="auto">
              <a:xfrm>
                <a:off x="3516313" y="3697288"/>
                <a:ext cx="498475" cy="1163637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74" name="Straight Connector 173"/>
              <p:cNvCxnSpPr>
                <a:stCxn id="381" idx="2"/>
              </p:cNvCxnSpPr>
              <p:nvPr/>
            </p:nvCxnSpPr>
            <p:spPr bwMode="auto">
              <a:xfrm flipH="1">
                <a:off x="3506788" y="3262991"/>
                <a:ext cx="4762" cy="168842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33" name="Group 377"/>
              <p:cNvGrpSpPr>
                <a:grpSpLocks/>
              </p:cNvGrpSpPr>
              <p:nvPr/>
            </p:nvGrpSpPr>
            <p:grpSpPr bwMode="auto"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79" name="Oval 378"/>
                <p:cNvSpPr/>
                <p:nvPr/>
              </p:nvSpPr>
              <p:spPr bwMode="auto">
                <a:xfrm flipV="1">
                  <a:off x="2188256" y="1690004"/>
                  <a:ext cx="1194331" cy="3151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0" name="Rectangle 379"/>
                <p:cNvSpPr/>
                <p:nvPr/>
              </p:nvSpPr>
              <p:spPr bwMode="auto">
                <a:xfrm>
                  <a:off x="2184476" y="1735026"/>
                  <a:ext cx="1198111" cy="11255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1" name="Oval 380"/>
                <p:cNvSpPr/>
                <p:nvPr/>
              </p:nvSpPr>
              <p:spPr bwMode="auto">
                <a:xfrm flipV="1">
                  <a:off x="2184476" y="1574638"/>
                  <a:ext cx="1194331" cy="315149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2" name="Freeform 381"/>
                <p:cNvSpPr/>
                <p:nvPr/>
              </p:nvSpPr>
              <p:spPr bwMode="auto">
                <a:xfrm>
                  <a:off x="2490619" y="1670308"/>
                  <a:ext cx="582047" cy="15757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3" name="Freeform 382"/>
                <p:cNvSpPr/>
                <p:nvPr/>
              </p:nvSpPr>
              <p:spPr bwMode="auto">
                <a:xfrm>
                  <a:off x="2430146" y="1630915"/>
                  <a:ext cx="702992" cy="10973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4" name="Freeform 383"/>
                <p:cNvSpPr/>
                <p:nvPr/>
              </p:nvSpPr>
              <p:spPr bwMode="auto">
                <a:xfrm>
                  <a:off x="2891248" y="1723770"/>
                  <a:ext cx="260786" cy="9567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5" name="Freeform 384"/>
                <p:cNvSpPr/>
                <p:nvPr/>
              </p:nvSpPr>
              <p:spPr bwMode="auto">
                <a:xfrm>
                  <a:off x="2418806" y="1726585"/>
                  <a:ext cx="253230" cy="92856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86" name="Straight Connector 385"/>
                <p:cNvCxnSpPr>
                  <a:endCxn id="381" idx="2"/>
                </p:cNvCxnSpPr>
                <p:nvPr/>
              </p:nvCxnSpPr>
              <p:spPr bwMode="auto">
                <a:xfrm flipH="1" flipV="1">
                  <a:off x="2184476" y="1732213"/>
                  <a:ext cx="3781" cy="12099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/>
                <p:cNvCxnSpPr/>
                <p:nvPr/>
              </p:nvCxnSpPr>
              <p:spPr bwMode="auto">
                <a:xfrm flipH="1" flipV="1">
                  <a:off x="3378806" y="1729398"/>
                  <a:ext cx="3781" cy="120996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" name="Group 19"/>
            <p:cNvGrpSpPr/>
            <p:nvPr/>
          </p:nvGrpSpPr>
          <p:grpSpPr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439" name="Rectangle 438"/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40" name="Straight Connector 439"/>
              <p:cNvCxnSpPr/>
              <p:nvPr/>
            </p:nvCxnSpPr>
            <p:spPr bwMode="auto">
              <a:xfrm>
                <a:off x="4822015" y="2642002"/>
                <a:ext cx="5573" cy="2214161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18" name="Group 442"/>
              <p:cNvGrpSpPr>
                <a:grpSpLocks/>
              </p:cNvGrpSpPr>
              <p:nvPr/>
            </p:nvGrpSpPr>
            <p:grpSpPr bwMode="auto"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452" name="Oval 451"/>
                <p:cNvSpPr/>
                <p:nvPr/>
              </p:nvSpPr>
              <p:spPr>
                <a:xfrm>
                  <a:off x="4128758" y="3719830"/>
                  <a:ext cx="568303" cy="22542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3" name="Rectangle 452"/>
                <p:cNvSpPr/>
                <p:nvPr/>
              </p:nvSpPr>
              <p:spPr>
                <a:xfrm>
                  <a:off x="4128758" y="3719830"/>
                  <a:ext cx="568303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4" name="Oval 453"/>
                <p:cNvSpPr/>
                <p:nvPr/>
              </p:nvSpPr>
              <p:spPr>
                <a:xfrm>
                  <a:off x="4128758" y="3605903"/>
                  <a:ext cx="568303" cy="22542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55" name="Straight Connector 454"/>
                <p:cNvCxnSpPr/>
                <p:nvPr/>
              </p:nvCxnSpPr>
              <p:spPr>
                <a:xfrm>
                  <a:off x="4697061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Straight Connector 455"/>
                <p:cNvCxnSpPr/>
                <p:nvPr/>
              </p:nvCxnSpPr>
              <p:spPr>
                <a:xfrm>
                  <a:off x="4128758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4" name="Rectangle 443"/>
              <p:cNvSpPr/>
              <p:nvPr/>
            </p:nvSpPr>
            <p:spPr bwMode="auto">
              <a:xfrm>
                <a:off x="4324350" y="3695700"/>
                <a:ext cx="498475" cy="116363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47" name="Straight Connector 446"/>
              <p:cNvCxnSpPr>
                <a:stCxn id="458" idx="2"/>
              </p:cNvCxnSpPr>
              <p:nvPr/>
            </p:nvCxnSpPr>
            <p:spPr bwMode="auto">
              <a:xfrm>
                <a:off x="4300799" y="2640496"/>
                <a:ext cx="14026" cy="2309329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37" name="Group 456"/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458" name="Oval 457"/>
                <p:cNvSpPr/>
                <p:nvPr/>
              </p:nvSpPr>
              <p:spPr bwMode="auto">
                <a:xfrm flipV="1">
                  <a:off x="2187075" y="1689926"/>
                  <a:ext cx="1196381" cy="31493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59" name="Rectangle 458"/>
                <p:cNvSpPr/>
                <p:nvPr/>
              </p:nvSpPr>
              <p:spPr bwMode="auto">
                <a:xfrm>
                  <a:off x="2183302" y="1734916"/>
                  <a:ext cx="1200154" cy="1124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0" name="Oval 459"/>
                <p:cNvSpPr/>
                <p:nvPr/>
              </p:nvSpPr>
              <p:spPr bwMode="auto">
                <a:xfrm flipV="1">
                  <a:off x="2183302" y="1574638"/>
                  <a:ext cx="1196379" cy="3149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61" name="Freeform 460"/>
                <p:cNvSpPr/>
                <p:nvPr/>
              </p:nvSpPr>
              <p:spPr bwMode="auto">
                <a:xfrm>
                  <a:off x="2489000" y="1670242"/>
                  <a:ext cx="584982" cy="1574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2" name="Freeform 461"/>
                <p:cNvSpPr/>
                <p:nvPr/>
              </p:nvSpPr>
              <p:spPr bwMode="auto">
                <a:xfrm>
                  <a:off x="2428615" y="1630876"/>
                  <a:ext cx="705752" cy="10966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3" name="Freeform 462"/>
                <p:cNvSpPr/>
                <p:nvPr/>
              </p:nvSpPr>
              <p:spPr bwMode="auto">
                <a:xfrm>
                  <a:off x="2892827" y="1723668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4" name="Freeform 463"/>
                <p:cNvSpPr/>
                <p:nvPr/>
              </p:nvSpPr>
              <p:spPr bwMode="auto">
                <a:xfrm>
                  <a:off x="2417294" y="1726479"/>
                  <a:ext cx="252861" cy="9279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65" name="Straight Connector 464"/>
                <p:cNvCxnSpPr>
                  <a:endCxn id="460" idx="2"/>
                </p:cNvCxnSpPr>
                <p:nvPr/>
              </p:nvCxnSpPr>
              <p:spPr bwMode="auto">
                <a:xfrm flipH="1" flipV="1">
                  <a:off x="2183302" y="1732103"/>
                  <a:ext cx="3773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Straight Connector 465"/>
                <p:cNvCxnSpPr/>
                <p:nvPr/>
              </p:nvCxnSpPr>
              <p:spPr bwMode="auto">
                <a:xfrm flipH="1" flipV="1">
                  <a:off x="3379681" y="1729292"/>
                  <a:ext cx="3775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" name="Group 20"/>
            <p:cNvGrpSpPr/>
            <p:nvPr/>
          </p:nvGrpSpPr>
          <p:grpSpPr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468" name="Rectangle 467"/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69" name="Straight Connector 468"/>
              <p:cNvCxnSpPr>
                <a:stCxn id="489" idx="6"/>
              </p:cNvCxnSpPr>
              <p:nvPr/>
            </p:nvCxnSpPr>
            <p:spPr bwMode="auto">
              <a:xfrm>
                <a:off x="6003925" y="3268195"/>
                <a:ext cx="6350" cy="158117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187" name="Picture 469" descr="router_top.png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7189" name="Group 471"/>
              <p:cNvGrpSpPr>
                <a:grpSpLocks/>
              </p:cNvGrpSpPr>
              <p:nvPr/>
            </p:nvGrpSpPr>
            <p:grpSpPr bwMode="auto"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481" name="Oval 480"/>
                <p:cNvSpPr/>
                <p:nvPr/>
              </p:nvSpPr>
              <p:spPr>
                <a:xfrm>
                  <a:off x="4128757" y="3719830"/>
                  <a:ext cx="568304" cy="22542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2" name="Rectangle 481"/>
                <p:cNvSpPr/>
                <p:nvPr/>
              </p:nvSpPr>
              <p:spPr>
                <a:xfrm>
                  <a:off x="4128757" y="3719830"/>
                  <a:ext cx="568304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3" name="Oval 482"/>
                <p:cNvSpPr/>
                <p:nvPr/>
              </p:nvSpPr>
              <p:spPr>
                <a:xfrm>
                  <a:off x="4128757" y="3605903"/>
                  <a:ext cx="568304" cy="22542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84" name="Straight Connector 483"/>
                <p:cNvCxnSpPr/>
                <p:nvPr/>
              </p:nvCxnSpPr>
              <p:spPr>
                <a:xfrm>
                  <a:off x="4697061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/>
                <p:cNvCxnSpPr/>
                <p:nvPr/>
              </p:nvCxnSpPr>
              <p:spPr>
                <a:xfrm>
                  <a:off x="4128757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3" name="Rectangle 472"/>
              <p:cNvSpPr/>
              <p:nvPr/>
            </p:nvSpPr>
            <p:spPr bwMode="auto">
              <a:xfrm>
                <a:off x="5507038" y="3695700"/>
                <a:ext cx="498475" cy="116363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76" name="Straight Connector 475"/>
              <p:cNvCxnSpPr>
                <a:stCxn id="47187" idx="1"/>
              </p:cNvCxnSpPr>
              <p:nvPr/>
            </p:nvCxnSpPr>
            <p:spPr bwMode="auto">
              <a:xfrm>
                <a:off x="5491163" y="3316941"/>
                <a:ext cx="6350" cy="1632884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39" name="Group 485"/>
              <p:cNvGrpSpPr>
                <a:grpSpLocks/>
              </p:cNvGrpSpPr>
              <p:nvPr/>
            </p:nvGrpSpPr>
            <p:grpSpPr bwMode="auto"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487" name="Oval 486"/>
                <p:cNvSpPr/>
                <p:nvPr/>
              </p:nvSpPr>
              <p:spPr bwMode="auto">
                <a:xfrm flipV="1">
                  <a:off x="2187075" y="1689926"/>
                  <a:ext cx="1196381" cy="31493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88" name="Rectangle 487"/>
                <p:cNvSpPr/>
                <p:nvPr/>
              </p:nvSpPr>
              <p:spPr bwMode="auto">
                <a:xfrm>
                  <a:off x="2183302" y="1734916"/>
                  <a:ext cx="1200154" cy="1124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9" name="Oval 488"/>
                <p:cNvSpPr/>
                <p:nvPr/>
              </p:nvSpPr>
              <p:spPr bwMode="auto">
                <a:xfrm flipV="1">
                  <a:off x="2183302" y="1574638"/>
                  <a:ext cx="1196379" cy="3149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90" name="Freeform 489"/>
                <p:cNvSpPr/>
                <p:nvPr/>
              </p:nvSpPr>
              <p:spPr bwMode="auto">
                <a:xfrm>
                  <a:off x="2489000" y="1670242"/>
                  <a:ext cx="584982" cy="1574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1" name="Freeform 490"/>
                <p:cNvSpPr/>
                <p:nvPr/>
              </p:nvSpPr>
              <p:spPr bwMode="auto">
                <a:xfrm>
                  <a:off x="2428615" y="1630876"/>
                  <a:ext cx="705752" cy="10966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2" name="Freeform 491"/>
                <p:cNvSpPr/>
                <p:nvPr/>
              </p:nvSpPr>
              <p:spPr bwMode="auto">
                <a:xfrm>
                  <a:off x="2892827" y="1723668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3" name="Freeform 492"/>
                <p:cNvSpPr/>
                <p:nvPr/>
              </p:nvSpPr>
              <p:spPr bwMode="auto">
                <a:xfrm>
                  <a:off x="2417294" y="1726479"/>
                  <a:ext cx="252861" cy="9279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94" name="Straight Connector 493"/>
                <p:cNvCxnSpPr>
                  <a:endCxn id="489" idx="2"/>
                </p:cNvCxnSpPr>
                <p:nvPr/>
              </p:nvCxnSpPr>
              <p:spPr bwMode="auto">
                <a:xfrm flipH="1" flipV="1">
                  <a:off x="2183302" y="1732103"/>
                  <a:ext cx="3773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/>
                <p:cNvCxnSpPr/>
                <p:nvPr/>
              </p:nvCxnSpPr>
              <p:spPr bwMode="auto">
                <a:xfrm flipH="1" flipV="1">
                  <a:off x="3379681" y="1729292"/>
                  <a:ext cx="3775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" name="Group 21"/>
            <p:cNvGrpSpPr/>
            <p:nvPr/>
          </p:nvGrpSpPr>
          <p:grpSpPr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497" name="Rectangle 496"/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98" name="Straight Connector 497"/>
              <p:cNvCxnSpPr/>
              <p:nvPr/>
            </p:nvCxnSpPr>
            <p:spPr bwMode="auto">
              <a:xfrm>
                <a:off x="6994525" y="2845840"/>
                <a:ext cx="0" cy="1999208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60" name="Group 500"/>
              <p:cNvGrpSpPr>
                <a:grpSpLocks/>
              </p:cNvGrpSpPr>
              <p:nvPr/>
            </p:nvGrpSpPr>
            <p:grpSpPr bwMode="auto"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510" name="Oval 509"/>
                <p:cNvSpPr/>
                <p:nvPr/>
              </p:nvSpPr>
              <p:spPr>
                <a:xfrm>
                  <a:off x="4128757" y="3719828"/>
                  <a:ext cx="568304" cy="22542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1" name="Rectangle 510"/>
                <p:cNvSpPr/>
                <p:nvPr/>
              </p:nvSpPr>
              <p:spPr>
                <a:xfrm>
                  <a:off x="4128757" y="3719828"/>
                  <a:ext cx="568304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2" name="Oval 511"/>
                <p:cNvSpPr/>
                <p:nvPr/>
              </p:nvSpPr>
              <p:spPr>
                <a:xfrm>
                  <a:off x="4128757" y="3605903"/>
                  <a:ext cx="568304" cy="225426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3" name="Straight Connector 512"/>
                <p:cNvCxnSpPr/>
                <p:nvPr/>
              </p:nvCxnSpPr>
              <p:spPr>
                <a:xfrm>
                  <a:off x="4697061" y="3719828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/>
                <p:cNvCxnSpPr/>
                <p:nvPr/>
              </p:nvCxnSpPr>
              <p:spPr>
                <a:xfrm>
                  <a:off x="4128757" y="3719828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2" name="Rectangle 501"/>
              <p:cNvSpPr/>
              <p:nvPr/>
            </p:nvSpPr>
            <p:spPr bwMode="auto">
              <a:xfrm>
                <a:off x="6491288" y="3609696"/>
                <a:ext cx="498475" cy="1238732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05" name="Straight Connector 504"/>
              <p:cNvCxnSpPr/>
              <p:nvPr/>
            </p:nvCxnSpPr>
            <p:spPr bwMode="auto">
              <a:xfrm>
                <a:off x="6472366" y="2818589"/>
                <a:ext cx="9397" cy="212616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41" name="Group 514"/>
              <p:cNvGrpSpPr>
                <a:grpSpLocks/>
              </p:cNvGrpSpPr>
              <p:nvPr/>
            </p:nvGrpSpPr>
            <p:grpSpPr bwMode="auto"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516" name="Oval 515"/>
                <p:cNvSpPr/>
                <p:nvPr/>
              </p:nvSpPr>
              <p:spPr bwMode="auto">
                <a:xfrm flipV="1">
                  <a:off x="2187075" y="1689925"/>
                  <a:ext cx="1196381" cy="31493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7" name="Rectangle 516"/>
                <p:cNvSpPr/>
                <p:nvPr/>
              </p:nvSpPr>
              <p:spPr bwMode="auto">
                <a:xfrm>
                  <a:off x="2183302" y="1734915"/>
                  <a:ext cx="1200154" cy="112476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8" name="Oval 517"/>
                <p:cNvSpPr/>
                <p:nvPr/>
              </p:nvSpPr>
              <p:spPr bwMode="auto">
                <a:xfrm flipV="1">
                  <a:off x="2183302" y="1574638"/>
                  <a:ext cx="1196379" cy="31493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9" name="Freeform 518"/>
                <p:cNvSpPr/>
                <p:nvPr/>
              </p:nvSpPr>
              <p:spPr bwMode="auto">
                <a:xfrm>
                  <a:off x="2489000" y="1670242"/>
                  <a:ext cx="584982" cy="157466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0" name="Freeform 519"/>
                <p:cNvSpPr/>
                <p:nvPr/>
              </p:nvSpPr>
              <p:spPr bwMode="auto">
                <a:xfrm>
                  <a:off x="2428615" y="1630876"/>
                  <a:ext cx="705752" cy="109663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1" name="Freeform 520"/>
                <p:cNvSpPr/>
                <p:nvPr/>
              </p:nvSpPr>
              <p:spPr bwMode="auto">
                <a:xfrm>
                  <a:off x="2892827" y="1723667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2" name="Freeform 521"/>
                <p:cNvSpPr/>
                <p:nvPr/>
              </p:nvSpPr>
              <p:spPr bwMode="auto">
                <a:xfrm>
                  <a:off x="2417294" y="1726480"/>
                  <a:ext cx="252861" cy="92791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23" name="Straight Connector 522"/>
                <p:cNvCxnSpPr>
                  <a:endCxn id="518" idx="2"/>
                </p:cNvCxnSpPr>
                <p:nvPr/>
              </p:nvCxnSpPr>
              <p:spPr bwMode="auto">
                <a:xfrm flipH="1" flipV="1">
                  <a:off x="2183302" y="1732104"/>
                  <a:ext cx="3773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/>
                <p:cNvCxnSpPr/>
                <p:nvPr/>
              </p:nvCxnSpPr>
              <p:spPr bwMode="auto">
                <a:xfrm flipH="1" flipV="1">
                  <a:off x="3379681" y="1729291"/>
                  <a:ext cx="3775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7142" name="Text Box 167"/>
          <p:cNvSpPr txBox="1">
            <a:spLocks noChangeArrowheads="1"/>
          </p:cNvSpPr>
          <p:nvPr/>
        </p:nvSpPr>
        <p:spPr bwMode="auto">
          <a:xfrm>
            <a:off x="563563" y="277813"/>
            <a:ext cx="474563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P</a:t>
            </a:r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er</a:t>
            </a:r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-router </a:t>
            </a:r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control plane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grpSp>
        <p:nvGrpSpPr>
          <p:cNvPr id="229" name="Group 228"/>
          <p:cNvGrpSpPr/>
          <p:nvPr/>
        </p:nvGrpSpPr>
        <p:grpSpPr>
          <a:xfrm>
            <a:off x="1828233" y="3016011"/>
            <a:ext cx="5112820" cy="879389"/>
            <a:chOff x="1866825" y="707349"/>
            <a:chExt cx="5112820" cy="879389"/>
          </a:xfrm>
        </p:grpSpPr>
        <p:sp>
          <p:nvSpPr>
            <p:cNvPr id="233" name="Oval 232"/>
            <p:cNvSpPr/>
            <p:nvPr/>
          </p:nvSpPr>
          <p:spPr>
            <a:xfrm>
              <a:off x="1866825" y="785347"/>
              <a:ext cx="954705" cy="491476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80"/>
                </a:lnSpc>
              </a:pPr>
              <a:r>
                <a:rPr lang="en-US" sz="1400" dirty="0" smtClean="0"/>
                <a:t>Routing</a:t>
              </a:r>
            </a:p>
            <a:p>
              <a:pPr algn="ctr">
                <a:lnSpc>
                  <a:spcPts val="1480"/>
                </a:lnSpc>
              </a:pPr>
              <a:r>
                <a:rPr lang="en-US" sz="1400" dirty="0" smtClean="0"/>
                <a:t>Algorithm</a:t>
              </a:r>
              <a:endParaRPr lang="en-US" sz="1400" dirty="0"/>
            </a:p>
          </p:txBody>
        </p:sp>
        <p:cxnSp>
          <p:nvCxnSpPr>
            <p:cNvPr id="235" name="Straight Arrow Connector 234"/>
            <p:cNvCxnSpPr/>
            <p:nvPr/>
          </p:nvCxnSpPr>
          <p:spPr>
            <a:xfrm flipV="1">
              <a:off x="2833714" y="807908"/>
              <a:ext cx="1517851" cy="213379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>
              <a:off x="2750618" y="1201670"/>
              <a:ext cx="797027" cy="279264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/>
            <p:cNvCxnSpPr/>
            <p:nvPr/>
          </p:nvCxnSpPr>
          <p:spPr>
            <a:xfrm>
              <a:off x="4684666" y="894080"/>
              <a:ext cx="893541" cy="510629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/>
            <p:nvPr/>
          </p:nvCxnSpPr>
          <p:spPr>
            <a:xfrm>
              <a:off x="4800837" y="800746"/>
              <a:ext cx="1695897" cy="130795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Oval 238"/>
            <p:cNvSpPr/>
            <p:nvPr/>
          </p:nvSpPr>
          <p:spPr>
            <a:xfrm>
              <a:off x="6558622" y="894080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/>
            <p:cNvSpPr/>
            <p:nvPr/>
          </p:nvSpPr>
          <p:spPr>
            <a:xfrm>
              <a:off x="5572329" y="1404709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/>
            <p:cNvSpPr/>
            <p:nvPr/>
          </p:nvSpPr>
          <p:spPr>
            <a:xfrm>
              <a:off x="4367082" y="707349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/>
            <p:cNvSpPr/>
            <p:nvPr/>
          </p:nvSpPr>
          <p:spPr>
            <a:xfrm>
              <a:off x="3571953" y="1402071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3" name="Straight Arrow Connector 242"/>
            <p:cNvCxnSpPr/>
            <p:nvPr/>
          </p:nvCxnSpPr>
          <p:spPr>
            <a:xfrm>
              <a:off x="2821560" y="1106261"/>
              <a:ext cx="2738615" cy="338776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>
              <a:endCxn id="239" idx="2"/>
            </p:cNvCxnSpPr>
            <p:nvPr/>
          </p:nvCxnSpPr>
          <p:spPr>
            <a:xfrm flipV="1">
              <a:off x="3997124" y="985095"/>
              <a:ext cx="2561498" cy="469120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/>
            <p:nvPr/>
          </p:nvCxnSpPr>
          <p:spPr>
            <a:xfrm flipV="1">
              <a:off x="3992124" y="1509221"/>
              <a:ext cx="1580205" cy="2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/>
            <p:cNvCxnSpPr/>
            <p:nvPr/>
          </p:nvCxnSpPr>
          <p:spPr>
            <a:xfrm flipV="1">
              <a:off x="5997500" y="1083737"/>
              <a:ext cx="751103" cy="397197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8" name="TextBox 257"/>
          <p:cNvSpPr txBox="1"/>
          <p:nvPr/>
        </p:nvSpPr>
        <p:spPr>
          <a:xfrm>
            <a:off x="517479" y="1154626"/>
            <a:ext cx="820901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Individual </a:t>
            </a:r>
            <a:r>
              <a:rPr lang="en-US" sz="2400" dirty="0"/>
              <a:t>routing algorithm </a:t>
            </a:r>
            <a:r>
              <a:rPr lang="en-US" sz="2400" dirty="0" smtClean="0"/>
              <a:t>components </a:t>
            </a:r>
            <a:r>
              <a:rPr lang="en-US" sz="2400" i="1" dirty="0" smtClean="0">
                <a:solidFill>
                  <a:srgbClr val="000090"/>
                </a:solidFill>
              </a:rPr>
              <a:t>in each and every router </a:t>
            </a:r>
            <a:r>
              <a:rPr lang="en-US" sz="2400" dirty="0" smtClean="0"/>
              <a:t>interact with each other in control plane to compute forwarding tables</a:t>
            </a:r>
            <a:endParaRPr lang="en-US" sz="24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1557338" y="3404226"/>
            <a:ext cx="6375400" cy="1047750"/>
            <a:chOff x="1557338" y="3074988"/>
            <a:chExt cx="6375400" cy="1047750"/>
          </a:xfrm>
        </p:grpSpPr>
        <p:sp>
          <p:nvSpPr>
            <p:cNvPr id="47115" name="TextBox 232"/>
            <p:cNvSpPr txBox="1">
              <a:spLocks noChangeArrowheads="1"/>
            </p:cNvSpPr>
            <p:nvPr/>
          </p:nvSpPr>
          <p:spPr bwMode="auto"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sp>
          <p:nvSpPr>
            <p:cNvPr id="47116" name="TextBox 233"/>
            <p:cNvSpPr txBox="1">
              <a:spLocks noChangeArrowheads="1"/>
            </p:cNvSpPr>
            <p:nvPr/>
          </p:nvSpPr>
          <p:spPr bwMode="auto"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cxnSp>
          <p:nvCxnSpPr>
            <p:cNvPr id="232" name="Straight Connector 231"/>
            <p:cNvCxnSpPr/>
            <p:nvPr/>
          </p:nvCxnSpPr>
          <p:spPr>
            <a:xfrm>
              <a:off x="1557338" y="3613150"/>
              <a:ext cx="620712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1829356" y="4031984"/>
            <a:ext cx="5126173" cy="1120753"/>
            <a:chOff x="-4746102" y="4471477"/>
            <a:chExt cx="5126173" cy="1120753"/>
          </a:xfrm>
        </p:grpSpPr>
        <p:pic>
          <p:nvPicPr>
            <p:cNvPr id="47268" name="Picture 10" descr="fig42_table.pdf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46102" y="4471477"/>
              <a:ext cx="966463" cy="966962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6" name="Group 25"/>
            <p:cNvGrpSpPr/>
            <p:nvPr/>
          </p:nvGrpSpPr>
          <p:grpSpPr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47251" name="Group 241"/>
              <p:cNvGrpSpPr>
                <a:grpSpLocks/>
              </p:cNvGrpSpPr>
              <p:nvPr/>
            </p:nvGrpSpPr>
            <p:grpSpPr bwMode="auto"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2935837" y="3912034"/>
                  <a:ext cx="425539" cy="33014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2931074" y="4004093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2931074" y="4067582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>
                  <a:stCxn id="92" idx="2"/>
                </p:cNvCxnSpPr>
                <p:nvPr/>
              </p:nvCxnSpPr>
              <p:spPr>
                <a:xfrm flipH="1" flipV="1">
                  <a:off x="3147019" y="4004093"/>
                  <a:ext cx="1587" cy="238083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220" name="Group 444"/>
              <p:cNvGrpSpPr>
                <a:grpSpLocks/>
              </p:cNvGrpSpPr>
              <p:nvPr/>
            </p:nvGrpSpPr>
            <p:grpSpPr bwMode="auto"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48" name="Rectangle 447"/>
                <p:cNvSpPr/>
                <p:nvPr/>
              </p:nvSpPr>
              <p:spPr>
                <a:xfrm>
                  <a:off x="2935838" y="3911941"/>
                  <a:ext cx="425538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49" name="Straight Connector 448"/>
                <p:cNvCxnSpPr/>
                <p:nvPr/>
              </p:nvCxnSpPr>
              <p:spPr>
                <a:xfrm>
                  <a:off x="2931074" y="4004018"/>
                  <a:ext cx="425538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/>
                <p:cNvCxnSpPr/>
                <p:nvPr/>
              </p:nvCxnSpPr>
              <p:spPr>
                <a:xfrm>
                  <a:off x="2931074" y="4067519"/>
                  <a:ext cx="425538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/>
                <p:cNvCxnSpPr>
                  <a:stCxn id="448" idx="2"/>
                </p:cNvCxnSpPr>
                <p:nvPr/>
              </p:nvCxnSpPr>
              <p:spPr>
                <a:xfrm flipH="1" flipV="1">
                  <a:off x="3147019" y="4004018"/>
                  <a:ext cx="1588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91" name="Group 473"/>
              <p:cNvGrpSpPr>
                <a:grpSpLocks/>
              </p:cNvGrpSpPr>
              <p:nvPr/>
            </p:nvGrpSpPr>
            <p:grpSpPr bwMode="auto"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77" name="Rectangle 476"/>
                <p:cNvSpPr/>
                <p:nvPr/>
              </p:nvSpPr>
              <p:spPr>
                <a:xfrm>
                  <a:off x="2935837" y="3911941"/>
                  <a:ext cx="425539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78" name="Straight Connector 477"/>
                <p:cNvCxnSpPr/>
                <p:nvPr/>
              </p:nvCxnSpPr>
              <p:spPr>
                <a:xfrm>
                  <a:off x="2931074" y="4004018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/>
                <p:cNvCxnSpPr/>
                <p:nvPr/>
              </p:nvCxnSpPr>
              <p:spPr>
                <a:xfrm>
                  <a:off x="2931074" y="4067519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/>
                <p:cNvCxnSpPr>
                  <a:stCxn id="477" idx="2"/>
                </p:cNvCxnSpPr>
                <p:nvPr/>
              </p:nvCxnSpPr>
              <p:spPr>
                <a:xfrm flipH="1" flipV="1">
                  <a:off x="3147019" y="4004018"/>
                  <a:ext cx="1587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62" name="Group 502"/>
              <p:cNvGrpSpPr>
                <a:grpSpLocks/>
              </p:cNvGrpSpPr>
              <p:nvPr/>
            </p:nvGrpSpPr>
            <p:grpSpPr bwMode="auto"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506" name="Rectangle 505"/>
                <p:cNvSpPr/>
                <p:nvPr/>
              </p:nvSpPr>
              <p:spPr>
                <a:xfrm>
                  <a:off x="2935837" y="3911940"/>
                  <a:ext cx="425539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07" name="Straight Connector 506"/>
                <p:cNvCxnSpPr/>
                <p:nvPr/>
              </p:nvCxnSpPr>
              <p:spPr>
                <a:xfrm>
                  <a:off x="2931074" y="4004017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/>
                <p:cNvCxnSpPr/>
                <p:nvPr/>
              </p:nvCxnSpPr>
              <p:spPr>
                <a:xfrm>
                  <a:off x="2931074" y="4067518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/>
                <p:cNvCxnSpPr>
                  <a:stCxn id="506" idx="2"/>
                </p:cNvCxnSpPr>
                <p:nvPr/>
              </p:nvCxnSpPr>
              <p:spPr>
                <a:xfrm flipH="1" flipV="1">
                  <a:off x="3147019" y="4004017"/>
                  <a:ext cx="1587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" name="Group 24"/>
          <p:cNvGrpSpPr/>
          <p:nvPr/>
        </p:nvGrpSpPr>
        <p:grpSpPr>
          <a:xfrm>
            <a:off x="2282487" y="3212142"/>
            <a:ext cx="4437063" cy="1906161"/>
            <a:chOff x="-4267279" y="3655204"/>
            <a:chExt cx="4437063" cy="1906161"/>
          </a:xfrm>
        </p:grpSpPr>
        <p:cxnSp>
          <p:nvCxnSpPr>
            <p:cNvPr id="111" name="Straight Arrow Connector 110"/>
            <p:cNvCxnSpPr/>
            <p:nvPr/>
          </p:nvCxnSpPr>
          <p:spPr bwMode="auto">
            <a:xfrm>
              <a:off x="-4267279" y="4046968"/>
              <a:ext cx="0" cy="422275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 bwMode="auto">
            <a:xfrm flipH="1">
              <a:off x="-2808366" y="4361550"/>
              <a:ext cx="154" cy="872164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Arrow Connector 445"/>
            <p:cNvCxnSpPr/>
            <p:nvPr/>
          </p:nvCxnSpPr>
          <p:spPr bwMode="auto">
            <a:xfrm>
              <a:off x="-2006807" y="3655204"/>
              <a:ext cx="6479" cy="1576923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Arrow Connector 474"/>
            <p:cNvCxnSpPr>
              <a:stCxn id="468" idx="0"/>
            </p:cNvCxnSpPr>
            <p:nvPr/>
          </p:nvCxnSpPr>
          <p:spPr bwMode="auto">
            <a:xfrm>
              <a:off x="-823524" y="4656511"/>
              <a:ext cx="5883" cy="904854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Arrow Connector 503"/>
            <p:cNvCxnSpPr/>
            <p:nvPr/>
          </p:nvCxnSpPr>
          <p:spPr bwMode="auto">
            <a:xfrm flipH="1">
              <a:off x="166609" y="3798581"/>
              <a:ext cx="3175" cy="1399277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5" y="6475895"/>
            <a:ext cx="458808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27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971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453484" y="2021024"/>
            <a:ext cx="6027737" cy="1440135"/>
            <a:chOff x="1492879" y="2061336"/>
            <a:chExt cx="6027737" cy="1440135"/>
          </a:xfrm>
        </p:grpSpPr>
        <p:sp>
          <p:nvSpPr>
            <p:cNvPr id="388" name="Rectangle 387"/>
            <p:cNvSpPr/>
            <p:nvPr/>
          </p:nvSpPr>
          <p:spPr bwMode="auto">
            <a:xfrm>
              <a:off x="1929251" y="2064703"/>
              <a:ext cx="5043488" cy="10175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96" name="Freeform 395"/>
            <p:cNvSpPr/>
            <p:nvPr/>
          </p:nvSpPr>
          <p:spPr bwMode="auto">
            <a:xfrm>
              <a:off x="1739747" y="2067585"/>
              <a:ext cx="198437" cy="1385888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98" name="Freeform 397"/>
            <p:cNvSpPr/>
            <p:nvPr/>
          </p:nvSpPr>
          <p:spPr bwMode="auto">
            <a:xfrm flipH="1">
              <a:off x="6969078" y="2061336"/>
              <a:ext cx="220427" cy="1370587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0 w 219519"/>
                <a:gd name="connsiteY0" fmla="*/ 730359 h 1370199"/>
                <a:gd name="connsiteX1" fmla="*/ 219401 w 219519"/>
                <a:gd name="connsiteY1" fmla="*/ 0 h 1370199"/>
                <a:gd name="connsiteX2" fmla="*/ 199855 w 219519"/>
                <a:gd name="connsiteY2" fmla="*/ 1012572 h 1370199"/>
                <a:gd name="connsiteX3" fmla="*/ 4471 w 219519"/>
                <a:gd name="connsiteY3" fmla="*/ 1370199 h 1370199"/>
                <a:gd name="connsiteX4" fmla="*/ 0 w 219519"/>
                <a:gd name="connsiteY4" fmla="*/ 730359 h 1370199"/>
                <a:gd name="connsiteX0" fmla="*/ 0 w 219602"/>
                <a:gd name="connsiteY0" fmla="*/ 730359 h 1370199"/>
                <a:gd name="connsiteX1" fmla="*/ 219401 w 219602"/>
                <a:gd name="connsiteY1" fmla="*/ 0 h 1370199"/>
                <a:gd name="connsiteX2" fmla="*/ 210047 w 219602"/>
                <a:gd name="connsiteY2" fmla="*/ 1007473 h 1370199"/>
                <a:gd name="connsiteX3" fmla="*/ 4471 w 219602"/>
                <a:gd name="connsiteY3" fmla="*/ 1370199 h 1370199"/>
                <a:gd name="connsiteX4" fmla="*/ 0 w 219602"/>
                <a:gd name="connsiteY4" fmla="*/ 730359 h 1370199"/>
                <a:gd name="connsiteX0" fmla="*/ 0 w 220239"/>
                <a:gd name="connsiteY0" fmla="*/ 730359 h 1370199"/>
                <a:gd name="connsiteX1" fmla="*/ 219401 w 220239"/>
                <a:gd name="connsiteY1" fmla="*/ 0 h 1370199"/>
                <a:gd name="connsiteX2" fmla="*/ 220239 w 220239"/>
                <a:gd name="connsiteY2" fmla="*/ 1007473 h 1370199"/>
                <a:gd name="connsiteX3" fmla="*/ 4471 w 220239"/>
                <a:gd name="connsiteY3" fmla="*/ 1370199 h 1370199"/>
                <a:gd name="connsiteX4" fmla="*/ 0 w 220239"/>
                <a:gd name="connsiteY4" fmla="*/ 730359 h 137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48316" name="Group 950"/>
            <p:cNvGrpSpPr>
              <a:grpSpLocks/>
            </p:cNvGrpSpPr>
            <p:nvPr/>
          </p:nvGrpSpPr>
          <p:grpSpPr bwMode="auto"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48350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51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52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53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54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55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8380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81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56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57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8378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9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58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59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60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376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7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61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362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374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5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63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64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65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66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67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68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69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70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71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8372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73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8317" name="Group 950"/>
            <p:cNvGrpSpPr>
              <a:grpSpLocks/>
            </p:cNvGrpSpPr>
            <p:nvPr/>
          </p:nvGrpSpPr>
          <p:grpSpPr bwMode="auto"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48318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19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20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21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22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23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8348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9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24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25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8346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7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26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27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28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344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5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29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330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342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3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31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2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33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34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5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36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7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8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9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8340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41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8129" name="Freeform 2"/>
          <p:cNvSpPr>
            <a:spLocks/>
          </p:cNvSpPr>
          <p:nvPr/>
        </p:nvSpPr>
        <p:spPr bwMode="auto">
          <a:xfrm>
            <a:off x="2592388" y="5749925"/>
            <a:ext cx="4027487" cy="939800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8" name="Straight Connector 147"/>
          <p:cNvCxnSpPr/>
          <p:nvPr/>
        </p:nvCxnSpPr>
        <p:spPr>
          <a:xfrm flipV="1">
            <a:off x="3262941" y="5900738"/>
            <a:ext cx="1316038" cy="1317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3151816" y="6088063"/>
            <a:ext cx="2259013" cy="2984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3164516" y="6192838"/>
            <a:ext cx="714375" cy="2762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4182104" y="6386513"/>
            <a:ext cx="1247775" cy="825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4842504" y="5934075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4126541" y="6088063"/>
            <a:ext cx="1790700" cy="2984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5453691" y="6116638"/>
            <a:ext cx="588963" cy="26987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4596441" y="5900738"/>
            <a:ext cx="814388" cy="40163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261" name="Group 48260"/>
          <p:cNvGrpSpPr/>
          <p:nvPr/>
        </p:nvGrpSpPr>
        <p:grpSpPr>
          <a:xfrm>
            <a:off x="1526216" y="3003498"/>
            <a:ext cx="6978041" cy="1096962"/>
            <a:chOff x="1526216" y="3003498"/>
            <a:chExt cx="6978041" cy="1096962"/>
          </a:xfrm>
        </p:grpSpPr>
        <p:sp>
          <p:nvSpPr>
            <p:cNvPr id="48156" name="TextBox 399"/>
            <p:cNvSpPr txBox="1">
              <a:spLocks noChangeArrowheads="1"/>
            </p:cNvSpPr>
            <p:nvPr/>
          </p:nvSpPr>
          <p:spPr bwMode="auto"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sp>
          <p:nvSpPr>
            <p:cNvPr id="48157" name="TextBox 400"/>
            <p:cNvSpPr txBox="1">
              <a:spLocks noChangeArrowheads="1"/>
            </p:cNvSpPr>
            <p:nvPr/>
          </p:nvSpPr>
          <p:spPr bwMode="auto"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cxnSp>
          <p:nvCxnSpPr>
            <p:cNvPr id="302" name="Straight Connector 301"/>
            <p:cNvCxnSpPr/>
            <p:nvPr/>
          </p:nvCxnSpPr>
          <p:spPr bwMode="auto">
            <a:xfrm flipV="1">
              <a:off x="1526216" y="3579342"/>
              <a:ext cx="6978041" cy="1215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2436115" y="2735108"/>
            <a:ext cx="4296530" cy="320561"/>
            <a:chOff x="2433511" y="2792111"/>
            <a:chExt cx="4296530" cy="320561"/>
          </a:xfrm>
        </p:grpSpPr>
        <p:grpSp>
          <p:nvGrpSpPr>
            <p:cNvPr id="48311" name="Group 401"/>
            <p:cNvGrpSpPr>
              <a:grpSpLocks/>
            </p:cNvGrpSpPr>
            <p:nvPr/>
          </p:nvGrpSpPr>
          <p:grpSpPr bwMode="auto"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403" name="Rectangle 402"/>
              <p:cNvSpPr/>
              <p:nvPr/>
            </p:nvSpPr>
            <p:spPr>
              <a:xfrm>
                <a:off x="2937534" y="3912858"/>
                <a:ext cx="424580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04" name="Straight Connector 403"/>
              <p:cNvCxnSpPr/>
              <p:nvPr/>
            </p:nvCxnSpPr>
            <p:spPr>
              <a:xfrm>
                <a:off x="2931664" y="4005099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/>
              <p:cNvCxnSpPr/>
              <p:nvPr/>
            </p:nvCxnSpPr>
            <p:spPr>
              <a:xfrm>
                <a:off x="2931664" y="4067691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/>
              <p:cNvCxnSpPr>
                <a:stCxn id="403" idx="2"/>
              </p:cNvCxnSpPr>
              <p:nvPr/>
            </p:nvCxnSpPr>
            <p:spPr>
              <a:xfrm flipH="1" flipV="1">
                <a:off x="3148846" y="4005099"/>
                <a:ext cx="0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2" name="Group 406"/>
            <p:cNvGrpSpPr>
              <a:grpSpLocks/>
            </p:cNvGrpSpPr>
            <p:nvPr/>
          </p:nvGrpSpPr>
          <p:grpSpPr bwMode="auto"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408" name="Rectangle 407"/>
              <p:cNvSpPr/>
              <p:nvPr/>
            </p:nvSpPr>
            <p:spPr>
              <a:xfrm>
                <a:off x="2937508" y="3912861"/>
                <a:ext cx="424606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09" name="Straight Connector 408"/>
              <p:cNvCxnSpPr/>
              <p:nvPr/>
            </p:nvCxnSpPr>
            <p:spPr>
              <a:xfrm>
                <a:off x="2931664" y="4005102"/>
                <a:ext cx="42460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/>
              <p:cNvCxnSpPr/>
              <p:nvPr/>
            </p:nvCxnSpPr>
            <p:spPr>
              <a:xfrm>
                <a:off x="2931664" y="4067694"/>
                <a:ext cx="42460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/>
              <p:cNvCxnSpPr>
                <a:stCxn id="408" idx="2"/>
              </p:cNvCxnSpPr>
              <p:nvPr/>
            </p:nvCxnSpPr>
            <p:spPr>
              <a:xfrm flipH="1" flipV="1">
                <a:off x="3147863" y="4005102"/>
                <a:ext cx="1947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3" name="Group 411"/>
            <p:cNvGrpSpPr>
              <a:grpSpLocks/>
            </p:cNvGrpSpPr>
            <p:nvPr/>
          </p:nvGrpSpPr>
          <p:grpSpPr bwMode="auto"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413" name="Rectangle 412"/>
              <p:cNvSpPr/>
              <p:nvPr/>
            </p:nvSpPr>
            <p:spPr>
              <a:xfrm>
                <a:off x="2937507" y="3912861"/>
                <a:ext cx="424607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14" name="Straight Connector 413"/>
              <p:cNvCxnSpPr/>
              <p:nvPr/>
            </p:nvCxnSpPr>
            <p:spPr>
              <a:xfrm>
                <a:off x="2931664" y="4005102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/>
              <p:cNvCxnSpPr/>
              <p:nvPr/>
            </p:nvCxnSpPr>
            <p:spPr>
              <a:xfrm>
                <a:off x="2931664" y="4067694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/>
              <p:cNvCxnSpPr>
                <a:stCxn id="413" idx="2"/>
              </p:cNvCxnSpPr>
              <p:nvPr/>
            </p:nvCxnSpPr>
            <p:spPr>
              <a:xfrm flipH="1" flipV="1">
                <a:off x="3147863" y="4005102"/>
                <a:ext cx="1948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4" name="Group 416"/>
            <p:cNvGrpSpPr>
              <a:grpSpLocks/>
            </p:cNvGrpSpPr>
            <p:nvPr/>
          </p:nvGrpSpPr>
          <p:grpSpPr bwMode="auto"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418" name="Rectangle 417"/>
              <p:cNvSpPr/>
              <p:nvPr/>
            </p:nvSpPr>
            <p:spPr>
              <a:xfrm>
                <a:off x="2937534" y="3912862"/>
                <a:ext cx="424580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19" name="Straight Connector 418"/>
              <p:cNvCxnSpPr/>
              <p:nvPr/>
            </p:nvCxnSpPr>
            <p:spPr>
              <a:xfrm>
                <a:off x="2931664" y="4005103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/>
              <p:cNvCxnSpPr/>
              <p:nvPr/>
            </p:nvCxnSpPr>
            <p:spPr>
              <a:xfrm>
                <a:off x="2931664" y="4067695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/>
              <p:cNvCxnSpPr>
                <a:stCxn id="418" idx="2"/>
              </p:cNvCxnSpPr>
              <p:nvPr/>
            </p:nvCxnSpPr>
            <p:spPr>
              <a:xfrm flipH="1" flipV="1">
                <a:off x="3148846" y="4005103"/>
                <a:ext cx="0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5" name="Group 421"/>
            <p:cNvGrpSpPr>
              <a:grpSpLocks/>
            </p:cNvGrpSpPr>
            <p:nvPr/>
          </p:nvGrpSpPr>
          <p:grpSpPr bwMode="auto"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423" name="Rectangle 422"/>
              <p:cNvSpPr/>
              <p:nvPr/>
            </p:nvSpPr>
            <p:spPr>
              <a:xfrm>
                <a:off x="2937507" y="3912861"/>
                <a:ext cx="424607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24" name="Straight Connector 423"/>
              <p:cNvCxnSpPr/>
              <p:nvPr/>
            </p:nvCxnSpPr>
            <p:spPr>
              <a:xfrm>
                <a:off x="2931664" y="4005102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/>
              <p:cNvCxnSpPr/>
              <p:nvPr/>
            </p:nvCxnSpPr>
            <p:spPr>
              <a:xfrm>
                <a:off x="2931664" y="4067694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Connector 425"/>
              <p:cNvCxnSpPr>
                <a:stCxn id="423" idx="2"/>
              </p:cNvCxnSpPr>
              <p:nvPr/>
            </p:nvCxnSpPr>
            <p:spPr>
              <a:xfrm flipH="1" flipV="1">
                <a:off x="3147863" y="4005102"/>
                <a:ext cx="1948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260" name="Group 48259"/>
          <p:cNvGrpSpPr/>
          <p:nvPr/>
        </p:nvGrpSpPr>
        <p:grpSpPr>
          <a:xfrm>
            <a:off x="1856416" y="3709935"/>
            <a:ext cx="5211763" cy="2739614"/>
            <a:chOff x="1856416" y="3709935"/>
            <a:chExt cx="5211763" cy="2739614"/>
          </a:xfrm>
        </p:grpSpPr>
        <p:sp>
          <p:nvSpPr>
            <p:cNvPr id="268" name="Freeform 267"/>
            <p:cNvSpPr/>
            <p:nvPr/>
          </p:nvSpPr>
          <p:spPr>
            <a:xfrm>
              <a:off x="1876731" y="5330139"/>
              <a:ext cx="1280789" cy="75908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6202668" y="5429198"/>
              <a:ext cx="865511" cy="55382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1011379"/>
                <a:gd name="connsiteY0" fmla="*/ 605727 h 758185"/>
                <a:gd name="connsiteX1" fmla="*/ 490915 w 1011379"/>
                <a:gd name="connsiteY1" fmla="*/ 13939 h 758185"/>
                <a:gd name="connsiteX2" fmla="*/ 1011379 w 1011379"/>
                <a:gd name="connsiteY2" fmla="*/ 563 h 758185"/>
                <a:gd name="connsiteX3" fmla="*/ 268780 w 1011379"/>
                <a:gd name="connsiteY3" fmla="*/ 758185 h 758185"/>
                <a:gd name="connsiteX4" fmla="*/ 0 w 1011379"/>
                <a:gd name="connsiteY4" fmla="*/ 605727 h 758185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05727"/>
                <a:gd name="connsiteX1" fmla="*/ 490915 w 1011379"/>
                <a:gd name="connsiteY1" fmla="*/ 13939 h 605727"/>
                <a:gd name="connsiteX2" fmla="*/ 1011379 w 1011379"/>
                <a:gd name="connsiteY2" fmla="*/ 563 h 605727"/>
                <a:gd name="connsiteX3" fmla="*/ 318823 w 1011379"/>
                <a:gd name="connsiteY3" fmla="*/ 553361 h 605727"/>
                <a:gd name="connsiteX4" fmla="*/ 0 w 1011379"/>
                <a:gd name="connsiteY4" fmla="*/ 605727 h 605727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378281" y="5449835"/>
              <a:ext cx="675485" cy="89677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675040"/>
                <a:gd name="connsiteY0" fmla="*/ 894029 h 896577"/>
                <a:gd name="connsiteX1" fmla="*/ 15664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  <a:gd name="connsiteX0" fmla="*/ 0 w 675040"/>
                <a:gd name="connsiteY0" fmla="*/ 894029 h 896577"/>
                <a:gd name="connsiteX1" fmla="*/ 18662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4340854" y="5470471"/>
              <a:ext cx="514350" cy="401843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7341"/>
                <a:gd name="connsiteX1" fmla="*/ 0 w 514180"/>
                <a:gd name="connsiteY1" fmla="*/ 0 h 577341"/>
                <a:gd name="connsiteX2" fmla="*/ 514180 w 514180"/>
                <a:gd name="connsiteY2" fmla="*/ 10891 h 577341"/>
                <a:gd name="connsiteX3" fmla="*/ 404259 w 514180"/>
                <a:gd name="connsiteY3" fmla="*/ 386400 h 577341"/>
                <a:gd name="connsiteX4" fmla="*/ 135770 w 514180"/>
                <a:gd name="connsiteY4" fmla="*/ 577341 h 577341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02193 h 402193"/>
                <a:gd name="connsiteX1" fmla="*/ 0 w 514180"/>
                <a:gd name="connsiteY1" fmla="*/ 0 h 402193"/>
                <a:gd name="connsiteX2" fmla="*/ 514180 w 514180"/>
                <a:gd name="connsiteY2" fmla="*/ 10891 h 402193"/>
                <a:gd name="connsiteX3" fmla="*/ 404259 w 514180"/>
                <a:gd name="connsiteY3" fmla="*/ 386400 h 402193"/>
                <a:gd name="connsiteX4" fmla="*/ 100781 w 514180"/>
                <a:gd name="connsiteY4" fmla="*/ 402193 h 4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3561391" y="5433960"/>
              <a:ext cx="573725" cy="1015589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  <a:gd name="connsiteX0" fmla="*/ 403236 w 574100"/>
                <a:gd name="connsiteY0" fmla="*/ 1215612 h 1215612"/>
                <a:gd name="connsiteX1" fmla="*/ 0 w 574100"/>
                <a:gd name="connsiteY1" fmla="*/ 4757 h 1215612"/>
                <a:gd name="connsiteX2" fmla="*/ 502783 w 574100"/>
                <a:gd name="connsiteY2" fmla="*/ 0 h 1215612"/>
                <a:gd name="connsiteX3" fmla="*/ 574100 w 574100"/>
                <a:gd name="connsiteY3" fmla="*/ 1014877 h 1215612"/>
                <a:gd name="connsiteX4" fmla="*/ 403236 w 574100"/>
                <a:gd name="connsiteY4" fmla="*/ 1215612 h 1215612"/>
                <a:gd name="connsiteX0" fmla="*/ 333190 w 574100"/>
                <a:gd name="connsiteY0" fmla="*/ 985695 h 1015244"/>
                <a:gd name="connsiteX1" fmla="*/ 0 w 574100"/>
                <a:gd name="connsiteY1" fmla="*/ 4757 h 1015244"/>
                <a:gd name="connsiteX2" fmla="*/ 502783 w 574100"/>
                <a:gd name="connsiteY2" fmla="*/ 0 h 1015244"/>
                <a:gd name="connsiteX3" fmla="*/ 574100 w 574100"/>
                <a:gd name="connsiteY3" fmla="*/ 1014877 h 1015244"/>
                <a:gd name="connsiteX4" fmla="*/ 333190 w 574100"/>
                <a:gd name="connsiteY4" fmla="*/ 985695 h 101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496" name="Rectangle 495"/>
              <p:cNvSpPr/>
              <p:nvPr/>
            </p:nvSpPr>
            <p:spPr bwMode="auto">
              <a:xfrm rot="10800000">
                <a:off x="1867529" y="3957585"/>
                <a:ext cx="1027112" cy="61109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8285" name="Group 498"/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515" name="Oval 514"/>
                <p:cNvSpPr/>
                <p:nvPr/>
              </p:nvSpPr>
              <p:spPr>
                <a:xfrm>
                  <a:off x="4129067" y="3720356"/>
                  <a:ext cx="567968" cy="22490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6" name="Rectangle 515"/>
                <p:cNvSpPr/>
                <p:nvPr/>
              </p:nvSpPr>
              <p:spPr>
                <a:xfrm>
                  <a:off x="4129067" y="3720356"/>
                  <a:ext cx="567968" cy="111705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7" name="Oval 516"/>
                <p:cNvSpPr/>
                <p:nvPr/>
              </p:nvSpPr>
              <p:spPr>
                <a:xfrm>
                  <a:off x="4129067" y="3607161"/>
                  <a:ext cx="567968" cy="224900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8" name="Straight Connector 517"/>
                <p:cNvCxnSpPr/>
                <p:nvPr/>
              </p:nvCxnSpPr>
              <p:spPr>
                <a:xfrm>
                  <a:off x="4697035" y="3720356"/>
                  <a:ext cx="0" cy="111705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/>
                <p:cNvCxnSpPr/>
                <p:nvPr/>
              </p:nvCxnSpPr>
              <p:spPr>
                <a:xfrm>
                  <a:off x="4129067" y="3720356"/>
                  <a:ext cx="0" cy="111705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0" name="Rectangle 499"/>
              <p:cNvSpPr/>
              <p:nvPr/>
            </p:nvSpPr>
            <p:spPr bwMode="auto">
              <a:xfrm>
                <a:off x="1877054" y="4704509"/>
                <a:ext cx="1028700" cy="52307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02" name="Straight Connector 501"/>
              <p:cNvCxnSpPr/>
              <p:nvPr/>
            </p:nvCxnSpPr>
            <p:spPr bwMode="auto">
              <a:xfrm>
                <a:off x="1861179" y="3981398"/>
                <a:ext cx="17462" cy="13017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Connector 502"/>
              <p:cNvCxnSpPr/>
              <p:nvPr/>
            </p:nvCxnSpPr>
            <p:spPr bwMode="auto">
              <a:xfrm flipH="1">
                <a:off x="2894641" y="3971873"/>
                <a:ext cx="6350" cy="127000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90" name="Group 504"/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506" name="Oval 505"/>
                <p:cNvSpPr/>
                <p:nvPr/>
              </p:nvSpPr>
              <p:spPr bwMode="auto">
                <a:xfrm flipV="1">
                  <a:off x="2185126" y="1689305"/>
                  <a:ext cx="1196349" cy="31490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07" name="Rectangle 506"/>
                <p:cNvSpPr/>
                <p:nvPr/>
              </p:nvSpPr>
              <p:spPr bwMode="auto">
                <a:xfrm>
                  <a:off x="2183302" y="1735513"/>
                  <a:ext cx="1198173" cy="11295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08" name="Oval 507"/>
                <p:cNvSpPr/>
                <p:nvPr/>
              </p:nvSpPr>
              <p:spPr bwMode="auto">
                <a:xfrm flipV="1">
                  <a:off x="2183302" y="1574638"/>
                  <a:ext cx="1196349" cy="31490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09" name="Freeform 508"/>
                <p:cNvSpPr/>
                <p:nvPr/>
              </p:nvSpPr>
              <p:spPr bwMode="auto">
                <a:xfrm>
                  <a:off x="2489684" y="1670478"/>
                  <a:ext cx="581762" cy="15745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0" name="Freeform 509"/>
                <p:cNvSpPr/>
                <p:nvPr/>
              </p:nvSpPr>
              <p:spPr bwMode="auto">
                <a:xfrm>
                  <a:off x="2429502" y="1629404"/>
                  <a:ext cx="703949" cy="11124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1" name="Freeform 510"/>
                <p:cNvSpPr/>
                <p:nvPr/>
              </p:nvSpPr>
              <p:spPr bwMode="auto">
                <a:xfrm>
                  <a:off x="2892723" y="1723534"/>
                  <a:ext cx="257142" cy="958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2" name="Freeform 511"/>
                <p:cNvSpPr/>
                <p:nvPr/>
              </p:nvSpPr>
              <p:spPr bwMode="auto">
                <a:xfrm>
                  <a:off x="2416736" y="1725244"/>
                  <a:ext cx="255318" cy="94130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3" name="Straight Connector 512"/>
                <p:cNvCxnSpPr>
                  <a:endCxn id="508" idx="2"/>
                </p:cNvCxnSpPr>
                <p:nvPr/>
              </p:nvCxnSpPr>
              <p:spPr bwMode="auto">
                <a:xfrm flipH="1" flipV="1">
                  <a:off x="2183302" y="1732090"/>
                  <a:ext cx="1824" cy="12151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/>
                <p:cNvCxnSpPr/>
                <p:nvPr/>
              </p:nvCxnSpPr>
              <p:spPr bwMode="auto">
                <a:xfrm flipH="1" flipV="1">
                  <a:off x="3381475" y="1728667"/>
                  <a:ext cx="1823" cy="12151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" name="Group 29"/>
            <p:cNvGrpSpPr/>
            <p:nvPr/>
          </p:nvGrpSpPr>
          <p:grpSpPr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549" name="Rectangle 548"/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0" name="Straight Connector 549"/>
              <p:cNvCxnSpPr/>
              <p:nvPr/>
            </p:nvCxnSpPr>
            <p:spPr bwMode="auto">
              <a:xfrm flipH="1">
                <a:off x="4078916" y="4019498"/>
                <a:ext cx="1588" cy="13652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71" name="Group 552"/>
              <p:cNvGrpSpPr>
                <a:grpSpLocks/>
              </p:cNvGrpSpPr>
              <p:nvPr/>
            </p:nvGrpSpPr>
            <p:grpSpPr bwMode="auto"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562" name="Oval 561"/>
                <p:cNvSpPr/>
                <p:nvPr/>
              </p:nvSpPr>
              <p:spPr>
                <a:xfrm>
                  <a:off x="4128204" y="3719724"/>
                  <a:ext cx="568606" cy="225532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63" name="Rectangle 562"/>
                <p:cNvSpPr/>
                <p:nvPr/>
              </p:nvSpPr>
              <p:spPr>
                <a:xfrm>
                  <a:off x="4128204" y="3719724"/>
                  <a:ext cx="568606" cy="111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64" name="Oval 563"/>
                <p:cNvSpPr/>
                <p:nvPr/>
              </p:nvSpPr>
              <p:spPr>
                <a:xfrm>
                  <a:off x="4128204" y="3605744"/>
                  <a:ext cx="568606" cy="225534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65" name="Straight Connector 564"/>
                <p:cNvCxnSpPr/>
                <p:nvPr/>
              </p:nvCxnSpPr>
              <p:spPr>
                <a:xfrm>
                  <a:off x="4696810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/>
                <p:cNvCxnSpPr/>
                <p:nvPr/>
              </p:nvCxnSpPr>
              <p:spPr>
                <a:xfrm>
                  <a:off x="4128204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4" name="Rectangle 553"/>
              <p:cNvSpPr/>
              <p:nvPr/>
            </p:nvSpPr>
            <p:spPr bwMode="auto">
              <a:xfrm>
                <a:off x="3572504" y="4575123"/>
                <a:ext cx="496887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7" name="Straight Connector 556"/>
              <p:cNvCxnSpPr/>
              <p:nvPr/>
            </p:nvCxnSpPr>
            <p:spPr bwMode="auto">
              <a:xfrm flipH="1">
                <a:off x="3566154" y="4027435"/>
                <a:ext cx="3175" cy="145097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57" name="Group 538"/>
              <p:cNvGrpSpPr>
                <a:grpSpLocks/>
              </p:cNvGrpSpPr>
              <p:nvPr/>
            </p:nvGrpSpPr>
            <p:grpSpPr bwMode="auto"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40" name="Oval 539"/>
                <p:cNvSpPr/>
                <p:nvPr/>
              </p:nvSpPr>
              <p:spPr bwMode="auto">
                <a:xfrm flipV="1">
                  <a:off x="2188659" y="1691250"/>
                  <a:ext cx="1194966" cy="31254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41" name="Rectangle 540"/>
                <p:cNvSpPr/>
                <p:nvPr/>
              </p:nvSpPr>
              <p:spPr bwMode="auto">
                <a:xfrm>
                  <a:off x="2184879" y="1736302"/>
                  <a:ext cx="1198746" cy="112629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2" name="Oval 541"/>
                <p:cNvSpPr/>
                <p:nvPr/>
              </p:nvSpPr>
              <p:spPr bwMode="auto">
                <a:xfrm flipV="1">
                  <a:off x="2184879" y="1564542"/>
                  <a:ext cx="1194966" cy="31254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43" name="Freeform 542"/>
                <p:cNvSpPr/>
                <p:nvPr/>
              </p:nvSpPr>
              <p:spPr bwMode="auto">
                <a:xfrm>
                  <a:off x="2491182" y="1671539"/>
                  <a:ext cx="582357" cy="1548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4" name="Freeform 543"/>
                <p:cNvSpPr/>
                <p:nvPr/>
              </p:nvSpPr>
              <p:spPr bwMode="auto">
                <a:xfrm>
                  <a:off x="2430678" y="1629304"/>
                  <a:ext cx="703366" cy="109812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5" name="Freeform 544"/>
                <p:cNvSpPr/>
                <p:nvPr/>
              </p:nvSpPr>
              <p:spPr bwMode="auto">
                <a:xfrm>
                  <a:off x="2892025" y="1722222"/>
                  <a:ext cx="260927" cy="9573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6" name="Freeform 545"/>
                <p:cNvSpPr/>
                <p:nvPr/>
              </p:nvSpPr>
              <p:spPr bwMode="auto">
                <a:xfrm>
                  <a:off x="2419334" y="1725039"/>
                  <a:ext cx="253362" cy="95734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47" name="Straight Connector 546"/>
                <p:cNvCxnSpPr>
                  <a:endCxn id="542" idx="2"/>
                </p:cNvCxnSpPr>
                <p:nvPr/>
              </p:nvCxnSpPr>
              <p:spPr bwMode="auto">
                <a:xfrm flipH="1" flipV="1">
                  <a:off x="2184879" y="1722222"/>
                  <a:ext cx="3780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Straight Connector 547"/>
                <p:cNvCxnSpPr/>
                <p:nvPr/>
              </p:nvCxnSpPr>
              <p:spPr bwMode="auto">
                <a:xfrm flipH="1" flipV="1">
                  <a:off x="3379845" y="1727853"/>
                  <a:ext cx="3780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" name="Group 30"/>
            <p:cNvGrpSpPr/>
            <p:nvPr/>
          </p:nvGrpSpPr>
          <p:grpSpPr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579" name="Rectangle 578"/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0" name="Straight Connector 579"/>
              <p:cNvCxnSpPr/>
              <p:nvPr/>
            </p:nvCxnSpPr>
            <p:spPr bwMode="auto">
              <a:xfrm flipH="1">
                <a:off x="4861554" y="4024260"/>
                <a:ext cx="1587" cy="13652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43" name="Group 580"/>
              <p:cNvGrpSpPr>
                <a:grpSpLocks/>
              </p:cNvGrpSpPr>
              <p:nvPr/>
            </p:nvGrpSpPr>
            <p:grpSpPr bwMode="auto"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589" name="Oval 588"/>
                <p:cNvSpPr/>
                <p:nvPr/>
              </p:nvSpPr>
              <p:spPr>
                <a:xfrm>
                  <a:off x="4128205" y="3719722"/>
                  <a:ext cx="568606" cy="225534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0" name="Rectangle 589"/>
                <p:cNvSpPr/>
                <p:nvPr/>
              </p:nvSpPr>
              <p:spPr>
                <a:xfrm>
                  <a:off x="4128205" y="3719722"/>
                  <a:ext cx="568606" cy="111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1" name="Oval 590"/>
                <p:cNvSpPr/>
                <p:nvPr/>
              </p:nvSpPr>
              <p:spPr>
                <a:xfrm>
                  <a:off x="4128205" y="3605744"/>
                  <a:ext cx="568606" cy="22553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92" name="Straight Connector 591"/>
                <p:cNvCxnSpPr/>
                <p:nvPr/>
              </p:nvCxnSpPr>
              <p:spPr>
                <a:xfrm>
                  <a:off x="4696811" y="3719722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/>
                <p:cNvCxnSpPr/>
                <p:nvPr/>
              </p:nvCxnSpPr>
              <p:spPr>
                <a:xfrm>
                  <a:off x="4128205" y="3719722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2" name="Rectangle 581"/>
              <p:cNvSpPr/>
              <p:nvPr/>
            </p:nvSpPr>
            <p:spPr bwMode="auto">
              <a:xfrm>
                <a:off x="4355141" y="4579885"/>
                <a:ext cx="496888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4" name="Straight Connector 583"/>
              <p:cNvCxnSpPr/>
              <p:nvPr/>
            </p:nvCxnSpPr>
            <p:spPr bwMode="auto">
              <a:xfrm flipH="1">
                <a:off x="4348791" y="4032198"/>
                <a:ext cx="3175" cy="145097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29" name="Group 568"/>
              <p:cNvGrpSpPr>
                <a:grpSpLocks/>
              </p:cNvGrpSpPr>
              <p:nvPr/>
            </p:nvGrpSpPr>
            <p:grpSpPr bwMode="auto"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570" name="Oval 569"/>
                <p:cNvSpPr/>
                <p:nvPr/>
              </p:nvSpPr>
              <p:spPr bwMode="auto">
                <a:xfrm flipV="1">
                  <a:off x="2188662" y="1691248"/>
                  <a:ext cx="1194966" cy="3125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71" name="Rectangle 570"/>
                <p:cNvSpPr/>
                <p:nvPr/>
              </p:nvSpPr>
              <p:spPr bwMode="auto">
                <a:xfrm>
                  <a:off x="2184879" y="1736300"/>
                  <a:ext cx="1198749" cy="112629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2" name="Oval 571"/>
                <p:cNvSpPr/>
                <p:nvPr/>
              </p:nvSpPr>
              <p:spPr bwMode="auto">
                <a:xfrm flipV="1">
                  <a:off x="2184879" y="1564542"/>
                  <a:ext cx="1194966" cy="312543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73" name="Freeform 572"/>
                <p:cNvSpPr/>
                <p:nvPr/>
              </p:nvSpPr>
              <p:spPr bwMode="auto">
                <a:xfrm>
                  <a:off x="2491185" y="1671539"/>
                  <a:ext cx="582357" cy="15486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4" name="Freeform 573"/>
                <p:cNvSpPr/>
                <p:nvPr/>
              </p:nvSpPr>
              <p:spPr bwMode="auto">
                <a:xfrm>
                  <a:off x="2430680" y="1629303"/>
                  <a:ext cx="703366" cy="10981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5" name="Freeform 574"/>
                <p:cNvSpPr/>
                <p:nvPr/>
              </p:nvSpPr>
              <p:spPr bwMode="auto">
                <a:xfrm>
                  <a:off x="2892028" y="1722222"/>
                  <a:ext cx="260925" cy="9573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6" name="Freeform 575"/>
                <p:cNvSpPr/>
                <p:nvPr/>
              </p:nvSpPr>
              <p:spPr bwMode="auto">
                <a:xfrm>
                  <a:off x="2419334" y="1725037"/>
                  <a:ext cx="253364" cy="95734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77" name="Straight Connector 576"/>
                <p:cNvCxnSpPr>
                  <a:endCxn id="572" idx="2"/>
                </p:cNvCxnSpPr>
                <p:nvPr/>
              </p:nvCxnSpPr>
              <p:spPr bwMode="auto">
                <a:xfrm flipH="1" flipV="1">
                  <a:off x="2184879" y="1722222"/>
                  <a:ext cx="3783" cy="121075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/>
                <p:cNvCxnSpPr/>
                <p:nvPr/>
              </p:nvCxnSpPr>
              <p:spPr bwMode="auto">
                <a:xfrm flipH="1" flipV="1">
                  <a:off x="3379845" y="1727853"/>
                  <a:ext cx="3783" cy="121075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258" name="Group 48257"/>
            <p:cNvGrpSpPr/>
            <p:nvPr/>
          </p:nvGrpSpPr>
          <p:grpSpPr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606" name="Rectangle 605"/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07" name="Straight Connector 606"/>
              <p:cNvCxnSpPr/>
              <p:nvPr/>
            </p:nvCxnSpPr>
            <p:spPr bwMode="auto">
              <a:xfrm flipH="1">
                <a:off x="6064879" y="4006798"/>
                <a:ext cx="1587" cy="13652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15" name="Group 607"/>
              <p:cNvGrpSpPr>
                <a:grpSpLocks/>
              </p:cNvGrpSpPr>
              <p:nvPr/>
            </p:nvGrpSpPr>
            <p:grpSpPr bwMode="auto"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616" name="Oval 615"/>
                <p:cNvSpPr/>
                <p:nvPr/>
              </p:nvSpPr>
              <p:spPr>
                <a:xfrm>
                  <a:off x="4128205" y="3719724"/>
                  <a:ext cx="568606" cy="225532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17" name="Rectangle 616"/>
                <p:cNvSpPr/>
                <p:nvPr/>
              </p:nvSpPr>
              <p:spPr>
                <a:xfrm>
                  <a:off x="4128205" y="3719724"/>
                  <a:ext cx="568606" cy="111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18" name="Oval 617"/>
                <p:cNvSpPr/>
                <p:nvPr/>
              </p:nvSpPr>
              <p:spPr>
                <a:xfrm>
                  <a:off x="4128205" y="3605744"/>
                  <a:ext cx="568606" cy="225534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19" name="Straight Connector 618"/>
                <p:cNvCxnSpPr/>
                <p:nvPr/>
              </p:nvCxnSpPr>
              <p:spPr>
                <a:xfrm>
                  <a:off x="4696811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0" name="Straight Connector 619"/>
                <p:cNvCxnSpPr/>
                <p:nvPr/>
              </p:nvCxnSpPr>
              <p:spPr>
                <a:xfrm>
                  <a:off x="4128205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9" name="Rectangle 608"/>
              <p:cNvSpPr/>
              <p:nvPr/>
            </p:nvSpPr>
            <p:spPr bwMode="auto">
              <a:xfrm>
                <a:off x="5558466" y="4562423"/>
                <a:ext cx="496888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11" name="Straight Connector 610"/>
              <p:cNvCxnSpPr/>
              <p:nvPr/>
            </p:nvCxnSpPr>
            <p:spPr bwMode="auto">
              <a:xfrm flipH="1">
                <a:off x="5552116" y="4014735"/>
                <a:ext cx="3175" cy="145097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01" name="Group 595"/>
              <p:cNvGrpSpPr>
                <a:grpSpLocks/>
              </p:cNvGrpSpPr>
              <p:nvPr/>
            </p:nvGrpSpPr>
            <p:grpSpPr bwMode="auto"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97" name="Oval 596"/>
                <p:cNvSpPr/>
                <p:nvPr/>
              </p:nvSpPr>
              <p:spPr bwMode="auto">
                <a:xfrm flipV="1">
                  <a:off x="2188662" y="1691250"/>
                  <a:ext cx="1194966" cy="31254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98" name="Rectangle 597"/>
                <p:cNvSpPr/>
                <p:nvPr/>
              </p:nvSpPr>
              <p:spPr bwMode="auto">
                <a:xfrm>
                  <a:off x="2184879" y="1736302"/>
                  <a:ext cx="1198749" cy="112629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9" name="Oval 598"/>
                <p:cNvSpPr/>
                <p:nvPr/>
              </p:nvSpPr>
              <p:spPr bwMode="auto">
                <a:xfrm flipV="1">
                  <a:off x="2184879" y="1564542"/>
                  <a:ext cx="1194966" cy="31254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00" name="Freeform 599"/>
                <p:cNvSpPr/>
                <p:nvPr/>
              </p:nvSpPr>
              <p:spPr bwMode="auto">
                <a:xfrm>
                  <a:off x="2491185" y="1671539"/>
                  <a:ext cx="582357" cy="1548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1" name="Freeform 600"/>
                <p:cNvSpPr/>
                <p:nvPr/>
              </p:nvSpPr>
              <p:spPr bwMode="auto">
                <a:xfrm>
                  <a:off x="2430680" y="1629304"/>
                  <a:ext cx="703366" cy="109812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2" name="Freeform 601"/>
                <p:cNvSpPr/>
                <p:nvPr/>
              </p:nvSpPr>
              <p:spPr bwMode="auto">
                <a:xfrm>
                  <a:off x="2892028" y="1722222"/>
                  <a:ext cx="260925" cy="9573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3" name="Freeform 602"/>
                <p:cNvSpPr/>
                <p:nvPr/>
              </p:nvSpPr>
              <p:spPr bwMode="auto">
                <a:xfrm>
                  <a:off x="2419334" y="1725039"/>
                  <a:ext cx="253364" cy="95734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04" name="Straight Connector 603"/>
                <p:cNvCxnSpPr>
                  <a:endCxn id="599" idx="2"/>
                </p:cNvCxnSpPr>
                <p:nvPr/>
              </p:nvCxnSpPr>
              <p:spPr bwMode="auto">
                <a:xfrm flipH="1" flipV="1">
                  <a:off x="2184879" y="1722222"/>
                  <a:ext cx="3783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Straight Connector 604"/>
                <p:cNvCxnSpPr/>
                <p:nvPr/>
              </p:nvCxnSpPr>
              <p:spPr bwMode="auto">
                <a:xfrm flipH="1" flipV="1">
                  <a:off x="3379845" y="1727853"/>
                  <a:ext cx="3783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259" name="Group 48258"/>
            <p:cNvGrpSpPr/>
            <p:nvPr/>
          </p:nvGrpSpPr>
          <p:grpSpPr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633" name="Rectangle 632"/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34" name="Straight Connector 633"/>
              <p:cNvCxnSpPr/>
              <p:nvPr/>
            </p:nvCxnSpPr>
            <p:spPr bwMode="auto">
              <a:xfrm flipH="1">
                <a:off x="7060241" y="3994098"/>
                <a:ext cx="1588" cy="136683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187" name="Group 634"/>
              <p:cNvGrpSpPr>
                <a:grpSpLocks/>
              </p:cNvGrpSpPr>
              <p:nvPr/>
            </p:nvGrpSpPr>
            <p:grpSpPr bwMode="auto"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643" name="Oval 642"/>
                <p:cNvSpPr/>
                <p:nvPr/>
              </p:nvSpPr>
              <p:spPr>
                <a:xfrm>
                  <a:off x="4128204" y="3719937"/>
                  <a:ext cx="568606" cy="225319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44" name="Rectangle 643"/>
                <p:cNvSpPr/>
                <p:nvPr/>
              </p:nvSpPr>
              <p:spPr>
                <a:xfrm>
                  <a:off x="4128204" y="3719937"/>
                  <a:ext cx="568606" cy="11144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45" name="Oval 644"/>
                <p:cNvSpPr/>
                <p:nvPr/>
              </p:nvSpPr>
              <p:spPr>
                <a:xfrm>
                  <a:off x="4128204" y="3606067"/>
                  <a:ext cx="568606" cy="22531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46" name="Straight Connector 645"/>
                <p:cNvCxnSpPr/>
                <p:nvPr/>
              </p:nvCxnSpPr>
              <p:spPr>
                <a:xfrm>
                  <a:off x="4696810" y="3719937"/>
                  <a:ext cx="0" cy="11144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Straight Connector 646"/>
                <p:cNvCxnSpPr/>
                <p:nvPr/>
              </p:nvCxnSpPr>
              <p:spPr>
                <a:xfrm>
                  <a:off x="4128204" y="3719937"/>
                  <a:ext cx="0" cy="11144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6" name="Rectangle 635"/>
              <p:cNvSpPr/>
              <p:nvPr/>
            </p:nvSpPr>
            <p:spPr bwMode="auto">
              <a:xfrm>
                <a:off x="6553829" y="4551310"/>
                <a:ext cx="496887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38" name="Straight Connector 637"/>
              <p:cNvCxnSpPr/>
              <p:nvPr/>
            </p:nvCxnSpPr>
            <p:spPr bwMode="auto">
              <a:xfrm flipH="1">
                <a:off x="6547479" y="4002035"/>
                <a:ext cx="3175" cy="1452563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173" name="Group 622"/>
              <p:cNvGrpSpPr>
                <a:grpSpLocks/>
              </p:cNvGrpSpPr>
              <p:nvPr/>
            </p:nvGrpSpPr>
            <p:grpSpPr bwMode="auto"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624" name="Oval 623"/>
                <p:cNvSpPr/>
                <p:nvPr/>
              </p:nvSpPr>
              <p:spPr bwMode="auto">
                <a:xfrm flipV="1">
                  <a:off x="2188659" y="1691130"/>
                  <a:ext cx="1194966" cy="31506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25" name="Rectangle 624"/>
                <p:cNvSpPr/>
                <p:nvPr/>
              </p:nvSpPr>
              <p:spPr bwMode="auto">
                <a:xfrm>
                  <a:off x="2184879" y="1736138"/>
                  <a:ext cx="1198746" cy="112522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6" name="Oval 625"/>
                <p:cNvSpPr/>
                <p:nvPr/>
              </p:nvSpPr>
              <p:spPr bwMode="auto">
                <a:xfrm flipV="1">
                  <a:off x="2184879" y="1564542"/>
                  <a:ext cx="1194966" cy="31506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27" name="Freeform 626"/>
                <p:cNvSpPr/>
                <p:nvPr/>
              </p:nvSpPr>
              <p:spPr bwMode="auto">
                <a:xfrm>
                  <a:off x="2491182" y="1671438"/>
                  <a:ext cx="582357" cy="15753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8" name="Freeform 627"/>
                <p:cNvSpPr/>
                <p:nvPr/>
              </p:nvSpPr>
              <p:spPr bwMode="auto">
                <a:xfrm>
                  <a:off x="2430678" y="1629243"/>
                  <a:ext cx="703366" cy="112522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9" name="Freeform 628"/>
                <p:cNvSpPr/>
                <p:nvPr/>
              </p:nvSpPr>
              <p:spPr bwMode="auto">
                <a:xfrm>
                  <a:off x="2892025" y="1724886"/>
                  <a:ext cx="260927" cy="956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30" name="Freeform 629"/>
                <p:cNvSpPr/>
                <p:nvPr/>
              </p:nvSpPr>
              <p:spPr bwMode="auto">
                <a:xfrm>
                  <a:off x="2419334" y="1727698"/>
                  <a:ext cx="253362" cy="92831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31" name="Straight Connector 630"/>
                <p:cNvCxnSpPr>
                  <a:endCxn id="626" idx="2"/>
                </p:cNvCxnSpPr>
                <p:nvPr/>
              </p:nvCxnSpPr>
              <p:spPr bwMode="auto">
                <a:xfrm flipH="1" flipV="1">
                  <a:off x="2184879" y="1722072"/>
                  <a:ext cx="3780" cy="12096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2" name="Straight Connector 631"/>
                <p:cNvCxnSpPr/>
                <p:nvPr/>
              </p:nvCxnSpPr>
              <p:spPr bwMode="auto">
                <a:xfrm flipH="1" flipV="1">
                  <a:off x="3379845" y="1730512"/>
                  <a:ext cx="3780" cy="12096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8" name="Group 27"/>
          <p:cNvGrpSpPr/>
          <p:nvPr/>
        </p:nvGrpSpPr>
        <p:grpSpPr>
          <a:xfrm>
            <a:off x="2381956" y="2475925"/>
            <a:ext cx="4415330" cy="2315048"/>
            <a:chOff x="2381956" y="2435173"/>
            <a:chExt cx="4415330" cy="2315048"/>
          </a:xfrm>
        </p:grpSpPr>
        <p:sp>
          <p:nvSpPr>
            <p:cNvPr id="391" name="Freeform 390"/>
            <p:cNvSpPr/>
            <p:nvPr/>
          </p:nvSpPr>
          <p:spPr>
            <a:xfrm>
              <a:off x="2381956" y="2439629"/>
              <a:ext cx="297540" cy="1743187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015941"/>
                <a:gd name="connsiteX1" fmla="*/ 0 w 307275"/>
                <a:gd name="connsiteY1" fmla="*/ 0 h 2015941"/>
                <a:gd name="connsiteX2" fmla="*/ 0 w 307275"/>
                <a:gd name="connsiteY2" fmla="*/ 2015941 h 2015941"/>
                <a:gd name="connsiteX0" fmla="*/ 228538 w 228538"/>
                <a:gd name="connsiteY0" fmla="*/ 0 h 2022548"/>
                <a:gd name="connsiteX1" fmla="*/ 0 w 228538"/>
                <a:gd name="connsiteY1" fmla="*/ 6607 h 2022548"/>
                <a:gd name="connsiteX2" fmla="*/ 0 w 228538"/>
                <a:gd name="connsiteY2" fmla="*/ 2022548 h 20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CC0000"/>
                </a:solidFill>
              </a:endParaRPr>
            </a:p>
          </p:txBody>
        </p:sp>
        <p:sp>
          <p:nvSpPr>
            <p:cNvPr id="392" name="Freeform 391"/>
            <p:cNvSpPr/>
            <p:nvPr/>
          </p:nvSpPr>
          <p:spPr>
            <a:xfrm flipH="1">
              <a:off x="6411524" y="2435173"/>
              <a:ext cx="385762" cy="2300562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117725"/>
                <a:gd name="connsiteX1" fmla="*/ 0 w 307275"/>
                <a:gd name="connsiteY1" fmla="*/ 0 h 2117725"/>
                <a:gd name="connsiteX2" fmla="*/ 0 w 307275"/>
                <a:gd name="connsiteY2" fmla="*/ 2117725 h 211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393" name="Straight Arrow Connector 392"/>
            <p:cNvCxnSpPr/>
            <p:nvPr/>
          </p:nvCxnSpPr>
          <p:spPr>
            <a:xfrm flipV="1">
              <a:off x="5791457" y="2687586"/>
              <a:ext cx="8309" cy="2062635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/>
            <p:cNvCxnSpPr/>
            <p:nvPr/>
          </p:nvCxnSpPr>
          <p:spPr>
            <a:xfrm flipV="1">
              <a:off x="4598735" y="2708225"/>
              <a:ext cx="18344" cy="2037167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/>
            <p:cNvCxnSpPr/>
            <p:nvPr/>
          </p:nvCxnSpPr>
          <p:spPr>
            <a:xfrm flipH="1" flipV="1">
              <a:off x="3807455" y="2762199"/>
              <a:ext cx="9009" cy="1983193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53706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L</a:t>
            </a:r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ogically </a:t>
            </a:r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centralized </a:t>
            </a:r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control plane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pic>
        <p:nvPicPr>
          <p:cNvPr id="48170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776288"/>
            <a:ext cx="6422481" cy="20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71" name="TextBox 335"/>
          <p:cNvSpPr txBox="1">
            <a:spLocks noChangeArrowheads="1"/>
          </p:cNvSpPr>
          <p:nvPr/>
        </p:nvSpPr>
        <p:spPr bwMode="auto">
          <a:xfrm>
            <a:off x="394448" y="1039914"/>
            <a:ext cx="8456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dirty="0" smtClean="0"/>
              <a:t>A distinct</a:t>
            </a:r>
            <a:r>
              <a:rPr lang="en-US" dirty="0"/>
              <a:t> </a:t>
            </a:r>
            <a:r>
              <a:rPr lang="en-US" dirty="0" smtClean="0"/>
              <a:t>(typically remote) controller </a:t>
            </a:r>
            <a:r>
              <a:rPr lang="en-US" dirty="0"/>
              <a:t>interacts with local control agents (</a:t>
            </a:r>
            <a:r>
              <a:rPr lang="en-US" dirty="0" smtClean="0"/>
              <a:t>CAs) in routers to compute forwarding tables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2055910" y="4687854"/>
            <a:ext cx="4956877" cy="694339"/>
            <a:chOff x="2055070" y="4690247"/>
            <a:chExt cx="4956877" cy="694339"/>
          </a:xfrm>
        </p:grpSpPr>
        <p:grpSp>
          <p:nvGrpSpPr>
            <p:cNvPr id="48273" name="Group 554"/>
            <p:cNvGrpSpPr>
              <a:grpSpLocks/>
            </p:cNvGrpSpPr>
            <p:nvPr/>
          </p:nvGrpSpPr>
          <p:grpSpPr bwMode="auto"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558" name="Rectangle 557"/>
              <p:cNvSpPr/>
              <p:nvPr/>
            </p:nvSpPr>
            <p:spPr>
              <a:xfrm>
                <a:off x="2936952" y="3913304"/>
                <a:ext cx="425766" cy="32877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9" name="Straight Connector 558"/>
              <p:cNvCxnSpPr/>
              <p:nvPr/>
            </p:nvCxnSpPr>
            <p:spPr>
              <a:xfrm>
                <a:off x="2932185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Straight Connector 559"/>
              <p:cNvCxnSpPr/>
              <p:nvPr/>
            </p:nvCxnSpPr>
            <p:spPr>
              <a:xfrm>
                <a:off x="2932185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560"/>
              <p:cNvCxnSpPr>
                <a:stCxn id="558" idx="2"/>
              </p:cNvCxnSpPr>
              <p:nvPr/>
            </p:nvCxnSpPr>
            <p:spPr>
              <a:xfrm flipH="1" flipV="1">
                <a:off x="3148246" y="4005425"/>
                <a:ext cx="1589" cy="23665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45" name="Group 582"/>
            <p:cNvGrpSpPr>
              <a:grpSpLocks/>
            </p:cNvGrpSpPr>
            <p:nvPr/>
          </p:nvGrpSpPr>
          <p:grpSpPr bwMode="auto"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585" name="Rectangle 584"/>
              <p:cNvSpPr/>
              <p:nvPr/>
            </p:nvSpPr>
            <p:spPr>
              <a:xfrm>
                <a:off x="2936952" y="3913304"/>
                <a:ext cx="425766" cy="3287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6" name="Straight Connector 585"/>
              <p:cNvCxnSpPr/>
              <p:nvPr/>
            </p:nvCxnSpPr>
            <p:spPr>
              <a:xfrm>
                <a:off x="2932186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Connector 586"/>
              <p:cNvCxnSpPr/>
              <p:nvPr/>
            </p:nvCxnSpPr>
            <p:spPr>
              <a:xfrm>
                <a:off x="2932186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Straight Connector 587"/>
              <p:cNvCxnSpPr>
                <a:stCxn id="585" idx="2"/>
              </p:cNvCxnSpPr>
              <p:nvPr/>
            </p:nvCxnSpPr>
            <p:spPr>
              <a:xfrm flipH="1" flipV="1">
                <a:off x="3148247" y="4005425"/>
                <a:ext cx="1588" cy="236653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17" name="Group 609"/>
            <p:cNvGrpSpPr>
              <a:grpSpLocks/>
            </p:cNvGrpSpPr>
            <p:nvPr/>
          </p:nvGrpSpPr>
          <p:grpSpPr bwMode="auto"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612" name="Rectangle 611"/>
              <p:cNvSpPr/>
              <p:nvPr/>
            </p:nvSpPr>
            <p:spPr>
              <a:xfrm>
                <a:off x="2936952" y="3913304"/>
                <a:ext cx="425765" cy="3287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13" name="Straight Connector 612"/>
              <p:cNvCxnSpPr/>
              <p:nvPr/>
            </p:nvCxnSpPr>
            <p:spPr>
              <a:xfrm>
                <a:off x="2932186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/>
              <p:cNvCxnSpPr/>
              <p:nvPr/>
            </p:nvCxnSpPr>
            <p:spPr>
              <a:xfrm>
                <a:off x="2932186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/>
              <p:cNvCxnSpPr>
                <a:stCxn id="612" idx="2"/>
              </p:cNvCxnSpPr>
              <p:nvPr/>
            </p:nvCxnSpPr>
            <p:spPr>
              <a:xfrm flipH="1" flipV="1">
                <a:off x="3148247" y="4005425"/>
                <a:ext cx="1588" cy="23665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189" name="Group 636"/>
            <p:cNvGrpSpPr>
              <a:grpSpLocks/>
            </p:cNvGrpSpPr>
            <p:nvPr/>
          </p:nvGrpSpPr>
          <p:grpSpPr bwMode="auto"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639" name="Rectangle 638"/>
              <p:cNvSpPr/>
              <p:nvPr/>
            </p:nvSpPr>
            <p:spPr>
              <a:xfrm>
                <a:off x="2936952" y="3912169"/>
                <a:ext cx="425766" cy="33004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40" name="Straight Connector 639"/>
              <p:cNvCxnSpPr/>
              <p:nvPr/>
            </p:nvCxnSpPr>
            <p:spPr>
              <a:xfrm>
                <a:off x="2932185" y="4004202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Straight Connector 640"/>
              <p:cNvCxnSpPr/>
              <p:nvPr/>
            </p:nvCxnSpPr>
            <p:spPr>
              <a:xfrm>
                <a:off x="2932185" y="4067673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Straight Connector 641"/>
              <p:cNvCxnSpPr>
                <a:stCxn id="639" idx="2"/>
              </p:cNvCxnSpPr>
              <p:nvPr/>
            </p:nvCxnSpPr>
            <p:spPr>
              <a:xfrm flipH="1" flipV="1">
                <a:off x="3148246" y="4004202"/>
                <a:ext cx="1589" cy="23801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7" name="Group 554"/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358" name="Rectangle 357"/>
              <p:cNvSpPr/>
              <p:nvPr/>
            </p:nvSpPr>
            <p:spPr>
              <a:xfrm>
                <a:off x="2936952" y="3913304"/>
                <a:ext cx="425766" cy="32877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59" name="Straight Connector 358"/>
              <p:cNvCxnSpPr/>
              <p:nvPr/>
            </p:nvCxnSpPr>
            <p:spPr>
              <a:xfrm>
                <a:off x="2932185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/>
              <p:nvPr/>
            </p:nvCxnSpPr>
            <p:spPr>
              <a:xfrm>
                <a:off x="2932185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/>
              <p:cNvCxnSpPr>
                <a:stCxn id="358" idx="2"/>
              </p:cNvCxnSpPr>
              <p:nvPr/>
            </p:nvCxnSpPr>
            <p:spPr>
              <a:xfrm flipH="1" flipV="1">
                <a:off x="3148246" y="4005425"/>
                <a:ext cx="1589" cy="23665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2" name="Group 347"/>
          <p:cNvGrpSpPr>
            <a:grpSpLocks/>
          </p:cNvGrpSpPr>
          <p:nvPr/>
        </p:nvGrpSpPr>
        <p:grpSpPr bwMode="auto">
          <a:xfrm>
            <a:off x="5856401" y="5944266"/>
            <a:ext cx="588970" cy="242608"/>
            <a:chOff x="1871277" y="1576300"/>
            <a:chExt cx="1128371" cy="437861"/>
          </a:xfrm>
        </p:grpSpPr>
        <p:sp>
          <p:nvSpPr>
            <p:cNvPr id="363" name="Oval 362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4" name="Rectangle 363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5" name="Oval 364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6" name="Freeform 365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7" name="Freeform 366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8" name="Freeform 367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9" name="Freeform 368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70" name="Straight Connector 369"/>
            <p:cNvCxnSpPr>
              <a:endCxn id="365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47"/>
          <p:cNvGrpSpPr>
            <a:grpSpLocks/>
          </p:cNvGrpSpPr>
          <p:nvPr/>
        </p:nvGrpSpPr>
        <p:grpSpPr bwMode="auto">
          <a:xfrm>
            <a:off x="4375328" y="5802169"/>
            <a:ext cx="588970" cy="242608"/>
            <a:chOff x="1871277" y="1576300"/>
            <a:chExt cx="1128371" cy="437861"/>
          </a:xfrm>
        </p:grpSpPr>
        <p:sp>
          <p:nvSpPr>
            <p:cNvPr id="373" name="Oval 372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4" name="Rectangle 373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5" name="Oval 374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6" name="Freeform 375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7" name="Freeform 376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8" name="Freeform 377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9" name="Freeform 378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80" name="Straight Connector 379"/>
            <p:cNvCxnSpPr>
              <a:endCxn id="375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2" name="Group 347"/>
          <p:cNvGrpSpPr>
            <a:grpSpLocks/>
          </p:cNvGrpSpPr>
          <p:nvPr/>
        </p:nvGrpSpPr>
        <p:grpSpPr bwMode="auto">
          <a:xfrm>
            <a:off x="2848241" y="5995982"/>
            <a:ext cx="588970" cy="242608"/>
            <a:chOff x="1871277" y="1576300"/>
            <a:chExt cx="1128371" cy="437861"/>
          </a:xfrm>
        </p:grpSpPr>
        <p:sp>
          <p:nvSpPr>
            <p:cNvPr id="383" name="Oval 382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4" name="Rectangle 383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5" name="Oval 384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6" name="Freeform 385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7" name="Freeform 386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0" name="Freeform 38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7" name="Freeform 396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99" name="Straight Connector 398"/>
            <p:cNvCxnSpPr>
              <a:endCxn id="385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Group 347"/>
          <p:cNvGrpSpPr>
            <a:grpSpLocks/>
          </p:cNvGrpSpPr>
          <p:nvPr/>
        </p:nvGrpSpPr>
        <p:grpSpPr bwMode="auto">
          <a:xfrm>
            <a:off x="5166757" y="6262321"/>
            <a:ext cx="588970" cy="242608"/>
            <a:chOff x="1871277" y="1576300"/>
            <a:chExt cx="1128371" cy="437861"/>
          </a:xfrm>
        </p:grpSpPr>
        <p:sp>
          <p:nvSpPr>
            <p:cNvPr id="402" name="Oval 4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07" name="Rectangle 406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12" name="Oval 411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17" name="Freeform 41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2" name="Freeform 421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7" name="Freeform 42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8" name="Freeform 42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429" name="Straight Connector 428"/>
            <p:cNvCxnSpPr>
              <a:endCxn id="412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1" name="Group 347"/>
          <p:cNvGrpSpPr>
            <a:grpSpLocks/>
          </p:cNvGrpSpPr>
          <p:nvPr/>
        </p:nvGrpSpPr>
        <p:grpSpPr bwMode="auto">
          <a:xfrm>
            <a:off x="3704088" y="6354901"/>
            <a:ext cx="588970" cy="242608"/>
            <a:chOff x="1871277" y="1576300"/>
            <a:chExt cx="1128371" cy="437861"/>
          </a:xfrm>
        </p:grpSpPr>
        <p:sp>
          <p:nvSpPr>
            <p:cNvPr id="432" name="Oval 43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3" name="Rectangle 43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4" name="Oval 43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5" name="Freeform 43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6" name="Freeform 43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7" name="Freeform 43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8" name="Freeform 43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439" name="Straight Connector 438"/>
            <p:cNvCxnSpPr>
              <a:endCxn id="43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25875" y="2220187"/>
            <a:ext cx="5095391" cy="2833288"/>
            <a:chOff x="1925876" y="2212958"/>
            <a:chExt cx="5095391" cy="2833288"/>
          </a:xfrm>
        </p:grpSpPr>
        <p:grpSp>
          <p:nvGrpSpPr>
            <p:cNvPr id="12" name="Group 11"/>
            <p:cNvGrpSpPr/>
            <p:nvPr/>
          </p:nvGrpSpPr>
          <p:grpSpPr>
            <a:xfrm>
              <a:off x="2745416" y="2212958"/>
              <a:ext cx="3597533" cy="493677"/>
              <a:chOff x="2705100" y="2011398"/>
              <a:chExt cx="3597533" cy="493677"/>
            </a:xfrm>
          </p:grpSpPr>
          <p:sp>
            <p:nvSpPr>
              <p:cNvPr id="342" name="Oval 341"/>
              <p:cNvSpPr/>
              <p:nvPr/>
            </p:nvSpPr>
            <p:spPr bwMode="auto">
              <a:xfrm>
                <a:off x="2722820" y="2011398"/>
                <a:ext cx="3579813" cy="492125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89" name="Oval 388"/>
              <p:cNvSpPr/>
              <p:nvPr/>
            </p:nvSpPr>
            <p:spPr bwMode="auto">
              <a:xfrm>
                <a:off x="2705100" y="2012950"/>
                <a:ext cx="3579813" cy="492125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8308" name="TextBox 389"/>
              <p:cNvSpPr txBox="1">
                <a:spLocks noChangeArrowheads="1"/>
              </p:cNvSpPr>
              <p:nvPr/>
            </p:nvSpPr>
            <p:spPr bwMode="auto">
              <a:xfrm>
                <a:off x="3452664" y="2127167"/>
                <a:ext cx="2057700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800" dirty="0">
                    <a:solidFill>
                      <a:schemeClr val="bg1"/>
                    </a:solidFill>
                  </a:rPr>
                  <a:t>Remote Controller</a:t>
                </a:r>
              </a:p>
            </p:txBody>
          </p:sp>
        </p:grpSp>
        <p:grpSp>
          <p:nvGrpSpPr>
            <p:cNvPr id="442" name="Group 441"/>
            <p:cNvGrpSpPr/>
            <p:nvPr/>
          </p:nvGrpSpPr>
          <p:grpSpPr>
            <a:xfrm>
              <a:off x="1925876" y="4223509"/>
              <a:ext cx="923540" cy="405953"/>
              <a:chOff x="2705100" y="2011398"/>
              <a:chExt cx="3597533" cy="493677"/>
            </a:xfrm>
          </p:grpSpPr>
          <p:sp>
            <p:nvSpPr>
              <p:cNvPr id="443" name="Oval 442"/>
              <p:cNvSpPr/>
              <p:nvPr/>
            </p:nvSpPr>
            <p:spPr bwMode="auto">
              <a:xfrm>
                <a:off x="2722820" y="2011398"/>
                <a:ext cx="3579813" cy="492125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4" name="Oval 443"/>
              <p:cNvSpPr/>
              <p:nvPr/>
            </p:nvSpPr>
            <p:spPr bwMode="auto">
              <a:xfrm>
                <a:off x="2705100" y="2012950"/>
                <a:ext cx="3579813" cy="492125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5" name="TextBox 389"/>
              <p:cNvSpPr txBox="1">
                <a:spLocks noChangeArrowheads="1"/>
              </p:cNvSpPr>
              <p:nvPr/>
            </p:nvSpPr>
            <p:spPr bwMode="auto"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8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3589508" y="4760377"/>
              <a:ext cx="463568" cy="285869"/>
              <a:chOff x="3558850" y="4573304"/>
              <a:chExt cx="463568" cy="285869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47" name="Oval 446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8" name="Oval 447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49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1" name="Group 450"/>
            <p:cNvGrpSpPr/>
            <p:nvPr/>
          </p:nvGrpSpPr>
          <p:grpSpPr>
            <a:xfrm>
              <a:off x="4369656" y="4758258"/>
              <a:ext cx="463568" cy="285869"/>
              <a:chOff x="3558850" y="4573304"/>
              <a:chExt cx="463568" cy="285869"/>
            </a:xfrm>
          </p:grpSpPr>
          <p:grpSp>
            <p:nvGrpSpPr>
              <p:cNvPr id="452" name="Group 451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4" name="Oval 453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5" name="Oval 454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53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6" name="Group 455"/>
            <p:cNvGrpSpPr/>
            <p:nvPr/>
          </p:nvGrpSpPr>
          <p:grpSpPr>
            <a:xfrm>
              <a:off x="5569912" y="4756140"/>
              <a:ext cx="463568" cy="285869"/>
              <a:chOff x="3558850" y="4573304"/>
              <a:chExt cx="463568" cy="285869"/>
            </a:xfrm>
          </p:grpSpPr>
          <p:grpSp>
            <p:nvGrpSpPr>
              <p:cNvPr id="457" name="Group 456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9" name="Oval 458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0" name="Oval 459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58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61" name="Group 460"/>
            <p:cNvGrpSpPr/>
            <p:nvPr/>
          </p:nvGrpSpPr>
          <p:grpSpPr>
            <a:xfrm>
              <a:off x="6557699" y="4754022"/>
              <a:ext cx="463568" cy="285869"/>
              <a:chOff x="3558850" y="4573304"/>
              <a:chExt cx="463568" cy="285869"/>
            </a:xfrm>
          </p:grpSpPr>
          <p:grpSp>
            <p:nvGrpSpPr>
              <p:cNvPr id="462" name="Group 461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64" name="Oval 463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5" name="Oval 464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63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5" y="6475895"/>
            <a:ext cx="458808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4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651760" y="3017520"/>
            <a:ext cx="3972560" cy="2032000"/>
            <a:chOff x="2651760" y="3017520"/>
            <a:chExt cx="3972560" cy="2032000"/>
          </a:xfrm>
        </p:grpSpPr>
        <p:cxnSp>
          <p:nvCxnSpPr>
            <p:cNvPr id="338" name="Straight Arrow Connector 337"/>
            <p:cNvCxnSpPr/>
            <p:nvPr/>
          </p:nvCxnSpPr>
          <p:spPr bwMode="auto">
            <a:xfrm>
              <a:off x="2651760" y="3017520"/>
              <a:ext cx="0" cy="166624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Arrow Connector 342"/>
            <p:cNvCxnSpPr/>
            <p:nvPr/>
          </p:nvCxnSpPr>
          <p:spPr bwMode="auto">
            <a:xfrm>
              <a:off x="364744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Arrow Connector 346"/>
            <p:cNvCxnSpPr/>
            <p:nvPr/>
          </p:nvCxnSpPr>
          <p:spPr bwMode="auto">
            <a:xfrm>
              <a:off x="446024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Arrow Connector 347"/>
            <p:cNvCxnSpPr/>
            <p:nvPr/>
          </p:nvCxnSpPr>
          <p:spPr bwMode="auto">
            <a:xfrm>
              <a:off x="565912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Arrow Connector 348"/>
            <p:cNvCxnSpPr/>
            <p:nvPr/>
          </p:nvCxnSpPr>
          <p:spPr bwMode="auto">
            <a:xfrm>
              <a:off x="662432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4837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5.1 </a:t>
            </a:r>
            <a:r>
              <a:rPr lang="en-US" sz="2400" dirty="0">
                <a:latin typeface="Gill Sans MT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5.2 routing protocols</a:t>
            </a:r>
          </a:p>
          <a:p>
            <a:pPr>
              <a:lnSpc>
                <a:spcPts val="2580"/>
              </a:lnSpc>
            </a:pP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link state</a:t>
            </a:r>
          </a:p>
          <a:p>
            <a:pPr>
              <a:lnSpc>
                <a:spcPts val="2580"/>
              </a:lnSpc>
            </a:pP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distance vector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5.3 intra</a:t>
            </a:r>
            <a:r>
              <a:rPr lang="en-US" sz="2400" dirty="0"/>
              <a:t>-AS </a:t>
            </a:r>
            <a:r>
              <a:rPr lang="en-US" sz="2400" dirty="0" smtClean="0"/>
              <a:t>routing </a:t>
            </a:r>
            <a:r>
              <a:rPr lang="en-US" sz="2400" dirty="0"/>
              <a:t>in the Internet: </a:t>
            </a:r>
            <a:r>
              <a:rPr lang="en-US" sz="2400" dirty="0" smtClean="0"/>
              <a:t>OSPF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5.4 routing among </a:t>
            </a:r>
            <a:r>
              <a:rPr lang="en-US" sz="2400" dirty="0"/>
              <a:t>the ISPs: B</a:t>
            </a:r>
            <a:r>
              <a:rPr lang="en-US" sz="2400" dirty="0" smtClean="0"/>
              <a:t>GP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61963" indent="-461963"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5.5 The SDN control plane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5.6 </a:t>
            </a:r>
            <a:r>
              <a:rPr lang="en-US" sz="2400" dirty="0"/>
              <a:t>ICMP: The Internet Control Message Protocol 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/>
              <a:t>5.7 Network </a:t>
            </a:r>
            <a:r>
              <a:rPr lang="en-US" sz="2400" dirty="0" smtClean="0"/>
              <a:t>management </a:t>
            </a:r>
            <a:r>
              <a:rPr lang="en-US" sz="2400" dirty="0"/>
              <a:t>and SNMP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</a:rPr>
              <a:t>5: </a:t>
            </a:r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outline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5" y="6475895"/>
            <a:ext cx="458808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096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1" name="Picture 224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3972409" cy="183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52413"/>
            <a:ext cx="7772400" cy="685800"/>
          </a:xfrm>
        </p:spPr>
        <p:txBody>
          <a:bodyPr/>
          <a:lstStyle/>
          <a:p>
            <a:r>
              <a:rPr lang="en-US" sz="4000" dirty="0" smtClean="0">
                <a:latin typeface="Gill Sans MT" charset="0"/>
              </a:rPr>
              <a:t>Routing</a:t>
            </a:r>
            <a:r>
              <a:rPr lang="en-US" altLang="ja-JP" sz="4000" dirty="0" smtClean="0">
                <a:latin typeface="Gill Sans MT" charset="0"/>
              </a:rPr>
              <a:t> protocols</a:t>
            </a:r>
            <a:endParaRPr lang="en-US" dirty="0">
              <a:latin typeface="Gill Sans MT" charset="0"/>
            </a:endParaRPr>
          </a:p>
        </p:txBody>
      </p:sp>
      <p:sp>
        <p:nvSpPr>
          <p:cNvPr id="849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22261" y="1363819"/>
            <a:ext cx="7353300" cy="427460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i="1" dirty="0" smtClean="0">
                <a:solidFill>
                  <a:srgbClr val="CC0000"/>
                </a:solidFill>
                <a:cs typeface="+mn-cs"/>
              </a:rPr>
              <a:t>Routing </a:t>
            </a:r>
            <a:r>
              <a:rPr lang="en-US" sz="3200" i="1" dirty="0">
                <a:solidFill>
                  <a:srgbClr val="CC0000"/>
                </a:solidFill>
                <a:cs typeface="+mn-cs"/>
              </a:rPr>
              <a:t>p</a:t>
            </a:r>
            <a:r>
              <a:rPr lang="en-US" sz="3200" i="1" dirty="0" smtClean="0">
                <a:solidFill>
                  <a:srgbClr val="CC0000"/>
                </a:solidFill>
                <a:cs typeface="+mn-cs"/>
              </a:rPr>
              <a:t>rotocol goal:</a:t>
            </a:r>
            <a:r>
              <a:rPr lang="en-US" sz="3200" dirty="0"/>
              <a:t> </a:t>
            </a:r>
            <a:r>
              <a:rPr lang="en-US" dirty="0"/>
              <a:t>determine </a:t>
            </a:r>
            <a:r>
              <a:rPr lang="en-US" dirty="0" smtClean="0"/>
              <a:t>“good” paths </a:t>
            </a:r>
            <a:r>
              <a:rPr lang="en-US" dirty="0"/>
              <a:t>(equivalently, routes), from </a:t>
            </a:r>
            <a:r>
              <a:rPr lang="en-US" dirty="0" smtClean="0"/>
              <a:t>sending hosts </a:t>
            </a:r>
            <a:r>
              <a:rPr lang="en-US" dirty="0"/>
              <a:t>to </a:t>
            </a:r>
            <a:r>
              <a:rPr lang="en-US" dirty="0" smtClean="0"/>
              <a:t>receiving host, </a:t>
            </a:r>
            <a:r>
              <a:rPr lang="en-US" dirty="0"/>
              <a:t>through </a:t>
            </a:r>
            <a:r>
              <a:rPr lang="en-US" dirty="0" smtClean="0"/>
              <a:t>network of routers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 smtClean="0">
                <a:cs typeface="+mn-cs"/>
              </a:rPr>
              <a:t>path: sequence of routers packets will traverse in going from given initial source host to given final destination host</a:t>
            </a:r>
            <a:endParaRPr lang="en-US" dirty="0">
              <a:cs typeface="+mn-cs"/>
            </a:endParaRPr>
          </a:p>
          <a:p>
            <a:pPr>
              <a:lnSpc>
                <a:spcPct val="100000"/>
              </a:lnSpc>
              <a:defRPr/>
            </a:pPr>
            <a:r>
              <a:rPr lang="en-US" dirty="0" smtClean="0">
                <a:cs typeface="+mn-cs"/>
              </a:rPr>
              <a:t>“good”: least “cost”, “fastest”, “least congested”</a:t>
            </a:r>
            <a:endParaRPr lang="en-US" sz="2400" dirty="0" smtClean="0">
              <a:cs typeface="+mn-cs"/>
            </a:endParaRPr>
          </a:p>
          <a:p>
            <a:pPr>
              <a:lnSpc>
                <a:spcPct val="100000"/>
              </a:lnSpc>
              <a:defRPr/>
            </a:pPr>
            <a:r>
              <a:rPr lang="en-US" dirty="0" smtClean="0">
                <a:cs typeface="+mn-cs"/>
              </a:rPr>
              <a:t>routing: a “top-10” networking challenge!</a:t>
            </a:r>
            <a:endParaRPr lang="en-US" sz="3200" dirty="0">
              <a:cs typeface="+mn-cs"/>
            </a:endParaRPr>
          </a:p>
        </p:txBody>
      </p:sp>
      <p:sp>
        <p:nvSpPr>
          <p:cNvPr id="23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23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311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5" name="Picture 7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847724"/>
            <a:ext cx="6924508" cy="21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0836" name="Group 2"/>
          <p:cNvGrpSpPr>
            <a:grpSpLocks/>
          </p:cNvGrpSpPr>
          <p:nvPr/>
        </p:nvGrpSpPr>
        <p:grpSpPr bwMode="auto">
          <a:xfrm>
            <a:off x="3200400" y="1406525"/>
            <a:ext cx="3571875" cy="2236788"/>
            <a:chOff x="3162" y="1071"/>
            <a:chExt cx="2250" cy="1409"/>
          </a:xfrm>
        </p:grpSpPr>
        <p:sp>
          <p:nvSpPr>
            <p:cNvPr id="120840" name="Freeform 3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1" name="Freeform 4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2" name="Oval 5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3" name="Line 6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4" name="Line 7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5" name="Rectangle 8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0846" name="Oval 9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7" name="Oval 10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8" name="Line 11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9" name="Line 12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0" name="Rectangle 13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0851" name="Oval 14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2" name="Oval 15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3" name="Line 16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4" name="Line 17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5" name="Rectangle 18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0856" name="Oval 19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7" name="Oval 20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8" name="Line 21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9" name="Line 22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0" name="Rectangle 23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0861" name="Oval 24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2" name="Oval 25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3" name="Line 26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4" name="Line 27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5" name="Rectangle 28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0866" name="Oval 29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7" name="Oval 30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8" name="Line 31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69" name="Line 32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0" name="Rectangle 33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0871" name="Oval 34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2" name="Freeform 35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3" name="Freeform 36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4" name="Freeform 37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5" name="Freeform 38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6" name="Freeform 39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7" name="Freeform 40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8" name="Freeform 41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79" name="Freeform 42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0" name="Freeform 43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0881" name="Group 44"/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20907" name="Rectangle 4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908" name="Text Box 46"/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u</a:t>
                </a:r>
                <a:endParaRPr lang="en-US"/>
              </a:p>
            </p:txBody>
          </p:sp>
        </p:grpSp>
        <p:grpSp>
          <p:nvGrpSpPr>
            <p:cNvPr id="120882" name="Group 47"/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20905" name="Rectangle 4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906" name="Text Box 49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y</a:t>
                </a:r>
                <a:endParaRPr lang="en-US"/>
              </a:p>
            </p:txBody>
          </p:sp>
        </p:grpSp>
        <p:grpSp>
          <p:nvGrpSpPr>
            <p:cNvPr id="120883" name="Group 50"/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20903" name="Rectangle 5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904" name="Text Box 52"/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x</a:t>
                </a:r>
              </a:p>
            </p:txBody>
          </p:sp>
        </p:grpSp>
        <p:grpSp>
          <p:nvGrpSpPr>
            <p:cNvPr id="120884" name="Group 53"/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20901" name="Rectangle 5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902" name="Text Box 55"/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w</a:t>
                </a:r>
                <a:endParaRPr lang="en-US"/>
              </a:p>
            </p:txBody>
          </p:sp>
        </p:grpSp>
        <p:grpSp>
          <p:nvGrpSpPr>
            <p:cNvPr id="120885" name="Group 56"/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20899" name="Rectangle 5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900" name="Text Box 58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v</a:t>
                </a:r>
                <a:endParaRPr lang="en-US"/>
              </a:p>
            </p:txBody>
          </p:sp>
        </p:grpSp>
        <p:grpSp>
          <p:nvGrpSpPr>
            <p:cNvPr id="120886" name="Group 59"/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20897" name="Rectangle 6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898" name="Text Box 61"/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z</a:t>
                </a:r>
              </a:p>
            </p:txBody>
          </p:sp>
        </p:grpSp>
        <p:sp>
          <p:nvSpPr>
            <p:cNvPr id="120887" name="Text Box 62"/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0888" name="Text Box 63"/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0889" name="Text Box 64"/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20890" name="Text Box 65"/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20891" name="Text Box 66"/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20892" name="Text Box 67"/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20893" name="Text Box 68"/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0894" name="Text Box 69"/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20895" name="Text Box 70"/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20896" name="Text Box 71"/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</p:grpSp>
      <p:sp>
        <p:nvSpPr>
          <p:cNvPr id="120837" name="Text Box 72"/>
          <p:cNvSpPr txBox="1">
            <a:spLocks noChangeArrowheads="1"/>
          </p:cNvSpPr>
          <p:nvPr/>
        </p:nvSpPr>
        <p:spPr bwMode="auto">
          <a:xfrm>
            <a:off x="939800" y="3263900"/>
            <a:ext cx="7397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/>
              <a:t>graph: G = (N,E)</a:t>
            </a:r>
          </a:p>
          <a:p>
            <a:pPr eaLnBrk="1" hangingPunct="1"/>
            <a:endParaRPr lang="en-US" sz="1800"/>
          </a:p>
          <a:p>
            <a:pPr eaLnBrk="1" hangingPunct="1"/>
            <a:r>
              <a:rPr lang="en-US" sz="1800"/>
              <a:t>N = set of routers = { u, v, w, x, y, z }</a:t>
            </a:r>
          </a:p>
          <a:p>
            <a:pPr eaLnBrk="1" hangingPunct="1"/>
            <a:endParaRPr lang="en-US" sz="1800"/>
          </a:p>
          <a:p>
            <a:pPr eaLnBrk="1" hangingPunct="1"/>
            <a:r>
              <a:rPr lang="en-US" sz="1800"/>
              <a:t>E = set of links ={ (u,v), (u,x), (v,x), (v,w), (x,w), (x,y), (w,y), (w,z), (y,z) }</a:t>
            </a:r>
          </a:p>
        </p:txBody>
      </p:sp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>
          <a:xfrm>
            <a:off x="533400" y="207963"/>
            <a:ext cx="7772400" cy="796925"/>
          </a:xfrm>
        </p:spPr>
        <p:txBody>
          <a:bodyPr/>
          <a:lstStyle/>
          <a:p>
            <a:pPr>
              <a:defRPr/>
            </a:pPr>
            <a:r>
              <a:rPr lang="en-US" sz="4000" dirty="0" smtClean="0">
                <a:cs typeface="+mj-cs"/>
              </a:rPr>
              <a:t>Graph abstraction of the network</a:t>
            </a:r>
            <a:endParaRPr lang="en-US" sz="4000" dirty="0">
              <a:cs typeface="+mj-cs"/>
            </a:endParaRPr>
          </a:p>
        </p:txBody>
      </p:sp>
      <p:sp>
        <p:nvSpPr>
          <p:cNvPr id="120839" name="Text Box 74"/>
          <p:cNvSpPr txBox="1">
            <a:spLocks noChangeArrowheads="1"/>
          </p:cNvSpPr>
          <p:nvPr/>
        </p:nvSpPr>
        <p:spPr bwMode="auto">
          <a:xfrm>
            <a:off x="1150938" y="5157788"/>
            <a:ext cx="676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90513" indent="-290513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i="1" dirty="0"/>
              <a:t>aside:</a:t>
            </a:r>
            <a:r>
              <a:rPr lang="en-US" sz="1800" dirty="0"/>
              <a:t> graph abstraction is useful in other network contexts, e.g., </a:t>
            </a:r>
          </a:p>
          <a:p>
            <a:r>
              <a:rPr lang="en-US" sz="1800" dirty="0"/>
              <a:t>P2P, where </a:t>
            </a:r>
            <a:r>
              <a:rPr lang="en-US" sz="1800" i="1" dirty="0"/>
              <a:t>N</a:t>
            </a:r>
            <a:r>
              <a:rPr lang="en-US" sz="1800" dirty="0"/>
              <a:t> is set of peers and </a:t>
            </a:r>
            <a:r>
              <a:rPr lang="en-US" sz="1800" i="1" dirty="0"/>
              <a:t>E</a:t>
            </a:r>
            <a:r>
              <a:rPr lang="en-US" sz="1800" dirty="0"/>
              <a:t> is set of TCP connections</a:t>
            </a:r>
          </a:p>
        </p:txBody>
      </p:sp>
      <p:sp>
        <p:nvSpPr>
          <p:cNvPr id="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7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011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9" name="Picture 77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893763"/>
            <a:ext cx="5942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19075"/>
            <a:ext cx="7772400" cy="90805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Graph abstraction: costs</a:t>
            </a:r>
          </a:p>
        </p:txBody>
      </p:sp>
      <p:grpSp>
        <p:nvGrpSpPr>
          <p:cNvPr id="121861" name="Group 3"/>
          <p:cNvGrpSpPr>
            <a:grpSpLocks/>
          </p:cNvGrpSpPr>
          <p:nvPr/>
        </p:nvGrpSpPr>
        <p:grpSpPr bwMode="auto">
          <a:xfrm>
            <a:off x="920750" y="1495425"/>
            <a:ext cx="3571875" cy="2236788"/>
            <a:chOff x="3162" y="1071"/>
            <a:chExt cx="2250" cy="1409"/>
          </a:xfrm>
        </p:grpSpPr>
        <p:sp>
          <p:nvSpPr>
            <p:cNvPr id="121865" name="Freeform 4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66" name="Freeform 5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67" name="Oval 6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68" name="Line 7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69" name="Line 8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70" name="Rectangle 9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1871" name="Oval 10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72" name="Oval 11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73" name="Line 12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74" name="Line 13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75" name="Rectangle 14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1876" name="Oval 15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77" name="Oval 16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78" name="Line 17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79" name="Line 18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80" name="Rectangle 19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1881" name="Oval 20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82" name="Oval 21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83" name="Line 22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84" name="Line 23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85" name="Rectangle 24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1886" name="Oval 25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87" name="Oval 26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88" name="Line 27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89" name="Line 28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90" name="Rectangle 29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1891" name="Oval 30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92" name="Oval 31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93" name="Line 32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94" name="Line 33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95" name="Rectangle 34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1896" name="Oval 35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97" name="Freeform 36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98" name="Freeform 37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99" name="Freeform 38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900" name="Freeform 39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901" name="Freeform 40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902" name="Freeform 41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903" name="Freeform 42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904" name="Freeform 43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905" name="Freeform 44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1906" name="Group 45"/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21932" name="Rectangle 4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33" name="Text Box 47"/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u</a:t>
                </a:r>
                <a:endParaRPr lang="en-US"/>
              </a:p>
            </p:txBody>
          </p:sp>
        </p:grpSp>
        <p:grpSp>
          <p:nvGrpSpPr>
            <p:cNvPr id="121907" name="Group 48"/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21930" name="Rectangle 4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31" name="Text Box 50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y</a:t>
                </a:r>
                <a:endParaRPr lang="en-US"/>
              </a:p>
            </p:txBody>
          </p:sp>
        </p:grpSp>
        <p:grpSp>
          <p:nvGrpSpPr>
            <p:cNvPr id="121908" name="Group 51"/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21928" name="Rectangle 5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29" name="Text Box 53"/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x</a:t>
                </a:r>
              </a:p>
            </p:txBody>
          </p:sp>
        </p:grpSp>
        <p:grpSp>
          <p:nvGrpSpPr>
            <p:cNvPr id="121909" name="Group 54"/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21926" name="Rectangle 5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27" name="Text Box 56"/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w</a:t>
                </a:r>
                <a:endParaRPr lang="en-US"/>
              </a:p>
            </p:txBody>
          </p:sp>
        </p:grpSp>
        <p:grpSp>
          <p:nvGrpSpPr>
            <p:cNvPr id="121910" name="Group 57"/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21924" name="Rectangle 5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25" name="Text Box 59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v</a:t>
                </a:r>
                <a:endParaRPr lang="en-US"/>
              </a:p>
            </p:txBody>
          </p:sp>
        </p:grpSp>
        <p:grpSp>
          <p:nvGrpSpPr>
            <p:cNvPr id="121911" name="Group 60"/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21922" name="Rectangle 6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23" name="Text Box 62"/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z</a:t>
                </a:r>
              </a:p>
            </p:txBody>
          </p:sp>
        </p:grpSp>
        <p:sp>
          <p:nvSpPr>
            <p:cNvPr id="121912" name="Text Box 63"/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1913" name="Text Box 64"/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1914" name="Text Box 65"/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21915" name="Text Box 66"/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21916" name="Text Box 67"/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21917" name="Text Box 68"/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21918" name="Text Box 69"/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1919" name="Text Box 70"/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21920" name="Text Box 71"/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21921" name="Text Box 72"/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</p:grpSp>
      <p:sp>
        <p:nvSpPr>
          <p:cNvPr id="121862" name="Text Box 73"/>
          <p:cNvSpPr txBox="1">
            <a:spLocks noChangeArrowheads="1"/>
          </p:cNvSpPr>
          <p:nvPr/>
        </p:nvSpPr>
        <p:spPr bwMode="auto">
          <a:xfrm>
            <a:off x="5265738" y="1689100"/>
            <a:ext cx="3052762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c(x,x</a:t>
            </a:r>
            <a:r>
              <a:rPr lang="ja-JP" altLang="en-US" sz="1800"/>
              <a:t>’</a:t>
            </a:r>
            <a:r>
              <a:rPr lang="en-US" altLang="ja-JP" sz="1800"/>
              <a:t>) = cost of link (x,x</a:t>
            </a:r>
            <a:r>
              <a:rPr lang="ja-JP" altLang="en-US" sz="1800"/>
              <a:t>’</a:t>
            </a:r>
            <a:r>
              <a:rPr lang="en-US" altLang="ja-JP" sz="1800"/>
              <a:t>)</a:t>
            </a:r>
          </a:p>
          <a:p>
            <a:r>
              <a:rPr lang="en-US" sz="1800"/>
              <a:t>      e.g., c(w,z) = 5</a:t>
            </a:r>
          </a:p>
          <a:p>
            <a:endParaRPr lang="en-US" sz="1800"/>
          </a:p>
          <a:p>
            <a:r>
              <a:rPr lang="en-US" sz="1800">
                <a:latin typeface="Gill Sans MT" charset="0"/>
              </a:rPr>
              <a:t>cost could always be 1, or </a:t>
            </a:r>
          </a:p>
          <a:p>
            <a:r>
              <a:rPr lang="en-US" sz="1800">
                <a:latin typeface="Gill Sans MT" charset="0"/>
              </a:rPr>
              <a:t>inversely related to bandwidth,</a:t>
            </a:r>
          </a:p>
          <a:p>
            <a:r>
              <a:rPr lang="en-US" sz="1800">
                <a:latin typeface="Gill Sans MT" charset="0"/>
              </a:rPr>
              <a:t>or inversely related to </a:t>
            </a:r>
          </a:p>
          <a:p>
            <a:r>
              <a:rPr lang="en-US" sz="1800">
                <a:latin typeface="Gill Sans MT" charset="0"/>
              </a:rPr>
              <a:t>congestion</a:t>
            </a:r>
          </a:p>
        </p:txBody>
      </p:sp>
      <p:sp>
        <p:nvSpPr>
          <p:cNvPr id="121863" name="Text Box 74"/>
          <p:cNvSpPr txBox="1">
            <a:spLocks noChangeArrowheads="1"/>
          </p:cNvSpPr>
          <p:nvPr/>
        </p:nvSpPr>
        <p:spPr bwMode="auto">
          <a:xfrm>
            <a:off x="925513" y="4227513"/>
            <a:ext cx="6761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cost of path (x</a:t>
            </a:r>
            <a:r>
              <a:rPr lang="en-US" sz="1800" baseline="-25000"/>
              <a:t>1</a:t>
            </a:r>
            <a:r>
              <a:rPr lang="en-US" sz="1800"/>
              <a:t>, x</a:t>
            </a:r>
            <a:r>
              <a:rPr lang="en-US" sz="1800" baseline="-25000"/>
              <a:t>2</a:t>
            </a:r>
            <a:r>
              <a:rPr lang="en-US" sz="1800"/>
              <a:t>, x</a:t>
            </a:r>
            <a:r>
              <a:rPr lang="en-US" sz="1800" baseline="-25000"/>
              <a:t>3</a:t>
            </a:r>
            <a:r>
              <a:rPr lang="en-US" sz="1800"/>
              <a:t>,…, x</a:t>
            </a:r>
            <a:r>
              <a:rPr lang="en-US" sz="1800" baseline="-25000"/>
              <a:t>p</a:t>
            </a:r>
            <a:r>
              <a:rPr lang="en-US" sz="1800"/>
              <a:t>) = c(x</a:t>
            </a:r>
            <a:r>
              <a:rPr lang="en-US" sz="1800" baseline="-25000"/>
              <a:t>1</a:t>
            </a:r>
            <a:r>
              <a:rPr lang="en-US" sz="1800"/>
              <a:t>,x</a:t>
            </a:r>
            <a:r>
              <a:rPr lang="en-US" sz="1800" baseline="-25000"/>
              <a:t>2</a:t>
            </a:r>
            <a:r>
              <a:rPr lang="en-US" sz="1800"/>
              <a:t>) + c(x</a:t>
            </a:r>
            <a:r>
              <a:rPr lang="en-US" sz="1800" baseline="-25000"/>
              <a:t>2</a:t>
            </a:r>
            <a:r>
              <a:rPr lang="en-US" sz="1800"/>
              <a:t>,x</a:t>
            </a:r>
            <a:r>
              <a:rPr lang="en-US" sz="1800" baseline="-25000"/>
              <a:t>3</a:t>
            </a:r>
            <a:r>
              <a:rPr lang="en-US" sz="1800"/>
              <a:t>) + … + c(x</a:t>
            </a:r>
            <a:r>
              <a:rPr lang="en-US" sz="1800" baseline="-25000"/>
              <a:t>p-1</a:t>
            </a:r>
            <a:r>
              <a:rPr lang="en-US" sz="1800"/>
              <a:t>,x</a:t>
            </a:r>
            <a:r>
              <a:rPr lang="en-US" sz="1800" baseline="-25000"/>
              <a:t>p</a:t>
            </a:r>
            <a:r>
              <a:rPr lang="en-US" sz="1800"/>
              <a:t>)  </a:t>
            </a:r>
          </a:p>
        </p:txBody>
      </p:sp>
      <p:sp>
        <p:nvSpPr>
          <p:cNvPr id="121864" name="Text Box 75"/>
          <p:cNvSpPr txBox="1">
            <a:spLocks noChangeArrowheads="1"/>
          </p:cNvSpPr>
          <p:nvPr/>
        </p:nvSpPr>
        <p:spPr bwMode="auto">
          <a:xfrm>
            <a:off x="792163" y="4981575"/>
            <a:ext cx="7569200" cy="974725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800" i="1">
                <a:solidFill>
                  <a:srgbClr val="CC0000"/>
                </a:solidFill>
                <a:latin typeface="Gill Sans MT" charset="0"/>
              </a:rPr>
              <a:t>key question:</a:t>
            </a:r>
            <a:r>
              <a:rPr lang="en-US">
                <a:latin typeface="Gill Sans MT" charset="0"/>
              </a:rPr>
              <a:t> what is the least-cost path between u and z ?</a:t>
            </a:r>
          </a:p>
          <a:p>
            <a:r>
              <a:rPr lang="en-US" sz="2800" i="1">
                <a:solidFill>
                  <a:srgbClr val="CC0000"/>
                </a:solidFill>
                <a:latin typeface="Gill Sans MT" charset="0"/>
              </a:rPr>
              <a:t>routing algorithm:</a:t>
            </a:r>
            <a:r>
              <a:rPr lang="en-US">
                <a:latin typeface="Gill Sans MT" charset="0"/>
              </a:rPr>
              <a:t> algorithm that finds that least cost path</a:t>
            </a:r>
          </a:p>
        </p:txBody>
      </p:sp>
      <p:sp>
        <p:nvSpPr>
          <p:cNvPr id="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8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2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3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801688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7463"/>
            <a:ext cx="7772400" cy="1143000"/>
          </a:xfrm>
        </p:spPr>
        <p:txBody>
          <a:bodyPr/>
          <a:lstStyle/>
          <a:p>
            <a:r>
              <a:rPr lang="en-US" sz="4000">
                <a:latin typeface="Gill Sans MT" charset="0"/>
              </a:rPr>
              <a:t>Routing algorithm classification</a:t>
            </a:r>
            <a:endParaRPr lang="en-US">
              <a:latin typeface="Gill Sans MT" charset="0"/>
            </a:endParaRPr>
          </a:p>
        </p:txBody>
      </p:sp>
      <p:sp>
        <p:nvSpPr>
          <p:cNvPr id="12288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2288" y="1371600"/>
            <a:ext cx="4216400" cy="46482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i="1">
                <a:solidFill>
                  <a:srgbClr val="CC0000"/>
                </a:solidFill>
                <a:latin typeface="Gill Sans MT" charset="0"/>
              </a:rPr>
              <a:t>Q: global or decentralized information?</a:t>
            </a:r>
          </a:p>
          <a:p>
            <a:pPr>
              <a:spcBef>
                <a:spcPct val="40000"/>
              </a:spcBef>
              <a:buFont typeface="Wingdings" charset="0"/>
              <a:buNone/>
            </a:pPr>
            <a:r>
              <a:rPr lang="en-US" sz="2400" i="1">
                <a:solidFill>
                  <a:srgbClr val="CC0000"/>
                </a:solidFill>
                <a:latin typeface="Gill Sans MT" charset="0"/>
              </a:rPr>
              <a:t>global:</a:t>
            </a:r>
          </a:p>
          <a:p>
            <a:r>
              <a:rPr lang="en-US" sz="2400">
                <a:latin typeface="Gill Sans MT" charset="0"/>
              </a:rPr>
              <a:t>all routers have complete topology, link cost info</a:t>
            </a:r>
          </a:p>
          <a:p>
            <a:r>
              <a:rPr lang="ja-JP" altLang="en-US" sz="2400">
                <a:solidFill>
                  <a:srgbClr val="000099"/>
                </a:solidFill>
                <a:latin typeface="Gill Sans MT" charset="0"/>
              </a:rPr>
              <a:t>“</a:t>
            </a:r>
            <a:r>
              <a:rPr lang="en-US" altLang="ja-JP" sz="2400">
                <a:solidFill>
                  <a:srgbClr val="000099"/>
                </a:solidFill>
                <a:latin typeface="Gill Sans MT" charset="0"/>
              </a:rPr>
              <a:t>link state</a:t>
            </a:r>
            <a:r>
              <a:rPr lang="ja-JP" altLang="en-US" sz="2400">
                <a:solidFill>
                  <a:srgbClr val="000099"/>
                </a:solidFill>
                <a:latin typeface="Gill Sans MT" charset="0"/>
              </a:rPr>
              <a:t>”</a:t>
            </a:r>
            <a:r>
              <a:rPr lang="en-US" altLang="ja-JP" sz="2400">
                <a:solidFill>
                  <a:srgbClr val="000099"/>
                </a:solidFill>
                <a:latin typeface="Gill Sans MT" charset="0"/>
              </a:rPr>
              <a:t> algorithms</a:t>
            </a:r>
          </a:p>
          <a:p>
            <a:pPr>
              <a:buFont typeface="Wingdings" charset="0"/>
              <a:buNone/>
            </a:pPr>
            <a:r>
              <a:rPr lang="en-US" sz="2400" i="1">
                <a:solidFill>
                  <a:srgbClr val="CC0000"/>
                </a:solidFill>
                <a:latin typeface="Gill Sans MT" charset="0"/>
              </a:rPr>
              <a:t>decentralized: </a:t>
            </a:r>
          </a:p>
          <a:p>
            <a:r>
              <a:rPr lang="en-US" sz="2400">
                <a:latin typeface="Gill Sans MT" charset="0"/>
              </a:rPr>
              <a:t>router knows physically-connected neighbors, link costs to neighbors</a:t>
            </a:r>
          </a:p>
          <a:p>
            <a:r>
              <a:rPr lang="en-US" sz="2400">
                <a:latin typeface="Gill Sans MT" charset="0"/>
              </a:rPr>
              <a:t>iterative process of computation, exchange of info with neighbors</a:t>
            </a:r>
          </a:p>
          <a:p>
            <a:r>
              <a:rPr lang="ja-JP" altLang="en-US" sz="2400">
                <a:solidFill>
                  <a:srgbClr val="000099"/>
                </a:solidFill>
                <a:latin typeface="Gill Sans MT" charset="0"/>
              </a:rPr>
              <a:t>“</a:t>
            </a:r>
            <a:r>
              <a:rPr lang="en-US" altLang="ja-JP" sz="2400">
                <a:solidFill>
                  <a:srgbClr val="000099"/>
                </a:solidFill>
                <a:latin typeface="Gill Sans MT" charset="0"/>
              </a:rPr>
              <a:t>distance vector</a:t>
            </a:r>
            <a:r>
              <a:rPr lang="ja-JP" altLang="en-US" sz="2400">
                <a:solidFill>
                  <a:srgbClr val="000099"/>
                </a:solidFill>
                <a:latin typeface="Gill Sans MT" charset="0"/>
              </a:rPr>
              <a:t>”</a:t>
            </a:r>
            <a:r>
              <a:rPr lang="en-US" altLang="ja-JP" sz="2400">
                <a:solidFill>
                  <a:srgbClr val="000099"/>
                </a:solidFill>
                <a:latin typeface="Gill Sans MT" charset="0"/>
              </a:rPr>
              <a:t> algorithms</a:t>
            </a:r>
            <a:endParaRPr lang="en-US" sz="2400">
              <a:solidFill>
                <a:srgbClr val="000099"/>
              </a:solidFill>
              <a:latin typeface="Gill Sans MT" charset="0"/>
            </a:endParaRPr>
          </a:p>
        </p:txBody>
      </p:sp>
      <p:sp>
        <p:nvSpPr>
          <p:cNvPr id="7783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38700" y="1347788"/>
            <a:ext cx="38100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cs typeface="+mn-cs"/>
              </a:rPr>
              <a:t>Q: static or dynamic</a:t>
            </a:r>
            <a:r>
              <a:rPr lang="en-US" i="1" dirty="0" smtClean="0">
                <a:solidFill>
                  <a:srgbClr val="CC0000"/>
                </a:solidFill>
                <a:cs typeface="+mn-cs"/>
              </a:rPr>
              <a:t>?</a:t>
            </a:r>
            <a:endParaRPr lang="en-US" sz="2400" i="1" dirty="0" smtClean="0">
              <a:solidFill>
                <a:srgbClr val="CC0000"/>
              </a:solidFill>
              <a:cs typeface="+mn-cs"/>
            </a:endParaRPr>
          </a:p>
          <a:p>
            <a:pPr>
              <a:spcBef>
                <a:spcPts val="1752"/>
              </a:spcBef>
              <a:buFont typeface="Wingdings" charset="0"/>
              <a:buNone/>
              <a:defRPr/>
            </a:pPr>
            <a:r>
              <a:rPr lang="en-US" sz="2400" i="1" dirty="0" smtClean="0">
                <a:solidFill>
                  <a:srgbClr val="CC0000"/>
                </a:solidFill>
                <a:cs typeface="+mn-cs"/>
              </a:rPr>
              <a:t>static</a:t>
            </a:r>
            <a:r>
              <a:rPr lang="en-US" sz="2400" i="1" dirty="0">
                <a:solidFill>
                  <a:srgbClr val="CC0000"/>
                </a:solidFill>
                <a:cs typeface="+mn-cs"/>
              </a:rPr>
              <a:t>:</a:t>
            </a:r>
            <a:r>
              <a:rPr lang="en-US" sz="2400" dirty="0">
                <a:cs typeface="+mn-cs"/>
              </a:rPr>
              <a:t> </a:t>
            </a:r>
          </a:p>
          <a:p>
            <a:pPr>
              <a:defRPr/>
            </a:pPr>
            <a:r>
              <a:rPr lang="en-US" sz="2400" dirty="0">
                <a:cs typeface="+mn-cs"/>
              </a:rPr>
              <a:t>routes change slowly over time</a:t>
            </a:r>
          </a:p>
          <a:p>
            <a:pPr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cs typeface="+mn-cs"/>
              </a:rPr>
              <a:t>dynamic: </a:t>
            </a:r>
          </a:p>
          <a:p>
            <a:pPr>
              <a:defRPr/>
            </a:pPr>
            <a:r>
              <a:rPr lang="en-US" sz="2400" dirty="0">
                <a:cs typeface="+mn-cs"/>
              </a:rPr>
              <a:t>routes change more quickly</a:t>
            </a:r>
          </a:p>
          <a:p>
            <a:pPr lvl="1">
              <a:defRPr/>
            </a:pPr>
            <a:r>
              <a:rPr lang="en-US" dirty="0"/>
              <a:t>periodic update</a:t>
            </a:r>
          </a:p>
          <a:p>
            <a:pPr lvl="1">
              <a:defRPr/>
            </a:pPr>
            <a:r>
              <a:rPr lang="en-US" dirty="0"/>
              <a:t>in response to link cost changes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676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5.1 </a:t>
            </a:r>
            <a:r>
              <a:rPr lang="en-US" sz="2400" dirty="0">
                <a:latin typeface="Gill Sans MT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5.2 routing protocols</a:t>
            </a:r>
          </a:p>
          <a:p>
            <a:pPr>
              <a:lnSpc>
                <a:spcPts val="2580"/>
              </a:lnSpc>
            </a:pP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link state</a:t>
            </a:r>
          </a:p>
          <a:p>
            <a:pPr>
              <a:lnSpc>
                <a:spcPts val="2580"/>
              </a:lnSpc>
            </a:pPr>
            <a:r>
              <a:rPr lang="en-US" sz="2400" dirty="0" smtClean="0">
                <a:latin typeface="Gill Sans MT" charset="0"/>
              </a:rPr>
              <a:t>distance vector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5.3 intra</a:t>
            </a:r>
            <a:r>
              <a:rPr lang="en-US" sz="2400" dirty="0"/>
              <a:t>-AS </a:t>
            </a:r>
            <a:r>
              <a:rPr lang="en-US" sz="2400" dirty="0" smtClean="0"/>
              <a:t>routing </a:t>
            </a:r>
            <a:r>
              <a:rPr lang="en-US" sz="2400" dirty="0"/>
              <a:t>in the Internet: </a:t>
            </a:r>
            <a:r>
              <a:rPr lang="en-US" sz="2400" dirty="0" smtClean="0"/>
              <a:t>OSPF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5.4 routing among </a:t>
            </a:r>
            <a:r>
              <a:rPr lang="en-US" sz="2400" dirty="0"/>
              <a:t>the ISPs: B</a:t>
            </a:r>
            <a:r>
              <a:rPr lang="en-US" sz="2400" dirty="0" smtClean="0"/>
              <a:t>GP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61963" indent="-461963"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5.5 The SDN control plane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5.6 </a:t>
            </a:r>
            <a:r>
              <a:rPr lang="en-US" sz="2400" dirty="0"/>
              <a:t>ICMP: The Internet Control Message Protocol 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/>
              <a:t>5.7 Network </a:t>
            </a:r>
            <a:r>
              <a:rPr lang="en-US" sz="2400" dirty="0" smtClean="0"/>
              <a:t>management </a:t>
            </a:r>
            <a:r>
              <a:rPr lang="en-US" sz="2400" dirty="0"/>
              <a:t>and SNMP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</a:rPr>
              <a:t>5: </a:t>
            </a:r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outline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845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1" name="Picture 6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10144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Gill Sans MT" charset="0"/>
              </a:rPr>
              <a:t>A </a:t>
            </a:r>
            <a:r>
              <a:rPr lang="en-US" sz="4000" dirty="0" smtClean="0">
                <a:latin typeface="Gill Sans MT" charset="0"/>
              </a:rPr>
              <a:t>link-state routing algorithm</a:t>
            </a:r>
            <a:endParaRPr lang="en-US" dirty="0">
              <a:latin typeface="Gill Sans MT" charset="0"/>
            </a:endParaRPr>
          </a:p>
        </p:txBody>
      </p:sp>
      <p:sp>
        <p:nvSpPr>
          <p:cNvPr id="12493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4513" y="1555750"/>
            <a:ext cx="3810000" cy="4903788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>
                <a:solidFill>
                  <a:srgbClr val="CC0000"/>
                </a:solidFill>
                <a:latin typeface="Gill Sans MT" charset="0"/>
              </a:rPr>
              <a:t>Dijkstra</a:t>
            </a:r>
            <a:r>
              <a:rPr lang="ja-JP" altLang="en-US" i="1">
                <a:solidFill>
                  <a:srgbClr val="CC0000"/>
                </a:solidFill>
                <a:latin typeface="Gill Sans MT" charset="0"/>
              </a:rPr>
              <a:t>’</a:t>
            </a:r>
            <a:r>
              <a:rPr lang="en-US" altLang="ja-JP" i="1">
                <a:solidFill>
                  <a:srgbClr val="CC0000"/>
                </a:solidFill>
                <a:latin typeface="Gill Sans MT" charset="0"/>
              </a:rPr>
              <a:t>s algorithm</a:t>
            </a:r>
          </a:p>
          <a:p>
            <a:r>
              <a:rPr lang="en-US" sz="2400">
                <a:latin typeface="Gill Sans MT" charset="0"/>
              </a:rPr>
              <a:t>net topology, link costs known to all nodes</a:t>
            </a:r>
          </a:p>
          <a:p>
            <a:pPr lvl="1"/>
            <a:r>
              <a:rPr lang="en-US" sz="2000">
                <a:latin typeface="Gill Sans MT" charset="0"/>
              </a:rPr>
              <a:t>accomplished via </a:t>
            </a:r>
            <a:r>
              <a:rPr lang="ja-JP" altLang="en-US" sz="2000">
                <a:latin typeface="Gill Sans MT" charset="0"/>
              </a:rPr>
              <a:t>“</a:t>
            </a:r>
            <a:r>
              <a:rPr lang="en-US" altLang="ja-JP" sz="2000">
                <a:latin typeface="Gill Sans MT" charset="0"/>
              </a:rPr>
              <a:t>link state broadcast</a:t>
            </a:r>
            <a:r>
              <a:rPr lang="ja-JP" altLang="en-US" sz="2000">
                <a:latin typeface="Gill Sans MT" charset="0"/>
              </a:rPr>
              <a:t>”</a:t>
            </a:r>
            <a:r>
              <a:rPr lang="en-US" altLang="ja-JP" sz="2000">
                <a:latin typeface="Gill Sans MT" charset="0"/>
              </a:rPr>
              <a:t> </a:t>
            </a:r>
          </a:p>
          <a:p>
            <a:pPr lvl="1"/>
            <a:r>
              <a:rPr lang="en-US" sz="2000">
                <a:latin typeface="Gill Sans MT" charset="0"/>
              </a:rPr>
              <a:t>all nodes have same info</a:t>
            </a:r>
          </a:p>
          <a:p>
            <a:r>
              <a:rPr lang="en-US" sz="2400">
                <a:latin typeface="Gill Sans MT" charset="0"/>
              </a:rPr>
              <a:t>computes least cost paths from one node (</a:t>
            </a:r>
            <a:r>
              <a:rPr lang="ja-JP" altLang="en-US" sz="2400">
                <a:latin typeface="Gill Sans MT" charset="0"/>
              </a:rPr>
              <a:t>‘</a:t>
            </a:r>
            <a:r>
              <a:rPr lang="en-US" altLang="ja-JP" sz="2400">
                <a:latin typeface="Gill Sans MT" charset="0"/>
              </a:rPr>
              <a:t>source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>
                <a:latin typeface="Gill Sans MT" charset="0"/>
              </a:rPr>
              <a:t>) to all other nodes</a:t>
            </a:r>
          </a:p>
          <a:p>
            <a:pPr lvl="1"/>
            <a:r>
              <a:rPr lang="en-US" sz="2000">
                <a:latin typeface="Gill Sans MT" charset="0"/>
              </a:rPr>
              <a:t>gives </a:t>
            </a:r>
            <a:r>
              <a:rPr lang="en-US" sz="2000" i="1">
                <a:solidFill>
                  <a:srgbClr val="000099"/>
                </a:solidFill>
                <a:latin typeface="Gill Sans MT" charset="0"/>
              </a:rPr>
              <a:t>forwarding table</a:t>
            </a:r>
            <a:r>
              <a:rPr lang="en-US" sz="2000">
                <a:latin typeface="Gill Sans MT" charset="0"/>
              </a:rPr>
              <a:t> for that node</a:t>
            </a:r>
          </a:p>
          <a:p>
            <a:r>
              <a:rPr lang="en-US" sz="2400">
                <a:latin typeface="Gill Sans MT" charset="0"/>
              </a:rPr>
              <a:t>iterative: after k iterations, know least cost path to k dest.</a:t>
            </a:r>
            <a:r>
              <a:rPr lang="ja-JP" altLang="en-US" sz="2400">
                <a:latin typeface="Gill Sans MT" charset="0"/>
              </a:rPr>
              <a:t>’</a:t>
            </a:r>
            <a:r>
              <a:rPr lang="en-US" altLang="ja-JP" sz="2400">
                <a:latin typeface="Gill Sans MT" charset="0"/>
              </a:rPr>
              <a:t>s</a:t>
            </a:r>
            <a:endParaRPr lang="en-US" sz="2400">
              <a:latin typeface="Gill Sans MT" charset="0"/>
            </a:endParaRPr>
          </a:p>
        </p:txBody>
      </p:sp>
      <p:sp>
        <p:nvSpPr>
          <p:cNvPr id="124934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</a:pPr>
            <a:r>
              <a:rPr lang="en-US" i="1">
                <a:solidFill>
                  <a:srgbClr val="CC0000"/>
                </a:solidFill>
                <a:latin typeface="Gill Sans MT" charset="0"/>
              </a:rPr>
              <a:t>notation:</a:t>
            </a:r>
          </a:p>
          <a:p>
            <a:pPr>
              <a:lnSpc>
                <a:spcPct val="75000"/>
              </a:lnSpc>
            </a:pPr>
            <a:r>
              <a:rPr lang="en-US">
                <a:solidFill>
                  <a:srgbClr val="000099"/>
                </a:solidFill>
                <a:latin typeface="Arial" charset="0"/>
              </a:rPr>
              <a:t>c(x,y):</a:t>
            </a:r>
            <a:r>
              <a:rPr lang="en-US" sz="2400">
                <a:latin typeface="Gill Sans MT" charset="0"/>
              </a:rPr>
              <a:t> link cost from node x to y;  = ∞ if not direct neighbors</a:t>
            </a:r>
          </a:p>
          <a:p>
            <a:pPr>
              <a:lnSpc>
                <a:spcPct val="75000"/>
              </a:lnSpc>
            </a:pPr>
            <a:r>
              <a:rPr lang="en-US">
                <a:solidFill>
                  <a:srgbClr val="000099"/>
                </a:solidFill>
                <a:latin typeface="Arial" charset="0"/>
              </a:rPr>
              <a:t>D(v):</a:t>
            </a:r>
            <a:r>
              <a:rPr lang="en-US" sz="2400">
                <a:latin typeface="Gill Sans MT" charset="0"/>
              </a:rPr>
              <a:t> current value of cost of path from source to dest. v</a:t>
            </a:r>
          </a:p>
          <a:p>
            <a:pPr>
              <a:lnSpc>
                <a:spcPct val="75000"/>
              </a:lnSpc>
            </a:pPr>
            <a:r>
              <a:rPr lang="en-US">
                <a:solidFill>
                  <a:srgbClr val="000099"/>
                </a:solidFill>
                <a:latin typeface="Arial" charset="0"/>
              </a:rPr>
              <a:t>p(v):</a:t>
            </a:r>
            <a:r>
              <a:rPr lang="en-US" sz="2400">
                <a:latin typeface="Gill Sans MT" charset="0"/>
              </a:rPr>
              <a:t> predecessor node along path from source to v</a:t>
            </a:r>
          </a:p>
          <a:p>
            <a:pPr>
              <a:lnSpc>
                <a:spcPct val="75000"/>
              </a:lnSpc>
            </a:pPr>
            <a:r>
              <a:rPr lang="en-US">
                <a:solidFill>
                  <a:srgbClr val="000099"/>
                </a:solidFill>
                <a:latin typeface="Arial" charset="0"/>
              </a:rPr>
              <a:t>N</a:t>
            </a:r>
            <a:r>
              <a:rPr lang="en-US">
                <a:solidFill>
                  <a:srgbClr val="000099"/>
                </a:solidFill>
                <a:latin typeface="Arial" charset="0"/>
                <a:cs typeface="Arial" charset="0"/>
              </a:rPr>
              <a:t>'</a:t>
            </a:r>
            <a:r>
              <a:rPr lang="en-US">
                <a:solidFill>
                  <a:srgbClr val="000099"/>
                </a:solidFill>
                <a:latin typeface="Arial" charset="0"/>
              </a:rPr>
              <a:t>:</a:t>
            </a:r>
            <a:r>
              <a:rPr lang="en-US" sz="2400">
                <a:latin typeface="Gill Sans MT" charset="0"/>
              </a:rPr>
              <a:t> set of nodes whose least cost path definitively known</a:t>
            </a:r>
          </a:p>
          <a:p>
            <a:pPr>
              <a:lnSpc>
                <a:spcPct val="75000"/>
              </a:lnSpc>
            </a:pPr>
            <a:endParaRPr lang="en-US">
              <a:latin typeface="Gill Sans MT" charset="0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806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5" name="Picture 6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1014413"/>
            <a:ext cx="4570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>
                <a:latin typeface="Gill Sans MT" charset="0"/>
              </a:rPr>
              <a:t>Dijsktra</a:t>
            </a:r>
            <a:r>
              <a:rPr lang="ja-JP" altLang="en-US" sz="4000" dirty="0">
                <a:latin typeface="Gill Sans MT" charset="0"/>
              </a:rPr>
              <a:t>’</a:t>
            </a:r>
            <a:r>
              <a:rPr lang="en-US" altLang="ja-JP" sz="4000" dirty="0">
                <a:latin typeface="Gill Sans MT" charset="0"/>
              </a:rPr>
              <a:t>s </a:t>
            </a:r>
            <a:r>
              <a:rPr lang="en-US" altLang="ja-JP" sz="4000" dirty="0" smtClean="0">
                <a:latin typeface="Gill Sans MT" charset="0"/>
              </a:rPr>
              <a:t>algorithm</a:t>
            </a:r>
            <a:endParaRPr lang="en-US" dirty="0">
              <a:latin typeface="Gill Sans MT" charset="0"/>
            </a:endParaRPr>
          </a:p>
        </p:txBody>
      </p:sp>
      <p:sp>
        <p:nvSpPr>
          <p:cNvPr id="125957" name="Text Box 3"/>
          <p:cNvSpPr txBox="1">
            <a:spLocks noChangeArrowheads="1"/>
          </p:cNvSpPr>
          <p:nvPr/>
        </p:nvSpPr>
        <p:spPr bwMode="auto">
          <a:xfrm>
            <a:off x="1141413" y="1458913"/>
            <a:ext cx="6221412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/>
              <a:t>1  </a:t>
            </a:r>
            <a:r>
              <a:rPr lang="en-US" sz="2000" b="1" i="1"/>
              <a:t>Initialization:</a:t>
            </a:r>
            <a:r>
              <a:rPr lang="en-US" sz="2000"/>
              <a:t> </a:t>
            </a:r>
          </a:p>
          <a:p>
            <a:r>
              <a:rPr lang="en-US" sz="2000"/>
              <a:t>2    N</a:t>
            </a:r>
            <a:r>
              <a:rPr lang="en-US" sz="2000">
                <a:cs typeface="Arial" charset="0"/>
              </a:rPr>
              <a:t>'</a:t>
            </a:r>
            <a:r>
              <a:rPr lang="en-US" sz="2000"/>
              <a:t> = {u} </a:t>
            </a:r>
          </a:p>
          <a:p>
            <a:r>
              <a:rPr lang="en-US" sz="2000"/>
              <a:t>3    for all nodes v </a:t>
            </a:r>
          </a:p>
          <a:p>
            <a:r>
              <a:rPr lang="en-US" sz="2000"/>
              <a:t>4      if v adjacent to u </a:t>
            </a:r>
          </a:p>
          <a:p>
            <a:r>
              <a:rPr lang="en-US" sz="2000"/>
              <a:t>5          then D(v) = c(u,v) </a:t>
            </a:r>
          </a:p>
          <a:p>
            <a:r>
              <a:rPr lang="en-US" sz="2000"/>
              <a:t>6      else D(v) = </a:t>
            </a:r>
            <a:r>
              <a:rPr lang="en-US" sz="2000">
                <a:cs typeface="Arial" charset="0"/>
              </a:rPr>
              <a:t>∞</a:t>
            </a:r>
            <a:r>
              <a:rPr lang="en-US" sz="2000"/>
              <a:t> </a:t>
            </a:r>
          </a:p>
          <a:p>
            <a:r>
              <a:rPr lang="en-US" sz="2000"/>
              <a:t>7 </a:t>
            </a:r>
          </a:p>
          <a:p>
            <a:r>
              <a:rPr lang="en-US" sz="2000"/>
              <a:t>8   </a:t>
            </a:r>
            <a:r>
              <a:rPr lang="en-US" sz="2000" b="1" i="1"/>
              <a:t>Loop</a:t>
            </a:r>
            <a:r>
              <a:rPr lang="en-US" sz="2000" i="1"/>
              <a:t> </a:t>
            </a:r>
            <a:endParaRPr lang="en-US" sz="2000"/>
          </a:p>
          <a:p>
            <a:r>
              <a:rPr lang="en-US" sz="2000"/>
              <a:t>9     find w not in N</a:t>
            </a:r>
            <a:r>
              <a:rPr lang="en-US" sz="2000">
                <a:cs typeface="Arial" charset="0"/>
              </a:rPr>
              <a:t>'</a:t>
            </a:r>
            <a:r>
              <a:rPr lang="en-US" sz="2000"/>
              <a:t> such that D(w) is a minimum </a:t>
            </a:r>
          </a:p>
          <a:p>
            <a:r>
              <a:rPr lang="en-US" sz="2000"/>
              <a:t>10    add w to N</a:t>
            </a:r>
            <a:r>
              <a:rPr lang="en-US" sz="2000">
                <a:cs typeface="Arial" charset="0"/>
              </a:rPr>
              <a:t>'</a:t>
            </a:r>
            <a:r>
              <a:rPr lang="en-US" sz="2000"/>
              <a:t> </a:t>
            </a:r>
          </a:p>
          <a:p>
            <a:r>
              <a:rPr lang="en-US" sz="2000"/>
              <a:t>11    update D(v) for all v adjacent to w and not in N</a:t>
            </a:r>
            <a:r>
              <a:rPr lang="en-US" sz="2000">
                <a:cs typeface="Arial" charset="0"/>
              </a:rPr>
              <a:t>'</a:t>
            </a:r>
            <a:r>
              <a:rPr lang="en-US" sz="2000"/>
              <a:t> : </a:t>
            </a:r>
          </a:p>
          <a:p>
            <a:r>
              <a:rPr lang="en-US" sz="2000"/>
              <a:t>12       </a:t>
            </a:r>
            <a:r>
              <a:rPr lang="en-US" sz="2000" b="1">
                <a:solidFill>
                  <a:srgbClr val="CC0000"/>
                </a:solidFill>
              </a:rPr>
              <a:t>D(v) = min( D(v), D(w) + c(w,v) ) </a:t>
            </a:r>
          </a:p>
          <a:p>
            <a:r>
              <a:rPr lang="en-US" sz="2000"/>
              <a:t>13    /* new cost to v is either old cost to v or known </a:t>
            </a:r>
          </a:p>
          <a:p>
            <a:r>
              <a:rPr lang="en-US" sz="2000"/>
              <a:t>14     shortest path cost to w plus cost from w to v */ </a:t>
            </a:r>
          </a:p>
          <a:p>
            <a:r>
              <a:rPr lang="en-US" sz="2000"/>
              <a:t>15  </a:t>
            </a:r>
            <a:r>
              <a:rPr lang="en-US" sz="2000" b="1" i="1"/>
              <a:t>until all nodes in N</a:t>
            </a:r>
            <a:r>
              <a:rPr lang="en-US" sz="2000" b="1" i="1">
                <a:cs typeface="Arial" charset="0"/>
              </a:rPr>
              <a:t>'</a:t>
            </a:r>
            <a:r>
              <a:rPr lang="en-US" sz="2000"/>
              <a:t> </a:t>
            </a:r>
          </a:p>
        </p:txBody>
      </p:sp>
      <p:sp>
        <p:nvSpPr>
          <p:cNvPr id="125958" name="Freeform 4"/>
          <p:cNvSpPr>
            <a:spLocks/>
          </p:cNvSpPr>
          <p:nvPr/>
        </p:nvSpPr>
        <p:spPr bwMode="auto">
          <a:xfrm>
            <a:off x="600075" y="3543300"/>
            <a:ext cx="800100" cy="2886075"/>
          </a:xfrm>
          <a:custGeom>
            <a:avLst/>
            <a:gdLst>
              <a:gd name="T0" fmla="*/ 2147483647 w 504"/>
              <a:gd name="T1" fmla="*/ 2147483647 h 1818"/>
              <a:gd name="T2" fmla="*/ 2147483647 w 504"/>
              <a:gd name="T3" fmla="*/ 2147483647 h 1818"/>
              <a:gd name="T4" fmla="*/ 2147483647 w 504"/>
              <a:gd name="T5" fmla="*/ 2147483647 h 1818"/>
              <a:gd name="T6" fmla="*/ 2147483647 w 504"/>
              <a:gd name="T7" fmla="*/ 2147483647 h 1818"/>
              <a:gd name="T8" fmla="*/ 0 60000 65536"/>
              <a:gd name="T9" fmla="*/ 0 60000 65536"/>
              <a:gd name="T10" fmla="*/ 0 60000 65536"/>
              <a:gd name="T11" fmla="*/ 0 60000 65536"/>
              <a:gd name="T12" fmla="*/ 0 w 504"/>
              <a:gd name="T13" fmla="*/ 0 h 1818"/>
              <a:gd name="T14" fmla="*/ 504 w 504"/>
              <a:gd name="T15" fmla="*/ 1818 h 18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13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9" name="Picture 133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7874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6980" name="Group 2"/>
          <p:cNvGrpSpPr>
            <a:grpSpLocks/>
          </p:cNvGrpSpPr>
          <p:nvPr/>
        </p:nvGrpSpPr>
        <p:grpSpPr bwMode="auto">
          <a:xfrm>
            <a:off x="4640263" y="3021824"/>
            <a:ext cx="4217987" cy="3364357"/>
            <a:chOff x="415" y="856"/>
            <a:chExt cx="2910" cy="2258"/>
          </a:xfrm>
        </p:grpSpPr>
        <p:grpSp>
          <p:nvGrpSpPr>
            <p:cNvPr id="127041" name="Group 3"/>
            <p:cNvGrpSpPr>
              <a:grpSpLocks/>
            </p:cNvGrpSpPr>
            <p:nvPr/>
          </p:nvGrpSpPr>
          <p:grpSpPr bwMode="auto">
            <a:xfrm>
              <a:off x="1290" y="1997"/>
              <a:ext cx="316" cy="267"/>
              <a:chOff x="1613" y="2011"/>
              <a:chExt cx="316" cy="267"/>
            </a:xfrm>
          </p:grpSpPr>
          <p:sp>
            <p:nvSpPr>
              <p:cNvPr id="127103" name="Oval 4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1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104" name="Line 5"/>
              <p:cNvSpPr>
                <a:spLocks noChangeShapeType="1"/>
              </p:cNvSpPr>
              <p:nvPr/>
            </p:nvSpPr>
            <p:spPr bwMode="auto">
              <a:xfrm>
                <a:off x="1616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105" name="Line 6"/>
              <p:cNvSpPr>
                <a:spLocks noChangeShapeType="1"/>
              </p:cNvSpPr>
              <p:nvPr/>
            </p:nvSpPr>
            <p:spPr bwMode="auto">
              <a:xfrm>
                <a:off x="1929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106" name="Rectangle 7"/>
              <p:cNvSpPr>
                <a:spLocks noChangeArrowheads="1"/>
              </p:cNvSpPr>
              <p:nvPr/>
            </p:nvSpPr>
            <p:spPr bwMode="auto">
              <a:xfrm>
                <a:off x="1616" y="2129"/>
                <a:ext cx="308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27107" name="Oval 8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1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108" name="Rectangle 9"/>
              <p:cNvSpPr>
                <a:spLocks noChangeArrowheads="1"/>
              </p:cNvSpPr>
              <p:nvPr/>
            </p:nvSpPr>
            <p:spPr bwMode="auto">
              <a:xfrm>
                <a:off x="1686" y="2100"/>
                <a:ext cx="140" cy="1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109" name="Text Box 10"/>
              <p:cNvSpPr txBox="1">
                <a:spLocks noChangeArrowheads="1"/>
              </p:cNvSpPr>
              <p:nvPr/>
            </p:nvSpPr>
            <p:spPr bwMode="auto"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w</a:t>
                </a:r>
                <a:endParaRPr lang="en-US"/>
              </a:p>
            </p:txBody>
          </p:sp>
        </p:grpSp>
        <p:sp>
          <p:nvSpPr>
            <p:cNvPr id="127042" name="Text Box 11"/>
            <p:cNvSpPr txBox="1">
              <a:spLocks noChangeArrowheads="1"/>
            </p:cNvSpPr>
            <p:nvPr/>
          </p:nvSpPr>
          <p:spPr bwMode="auto"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27043" name="Text Box 12"/>
            <p:cNvSpPr txBox="1">
              <a:spLocks noChangeArrowheads="1"/>
            </p:cNvSpPr>
            <p:nvPr/>
          </p:nvSpPr>
          <p:spPr bwMode="auto"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4</a:t>
              </a:r>
              <a:endParaRPr lang="en-US"/>
            </a:p>
          </p:txBody>
        </p:sp>
        <p:grpSp>
          <p:nvGrpSpPr>
            <p:cNvPr id="127044" name="Group 13"/>
            <p:cNvGrpSpPr>
              <a:grpSpLocks/>
            </p:cNvGrpSpPr>
            <p:nvPr/>
          </p:nvGrpSpPr>
          <p:grpSpPr bwMode="auto">
            <a:xfrm>
              <a:off x="1299" y="2848"/>
              <a:ext cx="316" cy="266"/>
              <a:chOff x="1613" y="2011"/>
              <a:chExt cx="316" cy="266"/>
            </a:xfrm>
          </p:grpSpPr>
          <p:sp>
            <p:nvSpPr>
              <p:cNvPr id="127096" name="Oval 14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97" name="Line 15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98" name="Line 16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99" name="Rectangle 17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27100" name="Oval 18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101" name="Rectangle 19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102" name="Text Box 20"/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v</a:t>
                </a:r>
                <a:endParaRPr lang="en-US"/>
              </a:p>
            </p:txBody>
          </p:sp>
        </p:grpSp>
        <p:grpSp>
          <p:nvGrpSpPr>
            <p:cNvPr id="127045" name="Group 21"/>
            <p:cNvGrpSpPr>
              <a:grpSpLocks/>
            </p:cNvGrpSpPr>
            <p:nvPr/>
          </p:nvGrpSpPr>
          <p:grpSpPr bwMode="auto">
            <a:xfrm>
              <a:off x="1295" y="856"/>
              <a:ext cx="316" cy="266"/>
              <a:chOff x="1613" y="2011"/>
              <a:chExt cx="316" cy="266"/>
            </a:xfrm>
          </p:grpSpPr>
          <p:sp>
            <p:nvSpPr>
              <p:cNvPr id="127089" name="Oval 22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90" name="Line 23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91" name="Line 24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92" name="Rectangle 25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27093" name="Oval 26"/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94" name="Rectangle 27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95" name="Text Box 28"/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x</a:t>
                </a:r>
                <a:endParaRPr lang="en-US"/>
              </a:p>
            </p:txBody>
          </p:sp>
        </p:grpSp>
        <p:grpSp>
          <p:nvGrpSpPr>
            <p:cNvPr id="127046" name="Group 29"/>
            <p:cNvGrpSpPr>
              <a:grpSpLocks/>
            </p:cNvGrpSpPr>
            <p:nvPr/>
          </p:nvGrpSpPr>
          <p:grpSpPr bwMode="auto">
            <a:xfrm>
              <a:off x="415" y="2028"/>
              <a:ext cx="316" cy="267"/>
              <a:chOff x="1613" y="2011"/>
              <a:chExt cx="316" cy="267"/>
            </a:xfrm>
          </p:grpSpPr>
          <p:sp>
            <p:nvSpPr>
              <p:cNvPr id="127082" name="Oval 30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2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83" name="Line 31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84" name="Line 32"/>
              <p:cNvSpPr>
                <a:spLocks noChangeShapeType="1"/>
              </p:cNvSpPr>
              <p:nvPr/>
            </p:nvSpPr>
            <p:spPr bwMode="auto">
              <a:xfrm>
                <a:off x="1931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85" name="Rectangle 33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27086" name="Oval 34"/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87" name="Rectangle 35"/>
              <p:cNvSpPr>
                <a:spLocks noChangeArrowheads="1"/>
              </p:cNvSpPr>
              <p:nvPr/>
            </p:nvSpPr>
            <p:spPr bwMode="auto">
              <a:xfrm>
                <a:off x="1687" y="2102"/>
                <a:ext cx="141" cy="103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88" name="Text Box 36"/>
              <p:cNvSpPr txBox="1">
                <a:spLocks noChangeArrowheads="1"/>
              </p:cNvSpPr>
              <p:nvPr/>
            </p:nvSpPr>
            <p:spPr bwMode="auto"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u</a:t>
                </a:r>
                <a:endParaRPr lang="en-US"/>
              </a:p>
            </p:txBody>
          </p:sp>
        </p:grpSp>
        <p:sp>
          <p:nvSpPr>
            <p:cNvPr id="127047" name="Line 37"/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048" name="Line 38"/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049" name="Line 39"/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050" name="Text Box 40"/>
            <p:cNvSpPr txBox="1">
              <a:spLocks noChangeArrowheads="1"/>
            </p:cNvSpPr>
            <p:nvPr/>
          </p:nvSpPr>
          <p:spPr bwMode="auto"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27051" name="Line 41"/>
            <p:cNvSpPr>
              <a:spLocks noChangeShapeType="1"/>
            </p:cNvSpPr>
            <p:nvPr/>
          </p:nvSpPr>
          <p:spPr bwMode="auto">
            <a:xfrm>
              <a:off x="1447" y="2206"/>
              <a:ext cx="9" cy="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052" name="Text Box 42"/>
            <p:cNvSpPr txBox="1">
              <a:spLocks noChangeArrowheads="1"/>
            </p:cNvSpPr>
            <p:nvPr/>
          </p:nvSpPr>
          <p:spPr bwMode="auto"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27053" name="Freeform 43"/>
            <p:cNvSpPr>
              <a:spLocks/>
            </p:cNvSpPr>
            <p:nvPr/>
          </p:nvSpPr>
          <p:spPr bwMode="auto">
            <a:xfrm>
              <a:off x="601" y="2227"/>
              <a:ext cx="860" cy="799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054" name="Text Box 44"/>
            <p:cNvSpPr txBox="1">
              <a:spLocks noChangeArrowheads="1"/>
            </p:cNvSpPr>
            <p:nvPr/>
          </p:nvSpPr>
          <p:spPr bwMode="auto"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7</a:t>
              </a:r>
              <a:endParaRPr lang="en-US"/>
            </a:p>
          </p:txBody>
        </p:sp>
        <p:sp>
          <p:nvSpPr>
            <p:cNvPr id="127055" name="Line 45"/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056" name="Text Box 46"/>
            <p:cNvSpPr txBox="1">
              <a:spLocks noChangeArrowheads="1"/>
            </p:cNvSpPr>
            <p:nvPr/>
          </p:nvSpPr>
          <p:spPr bwMode="auto"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4</a:t>
              </a:r>
              <a:endParaRPr lang="en-US"/>
            </a:p>
          </p:txBody>
        </p:sp>
        <p:sp>
          <p:nvSpPr>
            <p:cNvPr id="127057" name="Freeform 47"/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7058" name="Group 48"/>
            <p:cNvGrpSpPr>
              <a:grpSpLocks/>
            </p:cNvGrpSpPr>
            <p:nvPr/>
          </p:nvGrpSpPr>
          <p:grpSpPr bwMode="auto"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127075" name="Oval 49"/>
              <p:cNvSpPr>
                <a:spLocks noChangeArrowheads="1"/>
              </p:cNvSpPr>
              <p:nvPr/>
            </p:nvSpPr>
            <p:spPr bwMode="auto">
              <a:xfrm>
                <a:off x="1616" y="2136"/>
                <a:ext cx="313" cy="82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76" name="Line 50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77" name="Line 51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78" name="Rectangle 52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27079" name="Oval 53"/>
              <p:cNvSpPr>
                <a:spLocks noChangeArrowheads="1"/>
              </p:cNvSpPr>
              <p:nvPr/>
            </p:nvSpPr>
            <p:spPr bwMode="auto">
              <a:xfrm>
                <a:off x="1613" y="2070"/>
                <a:ext cx="313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80" name="Rectangle 54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81" name="Text Box 55"/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y</a:t>
                </a:r>
                <a:endParaRPr lang="en-US"/>
              </a:p>
            </p:txBody>
          </p:sp>
        </p:grpSp>
        <p:sp>
          <p:nvSpPr>
            <p:cNvPr id="127059" name="Text Box 56"/>
            <p:cNvSpPr txBox="1">
              <a:spLocks noChangeArrowheads="1"/>
            </p:cNvSpPr>
            <p:nvPr/>
          </p:nvSpPr>
          <p:spPr bwMode="auto"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8</a:t>
              </a:r>
              <a:endParaRPr lang="en-US"/>
            </a:p>
          </p:txBody>
        </p:sp>
        <p:grpSp>
          <p:nvGrpSpPr>
            <p:cNvPr id="127060" name="Group 57"/>
            <p:cNvGrpSpPr>
              <a:grpSpLocks/>
            </p:cNvGrpSpPr>
            <p:nvPr/>
          </p:nvGrpSpPr>
          <p:grpSpPr bwMode="auto">
            <a:xfrm>
              <a:off x="3009" y="2002"/>
              <a:ext cx="316" cy="266"/>
              <a:chOff x="1613" y="2011"/>
              <a:chExt cx="316" cy="266"/>
            </a:xfrm>
          </p:grpSpPr>
          <p:sp>
            <p:nvSpPr>
              <p:cNvPr id="127068" name="Oval 58"/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69" name="Line 59"/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70" name="Line 60"/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71" name="Rectangle 61"/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27072" name="Oval 62"/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73" name="Rectangle 63"/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74" name="Text Box 64"/>
              <p:cNvSpPr txBox="1">
                <a:spLocks noChangeArrowheads="1"/>
              </p:cNvSpPr>
              <p:nvPr/>
            </p:nvSpPr>
            <p:spPr bwMode="auto"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z</a:t>
                </a:r>
                <a:endParaRPr lang="en-US"/>
              </a:p>
            </p:txBody>
          </p:sp>
        </p:grpSp>
        <p:sp>
          <p:nvSpPr>
            <p:cNvPr id="127061" name="Line 65"/>
            <p:cNvSpPr>
              <a:spLocks noChangeShapeType="1"/>
            </p:cNvSpPr>
            <p:nvPr/>
          </p:nvSpPr>
          <p:spPr bwMode="auto">
            <a:xfrm>
              <a:off x="2640" y="2149"/>
              <a:ext cx="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062" name="Text Box 66"/>
            <p:cNvSpPr txBox="1">
              <a:spLocks noChangeArrowheads="1"/>
            </p:cNvSpPr>
            <p:nvPr/>
          </p:nvSpPr>
          <p:spPr bwMode="auto"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7063" name="Line 67"/>
            <p:cNvSpPr>
              <a:spLocks noChangeShapeType="1"/>
            </p:cNvSpPr>
            <p:nvPr/>
          </p:nvSpPr>
          <p:spPr bwMode="auto">
            <a:xfrm>
              <a:off x="1503" y="990"/>
              <a:ext cx="965" cy="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064" name="Text Box 68"/>
            <p:cNvSpPr txBox="1">
              <a:spLocks noChangeArrowheads="1"/>
            </p:cNvSpPr>
            <p:nvPr/>
          </p:nvSpPr>
          <p:spPr bwMode="auto"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7</a:t>
              </a:r>
              <a:endParaRPr lang="en-US"/>
            </a:p>
          </p:txBody>
        </p:sp>
        <p:sp>
          <p:nvSpPr>
            <p:cNvPr id="127065" name="Freeform 69"/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066" name="Freeform 70"/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067" name="Text Box 71"/>
            <p:cNvSpPr txBox="1">
              <a:spLocks noChangeArrowheads="1"/>
            </p:cNvSpPr>
            <p:nvPr/>
          </p:nvSpPr>
          <p:spPr bwMode="auto"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9</a:t>
              </a:r>
              <a:endParaRPr lang="en-US"/>
            </a:p>
          </p:txBody>
        </p:sp>
      </p:grpSp>
      <p:sp>
        <p:nvSpPr>
          <p:cNvPr id="126981" name="Rectangle 72"/>
          <p:cNvSpPr>
            <a:spLocks noChangeArrowheads="1"/>
          </p:cNvSpPr>
          <p:nvPr/>
        </p:nvSpPr>
        <p:spPr bwMode="auto">
          <a:xfrm>
            <a:off x="487363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000">
                <a:solidFill>
                  <a:srgbClr val="000099"/>
                </a:solidFill>
                <a:latin typeface="Gill Sans MT" charset="0"/>
              </a:rPr>
              <a:t>Dijkstra</a:t>
            </a:r>
            <a:r>
              <a:rPr lang="ja-JP" altLang="en-US" sz="4000">
                <a:solidFill>
                  <a:srgbClr val="000099"/>
                </a:solidFill>
                <a:latin typeface="Gill Sans MT" charset="0"/>
              </a:rPr>
              <a:t>’</a:t>
            </a:r>
            <a:r>
              <a:rPr lang="en-US" altLang="ja-JP" sz="4000">
                <a:solidFill>
                  <a:srgbClr val="000099"/>
                </a:solidFill>
                <a:latin typeface="Gill Sans MT" charset="0"/>
              </a:rPr>
              <a:t>s algorithm: example</a:t>
            </a:r>
            <a:endParaRPr lang="en-US" sz="4400">
              <a:solidFill>
                <a:srgbClr val="000099"/>
              </a:solidFill>
              <a:latin typeface="Gill Sans MT" charset="0"/>
            </a:endParaRPr>
          </a:p>
        </p:txBody>
      </p:sp>
      <p:sp>
        <p:nvSpPr>
          <p:cNvPr id="126982" name="Text Box 73"/>
          <p:cNvSpPr txBox="1">
            <a:spLocks noChangeArrowheads="1"/>
          </p:cNvSpPr>
          <p:nvPr/>
        </p:nvSpPr>
        <p:spPr bwMode="auto">
          <a:xfrm>
            <a:off x="474663" y="1277938"/>
            <a:ext cx="7064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Step</a:t>
            </a:r>
          </a:p>
          <a:p>
            <a:pPr algn="r"/>
            <a:endParaRPr lang="en-US" sz="2000"/>
          </a:p>
        </p:txBody>
      </p:sp>
      <p:sp>
        <p:nvSpPr>
          <p:cNvPr id="126983" name="Text Box 74"/>
          <p:cNvSpPr txBox="1">
            <a:spLocks noChangeArrowheads="1"/>
          </p:cNvSpPr>
          <p:nvPr/>
        </p:nvSpPr>
        <p:spPr bwMode="auto">
          <a:xfrm>
            <a:off x="1458913" y="1284288"/>
            <a:ext cx="4175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N</a:t>
            </a:r>
            <a:r>
              <a:rPr lang="en-US" sz="2000">
                <a:cs typeface="Arial" charset="0"/>
              </a:rPr>
              <a:t>'</a:t>
            </a:r>
          </a:p>
        </p:txBody>
      </p:sp>
      <p:sp>
        <p:nvSpPr>
          <p:cNvPr id="126984" name="Text Box 75"/>
          <p:cNvSpPr txBox="1">
            <a:spLocks noChangeArrowheads="1"/>
          </p:cNvSpPr>
          <p:nvPr/>
        </p:nvSpPr>
        <p:spPr bwMode="auto">
          <a:xfrm>
            <a:off x="2043113" y="1009650"/>
            <a:ext cx="677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</a:t>
            </a:r>
            <a:r>
              <a:rPr lang="en-US" sz="2000" b="1">
                <a:solidFill>
                  <a:srgbClr val="FF0000"/>
                </a:solidFill>
              </a:rPr>
              <a:t>v</a:t>
            </a:r>
            <a:r>
              <a:rPr lang="en-US" sz="2000"/>
              <a:t>)</a:t>
            </a:r>
          </a:p>
          <a:p>
            <a:pPr algn="r"/>
            <a:r>
              <a:rPr lang="en-US" sz="1600"/>
              <a:t>p(v)</a:t>
            </a:r>
          </a:p>
        </p:txBody>
      </p:sp>
      <p:sp>
        <p:nvSpPr>
          <p:cNvPr id="126985" name="Text Box 76"/>
          <p:cNvSpPr txBox="1">
            <a:spLocks noChangeArrowheads="1"/>
          </p:cNvSpPr>
          <p:nvPr/>
        </p:nvSpPr>
        <p:spPr bwMode="auto">
          <a:xfrm>
            <a:off x="511175" y="16176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0</a:t>
            </a:r>
          </a:p>
        </p:txBody>
      </p:sp>
      <p:sp>
        <p:nvSpPr>
          <p:cNvPr id="126986" name="Text Box 77"/>
          <p:cNvSpPr txBox="1">
            <a:spLocks noChangeArrowheads="1"/>
          </p:cNvSpPr>
          <p:nvPr/>
        </p:nvSpPr>
        <p:spPr bwMode="auto">
          <a:xfrm>
            <a:off x="515938" y="19145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1</a:t>
            </a:r>
          </a:p>
        </p:txBody>
      </p:sp>
      <p:sp>
        <p:nvSpPr>
          <p:cNvPr id="126987" name="Text Box 78"/>
          <p:cNvSpPr txBox="1">
            <a:spLocks noChangeArrowheads="1"/>
          </p:cNvSpPr>
          <p:nvPr/>
        </p:nvSpPr>
        <p:spPr bwMode="auto">
          <a:xfrm>
            <a:off x="517525" y="22225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2</a:t>
            </a:r>
          </a:p>
        </p:txBody>
      </p:sp>
      <p:sp>
        <p:nvSpPr>
          <p:cNvPr id="126988" name="Text Box 79"/>
          <p:cNvSpPr txBox="1">
            <a:spLocks noChangeArrowheads="1"/>
          </p:cNvSpPr>
          <p:nvPr/>
        </p:nvSpPr>
        <p:spPr bwMode="auto">
          <a:xfrm>
            <a:off x="511175" y="25241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3</a:t>
            </a:r>
          </a:p>
        </p:txBody>
      </p:sp>
      <p:sp>
        <p:nvSpPr>
          <p:cNvPr id="126989" name="Text Box 80"/>
          <p:cNvSpPr txBox="1">
            <a:spLocks noChangeArrowheads="1"/>
          </p:cNvSpPr>
          <p:nvPr/>
        </p:nvSpPr>
        <p:spPr bwMode="auto">
          <a:xfrm>
            <a:off x="509588" y="28273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4</a:t>
            </a:r>
          </a:p>
        </p:txBody>
      </p:sp>
      <p:sp>
        <p:nvSpPr>
          <p:cNvPr id="126990" name="Text Box 81"/>
          <p:cNvSpPr txBox="1">
            <a:spLocks noChangeArrowheads="1"/>
          </p:cNvSpPr>
          <p:nvPr/>
        </p:nvSpPr>
        <p:spPr bwMode="auto">
          <a:xfrm>
            <a:off x="514350" y="31321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5</a:t>
            </a:r>
          </a:p>
        </p:txBody>
      </p:sp>
      <p:sp>
        <p:nvSpPr>
          <p:cNvPr id="126991" name="Text Box 82"/>
          <p:cNvSpPr txBox="1">
            <a:spLocks noChangeArrowheads="1"/>
          </p:cNvSpPr>
          <p:nvPr/>
        </p:nvSpPr>
        <p:spPr bwMode="auto">
          <a:xfrm>
            <a:off x="2630488" y="1017588"/>
            <a:ext cx="733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</a:t>
            </a:r>
            <a:r>
              <a:rPr lang="en-US" sz="2000" b="1">
                <a:solidFill>
                  <a:srgbClr val="FF0000"/>
                </a:solidFill>
              </a:rPr>
              <a:t>w</a:t>
            </a:r>
            <a:r>
              <a:rPr lang="en-US" sz="2000"/>
              <a:t>)</a:t>
            </a:r>
          </a:p>
          <a:p>
            <a:pPr algn="r"/>
            <a:r>
              <a:rPr lang="en-US" sz="1600"/>
              <a:t>p(w)</a:t>
            </a:r>
          </a:p>
        </p:txBody>
      </p:sp>
      <p:sp>
        <p:nvSpPr>
          <p:cNvPr id="126992" name="Text Box 83"/>
          <p:cNvSpPr txBox="1">
            <a:spLocks noChangeArrowheads="1"/>
          </p:cNvSpPr>
          <p:nvPr/>
        </p:nvSpPr>
        <p:spPr bwMode="auto">
          <a:xfrm>
            <a:off x="3306763" y="1017588"/>
            <a:ext cx="677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</a:t>
            </a:r>
            <a:r>
              <a:rPr lang="en-US" sz="2000" b="1">
                <a:solidFill>
                  <a:srgbClr val="FF0000"/>
                </a:solidFill>
              </a:rPr>
              <a:t>x</a:t>
            </a:r>
            <a:r>
              <a:rPr lang="en-US" sz="2000"/>
              <a:t>)</a:t>
            </a:r>
          </a:p>
          <a:p>
            <a:pPr algn="r"/>
            <a:r>
              <a:rPr lang="en-US" sz="1600"/>
              <a:t>p(x)</a:t>
            </a:r>
          </a:p>
        </p:txBody>
      </p:sp>
      <p:sp>
        <p:nvSpPr>
          <p:cNvPr id="126993" name="Text Box 84"/>
          <p:cNvSpPr txBox="1">
            <a:spLocks noChangeArrowheads="1"/>
          </p:cNvSpPr>
          <p:nvPr/>
        </p:nvSpPr>
        <p:spPr bwMode="auto">
          <a:xfrm>
            <a:off x="3946525" y="1017588"/>
            <a:ext cx="6778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</a:t>
            </a:r>
            <a:r>
              <a:rPr lang="en-US" sz="2000" b="1">
                <a:solidFill>
                  <a:srgbClr val="FF0000"/>
                </a:solidFill>
              </a:rPr>
              <a:t>y</a:t>
            </a:r>
            <a:r>
              <a:rPr lang="en-US" sz="2000"/>
              <a:t>)</a:t>
            </a:r>
          </a:p>
          <a:p>
            <a:pPr algn="r"/>
            <a:r>
              <a:rPr lang="en-US" sz="1600"/>
              <a:t>p(y)</a:t>
            </a:r>
          </a:p>
        </p:txBody>
      </p:sp>
      <p:sp>
        <p:nvSpPr>
          <p:cNvPr id="126994" name="Text Box 85"/>
          <p:cNvSpPr txBox="1">
            <a:spLocks noChangeArrowheads="1"/>
          </p:cNvSpPr>
          <p:nvPr/>
        </p:nvSpPr>
        <p:spPr bwMode="auto">
          <a:xfrm>
            <a:off x="4578350" y="1022350"/>
            <a:ext cx="663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</a:t>
            </a:r>
            <a:r>
              <a:rPr lang="en-US" sz="2000" b="1">
                <a:solidFill>
                  <a:srgbClr val="FF0000"/>
                </a:solidFill>
              </a:rPr>
              <a:t>z</a:t>
            </a:r>
            <a:r>
              <a:rPr lang="en-US" sz="2000"/>
              <a:t>)</a:t>
            </a:r>
          </a:p>
          <a:p>
            <a:pPr algn="r"/>
            <a:r>
              <a:rPr lang="en-US" sz="1600"/>
              <a:t>p(z)</a:t>
            </a:r>
          </a:p>
        </p:txBody>
      </p:sp>
      <p:sp>
        <p:nvSpPr>
          <p:cNvPr id="126995" name="Line 86"/>
          <p:cNvSpPr>
            <a:spLocks noChangeShapeType="1"/>
          </p:cNvSpPr>
          <p:nvPr/>
        </p:nvSpPr>
        <p:spPr bwMode="auto">
          <a:xfrm>
            <a:off x="600075" y="1638300"/>
            <a:ext cx="462915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6996" name="Line 87"/>
          <p:cNvSpPr>
            <a:spLocks noChangeShapeType="1"/>
          </p:cNvSpPr>
          <p:nvPr/>
        </p:nvSpPr>
        <p:spPr bwMode="auto">
          <a:xfrm>
            <a:off x="581025" y="1952625"/>
            <a:ext cx="462915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6997" name="Text Box 88"/>
          <p:cNvSpPr txBox="1">
            <a:spLocks noChangeArrowheads="1"/>
          </p:cNvSpPr>
          <p:nvPr/>
        </p:nvSpPr>
        <p:spPr bwMode="auto">
          <a:xfrm>
            <a:off x="1492250" y="16081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u</a:t>
            </a:r>
          </a:p>
        </p:txBody>
      </p:sp>
      <p:sp>
        <p:nvSpPr>
          <p:cNvPr id="126998" name="Line 89"/>
          <p:cNvSpPr>
            <a:spLocks noChangeShapeType="1"/>
          </p:cNvSpPr>
          <p:nvPr/>
        </p:nvSpPr>
        <p:spPr bwMode="auto">
          <a:xfrm>
            <a:off x="581025" y="2247900"/>
            <a:ext cx="462915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6999" name="Line 90"/>
          <p:cNvSpPr>
            <a:spLocks noChangeShapeType="1"/>
          </p:cNvSpPr>
          <p:nvPr/>
        </p:nvSpPr>
        <p:spPr bwMode="auto">
          <a:xfrm>
            <a:off x="581025" y="2562225"/>
            <a:ext cx="462915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7000" name="Line 91"/>
          <p:cNvSpPr>
            <a:spLocks noChangeShapeType="1"/>
          </p:cNvSpPr>
          <p:nvPr/>
        </p:nvSpPr>
        <p:spPr bwMode="auto">
          <a:xfrm>
            <a:off x="565150" y="2865438"/>
            <a:ext cx="462915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7001" name="Line 92"/>
          <p:cNvSpPr>
            <a:spLocks noChangeShapeType="1"/>
          </p:cNvSpPr>
          <p:nvPr/>
        </p:nvSpPr>
        <p:spPr bwMode="auto">
          <a:xfrm>
            <a:off x="576263" y="3171825"/>
            <a:ext cx="462915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7002" name="Line 93"/>
          <p:cNvSpPr>
            <a:spLocks noChangeShapeType="1"/>
          </p:cNvSpPr>
          <p:nvPr/>
        </p:nvSpPr>
        <p:spPr bwMode="auto">
          <a:xfrm>
            <a:off x="581025" y="3467100"/>
            <a:ext cx="4629150" cy="0"/>
          </a:xfrm>
          <a:prstGeom prst="line">
            <a:avLst/>
          </a:prstGeom>
          <a:noFill/>
          <a:ln w="1270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9" name="Group 94"/>
          <p:cNvGrpSpPr>
            <a:grpSpLocks/>
          </p:cNvGrpSpPr>
          <p:nvPr/>
        </p:nvGrpSpPr>
        <p:grpSpPr bwMode="auto">
          <a:xfrm>
            <a:off x="2190750" y="1609725"/>
            <a:ext cx="3084513" cy="371475"/>
            <a:chOff x="1380" y="1014"/>
            <a:chExt cx="1943" cy="234"/>
          </a:xfrm>
        </p:grpSpPr>
        <p:sp>
          <p:nvSpPr>
            <p:cNvPr id="127036" name="Text Box 95"/>
            <p:cNvSpPr txBox="1">
              <a:spLocks noChangeArrowheads="1"/>
            </p:cNvSpPr>
            <p:nvPr/>
          </p:nvSpPr>
          <p:spPr bwMode="auto">
            <a:xfrm>
              <a:off x="3043" y="1014"/>
              <a:ext cx="2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>
                  <a:latin typeface="Comic Sans MS" charset="0"/>
                </a:rPr>
                <a:t>∞ </a:t>
              </a:r>
              <a:endParaRPr lang="en-US" sz="2000"/>
            </a:p>
          </p:txBody>
        </p:sp>
        <p:sp>
          <p:nvSpPr>
            <p:cNvPr id="127037" name="Text Box 96"/>
            <p:cNvSpPr txBox="1">
              <a:spLocks noChangeArrowheads="1"/>
            </p:cNvSpPr>
            <p:nvPr/>
          </p:nvSpPr>
          <p:spPr bwMode="auto">
            <a:xfrm>
              <a:off x="2647" y="1014"/>
              <a:ext cx="2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>
                  <a:latin typeface="Comic Sans MS" charset="0"/>
                </a:rPr>
                <a:t>∞ </a:t>
              </a:r>
              <a:endParaRPr lang="en-US" sz="2000"/>
            </a:p>
          </p:txBody>
        </p:sp>
        <p:sp>
          <p:nvSpPr>
            <p:cNvPr id="127038" name="Text Box 97"/>
            <p:cNvSpPr txBox="1">
              <a:spLocks noChangeArrowheads="1"/>
            </p:cNvSpPr>
            <p:nvPr/>
          </p:nvSpPr>
          <p:spPr bwMode="auto">
            <a:xfrm>
              <a:off x="1380" y="1017"/>
              <a:ext cx="3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/>
                <a:t>7,u</a:t>
              </a:r>
            </a:p>
          </p:txBody>
        </p:sp>
        <p:sp>
          <p:nvSpPr>
            <p:cNvPr id="127039" name="Text Box 98"/>
            <p:cNvSpPr txBox="1">
              <a:spLocks noChangeArrowheads="1"/>
            </p:cNvSpPr>
            <p:nvPr/>
          </p:nvSpPr>
          <p:spPr bwMode="auto">
            <a:xfrm>
              <a:off x="1787" y="1015"/>
              <a:ext cx="3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/>
                <a:t>3,u</a:t>
              </a:r>
            </a:p>
          </p:txBody>
        </p:sp>
        <p:sp>
          <p:nvSpPr>
            <p:cNvPr id="127040" name="Text Box 99"/>
            <p:cNvSpPr txBox="1">
              <a:spLocks noChangeArrowheads="1"/>
            </p:cNvSpPr>
            <p:nvPr/>
          </p:nvSpPr>
          <p:spPr bwMode="auto">
            <a:xfrm>
              <a:off x="2190" y="1016"/>
              <a:ext cx="3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/>
                <a:t>5,u</a:t>
              </a:r>
            </a:p>
          </p:txBody>
        </p:sp>
      </p:grpSp>
      <p:sp>
        <p:nvSpPr>
          <p:cNvPr id="717924" name="Text Box 100"/>
          <p:cNvSpPr txBox="1">
            <a:spLocks noChangeArrowheads="1"/>
          </p:cNvSpPr>
          <p:nvPr/>
        </p:nvSpPr>
        <p:spPr bwMode="auto">
          <a:xfrm>
            <a:off x="1346200" y="1905000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uw</a:t>
            </a:r>
          </a:p>
        </p:txBody>
      </p:sp>
      <p:grpSp>
        <p:nvGrpSpPr>
          <p:cNvPr id="10" name="Group 101"/>
          <p:cNvGrpSpPr>
            <a:grpSpLocks/>
          </p:cNvGrpSpPr>
          <p:nvPr/>
        </p:nvGrpSpPr>
        <p:grpSpPr bwMode="auto">
          <a:xfrm>
            <a:off x="2163763" y="1916113"/>
            <a:ext cx="3122612" cy="371475"/>
            <a:chOff x="1356" y="1014"/>
            <a:chExt cx="1967" cy="234"/>
          </a:xfrm>
        </p:grpSpPr>
        <p:sp>
          <p:nvSpPr>
            <p:cNvPr id="127031" name="Text Box 102"/>
            <p:cNvSpPr txBox="1">
              <a:spLocks noChangeArrowheads="1"/>
            </p:cNvSpPr>
            <p:nvPr/>
          </p:nvSpPr>
          <p:spPr bwMode="auto">
            <a:xfrm>
              <a:off x="3043" y="1014"/>
              <a:ext cx="2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>
                  <a:latin typeface="Comic Sans MS" charset="0"/>
                </a:rPr>
                <a:t>∞ </a:t>
              </a:r>
              <a:endParaRPr lang="en-US" sz="2000"/>
            </a:p>
          </p:txBody>
        </p:sp>
        <p:sp>
          <p:nvSpPr>
            <p:cNvPr id="127032" name="Text Box 103"/>
            <p:cNvSpPr txBox="1">
              <a:spLocks noChangeArrowheads="1"/>
            </p:cNvSpPr>
            <p:nvPr/>
          </p:nvSpPr>
          <p:spPr bwMode="auto">
            <a:xfrm>
              <a:off x="2482" y="1014"/>
              <a:ext cx="44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/>
                <a:t>11</a:t>
              </a:r>
              <a:r>
                <a:rPr lang="en-US" sz="1800"/>
                <a:t>,w</a:t>
              </a:r>
              <a:r>
                <a:rPr lang="en-US" sz="1800">
                  <a:latin typeface="Comic Sans MS" charset="0"/>
                </a:rPr>
                <a:t> </a:t>
              </a:r>
              <a:endParaRPr lang="en-US" sz="2000"/>
            </a:p>
          </p:txBody>
        </p:sp>
        <p:sp>
          <p:nvSpPr>
            <p:cNvPr id="127033" name="Text Box 104"/>
            <p:cNvSpPr txBox="1">
              <a:spLocks noChangeArrowheads="1"/>
            </p:cNvSpPr>
            <p:nvPr/>
          </p:nvSpPr>
          <p:spPr bwMode="auto">
            <a:xfrm>
              <a:off x="1356" y="1017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/>
                <a:t>6,w</a:t>
              </a:r>
            </a:p>
          </p:txBody>
        </p:sp>
        <p:sp>
          <p:nvSpPr>
            <p:cNvPr id="127034" name="Text Box 105"/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endParaRPr lang="en-US" sz="1800"/>
            </a:p>
          </p:txBody>
        </p:sp>
        <p:sp>
          <p:nvSpPr>
            <p:cNvPr id="127035" name="Text Box 106"/>
            <p:cNvSpPr txBox="1">
              <a:spLocks noChangeArrowheads="1"/>
            </p:cNvSpPr>
            <p:nvPr/>
          </p:nvSpPr>
          <p:spPr bwMode="auto">
            <a:xfrm>
              <a:off x="2190" y="1016"/>
              <a:ext cx="3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/>
                <a:t>5,u</a:t>
              </a:r>
            </a:p>
          </p:txBody>
        </p:sp>
      </p:grpSp>
      <p:grpSp>
        <p:nvGrpSpPr>
          <p:cNvPr id="11" name="Group 107"/>
          <p:cNvGrpSpPr>
            <a:grpSpLocks/>
          </p:cNvGrpSpPr>
          <p:nvPr/>
        </p:nvGrpSpPr>
        <p:grpSpPr bwMode="auto">
          <a:xfrm>
            <a:off x="2162175" y="2214563"/>
            <a:ext cx="3122613" cy="376237"/>
            <a:chOff x="1356" y="1011"/>
            <a:chExt cx="1967" cy="237"/>
          </a:xfrm>
        </p:grpSpPr>
        <p:sp>
          <p:nvSpPr>
            <p:cNvPr id="127026" name="Text Box 108"/>
            <p:cNvSpPr txBox="1">
              <a:spLocks noChangeArrowheads="1"/>
            </p:cNvSpPr>
            <p:nvPr/>
          </p:nvSpPr>
          <p:spPr bwMode="auto">
            <a:xfrm>
              <a:off x="2913" y="1011"/>
              <a:ext cx="4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/>
                <a:t>14</a:t>
              </a:r>
              <a:r>
                <a:rPr lang="en-US" sz="1800"/>
                <a:t>,x </a:t>
              </a:r>
            </a:p>
          </p:txBody>
        </p:sp>
        <p:sp>
          <p:nvSpPr>
            <p:cNvPr id="127027" name="Text Box 109"/>
            <p:cNvSpPr txBox="1">
              <a:spLocks noChangeArrowheads="1"/>
            </p:cNvSpPr>
            <p:nvPr/>
          </p:nvSpPr>
          <p:spPr bwMode="auto">
            <a:xfrm>
              <a:off x="2489" y="1011"/>
              <a:ext cx="43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/>
                <a:t>11,</a:t>
              </a:r>
              <a:r>
                <a:rPr lang="en-US" sz="1800"/>
                <a:t>w </a:t>
              </a:r>
              <a:endParaRPr lang="en-US" sz="2000"/>
            </a:p>
          </p:txBody>
        </p:sp>
        <p:sp>
          <p:nvSpPr>
            <p:cNvPr id="127028" name="Text Box 110"/>
            <p:cNvSpPr txBox="1">
              <a:spLocks noChangeArrowheads="1"/>
            </p:cNvSpPr>
            <p:nvPr/>
          </p:nvSpPr>
          <p:spPr bwMode="auto">
            <a:xfrm>
              <a:off x="1356" y="1017"/>
              <a:ext cx="3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/>
                <a:t>6,w</a:t>
              </a:r>
            </a:p>
          </p:txBody>
        </p:sp>
        <p:sp>
          <p:nvSpPr>
            <p:cNvPr id="127029" name="Text Box 111"/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endParaRPr lang="en-US" sz="1800"/>
            </a:p>
          </p:txBody>
        </p:sp>
        <p:sp>
          <p:nvSpPr>
            <p:cNvPr id="127030" name="Text Box 112"/>
            <p:cNvSpPr txBox="1">
              <a:spLocks noChangeArrowheads="1"/>
            </p:cNvSpPr>
            <p:nvPr/>
          </p:nvSpPr>
          <p:spPr bwMode="auto">
            <a:xfrm>
              <a:off x="2390" y="1016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endParaRPr lang="en-US" sz="1800"/>
            </a:p>
          </p:txBody>
        </p:sp>
      </p:grpSp>
      <p:sp>
        <p:nvSpPr>
          <p:cNvPr id="717937" name="Oval 113"/>
          <p:cNvSpPr>
            <a:spLocks noChangeArrowheads="1"/>
          </p:cNvSpPr>
          <p:nvPr/>
        </p:nvSpPr>
        <p:spPr bwMode="auto">
          <a:xfrm>
            <a:off x="2828925" y="1666875"/>
            <a:ext cx="528638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>
              <a:latin typeface="Comic Sans MS" charset="0"/>
            </a:endParaRPr>
          </a:p>
        </p:txBody>
      </p:sp>
      <p:sp>
        <p:nvSpPr>
          <p:cNvPr id="717938" name="Oval 114"/>
          <p:cNvSpPr>
            <a:spLocks noChangeArrowheads="1"/>
          </p:cNvSpPr>
          <p:nvPr/>
        </p:nvSpPr>
        <p:spPr bwMode="auto">
          <a:xfrm>
            <a:off x="3482975" y="1952625"/>
            <a:ext cx="528638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>
              <a:latin typeface="Comic Sans MS" charset="0"/>
            </a:endParaRPr>
          </a:p>
        </p:txBody>
      </p:sp>
      <p:sp>
        <p:nvSpPr>
          <p:cNvPr id="717939" name="Text Box 115"/>
          <p:cNvSpPr txBox="1">
            <a:spLocks noChangeArrowheads="1"/>
          </p:cNvSpPr>
          <p:nvPr/>
        </p:nvSpPr>
        <p:spPr bwMode="auto">
          <a:xfrm>
            <a:off x="1239838" y="221456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uwx</a:t>
            </a:r>
          </a:p>
        </p:txBody>
      </p:sp>
      <p:sp>
        <p:nvSpPr>
          <p:cNvPr id="717940" name="Oval 116"/>
          <p:cNvSpPr>
            <a:spLocks noChangeArrowheads="1"/>
          </p:cNvSpPr>
          <p:nvPr/>
        </p:nvSpPr>
        <p:spPr bwMode="auto">
          <a:xfrm>
            <a:off x="2174875" y="2271713"/>
            <a:ext cx="528638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>
              <a:latin typeface="Comic Sans MS" charset="0"/>
            </a:endParaRPr>
          </a:p>
        </p:txBody>
      </p:sp>
      <p:sp>
        <p:nvSpPr>
          <p:cNvPr id="717941" name="Text Box 117"/>
          <p:cNvSpPr txBox="1">
            <a:spLocks noChangeArrowheads="1"/>
          </p:cNvSpPr>
          <p:nvPr/>
        </p:nvSpPr>
        <p:spPr bwMode="auto">
          <a:xfrm>
            <a:off x="1144588" y="2500313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uwxv</a:t>
            </a:r>
          </a:p>
        </p:txBody>
      </p:sp>
      <p:grpSp>
        <p:nvGrpSpPr>
          <p:cNvPr id="12" name="Group 118"/>
          <p:cNvGrpSpPr>
            <a:grpSpLocks/>
          </p:cNvGrpSpPr>
          <p:nvPr/>
        </p:nvGrpSpPr>
        <p:grpSpPr bwMode="auto">
          <a:xfrm>
            <a:off x="4008438" y="2511425"/>
            <a:ext cx="1273175" cy="366713"/>
            <a:chOff x="1492" y="2777"/>
            <a:chExt cx="802" cy="231"/>
          </a:xfrm>
        </p:grpSpPr>
        <p:sp>
          <p:nvSpPr>
            <p:cNvPr id="127024" name="Text Box 119"/>
            <p:cNvSpPr txBox="1">
              <a:spLocks noChangeArrowheads="1"/>
            </p:cNvSpPr>
            <p:nvPr/>
          </p:nvSpPr>
          <p:spPr bwMode="auto">
            <a:xfrm>
              <a:off x="1884" y="2777"/>
              <a:ext cx="4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/>
                <a:t>14</a:t>
              </a:r>
              <a:r>
                <a:rPr lang="en-US" sz="1800"/>
                <a:t>,x </a:t>
              </a:r>
            </a:p>
          </p:txBody>
        </p:sp>
        <p:sp>
          <p:nvSpPr>
            <p:cNvPr id="127025" name="Text Box 120"/>
            <p:cNvSpPr txBox="1">
              <a:spLocks noChangeArrowheads="1"/>
            </p:cNvSpPr>
            <p:nvPr/>
          </p:nvSpPr>
          <p:spPr bwMode="auto">
            <a:xfrm>
              <a:off x="1492" y="2777"/>
              <a:ext cx="4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/>
                <a:t>10,</a:t>
              </a:r>
              <a:r>
                <a:rPr lang="en-US" sz="1800"/>
                <a:t>v </a:t>
              </a:r>
              <a:endParaRPr lang="en-US" sz="2000"/>
            </a:p>
          </p:txBody>
        </p:sp>
      </p:grpSp>
      <p:sp>
        <p:nvSpPr>
          <p:cNvPr id="717945" name="Oval 121"/>
          <p:cNvSpPr>
            <a:spLocks noChangeArrowheads="1"/>
          </p:cNvSpPr>
          <p:nvPr/>
        </p:nvSpPr>
        <p:spPr bwMode="auto">
          <a:xfrm>
            <a:off x="4011613" y="2570163"/>
            <a:ext cx="528637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>
              <a:latin typeface="Comic Sans MS" charset="0"/>
            </a:endParaRPr>
          </a:p>
        </p:txBody>
      </p:sp>
      <p:sp>
        <p:nvSpPr>
          <p:cNvPr id="717946" name="Text Box 122"/>
          <p:cNvSpPr txBox="1">
            <a:spLocks noChangeArrowheads="1"/>
          </p:cNvSpPr>
          <p:nvPr/>
        </p:nvSpPr>
        <p:spPr bwMode="auto">
          <a:xfrm>
            <a:off x="1060450" y="281940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uwxvy</a:t>
            </a:r>
          </a:p>
        </p:txBody>
      </p:sp>
      <p:sp>
        <p:nvSpPr>
          <p:cNvPr id="717947" name="Text Box 123"/>
          <p:cNvSpPr txBox="1">
            <a:spLocks noChangeArrowheads="1"/>
          </p:cNvSpPr>
          <p:nvPr/>
        </p:nvSpPr>
        <p:spPr bwMode="auto">
          <a:xfrm>
            <a:off x="4638675" y="2830513"/>
            <a:ext cx="650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600"/>
              <a:t>12</a:t>
            </a:r>
            <a:r>
              <a:rPr lang="en-US" sz="1800"/>
              <a:t>,y </a:t>
            </a:r>
          </a:p>
        </p:txBody>
      </p:sp>
      <p:sp>
        <p:nvSpPr>
          <p:cNvPr id="717948" name="Oval 124"/>
          <p:cNvSpPr>
            <a:spLocks noChangeArrowheads="1"/>
          </p:cNvSpPr>
          <p:nvPr/>
        </p:nvSpPr>
        <p:spPr bwMode="auto">
          <a:xfrm>
            <a:off x="4676775" y="2887663"/>
            <a:ext cx="528638" cy="2762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>
              <a:latin typeface="Comic Sans MS" charset="0"/>
            </a:endParaRPr>
          </a:p>
        </p:txBody>
      </p:sp>
      <p:sp>
        <p:nvSpPr>
          <p:cNvPr id="717949" name="Rectangle 125"/>
          <p:cNvSpPr>
            <a:spLocks noChangeArrowheads="1"/>
          </p:cNvSpPr>
          <p:nvPr/>
        </p:nvSpPr>
        <p:spPr bwMode="auto">
          <a:xfrm>
            <a:off x="538163" y="3775075"/>
            <a:ext cx="3810000" cy="239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i="1" dirty="0">
                <a:solidFill>
                  <a:srgbClr val="CC0000"/>
                </a:solidFill>
                <a:latin typeface="Gill Sans MT" charset="0"/>
              </a:rPr>
              <a:t>notes: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r>
              <a:rPr lang="en-US" sz="2000" dirty="0">
                <a:latin typeface="Gill Sans MT" charset="0"/>
              </a:rPr>
              <a:t>construct shortest path tree by tracing predecessor </a:t>
            </a:r>
            <a:r>
              <a:rPr lang="en-US" sz="2000" dirty="0" smtClean="0">
                <a:latin typeface="Gill Sans MT" charset="0"/>
              </a:rPr>
              <a:t>nodes</a:t>
            </a:r>
          </a:p>
        </p:txBody>
      </p:sp>
      <p:sp>
        <p:nvSpPr>
          <p:cNvPr id="717950" name="Line 126"/>
          <p:cNvSpPr>
            <a:spLocks noChangeShapeType="1"/>
          </p:cNvSpPr>
          <p:nvPr/>
        </p:nvSpPr>
        <p:spPr bwMode="auto">
          <a:xfrm>
            <a:off x="7874000" y="4995863"/>
            <a:ext cx="5905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951" name="Line 127"/>
          <p:cNvSpPr>
            <a:spLocks noChangeShapeType="1"/>
          </p:cNvSpPr>
          <p:nvPr/>
        </p:nvSpPr>
        <p:spPr bwMode="auto">
          <a:xfrm flipV="1">
            <a:off x="6124575" y="4995863"/>
            <a:ext cx="1463675" cy="12049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952" name="Line 128"/>
          <p:cNvSpPr>
            <a:spLocks noChangeShapeType="1"/>
          </p:cNvSpPr>
          <p:nvPr/>
        </p:nvSpPr>
        <p:spPr bwMode="auto">
          <a:xfrm>
            <a:off x="6115050" y="5110163"/>
            <a:ext cx="9525" cy="1047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953" name="Line 129"/>
          <p:cNvSpPr>
            <a:spLocks noChangeShapeType="1"/>
          </p:cNvSpPr>
          <p:nvPr/>
        </p:nvSpPr>
        <p:spPr bwMode="auto">
          <a:xfrm flipV="1">
            <a:off x="4906963" y="3252788"/>
            <a:ext cx="1012825" cy="162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954" name="Line 130"/>
          <p:cNvSpPr>
            <a:spLocks noChangeShapeType="1"/>
          </p:cNvSpPr>
          <p:nvPr/>
        </p:nvSpPr>
        <p:spPr bwMode="auto">
          <a:xfrm flipV="1">
            <a:off x="5008563" y="4999038"/>
            <a:ext cx="9445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955" name="Text Box 131"/>
          <p:cNvSpPr txBox="1">
            <a:spLocks noChangeArrowheads="1"/>
          </p:cNvSpPr>
          <p:nvPr/>
        </p:nvSpPr>
        <p:spPr bwMode="auto">
          <a:xfrm>
            <a:off x="931863" y="3117850"/>
            <a:ext cx="933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/>
              <a:t>uwxvyz</a:t>
            </a:r>
          </a:p>
        </p:txBody>
      </p:sp>
      <p:sp>
        <p:nvSpPr>
          <p:cNvPr id="1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1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74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1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1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1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1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1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71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71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1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1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0"/>
                                        <p:tgtEl>
                                          <p:spTgt spid="71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71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1000"/>
                                        <p:tgtEl>
                                          <p:spTgt spid="71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1000"/>
                                        <p:tgtEl>
                                          <p:spTgt spid="71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0"/>
                                        <p:tgtEl>
                                          <p:spTgt spid="71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24" grpId="0"/>
      <p:bldP spid="717937" grpId="0" animBg="1"/>
      <p:bldP spid="717938" grpId="0" animBg="1"/>
      <p:bldP spid="717939" grpId="0"/>
      <p:bldP spid="717940" grpId="0" animBg="1"/>
      <p:bldP spid="717941" grpId="0"/>
      <p:bldP spid="717945" grpId="0" animBg="1"/>
      <p:bldP spid="717946" grpId="0"/>
      <p:bldP spid="717947" grpId="0"/>
      <p:bldP spid="717948" grpId="0" animBg="1"/>
      <p:bldP spid="717949" grpId="0"/>
      <p:bldP spid="717950" grpId="0" animBg="1"/>
      <p:bldP spid="717951" grpId="0" animBg="1"/>
      <p:bldP spid="717952" grpId="0" animBg="1"/>
      <p:bldP spid="717953" grpId="0" animBg="1"/>
      <p:bldP spid="717954" grpId="0" animBg="1"/>
      <p:bldP spid="71795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3" name="Picture 91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83343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4" name="Rectangle 2"/>
          <p:cNvSpPr>
            <a:spLocks noGrp="1" noChangeArrowheads="1"/>
          </p:cNvSpPr>
          <p:nvPr>
            <p:ph type="title"/>
          </p:nvPr>
        </p:nvSpPr>
        <p:spPr>
          <a:xfrm>
            <a:off x="411163" y="130175"/>
            <a:ext cx="8364537" cy="963613"/>
          </a:xfrm>
        </p:spPr>
        <p:txBody>
          <a:bodyPr/>
          <a:lstStyle/>
          <a:p>
            <a:r>
              <a:rPr lang="en-US" sz="4000">
                <a:latin typeface="Gill Sans MT" charset="0"/>
              </a:rPr>
              <a:t>Dijkstra</a:t>
            </a:r>
            <a:r>
              <a:rPr lang="ja-JP" altLang="en-US" sz="4000">
                <a:latin typeface="Gill Sans MT" charset="0"/>
              </a:rPr>
              <a:t>’</a:t>
            </a:r>
            <a:r>
              <a:rPr lang="en-US" altLang="ja-JP" sz="4000">
                <a:latin typeface="Gill Sans MT" charset="0"/>
              </a:rPr>
              <a:t>s algorithm: another example</a:t>
            </a:r>
            <a:endParaRPr lang="en-US">
              <a:latin typeface="Gill Sans MT" charset="0"/>
            </a:endParaRPr>
          </a:p>
        </p:txBody>
      </p:sp>
      <p:sp>
        <p:nvSpPr>
          <p:cNvPr id="128005" name="Text Box 3"/>
          <p:cNvSpPr txBox="1">
            <a:spLocks noChangeArrowheads="1"/>
          </p:cNvSpPr>
          <p:nvPr/>
        </p:nvSpPr>
        <p:spPr bwMode="auto">
          <a:xfrm>
            <a:off x="239713" y="1506538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Step</a:t>
            </a:r>
          </a:p>
          <a:p>
            <a:pPr algn="r"/>
            <a:r>
              <a:rPr lang="en-US" sz="2000"/>
              <a:t>0</a:t>
            </a:r>
          </a:p>
          <a:p>
            <a:pPr algn="r"/>
            <a:r>
              <a:rPr lang="en-US" sz="2000"/>
              <a:t>1</a:t>
            </a:r>
          </a:p>
          <a:p>
            <a:pPr algn="r"/>
            <a:r>
              <a:rPr lang="en-US" sz="2000"/>
              <a:t>2</a:t>
            </a:r>
          </a:p>
          <a:p>
            <a:pPr algn="r"/>
            <a:r>
              <a:rPr lang="en-US" sz="2000"/>
              <a:t>3</a:t>
            </a:r>
          </a:p>
          <a:p>
            <a:pPr algn="r"/>
            <a:r>
              <a:rPr lang="en-US" sz="2000"/>
              <a:t>4</a:t>
            </a:r>
          </a:p>
          <a:p>
            <a:pPr algn="r"/>
            <a:r>
              <a:rPr lang="en-US" sz="2000"/>
              <a:t>5</a:t>
            </a:r>
          </a:p>
        </p:txBody>
      </p:sp>
      <p:sp>
        <p:nvSpPr>
          <p:cNvPr id="128006" name="Text Box 4"/>
          <p:cNvSpPr txBox="1">
            <a:spLocks noChangeArrowheads="1"/>
          </p:cNvSpPr>
          <p:nvPr/>
        </p:nvSpPr>
        <p:spPr bwMode="auto">
          <a:xfrm>
            <a:off x="1252538" y="1516063"/>
            <a:ext cx="101758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N</a:t>
            </a:r>
            <a:r>
              <a:rPr lang="en-US" sz="2000">
                <a:cs typeface="Arial" charset="0"/>
              </a:rPr>
              <a:t>'</a:t>
            </a:r>
          </a:p>
          <a:p>
            <a:pPr algn="r"/>
            <a:r>
              <a:rPr lang="en-US" sz="2000"/>
              <a:t>u</a:t>
            </a:r>
          </a:p>
          <a:p>
            <a:pPr algn="r"/>
            <a:r>
              <a:rPr lang="en-US" sz="2000"/>
              <a:t>ux</a:t>
            </a:r>
          </a:p>
          <a:p>
            <a:pPr algn="r"/>
            <a:r>
              <a:rPr lang="en-US" sz="2000"/>
              <a:t>uxy</a:t>
            </a:r>
          </a:p>
          <a:p>
            <a:pPr algn="r"/>
            <a:r>
              <a:rPr lang="en-US" sz="2000"/>
              <a:t>uxyv</a:t>
            </a:r>
          </a:p>
          <a:p>
            <a:pPr algn="r"/>
            <a:r>
              <a:rPr lang="en-US" sz="2000"/>
              <a:t>uxyvw</a:t>
            </a:r>
          </a:p>
          <a:p>
            <a:pPr algn="r"/>
            <a:r>
              <a:rPr lang="en-US" sz="2000"/>
              <a:t>uxyvwz</a:t>
            </a:r>
          </a:p>
        </p:txBody>
      </p:sp>
      <p:sp>
        <p:nvSpPr>
          <p:cNvPr id="128007" name="Text Box 5"/>
          <p:cNvSpPr txBox="1">
            <a:spLocks noChangeArrowheads="1"/>
          </p:cNvSpPr>
          <p:nvPr/>
        </p:nvSpPr>
        <p:spPr bwMode="auto">
          <a:xfrm>
            <a:off x="2500313" y="1497013"/>
            <a:ext cx="11699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D(v),p(v)</a:t>
            </a:r>
          </a:p>
          <a:p>
            <a:pPr algn="r"/>
            <a:r>
              <a:rPr lang="en-US" sz="2000"/>
              <a:t>2,u</a:t>
            </a:r>
          </a:p>
          <a:p>
            <a:pPr algn="r"/>
            <a:r>
              <a:rPr lang="en-US" sz="2000"/>
              <a:t>2,u</a:t>
            </a:r>
          </a:p>
          <a:p>
            <a:pPr algn="r"/>
            <a:r>
              <a:rPr lang="en-US" sz="2000"/>
              <a:t>2,u</a:t>
            </a:r>
          </a:p>
        </p:txBody>
      </p:sp>
      <p:sp>
        <p:nvSpPr>
          <p:cNvPr id="128008" name="Text Box 6"/>
          <p:cNvSpPr txBox="1">
            <a:spLocks noChangeArrowheads="1"/>
          </p:cNvSpPr>
          <p:nvPr/>
        </p:nvSpPr>
        <p:spPr bwMode="auto">
          <a:xfrm>
            <a:off x="3667125" y="1501775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D(w),p(w)</a:t>
            </a:r>
          </a:p>
          <a:p>
            <a:pPr algn="r"/>
            <a:r>
              <a:rPr lang="en-US" sz="2000"/>
              <a:t>5,u</a:t>
            </a:r>
          </a:p>
          <a:p>
            <a:pPr algn="r"/>
            <a:r>
              <a:rPr lang="en-US" sz="2000"/>
              <a:t>4,x</a:t>
            </a:r>
          </a:p>
          <a:p>
            <a:pPr algn="r"/>
            <a:r>
              <a:rPr lang="en-US" sz="2000"/>
              <a:t>3,y</a:t>
            </a:r>
          </a:p>
          <a:p>
            <a:pPr algn="r"/>
            <a:r>
              <a:rPr lang="en-US" sz="2000"/>
              <a:t>3,y</a:t>
            </a:r>
          </a:p>
        </p:txBody>
      </p:sp>
      <p:sp>
        <p:nvSpPr>
          <p:cNvPr id="128009" name="Text Box 7"/>
          <p:cNvSpPr txBox="1">
            <a:spLocks noChangeArrowheads="1"/>
          </p:cNvSpPr>
          <p:nvPr/>
        </p:nvSpPr>
        <p:spPr bwMode="auto">
          <a:xfrm>
            <a:off x="5057775" y="1497013"/>
            <a:ext cx="11699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D(x),p(x)</a:t>
            </a:r>
          </a:p>
          <a:p>
            <a:pPr algn="r"/>
            <a:r>
              <a:rPr lang="en-US" sz="2000"/>
              <a:t>1,u</a:t>
            </a:r>
          </a:p>
        </p:txBody>
      </p:sp>
      <p:sp>
        <p:nvSpPr>
          <p:cNvPr id="128010" name="Text Box 8"/>
          <p:cNvSpPr txBox="1">
            <a:spLocks noChangeArrowheads="1"/>
          </p:cNvSpPr>
          <p:nvPr/>
        </p:nvSpPr>
        <p:spPr bwMode="auto">
          <a:xfrm>
            <a:off x="6353175" y="1501775"/>
            <a:ext cx="11699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D(y),p(y)</a:t>
            </a:r>
          </a:p>
          <a:p>
            <a:pPr algn="r"/>
            <a:r>
              <a:rPr lang="en-US" sz="2000">
                <a:latin typeface="Comic Sans MS" charset="0"/>
                <a:cs typeface="Arial" charset="0"/>
              </a:rPr>
              <a:t>∞</a:t>
            </a:r>
          </a:p>
          <a:p>
            <a:pPr algn="r"/>
            <a:r>
              <a:rPr lang="en-US" sz="2000"/>
              <a:t>2,x</a:t>
            </a:r>
          </a:p>
        </p:txBody>
      </p:sp>
      <p:sp>
        <p:nvSpPr>
          <p:cNvPr id="128011" name="Text Box 9"/>
          <p:cNvSpPr txBox="1">
            <a:spLocks noChangeArrowheads="1"/>
          </p:cNvSpPr>
          <p:nvPr/>
        </p:nvSpPr>
        <p:spPr bwMode="auto">
          <a:xfrm>
            <a:off x="7605713" y="1516063"/>
            <a:ext cx="1169987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/>
              <a:t>D(z),p(z)</a:t>
            </a:r>
          </a:p>
          <a:p>
            <a:pPr algn="r"/>
            <a:r>
              <a:rPr lang="en-US" sz="1800">
                <a:latin typeface="Comic Sans MS" charset="0"/>
              </a:rPr>
              <a:t>∞ </a:t>
            </a:r>
            <a:endParaRPr lang="en-US" sz="2000"/>
          </a:p>
          <a:p>
            <a:pPr algn="r"/>
            <a:r>
              <a:rPr lang="en-US" sz="1800">
                <a:latin typeface="Comic Sans MS" charset="0"/>
              </a:rPr>
              <a:t>∞ </a:t>
            </a:r>
            <a:endParaRPr lang="en-US" sz="2000"/>
          </a:p>
          <a:p>
            <a:pPr algn="r"/>
            <a:r>
              <a:rPr lang="en-US" sz="2000"/>
              <a:t>4,y</a:t>
            </a:r>
          </a:p>
          <a:p>
            <a:pPr algn="r"/>
            <a:r>
              <a:rPr lang="en-US" sz="2000"/>
              <a:t>4,y</a:t>
            </a:r>
          </a:p>
          <a:p>
            <a:pPr algn="r"/>
            <a:r>
              <a:rPr lang="en-US" sz="2000"/>
              <a:t>4,y</a:t>
            </a:r>
          </a:p>
        </p:txBody>
      </p:sp>
      <p:sp>
        <p:nvSpPr>
          <p:cNvPr id="128012" name="Line 10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3" name="Line 11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4" name="Line 12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5" name="Line 13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6" name="Line 14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7" name="Line 15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8018" name="Group 16"/>
          <p:cNvGrpSpPr>
            <a:grpSpLocks/>
          </p:cNvGrpSpPr>
          <p:nvPr/>
        </p:nvGrpSpPr>
        <p:grpSpPr bwMode="auto">
          <a:xfrm>
            <a:off x="3645396" y="3771160"/>
            <a:ext cx="3571875" cy="2236787"/>
            <a:chOff x="3162" y="1071"/>
            <a:chExt cx="2250" cy="1409"/>
          </a:xfrm>
        </p:grpSpPr>
        <p:sp>
          <p:nvSpPr>
            <p:cNvPr id="128024" name="Freeform 17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25" name="Freeform 18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26" name="Oval 19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27" name="Line 20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28" name="Line 21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29" name="Rectangle 22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8030" name="Oval 23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31" name="Oval 24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32" name="Line 25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33" name="Line 26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34" name="Rectangle 27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8035" name="Oval 28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36" name="Oval 29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37" name="Line 30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38" name="Line 31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39" name="Rectangle 32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8040" name="Oval 33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41" name="Oval 34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42" name="Line 35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43" name="Line 36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44" name="Rectangle 37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8045" name="Oval 38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46" name="Oval 39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47" name="Line 40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48" name="Line 41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49" name="Rectangle 42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8050" name="Oval 43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51" name="Oval 44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52" name="Line 45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53" name="Line 46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54" name="Rectangle 47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8055" name="Oval 48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56" name="Freeform 49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57" name="Freeform 50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58" name="Freeform 51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59" name="Freeform 52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60" name="Freeform 53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61" name="Freeform 54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62" name="Freeform 55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63" name="Freeform 56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64" name="Freeform 57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8065" name="Group 58"/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28091" name="Rectangle 5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092" name="Text Box 60"/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u</a:t>
                </a:r>
                <a:endParaRPr lang="en-US"/>
              </a:p>
            </p:txBody>
          </p:sp>
        </p:grpSp>
        <p:grpSp>
          <p:nvGrpSpPr>
            <p:cNvPr id="128066" name="Group 61"/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28089" name="Rectangle 6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090" name="Text Box 63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y</a:t>
                </a:r>
                <a:endParaRPr lang="en-US"/>
              </a:p>
            </p:txBody>
          </p:sp>
        </p:grpSp>
        <p:grpSp>
          <p:nvGrpSpPr>
            <p:cNvPr id="128067" name="Group 64"/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28087" name="Rectangle 6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088" name="Text Box 66"/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x</a:t>
                </a:r>
              </a:p>
            </p:txBody>
          </p:sp>
        </p:grpSp>
        <p:grpSp>
          <p:nvGrpSpPr>
            <p:cNvPr id="128068" name="Group 67"/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28085" name="Rectangle 6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086" name="Text Box 69"/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w</a:t>
                </a:r>
                <a:endParaRPr lang="en-US"/>
              </a:p>
            </p:txBody>
          </p:sp>
        </p:grpSp>
        <p:grpSp>
          <p:nvGrpSpPr>
            <p:cNvPr id="128069" name="Group 70"/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28083" name="Rectangle 7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084" name="Text Box 72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v</a:t>
                </a:r>
                <a:endParaRPr lang="en-US"/>
              </a:p>
            </p:txBody>
          </p:sp>
        </p:grpSp>
        <p:grpSp>
          <p:nvGrpSpPr>
            <p:cNvPr id="128070" name="Group 73"/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28081" name="Rectangle 7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082" name="Text Box 75"/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z</a:t>
                </a:r>
              </a:p>
            </p:txBody>
          </p:sp>
        </p:grpSp>
        <p:sp>
          <p:nvSpPr>
            <p:cNvPr id="128071" name="Text Box 76"/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8072" name="Text Box 77"/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8073" name="Text Box 78"/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28074" name="Text Box 79"/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28075" name="Text Box 80"/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28076" name="Text Box 81"/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28077" name="Text Box 82"/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28078" name="Text Box 83"/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28079" name="Text Box 84"/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28080" name="Text Box 85"/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</p:grpSp>
      <p:sp>
        <p:nvSpPr>
          <p:cNvPr id="718934" name="Line 86"/>
          <p:cNvSpPr>
            <a:spLocks noChangeShapeType="1"/>
          </p:cNvSpPr>
          <p:nvPr/>
        </p:nvSpPr>
        <p:spPr bwMode="auto">
          <a:xfrm flipH="1">
            <a:off x="2241550" y="2035175"/>
            <a:ext cx="3514725" cy="3095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935" name="Line 87"/>
          <p:cNvSpPr>
            <a:spLocks noChangeShapeType="1"/>
          </p:cNvSpPr>
          <p:nvPr/>
        </p:nvSpPr>
        <p:spPr bwMode="auto">
          <a:xfrm flipH="1">
            <a:off x="2163763" y="2330450"/>
            <a:ext cx="4894262" cy="3349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936" name="Line 88"/>
          <p:cNvSpPr>
            <a:spLocks noChangeShapeType="1"/>
          </p:cNvSpPr>
          <p:nvPr/>
        </p:nvSpPr>
        <p:spPr bwMode="auto">
          <a:xfrm flipH="1">
            <a:off x="2227263" y="2692400"/>
            <a:ext cx="914400" cy="257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937" name="Line 89"/>
          <p:cNvSpPr>
            <a:spLocks noChangeShapeType="1"/>
          </p:cNvSpPr>
          <p:nvPr/>
        </p:nvSpPr>
        <p:spPr bwMode="auto">
          <a:xfrm flipH="1">
            <a:off x="2241550" y="2949575"/>
            <a:ext cx="2239963" cy="3095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938" name="Line 90"/>
          <p:cNvSpPr>
            <a:spLocks noChangeShapeType="1"/>
          </p:cNvSpPr>
          <p:nvPr/>
        </p:nvSpPr>
        <p:spPr bwMode="auto">
          <a:xfrm flipH="1">
            <a:off x="2254250" y="3206750"/>
            <a:ext cx="5975350" cy="3349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9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685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934" grpId="0" animBg="1"/>
      <p:bldP spid="718935" grpId="0" animBg="1"/>
      <p:bldP spid="718936" grpId="0" animBg="1"/>
      <p:bldP spid="718937" grpId="0" animBg="1"/>
      <p:bldP spid="71893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852488"/>
          </a:xfrm>
        </p:spPr>
        <p:txBody>
          <a:bodyPr/>
          <a:lstStyle/>
          <a:p>
            <a:r>
              <a:rPr lang="en-US" sz="4000">
                <a:latin typeface="Gill Sans MT" charset="0"/>
              </a:rPr>
              <a:t>Dijkstra</a:t>
            </a:r>
            <a:r>
              <a:rPr lang="ja-JP" altLang="en-US" sz="4000">
                <a:latin typeface="Gill Sans MT" charset="0"/>
              </a:rPr>
              <a:t>’</a:t>
            </a:r>
            <a:r>
              <a:rPr lang="en-US" altLang="ja-JP" sz="4000">
                <a:latin typeface="Gill Sans MT" charset="0"/>
              </a:rPr>
              <a:t>s algorithm: example (2) </a:t>
            </a:r>
            <a:endParaRPr lang="en-US" sz="4000">
              <a:latin typeface="Gill Sans MT" charset="0"/>
            </a:endParaRPr>
          </a:p>
        </p:txBody>
      </p:sp>
      <p:grpSp>
        <p:nvGrpSpPr>
          <p:cNvPr id="129028" name="Group 3"/>
          <p:cNvGrpSpPr>
            <a:grpSpLocks/>
          </p:cNvGrpSpPr>
          <p:nvPr/>
        </p:nvGrpSpPr>
        <p:grpSpPr bwMode="auto">
          <a:xfrm>
            <a:off x="2198688" y="2036763"/>
            <a:ext cx="3244850" cy="1500187"/>
            <a:chOff x="1385" y="1283"/>
            <a:chExt cx="2044" cy="945"/>
          </a:xfrm>
        </p:grpSpPr>
        <p:sp>
          <p:nvSpPr>
            <p:cNvPr id="129047" name="Freeform 4"/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8" name="Oval 5"/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9" name="Line 6"/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0" name="Line 7"/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1" name="Rectangle 8"/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9052" name="Oval 9"/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3" name="Oval 10"/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4" name="Line 11"/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5" name="Line 12"/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6" name="Rectangle 13"/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9057" name="Oval 14"/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8" name="Oval 15"/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9" name="Line 16"/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0" name="Line 17"/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1" name="Rectangle 18"/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9062" name="Oval 19"/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3" name="Oval 20"/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4" name="Line 21"/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5" name="Line 22"/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6" name="Rectangle 23"/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9067" name="Oval 24"/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8" name="Oval 25"/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9" name="Line 26"/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70" name="Line 27"/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71" name="Rectangle 28"/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9072" name="Oval 29"/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73" name="Oval 30"/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74" name="Line 31"/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75" name="Line 32"/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76" name="Rectangle 33"/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29077" name="Oval 34"/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78" name="Freeform 35"/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79" name="Freeform 36"/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80" name="Freeform 37"/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81" name="Freeform 38"/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9082" name="Group 39"/>
            <p:cNvGrpSpPr>
              <a:grpSpLocks/>
            </p:cNvGrpSpPr>
            <p:nvPr/>
          </p:nvGrpSpPr>
          <p:grpSpPr bwMode="auto"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129098" name="Rectangle 4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099" name="Text Box 41"/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u</a:t>
                </a:r>
                <a:endParaRPr lang="en-US"/>
              </a:p>
            </p:txBody>
          </p:sp>
        </p:grpSp>
        <p:grpSp>
          <p:nvGrpSpPr>
            <p:cNvPr id="129083" name="Group 42"/>
            <p:cNvGrpSpPr>
              <a:grpSpLocks/>
            </p:cNvGrpSpPr>
            <p:nvPr/>
          </p:nvGrpSpPr>
          <p:grpSpPr bwMode="auto"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129096" name="Rectangle 4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097" name="Text Box 44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y</a:t>
                </a:r>
                <a:endParaRPr lang="en-US"/>
              </a:p>
            </p:txBody>
          </p:sp>
        </p:grpSp>
        <p:grpSp>
          <p:nvGrpSpPr>
            <p:cNvPr id="129084" name="Group 45"/>
            <p:cNvGrpSpPr>
              <a:grpSpLocks/>
            </p:cNvGrpSpPr>
            <p:nvPr/>
          </p:nvGrpSpPr>
          <p:grpSpPr bwMode="auto"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129094" name="Rectangle 4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095" name="Text Box 47"/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x</a:t>
                </a:r>
              </a:p>
            </p:txBody>
          </p:sp>
        </p:grpSp>
        <p:grpSp>
          <p:nvGrpSpPr>
            <p:cNvPr id="129085" name="Group 48"/>
            <p:cNvGrpSpPr>
              <a:grpSpLocks/>
            </p:cNvGrpSpPr>
            <p:nvPr/>
          </p:nvGrpSpPr>
          <p:grpSpPr bwMode="auto"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129092" name="Rectangle 4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093" name="Text Box 50"/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w</a:t>
                </a:r>
                <a:endParaRPr lang="en-US"/>
              </a:p>
            </p:txBody>
          </p:sp>
        </p:grpSp>
        <p:grpSp>
          <p:nvGrpSpPr>
            <p:cNvPr id="129086" name="Group 51"/>
            <p:cNvGrpSpPr>
              <a:grpSpLocks/>
            </p:cNvGrpSpPr>
            <p:nvPr/>
          </p:nvGrpSpPr>
          <p:grpSpPr bwMode="auto"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129090" name="Rectangle 5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091" name="Text Box 53"/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v</a:t>
                </a:r>
                <a:endParaRPr lang="en-US"/>
              </a:p>
            </p:txBody>
          </p:sp>
        </p:grpSp>
        <p:grpSp>
          <p:nvGrpSpPr>
            <p:cNvPr id="129087" name="Group 54"/>
            <p:cNvGrpSpPr>
              <a:grpSpLocks/>
            </p:cNvGrpSpPr>
            <p:nvPr/>
          </p:nvGrpSpPr>
          <p:grpSpPr bwMode="auto"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129088" name="Rectangle 5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089" name="Text Box 56"/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/>
                  <a:t>z</a:t>
                </a:r>
              </a:p>
            </p:txBody>
          </p:sp>
        </p:grpSp>
      </p:grpSp>
      <p:sp>
        <p:nvSpPr>
          <p:cNvPr id="129029" name="Text Box 57"/>
          <p:cNvSpPr txBox="1">
            <a:spLocks noChangeArrowheads="1"/>
          </p:cNvSpPr>
          <p:nvPr/>
        </p:nvSpPr>
        <p:spPr bwMode="auto">
          <a:xfrm>
            <a:off x="577850" y="1220788"/>
            <a:ext cx="4568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>
                <a:latin typeface="Gill Sans MT" charset="0"/>
              </a:rPr>
              <a:t>resulting shortest-path tree from u:</a:t>
            </a:r>
          </a:p>
        </p:txBody>
      </p:sp>
      <p:grpSp>
        <p:nvGrpSpPr>
          <p:cNvPr id="129030" name="Group 58"/>
          <p:cNvGrpSpPr>
            <a:grpSpLocks/>
          </p:cNvGrpSpPr>
          <p:nvPr/>
        </p:nvGrpSpPr>
        <p:grpSpPr bwMode="auto">
          <a:xfrm>
            <a:off x="2268538" y="4224338"/>
            <a:ext cx="2319337" cy="2276475"/>
            <a:chOff x="259" y="2768"/>
            <a:chExt cx="1461" cy="1434"/>
          </a:xfrm>
        </p:grpSpPr>
        <p:sp>
          <p:nvSpPr>
            <p:cNvPr id="129033" name="Line 59"/>
            <p:cNvSpPr>
              <a:spLocks noChangeShapeType="1"/>
            </p:cNvSpPr>
            <p:nvPr/>
          </p:nvSpPr>
          <p:spPr bwMode="auto">
            <a:xfrm>
              <a:off x="1152" y="2880"/>
              <a:ext cx="8" cy="13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9034" name="Line 60"/>
            <p:cNvSpPr>
              <a:spLocks noChangeShapeType="1"/>
            </p:cNvSpPr>
            <p:nvPr/>
          </p:nvSpPr>
          <p:spPr bwMode="auto">
            <a:xfrm>
              <a:off x="357" y="3058"/>
              <a:ext cx="1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9035" name="Text Box 61"/>
            <p:cNvSpPr txBox="1">
              <a:spLocks noChangeArrowheads="1"/>
            </p:cNvSpPr>
            <p:nvPr/>
          </p:nvSpPr>
          <p:spPr bwMode="auto">
            <a:xfrm>
              <a:off x="883" y="306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v</a:t>
              </a:r>
            </a:p>
          </p:txBody>
        </p:sp>
        <p:sp>
          <p:nvSpPr>
            <p:cNvPr id="129036" name="Text Box 62"/>
            <p:cNvSpPr txBox="1">
              <a:spLocks noChangeArrowheads="1"/>
            </p:cNvSpPr>
            <p:nvPr/>
          </p:nvSpPr>
          <p:spPr bwMode="auto">
            <a:xfrm>
              <a:off x="876" y="324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x</a:t>
              </a:r>
            </a:p>
          </p:txBody>
        </p:sp>
        <p:sp>
          <p:nvSpPr>
            <p:cNvPr id="129037" name="Text Box 63"/>
            <p:cNvSpPr txBox="1">
              <a:spLocks noChangeArrowheads="1"/>
            </p:cNvSpPr>
            <p:nvPr/>
          </p:nvSpPr>
          <p:spPr bwMode="auto">
            <a:xfrm>
              <a:off x="890" y="348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y</a:t>
              </a:r>
            </a:p>
          </p:txBody>
        </p:sp>
        <p:sp>
          <p:nvSpPr>
            <p:cNvPr id="129038" name="Text Box 64"/>
            <p:cNvSpPr txBox="1">
              <a:spLocks noChangeArrowheads="1"/>
            </p:cNvSpPr>
            <p:nvPr/>
          </p:nvSpPr>
          <p:spPr bwMode="auto">
            <a:xfrm>
              <a:off x="875" y="3717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w</a:t>
              </a:r>
            </a:p>
          </p:txBody>
        </p:sp>
        <p:sp>
          <p:nvSpPr>
            <p:cNvPr id="129039" name="Text Box 65"/>
            <p:cNvSpPr txBox="1">
              <a:spLocks noChangeArrowheads="1"/>
            </p:cNvSpPr>
            <p:nvPr/>
          </p:nvSpPr>
          <p:spPr bwMode="auto">
            <a:xfrm>
              <a:off x="884" y="394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z</a:t>
              </a:r>
            </a:p>
          </p:txBody>
        </p:sp>
        <p:sp>
          <p:nvSpPr>
            <p:cNvPr id="129040" name="Text Box 66"/>
            <p:cNvSpPr txBox="1">
              <a:spLocks noChangeArrowheads="1"/>
            </p:cNvSpPr>
            <p:nvPr/>
          </p:nvSpPr>
          <p:spPr bwMode="auto">
            <a:xfrm>
              <a:off x="1248" y="3044"/>
              <a:ext cx="4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(u,v)</a:t>
              </a:r>
            </a:p>
          </p:txBody>
        </p:sp>
        <p:sp>
          <p:nvSpPr>
            <p:cNvPr id="129041" name="Text Box 67"/>
            <p:cNvSpPr txBox="1">
              <a:spLocks noChangeArrowheads="1"/>
            </p:cNvSpPr>
            <p:nvPr/>
          </p:nvSpPr>
          <p:spPr bwMode="auto">
            <a:xfrm>
              <a:off x="1249" y="3246"/>
              <a:ext cx="4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(u,x)</a:t>
              </a:r>
            </a:p>
          </p:txBody>
        </p:sp>
        <p:sp>
          <p:nvSpPr>
            <p:cNvPr id="129042" name="Text Box 68"/>
            <p:cNvSpPr txBox="1">
              <a:spLocks noChangeArrowheads="1"/>
            </p:cNvSpPr>
            <p:nvPr/>
          </p:nvSpPr>
          <p:spPr bwMode="auto">
            <a:xfrm>
              <a:off x="1248" y="3497"/>
              <a:ext cx="4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(u,x)</a:t>
              </a:r>
            </a:p>
          </p:txBody>
        </p:sp>
        <p:sp>
          <p:nvSpPr>
            <p:cNvPr id="129043" name="Text Box 69"/>
            <p:cNvSpPr txBox="1">
              <a:spLocks noChangeArrowheads="1"/>
            </p:cNvSpPr>
            <p:nvPr/>
          </p:nvSpPr>
          <p:spPr bwMode="auto">
            <a:xfrm>
              <a:off x="1264" y="3715"/>
              <a:ext cx="4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(u,x)</a:t>
              </a:r>
            </a:p>
          </p:txBody>
        </p:sp>
        <p:sp>
          <p:nvSpPr>
            <p:cNvPr id="129044" name="Text Box 70"/>
            <p:cNvSpPr txBox="1">
              <a:spLocks noChangeArrowheads="1"/>
            </p:cNvSpPr>
            <p:nvPr/>
          </p:nvSpPr>
          <p:spPr bwMode="auto">
            <a:xfrm>
              <a:off x="1254" y="3949"/>
              <a:ext cx="4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(u,x)</a:t>
              </a:r>
            </a:p>
          </p:txBody>
        </p:sp>
        <p:sp>
          <p:nvSpPr>
            <p:cNvPr id="129045" name="Text Box 71"/>
            <p:cNvSpPr txBox="1">
              <a:spLocks noChangeArrowheads="1"/>
            </p:cNvSpPr>
            <p:nvPr/>
          </p:nvSpPr>
          <p:spPr bwMode="auto">
            <a:xfrm>
              <a:off x="259" y="2768"/>
              <a:ext cx="8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destination</a:t>
              </a:r>
            </a:p>
          </p:txBody>
        </p:sp>
        <p:sp>
          <p:nvSpPr>
            <p:cNvPr id="129046" name="Text Box 72"/>
            <p:cNvSpPr txBox="1">
              <a:spLocks noChangeArrowheads="1"/>
            </p:cNvSpPr>
            <p:nvPr/>
          </p:nvSpPr>
          <p:spPr bwMode="auto">
            <a:xfrm>
              <a:off x="1232" y="2791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link</a:t>
              </a:r>
            </a:p>
          </p:txBody>
        </p:sp>
      </p:grpSp>
      <p:sp>
        <p:nvSpPr>
          <p:cNvPr id="129031" name="Text Box 73"/>
          <p:cNvSpPr txBox="1">
            <a:spLocks noChangeArrowheads="1"/>
          </p:cNvSpPr>
          <p:nvPr/>
        </p:nvSpPr>
        <p:spPr bwMode="auto">
          <a:xfrm>
            <a:off x="525463" y="3743325"/>
            <a:ext cx="394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>
                <a:latin typeface="Gill Sans MT" charset="0"/>
              </a:rPr>
              <a:t>resulting forwarding table in u:</a:t>
            </a:r>
          </a:p>
        </p:txBody>
      </p:sp>
      <p:pic>
        <p:nvPicPr>
          <p:cNvPr id="129032" name="Picture 74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8604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7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23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1" name="Picture 224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52413"/>
            <a:ext cx="7772400" cy="685800"/>
          </a:xfrm>
        </p:spPr>
        <p:txBody>
          <a:bodyPr/>
          <a:lstStyle/>
          <a:p>
            <a:r>
              <a:rPr lang="en-US" sz="4000">
                <a:latin typeface="Gill Sans MT" charset="0"/>
              </a:rPr>
              <a:t>Dijkstra</a:t>
            </a:r>
            <a:r>
              <a:rPr lang="ja-JP" altLang="en-US" sz="4000">
                <a:latin typeface="Gill Sans MT" charset="0"/>
              </a:rPr>
              <a:t>’</a:t>
            </a:r>
            <a:r>
              <a:rPr lang="en-US" altLang="ja-JP" sz="4000">
                <a:latin typeface="Gill Sans MT" charset="0"/>
              </a:rPr>
              <a:t>s algorithm, discussion</a:t>
            </a:r>
            <a:endParaRPr lang="en-US">
              <a:latin typeface="Gill Sans MT" charset="0"/>
            </a:endParaRPr>
          </a:p>
        </p:txBody>
      </p:sp>
      <p:sp>
        <p:nvSpPr>
          <p:cNvPr id="849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8338" y="1190625"/>
            <a:ext cx="7353300" cy="2651125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>
                <a:solidFill>
                  <a:srgbClr val="CC0000"/>
                </a:solidFill>
                <a:cs typeface="+mn-cs"/>
              </a:rPr>
              <a:t>algorithm complexity:</a:t>
            </a:r>
            <a:r>
              <a:rPr lang="en-US">
                <a:solidFill>
                  <a:srgbClr val="FF0000"/>
                </a:solidFill>
                <a:cs typeface="+mn-cs"/>
              </a:rPr>
              <a:t> </a:t>
            </a:r>
            <a:r>
              <a:rPr lang="en-US">
                <a:cs typeface="+mn-cs"/>
              </a:rPr>
              <a:t>n nodes</a:t>
            </a:r>
          </a:p>
          <a:p>
            <a:pPr>
              <a:lnSpc>
                <a:spcPct val="90000"/>
              </a:lnSpc>
              <a:defRPr/>
            </a:pPr>
            <a:r>
              <a:rPr lang="en-US" sz="2400">
                <a:cs typeface="+mn-cs"/>
              </a:rPr>
              <a:t>each iteration: need to check all nodes, w, not in N</a:t>
            </a:r>
          </a:p>
          <a:p>
            <a:pPr>
              <a:lnSpc>
                <a:spcPct val="90000"/>
              </a:lnSpc>
              <a:defRPr/>
            </a:pPr>
            <a:r>
              <a:rPr lang="en-US" sz="2400">
                <a:cs typeface="+mn-cs"/>
              </a:rPr>
              <a:t>n(n+1)/2 comparisons: O(n</a:t>
            </a:r>
            <a:r>
              <a:rPr lang="en-US" sz="2400" baseline="30000">
                <a:cs typeface="+mn-cs"/>
              </a:rPr>
              <a:t>2</a:t>
            </a:r>
            <a:r>
              <a:rPr lang="en-US" sz="2400">
                <a:cs typeface="+mn-cs"/>
              </a:rPr>
              <a:t>)</a:t>
            </a:r>
          </a:p>
          <a:p>
            <a:pPr>
              <a:lnSpc>
                <a:spcPct val="90000"/>
              </a:lnSpc>
              <a:defRPr/>
            </a:pPr>
            <a:r>
              <a:rPr lang="en-US" sz="2400">
                <a:cs typeface="+mn-cs"/>
              </a:rPr>
              <a:t>more efficient implementations possible: O(nlogn)</a:t>
            </a:r>
          </a:p>
          <a:p>
            <a:pPr>
              <a:lnSpc>
                <a:spcPct val="90000"/>
              </a:lnSpc>
              <a:spcBef>
                <a:spcPct val="40000"/>
              </a:spcBef>
              <a:buFont typeface="Wingdings" charset="0"/>
              <a:buNone/>
              <a:defRPr/>
            </a:pPr>
            <a:r>
              <a:rPr lang="en-US" i="1">
                <a:solidFill>
                  <a:srgbClr val="CC0000"/>
                </a:solidFill>
                <a:cs typeface="+mn-cs"/>
              </a:rPr>
              <a:t>oscillations possible:</a:t>
            </a:r>
          </a:p>
          <a:p>
            <a:pPr>
              <a:lnSpc>
                <a:spcPct val="90000"/>
              </a:lnSpc>
              <a:defRPr/>
            </a:pPr>
            <a:r>
              <a:rPr lang="en-US" sz="2400">
                <a:cs typeface="+mn-cs"/>
              </a:rPr>
              <a:t>e.g., support link cost equals amount of carried traffic:</a:t>
            </a:r>
          </a:p>
        </p:txBody>
      </p:sp>
      <p:sp>
        <p:nvSpPr>
          <p:cNvPr id="130054" name="Freeform 5"/>
          <p:cNvSpPr>
            <a:spLocks/>
          </p:cNvSpPr>
          <p:nvPr/>
        </p:nvSpPr>
        <p:spPr bwMode="auto">
          <a:xfrm>
            <a:off x="395288" y="4141788"/>
            <a:ext cx="1971675" cy="1355725"/>
          </a:xfrm>
          <a:custGeom>
            <a:avLst/>
            <a:gdLst>
              <a:gd name="T0" fmla="*/ 2147483647 w 1242"/>
              <a:gd name="T1" fmla="*/ 2147483647 h 854"/>
              <a:gd name="T2" fmla="*/ 2147483647 w 1242"/>
              <a:gd name="T3" fmla="*/ 2147483647 h 854"/>
              <a:gd name="T4" fmla="*/ 2147483647 w 1242"/>
              <a:gd name="T5" fmla="*/ 2147483647 h 854"/>
              <a:gd name="T6" fmla="*/ 2147483647 w 1242"/>
              <a:gd name="T7" fmla="*/ 2147483647 h 854"/>
              <a:gd name="T8" fmla="*/ 2147483647 w 1242"/>
              <a:gd name="T9" fmla="*/ 2147483647 h 854"/>
              <a:gd name="T10" fmla="*/ 2147483647 w 1242"/>
              <a:gd name="T11" fmla="*/ 2147483647 h 854"/>
              <a:gd name="T12" fmla="*/ 2147483647 w 1242"/>
              <a:gd name="T13" fmla="*/ 2147483647 h 854"/>
              <a:gd name="T14" fmla="*/ 2147483647 w 1242"/>
              <a:gd name="T15" fmla="*/ 2147483647 h 854"/>
              <a:gd name="T16" fmla="*/ 2147483647 w 1242"/>
              <a:gd name="T17" fmla="*/ 2147483647 h 854"/>
              <a:gd name="T18" fmla="*/ 2147483647 w 1242"/>
              <a:gd name="T19" fmla="*/ 2147483647 h 8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42"/>
              <a:gd name="T31" fmla="*/ 0 h 854"/>
              <a:gd name="T32" fmla="*/ 1242 w 1242"/>
              <a:gd name="T33" fmla="*/ 854 h 8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42" h="854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55" name="Freeform 6"/>
          <p:cNvSpPr>
            <a:spLocks/>
          </p:cNvSpPr>
          <p:nvPr/>
        </p:nvSpPr>
        <p:spPr bwMode="auto">
          <a:xfrm>
            <a:off x="796925" y="4479925"/>
            <a:ext cx="390525" cy="2095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0056" name="Group 7"/>
          <p:cNvGrpSpPr>
            <a:grpSpLocks/>
          </p:cNvGrpSpPr>
          <p:nvPr/>
        </p:nvGrpSpPr>
        <p:grpSpPr bwMode="auto">
          <a:xfrm>
            <a:off x="1103313" y="4162425"/>
            <a:ext cx="501650" cy="396875"/>
            <a:chOff x="1747" y="3190"/>
            <a:chExt cx="316" cy="250"/>
          </a:xfrm>
        </p:grpSpPr>
        <p:sp>
          <p:nvSpPr>
            <p:cNvPr id="130276" name="Oval 8"/>
            <p:cNvSpPr>
              <a:spLocks noChangeArrowheads="1"/>
            </p:cNvSpPr>
            <p:nvPr/>
          </p:nvSpPr>
          <p:spPr bwMode="auto">
            <a:xfrm>
              <a:off x="1750" y="330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77" name="Line 9"/>
            <p:cNvSpPr>
              <a:spLocks noChangeShapeType="1"/>
            </p:cNvSpPr>
            <p:nvPr/>
          </p:nvSpPr>
          <p:spPr bwMode="auto">
            <a:xfrm>
              <a:off x="1750" y="330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78" name="Line 10"/>
            <p:cNvSpPr>
              <a:spLocks noChangeShapeType="1"/>
            </p:cNvSpPr>
            <p:nvPr/>
          </p:nvSpPr>
          <p:spPr bwMode="auto">
            <a:xfrm>
              <a:off x="2063" y="330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79" name="Rectangle 11"/>
            <p:cNvSpPr>
              <a:spLocks noChangeArrowheads="1"/>
            </p:cNvSpPr>
            <p:nvPr/>
          </p:nvSpPr>
          <p:spPr bwMode="auto">
            <a:xfrm>
              <a:off x="1750" y="330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30280" name="Oval 12"/>
            <p:cNvSpPr>
              <a:spLocks noChangeArrowheads="1"/>
            </p:cNvSpPr>
            <p:nvPr/>
          </p:nvSpPr>
          <p:spPr bwMode="auto">
            <a:xfrm>
              <a:off x="1747" y="324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0281" name="Group 13"/>
            <p:cNvGrpSpPr>
              <a:grpSpLocks/>
            </p:cNvGrpSpPr>
            <p:nvPr/>
          </p:nvGrpSpPr>
          <p:grpSpPr bwMode="auto">
            <a:xfrm>
              <a:off x="1790" y="3190"/>
              <a:ext cx="223" cy="250"/>
              <a:chOff x="2945" y="2425"/>
              <a:chExt cx="226" cy="250"/>
            </a:xfrm>
          </p:grpSpPr>
          <p:sp>
            <p:nvSpPr>
              <p:cNvPr id="130282" name="Rectangle 1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83" name="Text Box 15"/>
              <p:cNvSpPr txBox="1">
                <a:spLocks noChangeArrowheads="1"/>
              </p:cNvSpPr>
              <p:nvPr/>
            </p:nvSpPr>
            <p:spPr bwMode="auto">
              <a:xfrm>
                <a:off x="2945" y="2425"/>
                <a:ext cx="22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A</a:t>
                </a:r>
                <a:endParaRPr lang="en-US"/>
              </a:p>
            </p:txBody>
          </p:sp>
        </p:grpSp>
      </p:grpSp>
      <p:grpSp>
        <p:nvGrpSpPr>
          <p:cNvPr id="130057" name="Group 16"/>
          <p:cNvGrpSpPr>
            <a:grpSpLocks/>
          </p:cNvGrpSpPr>
          <p:nvPr/>
        </p:nvGrpSpPr>
        <p:grpSpPr bwMode="auto">
          <a:xfrm>
            <a:off x="455613" y="4567238"/>
            <a:ext cx="501650" cy="396875"/>
            <a:chOff x="2221" y="3571"/>
            <a:chExt cx="316" cy="250"/>
          </a:xfrm>
        </p:grpSpPr>
        <p:sp>
          <p:nvSpPr>
            <p:cNvPr id="130268" name="Oval 17"/>
            <p:cNvSpPr>
              <a:spLocks noChangeArrowheads="1"/>
            </p:cNvSpPr>
            <p:nvPr/>
          </p:nvSpPr>
          <p:spPr bwMode="auto">
            <a:xfrm>
              <a:off x="2224" y="369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69" name="Line 18"/>
            <p:cNvSpPr>
              <a:spLocks noChangeShapeType="1"/>
            </p:cNvSpPr>
            <p:nvPr/>
          </p:nvSpPr>
          <p:spPr bwMode="auto">
            <a:xfrm>
              <a:off x="2224" y="368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70" name="Line 19"/>
            <p:cNvSpPr>
              <a:spLocks noChangeShapeType="1"/>
            </p:cNvSpPr>
            <p:nvPr/>
          </p:nvSpPr>
          <p:spPr bwMode="auto">
            <a:xfrm>
              <a:off x="2537" y="368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71" name="Rectangle 20"/>
            <p:cNvSpPr>
              <a:spLocks noChangeArrowheads="1"/>
            </p:cNvSpPr>
            <p:nvPr/>
          </p:nvSpPr>
          <p:spPr bwMode="auto">
            <a:xfrm>
              <a:off x="2224" y="368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30272" name="Oval 21"/>
            <p:cNvSpPr>
              <a:spLocks noChangeArrowheads="1"/>
            </p:cNvSpPr>
            <p:nvPr/>
          </p:nvSpPr>
          <p:spPr bwMode="auto">
            <a:xfrm>
              <a:off x="2221" y="362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0273" name="Group 22"/>
            <p:cNvGrpSpPr>
              <a:grpSpLocks/>
            </p:cNvGrpSpPr>
            <p:nvPr/>
          </p:nvGrpSpPr>
          <p:grpSpPr bwMode="auto">
            <a:xfrm>
              <a:off x="2275" y="3571"/>
              <a:ext cx="232" cy="250"/>
              <a:chOff x="2941" y="2425"/>
              <a:chExt cx="235" cy="250"/>
            </a:xfrm>
          </p:grpSpPr>
          <p:sp>
            <p:nvSpPr>
              <p:cNvPr id="130274" name="Rectangle 2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75" name="Text Box 24"/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D</a:t>
                </a:r>
                <a:endParaRPr lang="en-US"/>
              </a:p>
            </p:txBody>
          </p:sp>
        </p:grpSp>
      </p:grpSp>
      <p:grpSp>
        <p:nvGrpSpPr>
          <p:cNvPr id="130058" name="Group 25"/>
          <p:cNvGrpSpPr>
            <a:grpSpLocks/>
          </p:cNvGrpSpPr>
          <p:nvPr/>
        </p:nvGrpSpPr>
        <p:grpSpPr bwMode="auto">
          <a:xfrm>
            <a:off x="1090613" y="5029200"/>
            <a:ext cx="500062" cy="396875"/>
            <a:chOff x="2903" y="2884"/>
            <a:chExt cx="315" cy="250"/>
          </a:xfrm>
        </p:grpSpPr>
        <p:grpSp>
          <p:nvGrpSpPr>
            <p:cNvPr id="130259" name="Group 26"/>
            <p:cNvGrpSpPr>
              <a:grpSpLocks/>
            </p:cNvGrpSpPr>
            <p:nvPr/>
          </p:nvGrpSpPr>
          <p:grpSpPr bwMode="auto"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130263" name="Oval 27"/>
              <p:cNvSpPr>
                <a:spLocks noChangeArrowheads="1"/>
              </p:cNvSpPr>
              <p:nvPr/>
            </p:nvSpPr>
            <p:spPr bwMode="auto">
              <a:xfrm>
                <a:off x="2903" y="3001"/>
                <a:ext cx="312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64" name="Line 28"/>
              <p:cNvSpPr>
                <a:spLocks noChangeShapeType="1"/>
              </p:cNvSpPr>
              <p:nvPr/>
            </p:nvSpPr>
            <p:spPr bwMode="auto">
              <a:xfrm>
                <a:off x="2903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65" name="Line 29"/>
              <p:cNvSpPr>
                <a:spLocks noChangeShapeType="1"/>
              </p:cNvSpPr>
              <p:nvPr/>
            </p:nvSpPr>
            <p:spPr bwMode="auto">
              <a:xfrm>
                <a:off x="3215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66" name="Rectangle 30"/>
              <p:cNvSpPr>
                <a:spLocks noChangeArrowheads="1"/>
              </p:cNvSpPr>
              <p:nvPr/>
            </p:nvSpPr>
            <p:spPr bwMode="auto">
              <a:xfrm>
                <a:off x="2903" y="2994"/>
                <a:ext cx="309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267" name="Oval 31"/>
              <p:cNvSpPr>
                <a:spLocks noChangeArrowheads="1"/>
              </p:cNvSpPr>
              <p:nvPr/>
            </p:nvSpPr>
            <p:spPr bwMode="auto">
              <a:xfrm>
                <a:off x="2906" y="2938"/>
                <a:ext cx="312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0260" name="Group 32"/>
            <p:cNvGrpSpPr>
              <a:grpSpLocks/>
            </p:cNvGrpSpPr>
            <p:nvPr/>
          </p:nvGrpSpPr>
          <p:grpSpPr bwMode="auto">
            <a:xfrm>
              <a:off x="2949" y="2884"/>
              <a:ext cx="232" cy="250"/>
              <a:chOff x="2940" y="2425"/>
              <a:chExt cx="235" cy="250"/>
            </a:xfrm>
          </p:grpSpPr>
          <p:sp>
            <p:nvSpPr>
              <p:cNvPr id="130261" name="Rectangle 3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62" name="Text Box 34"/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C</a:t>
                </a:r>
                <a:endParaRPr lang="en-US"/>
              </a:p>
            </p:txBody>
          </p:sp>
        </p:grpSp>
      </p:grpSp>
      <p:grpSp>
        <p:nvGrpSpPr>
          <p:cNvPr id="130059" name="Group 35"/>
          <p:cNvGrpSpPr>
            <a:grpSpLocks/>
          </p:cNvGrpSpPr>
          <p:nvPr/>
        </p:nvGrpSpPr>
        <p:grpSpPr bwMode="auto">
          <a:xfrm>
            <a:off x="1744663" y="4581525"/>
            <a:ext cx="501650" cy="396875"/>
            <a:chOff x="2217" y="2884"/>
            <a:chExt cx="316" cy="250"/>
          </a:xfrm>
        </p:grpSpPr>
        <p:sp>
          <p:nvSpPr>
            <p:cNvPr id="130251" name="Oval 36"/>
            <p:cNvSpPr>
              <a:spLocks noChangeArrowheads="1"/>
            </p:cNvSpPr>
            <p:nvPr/>
          </p:nvSpPr>
          <p:spPr bwMode="auto">
            <a:xfrm>
              <a:off x="2220" y="30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52" name="Line 37"/>
            <p:cNvSpPr>
              <a:spLocks noChangeShapeType="1"/>
            </p:cNvSpPr>
            <p:nvPr/>
          </p:nvSpPr>
          <p:spPr bwMode="auto">
            <a:xfrm>
              <a:off x="2220" y="29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53" name="Line 38"/>
            <p:cNvSpPr>
              <a:spLocks noChangeShapeType="1"/>
            </p:cNvSpPr>
            <p:nvPr/>
          </p:nvSpPr>
          <p:spPr bwMode="auto">
            <a:xfrm>
              <a:off x="2533" y="29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54" name="Rectangle 39"/>
            <p:cNvSpPr>
              <a:spLocks noChangeArrowheads="1"/>
            </p:cNvSpPr>
            <p:nvPr/>
          </p:nvSpPr>
          <p:spPr bwMode="auto">
            <a:xfrm>
              <a:off x="2220" y="29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30255" name="Oval 40"/>
            <p:cNvSpPr>
              <a:spLocks noChangeArrowheads="1"/>
            </p:cNvSpPr>
            <p:nvPr/>
          </p:nvSpPr>
          <p:spPr bwMode="auto">
            <a:xfrm>
              <a:off x="2217" y="29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0256" name="Group 41"/>
            <p:cNvGrpSpPr>
              <a:grpSpLocks/>
            </p:cNvGrpSpPr>
            <p:nvPr/>
          </p:nvGrpSpPr>
          <p:grpSpPr bwMode="auto">
            <a:xfrm>
              <a:off x="2270" y="2884"/>
              <a:ext cx="223" cy="250"/>
              <a:chOff x="2945" y="2425"/>
              <a:chExt cx="226" cy="250"/>
            </a:xfrm>
          </p:grpSpPr>
          <p:sp>
            <p:nvSpPr>
              <p:cNvPr id="130257" name="Rectangle 4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58" name="Text Box 43"/>
              <p:cNvSpPr txBox="1">
                <a:spLocks noChangeArrowheads="1"/>
              </p:cNvSpPr>
              <p:nvPr/>
            </p:nvSpPr>
            <p:spPr bwMode="auto">
              <a:xfrm>
                <a:off x="2945" y="2425"/>
                <a:ext cx="22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B</a:t>
                </a:r>
                <a:endParaRPr lang="en-US"/>
              </a:p>
            </p:txBody>
          </p:sp>
        </p:grpSp>
      </p:grpSp>
      <p:sp>
        <p:nvSpPr>
          <p:cNvPr id="130060" name="Text Box 44"/>
          <p:cNvSpPr txBox="1">
            <a:spLocks noChangeArrowheads="1"/>
          </p:cNvSpPr>
          <p:nvPr/>
        </p:nvSpPr>
        <p:spPr bwMode="auto">
          <a:xfrm>
            <a:off x="798513" y="43338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400"/>
              <a:t>1</a:t>
            </a:r>
          </a:p>
        </p:txBody>
      </p:sp>
      <p:sp>
        <p:nvSpPr>
          <p:cNvPr id="130061" name="Freeform 45"/>
          <p:cNvSpPr>
            <a:spLocks/>
          </p:cNvSpPr>
          <p:nvPr/>
        </p:nvSpPr>
        <p:spPr bwMode="auto">
          <a:xfrm flipH="1">
            <a:off x="1482725" y="4479925"/>
            <a:ext cx="338138" cy="204788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2" name="Freeform 46"/>
          <p:cNvSpPr>
            <a:spLocks/>
          </p:cNvSpPr>
          <p:nvPr/>
        </p:nvSpPr>
        <p:spPr bwMode="auto">
          <a:xfrm flipH="1" flipV="1">
            <a:off x="1497013" y="4894263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3" name="Freeform 47"/>
          <p:cNvSpPr>
            <a:spLocks/>
          </p:cNvSpPr>
          <p:nvPr/>
        </p:nvSpPr>
        <p:spPr bwMode="auto">
          <a:xfrm flipV="1">
            <a:off x="858838" y="4884738"/>
            <a:ext cx="323850" cy="2476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4" name="Text Box 48"/>
          <p:cNvSpPr txBox="1">
            <a:spLocks noChangeArrowheads="1"/>
          </p:cNvSpPr>
          <p:nvPr/>
        </p:nvSpPr>
        <p:spPr bwMode="auto">
          <a:xfrm>
            <a:off x="1627188" y="4343400"/>
            <a:ext cx="4841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400"/>
              <a:t>1+e</a:t>
            </a:r>
          </a:p>
        </p:txBody>
      </p:sp>
      <p:sp>
        <p:nvSpPr>
          <p:cNvPr id="130065" name="Text Box 49"/>
          <p:cNvSpPr txBox="1">
            <a:spLocks noChangeArrowheads="1"/>
          </p:cNvSpPr>
          <p:nvPr/>
        </p:nvSpPr>
        <p:spPr bwMode="auto">
          <a:xfrm>
            <a:off x="1633538" y="49339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400"/>
              <a:t>e</a:t>
            </a:r>
          </a:p>
        </p:txBody>
      </p:sp>
      <p:sp>
        <p:nvSpPr>
          <p:cNvPr id="130066" name="Text Box 50"/>
          <p:cNvSpPr txBox="1">
            <a:spLocks noChangeArrowheads="1"/>
          </p:cNvSpPr>
          <p:nvPr/>
        </p:nvSpPr>
        <p:spPr bwMode="auto">
          <a:xfrm>
            <a:off x="762000" y="49577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400"/>
              <a:t>0</a:t>
            </a:r>
          </a:p>
        </p:txBody>
      </p:sp>
      <p:sp>
        <p:nvSpPr>
          <p:cNvPr id="130067" name="Line 51"/>
          <p:cNvSpPr>
            <a:spLocks noChangeShapeType="1"/>
          </p:cNvSpPr>
          <p:nvPr/>
        </p:nvSpPr>
        <p:spPr bwMode="auto">
          <a:xfrm flipV="1">
            <a:off x="1330325" y="5351463"/>
            <a:ext cx="0" cy="4000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8" name="Text Box 52"/>
          <p:cNvSpPr txBox="1">
            <a:spLocks noChangeArrowheads="1"/>
          </p:cNvSpPr>
          <p:nvPr/>
        </p:nvSpPr>
        <p:spPr bwMode="auto">
          <a:xfrm>
            <a:off x="1085850" y="55594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rgbClr val="FF0000"/>
                </a:solidFill>
              </a:rPr>
              <a:t>e</a:t>
            </a:r>
            <a:endParaRPr lang="en-US"/>
          </a:p>
        </p:txBody>
      </p:sp>
      <p:sp>
        <p:nvSpPr>
          <p:cNvPr id="130069" name="Line 53"/>
          <p:cNvSpPr>
            <a:spLocks noChangeShapeType="1"/>
          </p:cNvSpPr>
          <p:nvPr/>
        </p:nvSpPr>
        <p:spPr bwMode="auto">
          <a:xfrm flipH="1" flipV="1">
            <a:off x="511175" y="4884738"/>
            <a:ext cx="4763" cy="338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0" name="Text Box 54"/>
          <p:cNvSpPr txBox="1">
            <a:spLocks noChangeArrowheads="1"/>
          </p:cNvSpPr>
          <p:nvPr/>
        </p:nvSpPr>
        <p:spPr bwMode="auto">
          <a:xfrm>
            <a:off x="338138" y="51736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rgbClr val="FF0000"/>
                </a:solidFill>
              </a:rPr>
              <a:t>1</a:t>
            </a:r>
            <a:endParaRPr lang="en-US"/>
          </a:p>
        </p:txBody>
      </p:sp>
      <p:sp>
        <p:nvSpPr>
          <p:cNvPr id="130071" name="Line 55"/>
          <p:cNvSpPr>
            <a:spLocks noChangeShapeType="1"/>
          </p:cNvSpPr>
          <p:nvPr/>
        </p:nvSpPr>
        <p:spPr bwMode="auto">
          <a:xfrm flipV="1">
            <a:off x="2030413" y="4918075"/>
            <a:ext cx="0" cy="4286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2" name="Text Box 56"/>
          <p:cNvSpPr txBox="1">
            <a:spLocks noChangeArrowheads="1"/>
          </p:cNvSpPr>
          <p:nvPr/>
        </p:nvSpPr>
        <p:spPr bwMode="auto">
          <a:xfrm>
            <a:off x="1871663" y="52784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rgbClr val="FF0000"/>
                </a:solidFill>
              </a:rPr>
              <a:t>1</a:t>
            </a:r>
            <a:endParaRPr lang="en-US"/>
          </a:p>
        </p:txBody>
      </p:sp>
      <p:sp>
        <p:nvSpPr>
          <p:cNvPr id="130073" name="Freeform 57"/>
          <p:cNvSpPr>
            <a:spLocks/>
          </p:cNvSpPr>
          <p:nvPr/>
        </p:nvSpPr>
        <p:spPr bwMode="auto">
          <a:xfrm flipH="1" flipV="1">
            <a:off x="1401763" y="4851400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4" name="Freeform 58"/>
          <p:cNvSpPr>
            <a:spLocks/>
          </p:cNvSpPr>
          <p:nvPr/>
        </p:nvSpPr>
        <p:spPr bwMode="auto">
          <a:xfrm flipH="1">
            <a:off x="949325" y="4860925"/>
            <a:ext cx="304800" cy="219075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5" name="Text Box 59"/>
          <p:cNvSpPr txBox="1">
            <a:spLocks noChangeArrowheads="1"/>
          </p:cNvSpPr>
          <p:nvPr/>
        </p:nvSpPr>
        <p:spPr bwMode="auto">
          <a:xfrm>
            <a:off x="1047750" y="4738688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400"/>
              <a:t>0</a:t>
            </a:r>
          </a:p>
        </p:txBody>
      </p:sp>
      <p:sp>
        <p:nvSpPr>
          <p:cNvPr id="130076" name="Text Box 60"/>
          <p:cNvSpPr txBox="1">
            <a:spLocks noChangeArrowheads="1"/>
          </p:cNvSpPr>
          <p:nvPr/>
        </p:nvSpPr>
        <p:spPr bwMode="auto">
          <a:xfrm>
            <a:off x="1390650" y="47307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400"/>
              <a:t>0</a:t>
            </a:r>
          </a:p>
        </p:txBody>
      </p:sp>
      <p:sp>
        <p:nvSpPr>
          <p:cNvPr id="130077" name="Text Box 211"/>
          <p:cNvSpPr txBox="1">
            <a:spLocks noChangeArrowheads="1"/>
          </p:cNvSpPr>
          <p:nvPr/>
        </p:nvSpPr>
        <p:spPr bwMode="auto">
          <a:xfrm>
            <a:off x="908050" y="5824538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000" dirty="0">
                <a:solidFill>
                  <a:srgbClr val="000099"/>
                </a:solidFill>
              </a:rPr>
              <a:t>initially</a:t>
            </a:r>
            <a:endParaRPr lang="en-US" dirty="0">
              <a:solidFill>
                <a:srgbClr val="000099"/>
              </a:solidFill>
            </a:endParaRPr>
          </a:p>
        </p:txBody>
      </p:sp>
      <p:grpSp>
        <p:nvGrpSpPr>
          <p:cNvPr id="11" name="Group 298"/>
          <p:cNvGrpSpPr>
            <a:grpSpLocks/>
          </p:cNvGrpSpPr>
          <p:nvPr/>
        </p:nvGrpSpPr>
        <p:grpSpPr bwMode="auto">
          <a:xfrm>
            <a:off x="2544763" y="4189413"/>
            <a:ext cx="2195512" cy="2293937"/>
            <a:chOff x="1729" y="2639"/>
            <a:chExt cx="1383" cy="1445"/>
          </a:xfrm>
        </p:grpSpPr>
        <p:sp>
          <p:nvSpPr>
            <p:cNvPr id="130203" name="Freeform 61"/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04" name="Freeform 62"/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0205" name="Group 63"/>
            <p:cNvGrpSpPr>
              <a:grpSpLocks/>
            </p:cNvGrpSpPr>
            <p:nvPr/>
          </p:nvGrpSpPr>
          <p:grpSpPr bwMode="auto">
            <a:xfrm>
              <a:off x="2203" y="2652"/>
              <a:ext cx="316" cy="250"/>
              <a:chOff x="1747" y="3190"/>
              <a:chExt cx="316" cy="250"/>
            </a:xfrm>
          </p:grpSpPr>
          <p:sp>
            <p:nvSpPr>
              <p:cNvPr id="130243" name="Oval 64"/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44" name="Line 65"/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45" name="Line 66"/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46" name="Rectangle 67"/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247" name="Oval 68"/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248" name="Group 69"/>
              <p:cNvGrpSpPr>
                <a:grpSpLocks/>
              </p:cNvGrpSpPr>
              <p:nvPr/>
            </p:nvGrpSpPr>
            <p:grpSpPr bwMode="auto">
              <a:xfrm>
                <a:off x="1790" y="3190"/>
                <a:ext cx="223" cy="250"/>
                <a:chOff x="2945" y="2425"/>
                <a:chExt cx="226" cy="250"/>
              </a:xfrm>
            </p:grpSpPr>
            <p:sp>
              <p:nvSpPr>
                <p:cNvPr id="130249" name="Rectangle 7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250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A</a:t>
                  </a:r>
                  <a:endParaRPr lang="en-US"/>
                </a:p>
              </p:txBody>
            </p:sp>
          </p:grpSp>
        </p:grpSp>
        <p:grpSp>
          <p:nvGrpSpPr>
            <p:cNvPr id="130206" name="Group 72"/>
            <p:cNvGrpSpPr>
              <a:grpSpLocks/>
            </p:cNvGrpSpPr>
            <p:nvPr/>
          </p:nvGrpSpPr>
          <p:grpSpPr bwMode="auto">
            <a:xfrm>
              <a:off x="1795" y="2907"/>
              <a:ext cx="316" cy="250"/>
              <a:chOff x="2221" y="3571"/>
              <a:chExt cx="316" cy="250"/>
            </a:xfrm>
          </p:grpSpPr>
          <p:sp>
            <p:nvSpPr>
              <p:cNvPr id="130235" name="Oval 73"/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36" name="Line 74"/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37" name="Line 75"/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38" name="Rectangle 76"/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239" name="Oval 77"/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240" name="Group 78"/>
              <p:cNvGrpSpPr>
                <a:grpSpLocks/>
              </p:cNvGrpSpPr>
              <p:nvPr/>
            </p:nvGrpSpPr>
            <p:grpSpPr bwMode="auto">
              <a:xfrm>
                <a:off x="2275" y="3571"/>
                <a:ext cx="232" cy="250"/>
                <a:chOff x="2941" y="2425"/>
                <a:chExt cx="235" cy="250"/>
              </a:xfrm>
            </p:grpSpPr>
            <p:sp>
              <p:nvSpPr>
                <p:cNvPr id="130241" name="Rectangle 79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242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2941" y="2425"/>
                  <a:ext cx="23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D</a:t>
                  </a:r>
                  <a:endParaRPr lang="en-US"/>
                </a:p>
              </p:txBody>
            </p:sp>
          </p:grpSp>
        </p:grpSp>
        <p:grpSp>
          <p:nvGrpSpPr>
            <p:cNvPr id="130207" name="Group 81"/>
            <p:cNvGrpSpPr>
              <a:grpSpLocks/>
            </p:cNvGrpSpPr>
            <p:nvPr/>
          </p:nvGrpSpPr>
          <p:grpSpPr bwMode="auto">
            <a:xfrm>
              <a:off x="2195" y="3198"/>
              <a:ext cx="315" cy="250"/>
              <a:chOff x="2903" y="2884"/>
              <a:chExt cx="315" cy="250"/>
            </a:xfrm>
          </p:grpSpPr>
          <p:grpSp>
            <p:nvGrpSpPr>
              <p:cNvPr id="130226" name="Group 82"/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130230" name="Oval 83"/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231" name="Line 84"/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232" name="Line 85"/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233" name="Rectangle 86"/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30234" name="Oval 87"/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0227" name="Group 88"/>
              <p:cNvGrpSpPr>
                <a:grpSpLocks/>
              </p:cNvGrpSpPr>
              <p:nvPr/>
            </p:nvGrpSpPr>
            <p:grpSpPr bwMode="auto">
              <a:xfrm>
                <a:off x="2949" y="2884"/>
                <a:ext cx="232" cy="250"/>
                <a:chOff x="2940" y="2425"/>
                <a:chExt cx="235" cy="250"/>
              </a:xfrm>
            </p:grpSpPr>
            <p:sp>
              <p:nvSpPr>
                <p:cNvPr id="130228" name="Rectangle 89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229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2940" y="2425"/>
                  <a:ext cx="23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C</a:t>
                  </a:r>
                  <a:endParaRPr lang="en-US"/>
                </a:p>
              </p:txBody>
            </p:sp>
          </p:grpSp>
        </p:grpSp>
        <p:grpSp>
          <p:nvGrpSpPr>
            <p:cNvPr id="130208" name="Group 91"/>
            <p:cNvGrpSpPr>
              <a:grpSpLocks/>
            </p:cNvGrpSpPr>
            <p:nvPr/>
          </p:nvGrpSpPr>
          <p:grpSpPr bwMode="auto">
            <a:xfrm>
              <a:off x="2607" y="2916"/>
              <a:ext cx="316" cy="250"/>
              <a:chOff x="2217" y="2884"/>
              <a:chExt cx="316" cy="250"/>
            </a:xfrm>
          </p:grpSpPr>
          <p:sp>
            <p:nvSpPr>
              <p:cNvPr id="130218" name="Oval 92"/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19" name="Line 93"/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20" name="Line 94"/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221" name="Rectangle 95"/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222" name="Oval 96"/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223" name="Group 97"/>
              <p:cNvGrpSpPr>
                <a:grpSpLocks/>
              </p:cNvGrpSpPr>
              <p:nvPr/>
            </p:nvGrpSpPr>
            <p:grpSpPr bwMode="auto">
              <a:xfrm>
                <a:off x="2270" y="2884"/>
                <a:ext cx="223" cy="250"/>
                <a:chOff x="2945" y="2425"/>
                <a:chExt cx="226" cy="250"/>
              </a:xfrm>
            </p:grpSpPr>
            <p:sp>
              <p:nvSpPr>
                <p:cNvPr id="130224" name="Rectangle 9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225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B</a:t>
                  </a:r>
                  <a:endParaRPr lang="en-US"/>
                </a:p>
              </p:txBody>
            </p:sp>
          </p:grpSp>
        </p:grpSp>
        <p:sp>
          <p:nvSpPr>
            <p:cNvPr id="130209" name="Freeform 101"/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10" name="Freeform 102"/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11" name="Freeform 103"/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12" name="Freeform 107"/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13" name="Freeform 108"/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14" name="Text Box 212"/>
            <p:cNvSpPr txBox="1">
              <a:spLocks noChangeArrowheads="1"/>
            </p:cNvSpPr>
            <p:nvPr/>
          </p:nvSpPr>
          <p:spPr bwMode="auto">
            <a:xfrm>
              <a:off x="1729" y="3612"/>
              <a:ext cx="1383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800">
                  <a:solidFill>
                    <a:srgbClr val="000099"/>
                  </a:solidFill>
                  <a:latin typeface="Gill Sans MT" charset="0"/>
                </a:rPr>
                <a:t>given these costs,</a:t>
              </a:r>
            </a:p>
            <a:p>
              <a:pPr algn="ctr">
                <a:lnSpc>
                  <a:spcPct val="80000"/>
                </a:lnSpc>
              </a:pPr>
              <a:r>
                <a:rPr lang="en-US" sz="1800">
                  <a:solidFill>
                    <a:srgbClr val="000099"/>
                  </a:solidFill>
                  <a:latin typeface="Gill Sans MT" charset="0"/>
                </a:rPr>
                <a:t>find new routing….</a:t>
              </a:r>
            </a:p>
            <a:p>
              <a:pPr algn="ctr">
                <a:lnSpc>
                  <a:spcPct val="80000"/>
                </a:lnSpc>
              </a:pPr>
              <a:r>
                <a:rPr lang="en-US" sz="1800">
                  <a:solidFill>
                    <a:srgbClr val="000099"/>
                  </a:solidFill>
                  <a:latin typeface="Gill Sans MT" charset="0"/>
                </a:rPr>
                <a:t>resulting in new costs</a:t>
              </a:r>
            </a:p>
          </p:txBody>
        </p:sp>
        <p:sp>
          <p:nvSpPr>
            <p:cNvPr id="130215" name="Line 215"/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16" name="Line 216"/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217" name="Line 217"/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0079" name="Freeform 288"/>
          <p:cNvSpPr>
            <a:spLocks/>
          </p:cNvSpPr>
          <p:nvPr/>
        </p:nvSpPr>
        <p:spPr bwMode="auto">
          <a:xfrm>
            <a:off x="1358900" y="4338638"/>
            <a:ext cx="609600" cy="828675"/>
          </a:xfrm>
          <a:custGeom>
            <a:avLst/>
            <a:gdLst>
              <a:gd name="T0" fmla="*/ 0 w 384"/>
              <a:gd name="T1" fmla="*/ 2147483647 h 522"/>
              <a:gd name="T2" fmla="*/ 2147483647 w 384"/>
              <a:gd name="T3" fmla="*/ 2147483647 h 522"/>
              <a:gd name="T4" fmla="*/ 2147483647 w 384"/>
              <a:gd name="T5" fmla="*/ 0 h 522"/>
              <a:gd name="T6" fmla="*/ 0 60000 65536"/>
              <a:gd name="T7" fmla="*/ 0 60000 65536"/>
              <a:gd name="T8" fmla="*/ 0 60000 65536"/>
              <a:gd name="T9" fmla="*/ 0 w 384"/>
              <a:gd name="T10" fmla="*/ 0 h 522"/>
              <a:gd name="T11" fmla="*/ 384 w 384"/>
              <a:gd name="T12" fmla="*/ 522 h 5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522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0080" name="Line 289"/>
          <p:cNvSpPr>
            <a:spLocks noChangeShapeType="1"/>
          </p:cNvSpPr>
          <p:nvPr/>
        </p:nvSpPr>
        <p:spPr bwMode="auto">
          <a:xfrm flipV="1">
            <a:off x="720725" y="4419600"/>
            <a:ext cx="447675" cy="2428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21186" name="Freeform 290"/>
          <p:cNvSpPr>
            <a:spLocks/>
          </p:cNvSpPr>
          <p:nvPr/>
        </p:nvSpPr>
        <p:spPr bwMode="auto">
          <a:xfrm>
            <a:off x="2943225" y="4391025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1" name="Group 291"/>
          <p:cNvGrpSpPr>
            <a:grpSpLocks/>
          </p:cNvGrpSpPr>
          <p:nvPr/>
        </p:nvGrpSpPr>
        <p:grpSpPr bwMode="auto">
          <a:xfrm>
            <a:off x="2768600" y="4376738"/>
            <a:ext cx="1430338" cy="966787"/>
            <a:chOff x="1870" y="2772"/>
            <a:chExt cx="901" cy="609"/>
          </a:xfrm>
        </p:grpSpPr>
        <p:sp>
          <p:nvSpPr>
            <p:cNvPr id="130197" name="Text Box 292"/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2+e</a:t>
              </a:r>
            </a:p>
          </p:txBody>
        </p:sp>
        <p:sp>
          <p:nvSpPr>
            <p:cNvPr id="130198" name="Text Box 293"/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0</a:t>
              </a:r>
            </a:p>
          </p:txBody>
        </p:sp>
        <p:sp>
          <p:nvSpPr>
            <p:cNvPr id="130199" name="Text Box 294"/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0</a:t>
              </a:r>
            </a:p>
          </p:txBody>
        </p:sp>
        <p:sp>
          <p:nvSpPr>
            <p:cNvPr id="130200" name="Text Box 295"/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0</a:t>
              </a:r>
            </a:p>
          </p:txBody>
        </p:sp>
        <p:sp>
          <p:nvSpPr>
            <p:cNvPr id="130201" name="Text Box 296"/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1+e</a:t>
              </a:r>
            </a:p>
          </p:txBody>
        </p:sp>
        <p:sp>
          <p:nvSpPr>
            <p:cNvPr id="130202" name="Text Box 297"/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1</a:t>
              </a:r>
            </a:p>
          </p:txBody>
        </p:sp>
      </p:grpSp>
      <p:grpSp>
        <p:nvGrpSpPr>
          <p:cNvPr id="22" name="Group 299"/>
          <p:cNvGrpSpPr>
            <a:grpSpLocks/>
          </p:cNvGrpSpPr>
          <p:nvPr/>
        </p:nvGrpSpPr>
        <p:grpSpPr bwMode="auto">
          <a:xfrm>
            <a:off x="4814888" y="4197350"/>
            <a:ext cx="2195512" cy="2293938"/>
            <a:chOff x="1729" y="2639"/>
            <a:chExt cx="1383" cy="1445"/>
          </a:xfrm>
        </p:grpSpPr>
        <p:sp>
          <p:nvSpPr>
            <p:cNvPr id="130149" name="Freeform 300"/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50" name="Freeform 301"/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0151" name="Group 302"/>
            <p:cNvGrpSpPr>
              <a:grpSpLocks/>
            </p:cNvGrpSpPr>
            <p:nvPr/>
          </p:nvGrpSpPr>
          <p:grpSpPr bwMode="auto">
            <a:xfrm>
              <a:off x="2203" y="2652"/>
              <a:ext cx="316" cy="250"/>
              <a:chOff x="1747" y="3190"/>
              <a:chExt cx="316" cy="250"/>
            </a:xfrm>
          </p:grpSpPr>
          <p:sp>
            <p:nvSpPr>
              <p:cNvPr id="130189" name="Oval 303"/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90" name="Line 304"/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91" name="Line 305"/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92" name="Rectangle 306"/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193" name="Oval 307"/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194" name="Group 308"/>
              <p:cNvGrpSpPr>
                <a:grpSpLocks/>
              </p:cNvGrpSpPr>
              <p:nvPr/>
            </p:nvGrpSpPr>
            <p:grpSpPr bwMode="auto">
              <a:xfrm>
                <a:off x="1790" y="3190"/>
                <a:ext cx="223" cy="250"/>
                <a:chOff x="2945" y="2425"/>
                <a:chExt cx="226" cy="250"/>
              </a:xfrm>
            </p:grpSpPr>
            <p:sp>
              <p:nvSpPr>
                <p:cNvPr id="130195" name="Rectangle 309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96" name="Text Box 310"/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A</a:t>
                  </a:r>
                  <a:endParaRPr lang="en-US"/>
                </a:p>
              </p:txBody>
            </p:sp>
          </p:grpSp>
        </p:grpSp>
        <p:grpSp>
          <p:nvGrpSpPr>
            <p:cNvPr id="130152" name="Group 311"/>
            <p:cNvGrpSpPr>
              <a:grpSpLocks/>
            </p:cNvGrpSpPr>
            <p:nvPr/>
          </p:nvGrpSpPr>
          <p:grpSpPr bwMode="auto">
            <a:xfrm>
              <a:off x="1795" y="2907"/>
              <a:ext cx="316" cy="250"/>
              <a:chOff x="2221" y="3571"/>
              <a:chExt cx="316" cy="250"/>
            </a:xfrm>
          </p:grpSpPr>
          <p:sp>
            <p:nvSpPr>
              <p:cNvPr id="130181" name="Oval 312"/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82" name="Line 313"/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83" name="Line 314"/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84" name="Rectangle 315"/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185" name="Oval 316"/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186" name="Group 317"/>
              <p:cNvGrpSpPr>
                <a:grpSpLocks/>
              </p:cNvGrpSpPr>
              <p:nvPr/>
            </p:nvGrpSpPr>
            <p:grpSpPr bwMode="auto">
              <a:xfrm>
                <a:off x="2275" y="3571"/>
                <a:ext cx="232" cy="250"/>
                <a:chOff x="2941" y="2425"/>
                <a:chExt cx="235" cy="250"/>
              </a:xfrm>
            </p:grpSpPr>
            <p:sp>
              <p:nvSpPr>
                <p:cNvPr id="130187" name="Rectangle 31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88" name="Text Box 319"/>
                <p:cNvSpPr txBox="1">
                  <a:spLocks noChangeArrowheads="1"/>
                </p:cNvSpPr>
                <p:nvPr/>
              </p:nvSpPr>
              <p:spPr bwMode="auto">
                <a:xfrm>
                  <a:off x="2941" y="2425"/>
                  <a:ext cx="23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D</a:t>
                  </a:r>
                  <a:endParaRPr lang="en-US"/>
                </a:p>
              </p:txBody>
            </p:sp>
          </p:grpSp>
        </p:grpSp>
        <p:grpSp>
          <p:nvGrpSpPr>
            <p:cNvPr id="130153" name="Group 320"/>
            <p:cNvGrpSpPr>
              <a:grpSpLocks/>
            </p:cNvGrpSpPr>
            <p:nvPr/>
          </p:nvGrpSpPr>
          <p:grpSpPr bwMode="auto">
            <a:xfrm>
              <a:off x="2195" y="3198"/>
              <a:ext cx="315" cy="250"/>
              <a:chOff x="2903" y="2884"/>
              <a:chExt cx="315" cy="250"/>
            </a:xfrm>
          </p:grpSpPr>
          <p:grpSp>
            <p:nvGrpSpPr>
              <p:cNvPr id="130172" name="Group 321"/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130176" name="Oval 322"/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77" name="Line 323"/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78" name="Line 324"/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79" name="Rectangle 325"/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30180" name="Oval 326"/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0173" name="Group 327"/>
              <p:cNvGrpSpPr>
                <a:grpSpLocks/>
              </p:cNvGrpSpPr>
              <p:nvPr/>
            </p:nvGrpSpPr>
            <p:grpSpPr bwMode="auto">
              <a:xfrm>
                <a:off x="2949" y="2884"/>
                <a:ext cx="232" cy="250"/>
                <a:chOff x="2940" y="2425"/>
                <a:chExt cx="235" cy="250"/>
              </a:xfrm>
            </p:grpSpPr>
            <p:sp>
              <p:nvSpPr>
                <p:cNvPr id="130174" name="Rectangle 32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75" name="Text Box 329"/>
                <p:cNvSpPr txBox="1">
                  <a:spLocks noChangeArrowheads="1"/>
                </p:cNvSpPr>
                <p:nvPr/>
              </p:nvSpPr>
              <p:spPr bwMode="auto">
                <a:xfrm>
                  <a:off x="2940" y="2425"/>
                  <a:ext cx="23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C</a:t>
                  </a:r>
                  <a:endParaRPr lang="en-US"/>
                </a:p>
              </p:txBody>
            </p:sp>
          </p:grpSp>
        </p:grpSp>
        <p:grpSp>
          <p:nvGrpSpPr>
            <p:cNvPr id="130154" name="Group 330"/>
            <p:cNvGrpSpPr>
              <a:grpSpLocks/>
            </p:cNvGrpSpPr>
            <p:nvPr/>
          </p:nvGrpSpPr>
          <p:grpSpPr bwMode="auto">
            <a:xfrm>
              <a:off x="2607" y="2916"/>
              <a:ext cx="316" cy="250"/>
              <a:chOff x="2217" y="2884"/>
              <a:chExt cx="316" cy="250"/>
            </a:xfrm>
          </p:grpSpPr>
          <p:sp>
            <p:nvSpPr>
              <p:cNvPr id="130164" name="Oval 331"/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65" name="Line 332"/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66" name="Line 333"/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67" name="Rectangle 334"/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168" name="Oval 335"/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169" name="Group 336"/>
              <p:cNvGrpSpPr>
                <a:grpSpLocks/>
              </p:cNvGrpSpPr>
              <p:nvPr/>
            </p:nvGrpSpPr>
            <p:grpSpPr bwMode="auto">
              <a:xfrm>
                <a:off x="2270" y="2884"/>
                <a:ext cx="223" cy="250"/>
                <a:chOff x="2945" y="2425"/>
                <a:chExt cx="226" cy="250"/>
              </a:xfrm>
            </p:grpSpPr>
            <p:sp>
              <p:nvSpPr>
                <p:cNvPr id="130170" name="Rectangle 33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71" name="Text Box 338"/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B</a:t>
                  </a:r>
                  <a:endParaRPr lang="en-US"/>
                </a:p>
              </p:txBody>
            </p:sp>
          </p:grpSp>
        </p:grpSp>
        <p:sp>
          <p:nvSpPr>
            <p:cNvPr id="130155" name="Freeform 339"/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56" name="Freeform 340"/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57" name="Freeform 341"/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58" name="Freeform 342"/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59" name="Freeform 343"/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60" name="Text Box 344"/>
            <p:cNvSpPr txBox="1">
              <a:spLocks noChangeArrowheads="1"/>
            </p:cNvSpPr>
            <p:nvPr/>
          </p:nvSpPr>
          <p:spPr bwMode="auto">
            <a:xfrm>
              <a:off x="1729" y="3612"/>
              <a:ext cx="1383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800">
                  <a:solidFill>
                    <a:srgbClr val="000099"/>
                  </a:solidFill>
                  <a:latin typeface="Gill Sans MT" charset="0"/>
                </a:rPr>
                <a:t>given these costs,</a:t>
              </a:r>
            </a:p>
            <a:p>
              <a:pPr algn="ctr">
                <a:lnSpc>
                  <a:spcPct val="80000"/>
                </a:lnSpc>
              </a:pPr>
              <a:r>
                <a:rPr lang="en-US" sz="1800">
                  <a:solidFill>
                    <a:srgbClr val="000099"/>
                  </a:solidFill>
                  <a:latin typeface="Gill Sans MT" charset="0"/>
                </a:rPr>
                <a:t>find new routing….</a:t>
              </a:r>
            </a:p>
            <a:p>
              <a:pPr algn="ctr">
                <a:lnSpc>
                  <a:spcPct val="80000"/>
                </a:lnSpc>
              </a:pPr>
              <a:r>
                <a:rPr lang="en-US" sz="1800">
                  <a:solidFill>
                    <a:srgbClr val="000099"/>
                  </a:solidFill>
                  <a:latin typeface="Gill Sans MT" charset="0"/>
                </a:rPr>
                <a:t>resulting in new costs</a:t>
              </a:r>
            </a:p>
          </p:txBody>
        </p:sp>
        <p:sp>
          <p:nvSpPr>
            <p:cNvPr id="130161" name="Line 345"/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62" name="Line 346"/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63" name="Line 347"/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1124" name="Freeform 228"/>
          <p:cNvSpPr>
            <a:spLocks/>
          </p:cNvSpPr>
          <p:nvPr/>
        </p:nvSpPr>
        <p:spPr bwMode="auto">
          <a:xfrm>
            <a:off x="5219700" y="4332288"/>
            <a:ext cx="1181100" cy="952500"/>
          </a:xfrm>
          <a:custGeom>
            <a:avLst/>
            <a:gdLst>
              <a:gd name="T0" fmla="*/ 0 w 744"/>
              <a:gd name="T1" fmla="*/ 2147483647 h 600"/>
              <a:gd name="T2" fmla="*/ 2147483647 w 744"/>
              <a:gd name="T3" fmla="*/ 2147483647 h 600"/>
              <a:gd name="T4" fmla="*/ 2147483647 w 744"/>
              <a:gd name="T5" fmla="*/ 2147483647 h 600"/>
              <a:gd name="T6" fmla="*/ 2147483647 w 744"/>
              <a:gd name="T7" fmla="*/ 2147483647 h 600"/>
              <a:gd name="T8" fmla="*/ 2147483647 w 744"/>
              <a:gd name="T9" fmla="*/ 0 h 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600"/>
              <a:gd name="T17" fmla="*/ 744 w 744"/>
              <a:gd name="T18" fmla="*/ 600 h 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600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721280" name="Group 348"/>
          <p:cNvGrpSpPr>
            <a:grpSpLocks/>
          </p:cNvGrpSpPr>
          <p:nvPr/>
        </p:nvGrpSpPr>
        <p:grpSpPr bwMode="auto">
          <a:xfrm>
            <a:off x="5137150" y="4410075"/>
            <a:ext cx="1493838" cy="990600"/>
            <a:chOff x="-186" y="1184"/>
            <a:chExt cx="941" cy="624"/>
          </a:xfrm>
        </p:grpSpPr>
        <p:sp>
          <p:nvSpPr>
            <p:cNvPr id="130143" name="Text Box 270"/>
            <p:cNvSpPr txBox="1">
              <a:spLocks noChangeArrowheads="1"/>
            </p:cNvSpPr>
            <p:nvPr/>
          </p:nvSpPr>
          <p:spPr bwMode="auto"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0</a:t>
              </a:r>
            </a:p>
          </p:txBody>
        </p:sp>
        <p:sp>
          <p:nvSpPr>
            <p:cNvPr id="130144" name="Text Box 274"/>
            <p:cNvSpPr txBox="1">
              <a:spLocks noChangeArrowheads="1"/>
            </p:cNvSpPr>
            <p:nvPr/>
          </p:nvSpPr>
          <p:spPr bwMode="auto"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2+e</a:t>
              </a:r>
            </a:p>
          </p:txBody>
        </p:sp>
        <p:sp>
          <p:nvSpPr>
            <p:cNvPr id="130145" name="Text Box 275"/>
            <p:cNvSpPr txBox="1">
              <a:spLocks noChangeArrowheads="1"/>
            </p:cNvSpPr>
            <p:nvPr/>
          </p:nvSpPr>
          <p:spPr bwMode="auto"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1+e</a:t>
              </a:r>
            </a:p>
          </p:txBody>
        </p:sp>
        <p:sp>
          <p:nvSpPr>
            <p:cNvPr id="130146" name="Text Box 276"/>
            <p:cNvSpPr txBox="1">
              <a:spLocks noChangeArrowheads="1"/>
            </p:cNvSpPr>
            <p:nvPr/>
          </p:nvSpPr>
          <p:spPr bwMode="auto"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1</a:t>
              </a:r>
            </a:p>
          </p:txBody>
        </p:sp>
        <p:sp>
          <p:nvSpPr>
            <p:cNvPr id="130147" name="Text Box 279"/>
            <p:cNvSpPr txBox="1">
              <a:spLocks noChangeArrowheads="1"/>
            </p:cNvSpPr>
            <p:nvPr/>
          </p:nvSpPr>
          <p:spPr bwMode="auto"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0</a:t>
              </a:r>
            </a:p>
          </p:txBody>
        </p:sp>
        <p:sp>
          <p:nvSpPr>
            <p:cNvPr id="130148" name="Text Box 280"/>
            <p:cNvSpPr txBox="1">
              <a:spLocks noChangeArrowheads="1"/>
            </p:cNvSpPr>
            <p:nvPr/>
          </p:nvSpPr>
          <p:spPr bwMode="auto"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0</a:t>
              </a:r>
            </a:p>
          </p:txBody>
        </p:sp>
      </p:grpSp>
      <p:grpSp>
        <p:nvGrpSpPr>
          <p:cNvPr id="721281" name="Group 349"/>
          <p:cNvGrpSpPr>
            <a:grpSpLocks/>
          </p:cNvGrpSpPr>
          <p:nvPr/>
        </p:nvGrpSpPr>
        <p:grpSpPr bwMode="auto">
          <a:xfrm>
            <a:off x="6967538" y="4195763"/>
            <a:ext cx="2195512" cy="2293937"/>
            <a:chOff x="1729" y="2639"/>
            <a:chExt cx="1383" cy="1445"/>
          </a:xfrm>
        </p:grpSpPr>
        <p:sp>
          <p:nvSpPr>
            <p:cNvPr id="130095" name="Freeform 350"/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096" name="Freeform 351"/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0097" name="Group 352"/>
            <p:cNvGrpSpPr>
              <a:grpSpLocks/>
            </p:cNvGrpSpPr>
            <p:nvPr/>
          </p:nvGrpSpPr>
          <p:grpSpPr bwMode="auto">
            <a:xfrm>
              <a:off x="2203" y="2652"/>
              <a:ext cx="316" cy="250"/>
              <a:chOff x="1747" y="3190"/>
              <a:chExt cx="316" cy="250"/>
            </a:xfrm>
          </p:grpSpPr>
          <p:sp>
            <p:nvSpPr>
              <p:cNvPr id="130135" name="Oval 353"/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36" name="Line 354"/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37" name="Line 355"/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38" name="Rectangle 356"/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139" name="Oval 357"/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140" name="Group 358"/>
              <p:cNvGrpSpPr>
                <a:grpSpLocks/>
              </p:cNvGrpSpPr>
              <p:nvPr/>
            </p:nvGrpSpPr>
            <p:grpSpPr bwMode="auto">
              <a:xfrm>
                <a:off x="1790" y="3190"/>
                <a:ext cx="223" cy="250"/>
                <a:chOff x="2945" y="2425"/>
                <a:chExt cx="226" cy="250"/>
              </a:xfrm>
            </p:grpSpPr>
            <p:sp>
              <p:nvSpPr>
                <p:cNvPr id="130141" name="Rectangle 359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42" name="Text Box 360"/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A</a:t>
                  </a:r>
                  <a:endParaRPr lang="en-US"/>
                </a:p>
              </p:txBody>
            </p:sp>
          </p:grpSp>
        </p:grpSp>
        <p:grpSp>
          <p:nvGrpSpPr>
            <p:cNvPr id="130098" name="Group 361"/>
            <p:cNvGrpSpPr>
              <a:grpSpLocks/>
            </p:cNvGrpSpPr>
            <p:nvPr/>
          </p:nvGrpSpPr>
          <p:grpSpPr bwMode="auto">
            <a:xfrm>
              <a:off x="1795" y="2907"/>
              <a:ext cx="316" cy="250"/>
              <a:chOff x="2221" y="3571"/>
              <a:chExt cx="316" cy="250"/>
            </a:xfrm>
          </p:grpSpPr>
          <p:sp>
            <p:nvSpPr>
              <p:cNvPr id="130127" name="Oval 362"/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28" name="Line 363"/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29" name="Line 364"/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30" name="Rectangle 365"/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131" name="Oval 366"/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132" name="Group 367"/>
              <p:cNvGrpSpPr>
                <a:grpSpLocks/>
              </p:cNvGrpSpPr>
              <p:nvPr/>
            </p:nvGrpSpPr>
            <p:grpSpPr bwMode="auto">
              <a:xfrm>
                <a:off x="2275" y="3571"/>
                <a:ext cx="232" cy="250"/>
                <a:chOff x="2941" y="2425"/>
                <a:chExt cx="235" cy="250"/>
              </a:xfrm>
            </p:grpSpPr>
            <p:sp>
              <p:nvSpPr>
                <p:cNvPr id="130133" name="Rectangle 36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34" name="Text Box 369"/>
                <p:cNvSpPr txBox="1">
                  <a:spLocks noChangeArrowheads="1"/>
                </p:cNvSpPr>
                <p:nvPr/>
              </p:nvSpPr>
              <p:spPr bwMode="auto">
                <a:xfrm>
                  <a:off x="2941" y="2425"/>
                  <a:ext cx="23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D</a:t>
                  </a:r>
                  <a:endParaRPr lang="en-US"/>
                </a:p>
              </p:txBody>
            </p:sp>
          </p:grpSp>
        </p:grpSp>
        <p:grpSp>
          <p:nvGrpSpPr>
            <p:cNvPr id="130099" name="Group 370"/>
            <p:cNvGrpSpPr>
              <a:grpSpLocks/>
            </p:cNvGrpSpPr>
            <p:nvPr/>
          </p:nvGrpSpPr>
          <p:grpSpPr bwMode="auto">
            <a:xfrm>
              <a:off x="2195" y="3198"/>
              <a:ext cx="315" cy="250"/>
              <a:chOff x="2903" y="2884"/>
              <a:chExt cx="315" cy="250"/>
            </a:xfrm>
          </p:grpSpPr>
          <p:grpSp>
            <p:nvGrpSpPr>
              <p:cNvPr id="130118" name="Group 371"/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130122" name="Oval 372"/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23" name="Line 373"/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24" name="Line 374"/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25" name="Rectangle 375"/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130126" name="Oval 376"/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0119" name="Group 377"/>
              <p:cNvGrpSpPr>
                <a:grpSpLocks/>
              </p:cNvGrpSpPr>
              <p:nvPr/>
            </p:nvGrpSpPr>
            <p:grpSpPr bwMode="auto">
              <a:xfrm>
                <a:off x="2949" y="2884"/>
                <a:ext cx="232" cy="250"/>
                <a:chOff x="2940" y="2425"/>
                <a:chExt cx="235" cy="250"/>
              </a:xfrm>
            </p:grpSpPr>
            <p:sp>
              <p:nvSpPr>
                <p:cNvPr id="130120" name="Rectangle 378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21" name="Text Box 379"/>
                <p:cNvSpPr txBox="1">
                  <a:spLocks noChangeArrowheads="1"/>
                </p:cNvSpPr>
                <p:nvPr/>
              </p:nvSpPr>
              <p:spPr bwMode="auto">
                <a:xfrm>
                  <a:off x="2940" y="2425"/>
                  <a:ext cx="23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C</a:t>
                  </a:r>
                  <a:endParaRPr lang="en-US"/>
                </a:p>
              </p:txBody>
            </p:sp>
          </p:grpSp>
        </p:grpSp>
        <p:grpSp>
          <p:nvGrpSpPr>
            <p:cNvPr id="130100" name="Group 380"/>
            <p:cNvGrpSpPr>
              <a:grpSpLocks/>
            </p:cNvGrpSpPr>
            <p:nvPr/>
          </p:nvGrpSpPr>
          <p:grpSpPr bwMode="auto">
            <a:xfrm>
              <a:off x="2607" y="2916"/>
              <a:ext cx="316" cy="250"/>
              <a:chOff x="2217" y="2884"/>
              <a:chExt cx="316" cy="250"/>
            </a:xfrm>
          </p:grpSpPr>
          <p:sp>
            <p:nvSpPr>
              <p:cNvPr id="130110" name="Oval 381"/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11" name="Line 382"/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12" name="Line 383"/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113" name="Rectangle 384"/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0114" name="Oval 385"/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0115" name="Group 386"/>
              <p:cNvGrpSpPr>
                <a:grpSpLocks/>
              </p:cNvGrpSpPr>
              <p:nvPr/>
            </p:nvGrpSpPr>
            <p:grpSpPr bwMode="auto">
              <a:xfrm>
                <a:off x="2270" y="2884"/>
                <a:ext cx="223" cy="250"/>
                <a:chOff x="2945" y="2425"/>
                <a:chExt cx="226" cy="250"/>
              </a:xfrm>
            </p:grpSpPr>
            <p:sp>
              <p:nvSpPr>
                <p:cNvPr id="130116" name="Rectangle 38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117" name="Text Box 388"/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B</a:t>
                  </a:r>
                  <a:endParaRPr lang="en-US"/>
                </a:p>
              </p:txBody>
            </p:sp>
          </p:grpSp>
        </p:grpSp>
        <p:sp>
          <p:nvSpPr>
            <p:cNvPr id="130101" name="Freeform 389"/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02" name="Freeform 390"/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03" name="Freeform 391"/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04" name="Freeform 392"/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05" name="Freeform 393"/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06" name="Text Box 394"/>
            <p:cNvSpPr txBox="1">
              <a:spLocks noChangeArrowheads="1"/>
            </p:cNvSpPr>
            <p:nvPr/>
          </p:nvSpPr>
          <p:spPr bwMode="auto">
            <a:xfrm>
              <a:off x="1729" y="3612"/>
              <a:ext cx="1383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800">
                  <a:solidFill>
                    <a:srgbClr val="000099"/>
                  </a:solidFill>
                  <a:latin typeface="Gill Sans MT" charset="0"/>
                </a:rPr>
                <a:t>given these costs,</a:t>
              </a:r>
            </a:p>
            <a:p>
              <a:pPr algn="ctr">
                <a:lnSpc>
                  <a:spcPct val="80000"/>
                </a:lnSpc>
              </a:pPr>
              <a:r>
                <a:rPr lang="en-US" sz="1800">
                  <a:solidFill>
                    <a:srgbClr val="000099"/>
                  </a:solidFill>
                  <a:latin typeface="Gill Sans MT" charset="0"/>
                </a:rPr>
                <a:t>find new routing….</a:t>
              </a:r>
            </a:p>
            <a:p>
              <a:pPr algn="ctr">
                <a:lnSpc>
                  <a:spcPct val="80000"/>
                </a:lnSpc>
              </a:pPr>
              <a:r>
                <a:rPr lang="en-US" sz="1800">
                  <a:solidFill>
                    <a:srgbClr val="000099"/>
                  </a:solidFill>
                  <a:latin typeface="Gill Sans MT" charset="0"/>
                </a:rPr>
                <a:t>resulting in new costs</a:t>
              </a:r>
            </a:p>
          </p:txBody>
        </p:sp>
        <p:sp>
          <p:nvSpPr>
            <p:cNvPr id="130107" name="Line 395"/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08" name="Line 396"/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109" name="Line 397"/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1294" name="Freeform 398"/>
          <p:cNvSpPr>
            <a:spLocks/>
          </p:cNvSpPr>
          <p:nvPr/>
        </p:nvSpPr>
        <p:spPr bwMode="auto">
          <a:xfrm>
            <a:off x="7366000" y="4397375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721291" name="Group 399"/>
          <p:cNvGrpSpPr>
            <a:grpSpLocks/>
          </p:cNvGrpSpPr>
          <p:nvPr/>
        </p:nvGrpSpPr>
        <p:grpSpPr bwMode="auto">
          <a:xfrm>
            <a:off x="7191375" y="4383088"/>
            <a:ext cx="1430338" cy="966787"/>
            <a:chOff x="1870" y="2772"/>
            <a:chExt cx="901" cy="609"/>
          </a:xfrm>
        </p:grpSpPr>
        <p:sp>
          <p:nvSpPr>
            <p:cNvPr id="130089" name="Text Box 400"/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2+e</a:t>
              </a:r>
            </a:p>
          </p:txBody>
        </p:sp>
        <p:sp>
          <p:nvSpPr>
            <p:cNvPr id="130090" name="Text Box 401"/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0</a:t>
              </a:r>
            </a:p>
          </p:txBody>
        </p:sp>
        <p:sp>
          <p:nvSpPr>
            <p:cNvPr id="130091" name="Text Box 402"/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0</a:t>
              </a:r>
            </a:p>
          </p:txBody>
        </p:sp>
        <p:sp>
          <p:nvSpPr>
            <p:cNvPr id="130092" name="Text Box 403"/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0</a:t>
              </a:r>
            </a:p>
          </p:txBody>
        </p:sp>
        <p:sp>
          <p:nvSpPr>
            <p:cNvPr id="130093" name="Text Box 404"/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1+e</a:t>
              </a:r>
            </a:p>
          </p:txBody>
        </p:sp>
        <p:sp>
          <p:nvSpPr>
            <p:cNvPr id="130094" name="Text Box 405"/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/>
                <a:t>1</a:t>
              </a:r>
            </a:p>
          </p:txBody>
        </p:sp>
      </p:grpSp>
      <p:sp>
        <p:nvSpPr>
          <p:cNvPr id="23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23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817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2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2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2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2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2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186" grpId="0" animBg="1"/>
      <p:bldP spid="721124" grpId="0" animBg="1"/>
      <p:bldP spid="72129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 smtClean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mtClean="0"/>
              <a:t>Q &amp; A </a:t>
            </a:r>
            <a:r>
              <a:rPr lang="ko-KR" altLang="en-US" smtClean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09970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20231</TotalTime>
  <Words>1554</Words>
  <Application>Microsoft Office PowerPoint</Application>
  <PresentationFormat>화면 슬라이드 쇼(4:3)</PresentationFormat>
  <Paragraphs>413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ＭＳ Ｐゴシック</vt:lpstr>
      <vt:lpstr>Arial</vt:lpstr>
      <vt:lpstr>Comic Sans MS</vt:lpstr>
      <vt:lpstr>Gill Sans MT</vt:lpstr>
      <vt:lpstr>Tahoma</vt:lpstr>
      <vt:lpstr>Times New Roman</vt:lpstr>
      <vt:lpstr>Wingdings</vt:lpstr>
      <vt:lpstr>Default Design</vt:lpstr>
      <vt:lpstr>PowerPoint 프레젠테이션</vt:lpstr>
      <vt:lpstr>Chapter 5: network layer control plane</vt:lpstr>
      <vt:lpstr>PowerPoint 프레젠테이션</vt:lpstr>
      <vt:lpstr>Network-layer functions</vt:lpstr>
      <vt:lpstr>PowerPoint 프레젠테이션</vt:lpstr>
      <vt:lpstr>PowerPoint 프레젠테이션</vt:lpstr>
      <vt:lpstr>PowerPoint 프레젠테이션</vt:lpstr>
      <vt:lpstr>Routing protocols</vt:lpstr>
      <vt:lpstr>Graph abstraction of the network</vt:lpstr>
      <vt:lpstr>Graph abstraction: costs</vt:lpstr>
      <vt:lpstr>Routing algorithm classification</vt:lpstr>
      <vt:lpstr>PowerPoint 프레젠테이션</vt:lpstr>
      <vt:lpstr>A link-state routing algorithm</vt:lpstr>
      <vt:lpstr>Dijsktra’s algorithm</vt:lpstr>
      <vt:lpstr>PowerPoint 프레젠테이션</vt:lpstr>
      <vt:lpstr>Dijkstra’s algorithm: another example</vt:lpstr>
      <vt:lpstr>Dijkstra’s algorithm: example (2) </vt:lpstr>
      <vt:lpstr>Dijkstra’s algorithm, discussion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mjchoi</cp:lastModifiedBy>
  <cp:revision>512</cp:revision>
  <dcterms:created xsi:type="dcterms:W3CDTF">1999-10-08T19:08:27Z</dcterms:created>
  <dcterms:modified xsi:type="dcterms:W3CDTF">2020-09-02T14:13:43Z</dcterms:modified>
</cp:coreProperties>
</file>