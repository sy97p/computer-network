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778" r:id="rId2"/>
    <p:sldId id="809" r:id="rId3"/>
    <p:sldId id="792" r:id="rId4"/>
    <p:sldId id="793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1" r:id="rId13"/>
    <p:sldId id="898" r:id="rId1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5.2 routing protocols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solidFill>
                  <a:srgbClr val="000000"/>
                </a:solidFill>
                <a:latin typeface="Gill Sans MT" charset="0"/>
              </a:rPr>
              <a:t>link state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5.6 </a:t>
            </a:r>
            <a:r>
              <a:rPr lang="en-US" sz="2400" dirty="0"/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9" name="Picture 6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9429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96863"/>
            <a:ext cx="7772400" cy="841375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Distance vector algorithm </a:t>
            </a:r>
          </a:p>
        </p:txBody>
      </p:sp>
      <p:sp>
        <p:nvSpPr>
          <p:cNvPr id="132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53375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Bellman-Ford equation (dynamic programming)</a:t>
            </a:r>
          </a:p>
          <a:p>
            <a:pPr>
              <a:buFont typeface="Wingdings" charset="0"/>
              <a:buNone/>
            </a:pPr>
            <a:endParaRPr lang="en-US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>
                <a:latin typeface="Gill Sans MT" charset="0"/>
              </a:rPr>
              <a:t>let</a:t>
            </a:r>
          </a:p>
          <a:p>
            <a:pPr>
              <a:buFont typeface="Wingdings" charset="0"/>
              <a:buNone/>
            </a:pPr>
            <a:r>
              <a:rPr lang="en-US">
                <a:latin typeface="Gill Sans MT" charset="0"/>
              </a:rPr>
              <a:t>   d</a:t>
            </a:r>
            <a:r>
              <a:rPr lang="en-US" baseline="-25000">
                <a:latin typeface="Gill Sans MT" charset="0"/>
              </a:rPr>
              <a:t>x</a:t>
            </a:r>
            <a:r>
              <a:rPr lang="en-US">
                <a:latin typeface="Gill Sans MT" charset="0"/>
              </a:rPr>
              <a:t>(y) := cost of least-cost path from x to y</a:t>
            </a:r>
          </a:p>
          <a:p>
            <a:pPr>
              <a:buFont typeface="Wingdings" charset="0"/>
              <a:buNone/>
            </a:pPr>
            <a:r>
              <a:rPr lang="en-US">
                <a:latin typeface="Gill Sans MT" charset="0"/>
              </a:rPr>
              <a:t>then</a:t>
            </a:r>
          </a:p>
          <a:p>
            <a:pPr>
              <a:buFont typeface="Wingdings" charset="0"/>
              <a:buNone/>
            </a:pPr>
            <a:r>
              <a:rPr lang="en-US">
                <a:solidFill>
                  <a:srgbClr val="CC0000"/>
                </a:solidFill>
                <a:latin typeface="Gill Sans MT" charset="0"/>
              </a:rPr>
              <a:t>   </a:t>
            </a:r>
            <a:r>
              <a:rPr lang="en-US" sz="3200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sz="3200" baseline="-25000">
                <a:solidFill>
                  <a:srgbClr val="CC0000"/>
                </a:solidFill>
                <a:latin typeface="Gill Sans MT" charset="0"/>
              </a:rPr>
              <a:t>x</a:t>
            </a:r>
            <a:r>
              <a:rPr lang="en-US" sz="3200">
                <a:solidFill>
                  <a:srgbClr val="CC0000"/>
                </a:solidFill>
                <a:latin typeface="Gill Sans MT" charset="0"/>
              </a:rPr>
              <a:t>(y) = </a:t>
            </a:r>
            <a:r>
              <a:rPr lang="en-US" sz="3200" i="1">
                <a:solidFill>
                  <a:srgbClr val="CC0000"/>
                </a:solidFill>
                <a:latin typeface="Gill Sans MT" charset="0"/>
              </a:rPr>
              <a:t>min</a:t>
            </a:r>
            <a:r>
              <a:rPr lang="en-US" sz="3200">
                <a:solidFill>
                  <a:srgbClr val="CC0000"/>
                </a:solidFill>
                <a:latin typeface="Gill Sans MT" charset="0"/>
              </a:rPr>
              <a:t> {c(x,v) + d</a:t>
            </a:r>
            <a:r>
              <a:rPr lang="en-US" sz="3200" baseline="-25000">
                <a:solidFill>
                  <a:srgbClr val="CC0000"/>
                </a:solidFill>
                <a:latin typeface="Gill Sans MT" charset="0"/>
              </a:rPr>
              <a:t>v</a:t>
            </a:r>
            <a:r>
              <a:rPr lang="en-US" sz="3200">
                <a:solidFill>
                  <a:srgbClr val="CC0000"/>
                </a:solidFill>
                <a:latin typeface="Gill Sans MT" charset="0"/>
              </a:rPr>
              <a:t>(y) }</a:t>
            </a:r>
          </a:p>
          <a:p>
            <a:pPr>
              <a:buFont typeface="Wingdings" charset="0"/>
              <a:buNone/>
            </a:pPr>
            <a:r>
              <a:rPr lang="en-US" sz="3200">
                <a:latin typeface="Gill Sans MT" charset="0"/>
              </a:rPr>
              <a:t>   </a:t>
            </a:r>
          </a:p>
          <a:p>
            <a:pPr>
              <a:buFont typeface="Wingdings" charset="0"/>
              <a:buNone/>
            </a:pPr>
            <a:endParaRPr lang="en-US">
              <a:latin typeface="Gill Sans MT" charset="0"/>
            </a:endParaRPr>
          </a:p>
        </p:txBody>
      </p:sp>
      <p:sp>
        <p:nvSpPr>
          <p:cNvPr id="132102" name="Text Box 5"/>
          <p:cNvSpPr txBox="1">
            <a:spLocks noChangeArrowheads="1"/>
          </p:cNvSpPr>
          <p:nvPr/>
        </p:nvSpPr>
        <p:spPr bwMode="auto">
          <a:xfrm>
            <a:off x="2220913" y="4138613"/>
            <a:ext cx="295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  <a:latin typeface="Comic Sans MS" charset="0"/>
              </a:rPr>
              <a:t>v</a:t>
            </a: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3017838" y="5126038"/>
            <a:ext cx="2449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>
                <a:latin typeface="Gill Sans MT" charset="0"/>
              </a:rPr>
              <a:t>cost to neighbor v</a:t>
            </a: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2116138" y="5762625"/>
            <a:ext cx="444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i="1">
                <a:latin typeface="Gill Sans MT" charset="0"/>
              </a:rPr>
              <a:t>min</a:t>
            </a:r>
            <a:r>
              <a:rPr lang="en-US">
                <a:latin typeface="Gill Sans MT" charset="0"/>
              </a:rPr>
              <a:t> taken over all neighbors v of x</a:t>
            </a:r>
          </a:p>
        </p:txBody>
      </p:sp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4130675" y="4730750"/>
            <a:ext cx="479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>
                <a:latin typeface="Gill Sans MT" charset="0"/>
              </a:rPr>
              <a:t>cost from neighbor v to destination y</a:t>
            </a:r>
          </a:p>
        </p:txBody>
      </p:sp>
      <p:sp>
        <p:nvSpPr>
          <p:cNvPr id="132106" name="Line 10"/>
          <p:cNvSpPr>
            <a:spLocks noChangeShapeType="1"/>
          </p:cNvSpPr>
          <p:nvPr/>
        </p:nvSpPr>
        <p:spPr bwMode="auto">
          <a:xfrm>
            <a:off x="2363788" y="4549775"/>
            <a:ext cx="0" cy="12827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107" name="Line 11"/>
          <p:cNvSpPr>
            <a:spLocks noChangeShapeType="1"/>
          </p:cNvSpPr>
          <p:nvPr/>
        </p:nvSpPr>
        <p:spPr bwMode="auto">
          <a:xfrm>
            <a:off x="3344863" y="4359275"/>
            <a:ext cx="0" cy="8921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108" name="Line 13"/>
          <p:cNvSpPr>
            <a:spLocks noChangeShapeType="1"/>
          </p:cNvSpPr>
          <p:nvPr/>
        </p:nvSpPr>
        <p:spPr bwMode="auto">
          <a:xfrm>
            <a:off x="4649788" y="4427538"/>
            <a:ext cx="0" cy="4349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3" name="Picture 77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83978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25"/>
            <a:ext cx="7772400" cy="874713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Bellman-Ford example </a:t>
            </a:r>
          </a:p>
        </p:txBody>
      </p:sp>
      <p:grpSp>
        <p:nvGrpSpPr>
          <p:cNvPr id="133125" name="Group 3"/>
          <p:cNvGrpSpPr>
            <a:grpSpLocks/>
          </p:cNvGrpSpPr>
          <p:nvPr/>
        </p:nvGrpSpPr>
        <p:grpSpPr bwMode="auto">
          <a:xfrm>
            <a:off x="276225" y="1470025"/>
            <a:ext cx="3571875" cy="2236788"/>
            <a:chOff x="3162" y="1071"/>
            <a:chExt cx="2250" cy="1409"/>
          </a:xfrm>
        </p:grpSpPr>
        <p:sp>
          <p:nvSpPr>
            <p:cNvPr id="133130" name="Freeform 4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1" name="Freeform 5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2" name="Oval 6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3" name="Line 7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4" name="Line 8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5" name="Rectangle 9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36" name="Oval 10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7" name="Oval 11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8" name="Line 12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39" name="Line 13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0" name="Rectangle 14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41" name="Oval 15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2" name="Oval 16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3" name="Line 17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4" name="Line 18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5" name="Rectangle 19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46" name="Oval 20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7" name="Oval 21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8" name="Line 22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49" name="Line 23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0" name="Rectangle 24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51" name="Oval 25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2" name="Oval 26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3" name="Line 27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4" name="Line 28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5" name="Rectangle 29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56" name="Oval 30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7" name="Oval 31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8" name="Line 32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9" name="Line 33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0" name="Rectangle 34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3161" name="Oval 35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2" name="Freeform 36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3" name="Freeform 37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4" name="Freeform 38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5" name="Freeform 39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6" name="Freeform 40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7" name="Freeform 41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8" name="Freeform 42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9" name="Freeform 43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70" name="Freeform 44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3171" name="Group 45"/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33197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8" name="Text Box 47"/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grpSp>
          <p:nvGrpSpPr>
            <p:cNvPr id="133172" name="Group 48"/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33195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6" name="Text Box 50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grpSp>
          <p:nvGrpSpPr>
            <p:cNvPr id="133173" name="Group 51"/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33193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4" name="Text Box 53"/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133174" name="Group 54"/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33191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2" name="Text Box 56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grpSp>
          <p:nvGrpSpPr>
            <p:cNvPr id="133175" name="Group 57"/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3189" name="Rectangle 5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90" name="Text Box 59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33176" name="Group 60"/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3187" name="Rectangle 6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188" name="Text Box 62"/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z</a:t>
                </a:r>
              </a:p>
            </p:txBody>
          </p:sp>
        </p:grpSp>
        <p:sp>
          <p:nvSpPr>
            <p:cNvPr id="133177" name="Text Box 63"/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33178" name="Text Box 64"/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33179" name="Text Box 65"/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33180" name="Text Box 66"/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33181" name="Text Box 67"/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33182" name="Text Box 68"/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33183" name="Text Box 69"/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33184" name="Text Box 70"/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33185" name="Text Box 71"/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33186" name="Text Box 72"/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</p:grpSp>
      <p:sp>
        <p:nvSpPr>
          <p:cNvPr id="133126" name="Text Box 73"/>
          <p:cNvSpPr txBox="1">
            <a:spLocks noChangeArrowheads="1"/>
          </p:cNvSpPr>
          <p:nvPr/>
        </p:nvSpPr>
        <p:spPr bwMode="auto">
          <a:xfrm>
            <a:off x="3765550" y="1770063"/>
            <a:ext cx="5045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clearly, d</a:t>
            </a:r>
            <a:r>
              <a:rPr lang="en-US" baseline="-25000"/>
              <a:t>v</a:t>
            </a:r>
            <a:r>
              <a:rPr lang="en-US"/>
              <a:t>(z) = 5, d</a:t>
            </a:r>
            <a:r>
              <a:rPr lang="en-US" baseline="-25000"/>
              <a:t>x</a:t>
            </a:r>
            <a:r>
              <a:rPr lang="en-US"/>
              <a:t>(z) = 3, d</a:t>
            </a:r>
            <a:r>
              <a:rPr lang="en-US" baseline="-25000"/>
              <a:t>w</a:t>
            </a:r>
            <a:r>
              <a:rPr lang="en-US"/>
              <a:t>(z) = 3</a:t>
            </a:r>
          </a:p>
        </p:txBody>
      </p:sp>
      <p:sp>
        <p:nvSpPr>
          <p:cNvPr id="133127" name="Text Box 74"/>
          <p:cNvSpPr txBox="1">
            <a:spLocks noChangeArrowheads="1"/>
          </p:cNvSpPr>
          <p:nvPr/>
        </p:nvSpPr>
        <p:spPr bwMode="auto">
          <a:xfrm>
            <a:off x="4275138" y="2928938"/>
            <a:ext cx="390048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d</a:t>
            </a:r>
            <a:r>
              <a:rPr lang="en-US" baseline="-25000"/>
              <a:t>u</a:t>
            </a:r>
            <a:r>
              <a:rPr lang="en-US"/>
              <a:t>(z) = min { c(u,v) + d</a:t>
            </a:r>
            <a:r>
              <a:rPr lang="en-US" baseline="-25000"/>
              <a:t>v</a:t>
            </a:r>
            <a:r>
              <a:rPr lang="en-US"/>
              <a:t>(z),</a:t>
            </a:r>
          </a:p>
          <a:p>
            <a:r>
              <a:rPr lang="en-US"/>
              <a:t>                    c(u,x) + d</a:t>
            </a:r>
            <a:r>
              <a:rPr lang="en-US" baseline="-25000"/>
              <a:t>x</a:t>
            </a:r>
            <a:r>
              <a:rPr lang="en-US"/>
              <a:t>(z),</a:t>
            </a:r>
          </a:p>
          <a:p>
            <a:r>
              <a:rPr lang="en-US"/>
              <a:t>                    c(u,w) + d</a:t>
            </a:r>
            <a:r>
              <a:rPr lang="en-US" baseline="-25000"/>
              <a:t>w</a:t>
            </a:r>
            <a:r>
              <a:rPr lang="en-US"/>
              <a:t>(z) }</a:t>
            </a:r>
          </a:p>
          <a:p>
            <a:r>
              <a:rPr lang="en-US"/>
              <a:t>         = min {2 + 5,</a:t>
            </a:r>
          </a:p>
          <a:p>
            <a:r>
              <a:rPr lang="en-US"/>
              <a:t>                    1 + 3,</a:t>
            </a:r>
          </a:p>
          <a:p>
            <a:r>
              <a:rPr lang="en-US"/>
              <a:t>                    5 + 3}  = 4</a:t>
            </a:r>
          </a:p>
        </p:txBody>
      </p:sp>
      <p:sp>
        <p:nvSpPr>
          <p:cNvPr id="133128" name="Text Box 75"/>
          <p:cNvSpPr txBox="1">
            <a:spLocks noChangeArrowheads="1"/>
          </p:cNvSpPr>
          <p:nvPr/>
        </p:nvSpPr>
        <p:spPr bwMode="auto">
          <a:xfrm>
            <a:off x="596643" y="5061409"/>
            <a:ext cx="67659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2800" dirty="0">
                <a:latin typeface="Gill Sans MT" charset="0"/>
              </a:rPr>
              <a:t>node achieving minimum is next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latin typeface="Gill Sans MT" charset="0"/>
              </a:rPr>
              <a:t>hop in shortest path, used in</a:t>
            </a:r>
            <a:r>
              <a:rPr lang="en-US" sz="2800" dirty="0">
                <a:latin typeface="Gill Sans MT" charset="0"/>
                <a:ea typeface="MS Mincho" charset="0"/>
                <a:cs typeface="MS Mincho" charset="0"/>
              </a:rPr>
              <a:t> </a:t>
            </a:r>
            <a:r>
              <a:rPr lang="en-US" sz="2800" dirty="0">
                <a:latin typeface="Gill Sans MT" charset="0"/>
              </a:rPr>
              <a:t>forwarding table</a:t>
            </a:r>
          </a:p>
        </p:txBody>
      </p:sp>
      <p:sp>
        <p:nvSpPr>
          <p:cNvPr id="133129" name="Text Box 76"/>
          <p:cNvSpPr txBox="1">
            <a:spLocks noChangeArrowheads="1"/>
          </p:cNvSpPr>
          <p:nvPr/>
        </p:nvSpPr>
        <p:spPr bwMode="auto">
          <a:xfrm>
            <a:off x="3862388" y="2466975"/>
            <a:ext cx="2725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B-F equation says:</a:t>
            </a:r>
          </a:p>
        </p:txBody>
      </p:sp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8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12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7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0668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Distance vector algorithm </a:t>
            </a:r>
          </a:p>
        </p:txBody>
      </p:sp>
      <p:sp>
        <p:nvSpPr>
          <p:cNvPr id="134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baseline="-25000" dirty="0" err="1">
                <a:solidFill>
                  <a:srgbClr val="CC0000"/>
                </a:solidFill>
                <a:latin typeface="Gill Sans MT" charset="0"/>
              </a:rPr>
              <a:t>x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(y)</a:t>
            </a:r>
            <a:r>
              <a:rPr lang="en-US" dirty="0">
                <a:latin typeface="Gill Sans MT" charset="0"/>
              </a:rPr>
              <a:t> = estimate of least cost from x to y</a:t>
            </a:r>
          </a:p>
          <a:p>
            <a:pPr lvl="1"/>
            <a:r>
              <a:rPr lang="en-US" dirty="0">
                <a:latin typeface="Gill Sans MT" charset="0"/>
              </a:rPr>
              <a:t>x maintains </a:t>
            </a:r>
            <a:r>
              <a:rPr lang="en-US" dirty="0" smtClean="0">
                <a:latin typeface="Gill Sans MT" charset="0"/>
              </a:rPr>
              <a:t>distance </a:t>
            </a:r>
            <a:r>
              <a:rPr lang="en-US" dirty="0">
                <a:latin typeface="Gill Sans MT" charset="0"/>
              </a:rPr>
              <a:t>vector </a:t>
            </a:r>
            <a:r>
              <a:rPr lang="en-US" b="1" dirty="0" err="1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baseline="-25000" dirty="0" err="1">
                <a:solidFill>
                  <a:srgbClr val="CC0000"/>
                </a:solidFill>
                <a:latin typeface="Gill Sans MT" charset="0"/>
              </a:rPr>
              <a:t>x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= [</a:t>
            </a:r>
            <a:r>
              <a:rPr lang="en-US" dirty="0" err="1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baseline="-25000" dirty="0" err="1">
                <a:solidFill>
                  <a:srgbClr val="CC0000"/>
                </a:solidFill>
                <a:latin typeface="Gill Sans MT" charset="0"/>
              </a:rPr>
              <a:t>x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(y): y </a:t>
            </a:r>
            <a:r>
              <a:rPr lang="ru-RU" dirty="0">
                <a:solidFill>
                  <a:srgbClr val="CC0000"/>
                </a:solidFill>
                <a:latin typeface="Gill Sans MT" charset="0"/>
              </a:rPr>
              <a:t>є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N ]</a:t>
            </a:r>
          </a:p>
          <a:p>
            <a:r>
              <a:rPr lang="en-US" dirty="0">
                <a:latin typeface="Gill Sans MT" charset="0"/>
              </a:rPr>
              <a:t>node x:</a:t>
            </a:r>
          </a:p>
          <a:p>
            <a:pPr lvl="1"/>
            <a:r>
              <a:rPr lang="en-US" sz="2800" dirty="0">
                <a:latin typeface="Gill Sans MT" charset="0"/>
              </a:rPr>
              <a:t>knows cost to each neighbor v: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c(</a:t>
            </a:r>
            <a:r>
              <a:rPr lang="en-US" sz="2800" dirty="0" err="1">
                <a:solidFill>
                  <a:srgbClr val="CC0000"/>
                </a:solidFill>
                <a:latin typeface="Gill Sans MT" charset="0"/>
              </a:rPr>
              <a:t>x,v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)</a:t>
            </a:r>
          </a:p>
          <a:p>
            <a:pPr lvl="1"/>
            <a:r>
              <a:rPr lang="en-US" sz="2800" dirty="0">
                <a:latin typeface="Gill Sans MT" charset="0"/>
              </a:rPr>
              <a:t>maintains its neighbors</a:t>
            </a:r>
            <a:r>
              <a:rPr lang="ja-JP" altLang="en-US" sz="2800" dirty="0">
                <a:latin typeface="Gill Sans MT" charset="0"/>
              </a:rPr>
              <a:t>’</a:t>
            </a:r>
            <a:r>
              <a:rPr lang="en-US" altLang="ja-JP" sz="2800" dirty="0">
                <a:latin typeface="Gill Sans MT" charset="0"/>
              </a:rPr>
              <a:t> distance vectors. For each neighbor v, x maintains </a:t>
            </a:r>
            <a:br>
              <a:rPr lang="en-US" altLang="ja-JP" sz="2800" dirty="0">
                <a:latin typeface="Gill Sans MT" charset="0"/>
              </a:rPr>
            </a:br>
            <a:r>
              <a:rPr lang="en-US" altLang="ja-JP" sz="2800" b="1" dirty="0" err="1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altLang="ja-JP" sz="2800" baseline="-25000" dirty="0" err="1">
                <a:solidFill>
                  <a:srgbClr val="CC0000"/>
                </a:solidFill>
                <a:latin typeface="Gill Sans MT" charset="0"/>
              </a:rPr>
              <a:t>v</a:t>
            </a:r>
            <a:r>
              <a:rPr lang="en-US" altLang="ja-JP" sz="2800" dirty="0">
                <a:solidFill>
                  <a:srgbClr val="CC0000"/>
                </a:solidFill>
                <a:latin typeface="Gill Sans MT" charset="0"/>
              </a:rPr>
              <a:t> = [</a:t>
            </a:r>
            <a:r>
              <a:rPr lang="en-US" altLang="ja-JP" sz="2800" dirty="0" err="1">
                <a:solidFill>
                  <a:srgbClr val="CC0000"/>
                </a:solidFill>
                <a:latin typeface="Gill Sans MT" charset="0"/>
              </a:rPr>
              <a:t>D</a:t>
            </a:r>
            <a:r>
              <a:rPr lang="en-US" altLang="ja-JP" sz="2800" baseline="-25000" dirty="0" err="1">
                <a:solidFill>
                  <a:srgbClr val="CC0000"/>
                </a:solidFill>
                <a:latin typeface="Gill Sans MT" charset="0"/>
              </a:rPr>
              <a:t>v</a:t>
            </a:r>
            <a:r>
              <a:rPr lang="en-US" altLang="ja-JP" sz="2800" dirty="0">
                <a:solidFill>
                  <a:srgbClr val="CC0000"/>
                </a:solidFill>
                <a:latin typeface="Gill Sans MT" charset="0"/>
              </a:rPr>
              <a:t>(y): y </a:t>
            </a:r>
            <a:r>
              <a:rPr lang="ru-RU" altLang="ja-JP" sz="2800" dirty="0">
                <a:solidFill>
                  <a:srgbClr val="CC0000"/>
                </a:solidFill>
                <a:latin typeface="Gill Sans MT" charset="0"/>
              </a:rPr>
              <a:t>є</a:t>
            </a:r>
            <a:r>
              <a:rPr lang="en-US" altLang="ja-JP" sz="2800" dirty="0">
                <a:solidFill>
                  <a:srgbClr val="CC0000"/>
                </a:solidFill>
                <a:latin typeface="Gill Sans MT" charset="0"/>
              </a:rPr>
              <a:t> N ]</a:t>
            </a:r>
          </a:p>
          <a:p>
            <a:pPr>
              <a:buFont typeface="Wingdings" charset="0"/>
              <a:buNone/>
            </a:pPr>
            <a:endParaRPr lang="en-US" dirty="0">
              <a:solidFill>
                <a:srgbClr val="CC0000"/>
              </a:solidFill>
              <a:latin typeface="Gill Sans MT" charset="0"/>
            </a:endParaRPr>
          </a:p>
          <a:p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28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2414588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>
                <a:solidFill>
                  <a:srgbClr val="CC0000"/>
                </a:solidFill>
                <a:cs typeface="+mn-cs"/>
              </a:rPr>
              <a:t>key idea:</a:t>
            </a:r>
            <a:r>
              <a:rPr lang="en-US" sz="3200">
                <a:solidFill>
                  <a:srgbClr val="CC0000"/>
                </a:solidFill>
                <a:cs typeface="+mn-cs"/>
              </a:rPr>
              <a:t> </a:t>
            </a:r>
          </a:p>
          <a:p>
            <a:pPr>
              <a:defRPr/>
            </a:pPr>
            <a:r>
              <a:rPr lang="en-US">
                <a:cs typeface="+mn-cs"/>
              </a:rPr>
              <a:t>from time-to-time, each node sends its own distance vector estimate to neighbors</a:t>
            </a:r>
          </a:p>
          <a:p>
            <a:pPr>
              <a:defRPr/>
            </a:pPr>
            <a:r>
              <a:rPr lang="en-US">
                <a:cs typeface="+mn-cs"/>
              </a:rPr>
              <a:t>when x receives new DV estimate from neighbor, it updates its own DV using B-F equation:</a:t>
            </a:r>
          </a:p>
        </p:txBody>
      </p:sp>
      <p:sp>
        <p:nvSpPr>
          <p:cNvPr id="135172" name="Rectangle 4"/>
          <p:cNvSpPr>
            <a:spLocks noChangeArrowheads="1"/>
          </p:cNvSpPr>
          <p:nvPr/>
        </p:nvSpPr>
        <p:spPr bwMode="auto">
          <a:xfrm>
            <a:off x="1003300" y="3821113"/>
            <a:ext cx="781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800" i="1">
                <a:solidFill>
                  <a:srgbClr val="CC0000"/>
                </a:solidFill>
                <a:cs typeface="Times New Roman" charset="0"/>
              </a:rPr>
              <a:t>D</a:t>
            </a:r>
            <a:r>
              <a:rPr lang="en-US" sz="2800" i="1" baseline="-30000">
                <a:solidFill>
                  <a:srgbClr val="CC0000"/>
                </a:solidFill>
                <a:cs typeface="Times New Roman" charset="0"/>
              </a:rPr>
              <a:t>x</a:t>
            </a:r>
            <a:r>
              <a:rPr lang="en-US" sz="2800" i="1">
                <a:solidFill>
                  <a:srgbClr val="CC0000"/>
                </a:solidFill>
                <a:cs typeface="Times New Roman" charset="0"/>
              </a:rPr>
              <a:t>(y) ← min</a:t>
            </a:r>
            <a:r>
              <a:rPr lang="en-US" sz="2800" i="1" baseline="-30000">
                <a:solidFill>
                  <a:srgbClr val="CC0000"/>
                </a:solidFill>
                <a:cs typeface="Times New Roman" charset="0"/>
              </a:rPr>
              <a:t>v</a:t>
            </a:r>
            <a:r>
              <a:rPr lang="en-US" sz="2800" i="1">
                <a:solidFill>
                  <a:srgbClr val="CC0000"/>
                </a:solidFill>
                <a:cs typeface="Times New Roman" charset="0"/>
              </a:rPr>
              <a:t>{c(x,v) + D</a:t>
            </a:r>
            <a:r>
              <a:rPr lang="en-US" sz="2800" i="1" baseline="-30000">
                <a:solidFill>
                  <a:srgbClr val="CC0000"/>
                </a:solidFill>
                <a:cs typeface="Times New Roman" charset="0"/>
              </a:rPr>
              <a:t>v</a:t>
            </a:r>
            <a:r>
              <a:rPr lang="en-US" sz="2800" i="1">
                <a:solidFill>
                  <a:srgbClr val="CC0000"/>
                </a:solidFill>
                <a:cs typeface="Times New Roman" charset="0"/>
              </a:rPr>
              <a:t>(y)}  for each node y </a:t>
            </a:r>
            <a:r>
              <a:rPr lang="en-US" sz="2800" i="1">
                <a:solidFill>
                  <a:srgbClr val="CC0000"/>
                </a:solidFill>
                <a:ea typeface="MS Mincho" charset="0"/>
                <a:cs typeface="MS Mincho" charset="0"/>
              </a:rPr>
              <a:t>∊</a:t>
            </a:r>
            <a:r>
              <a:rPr lang="en-US" sz="2800" i="1">
                <a:solidFill>
                  <a:srgbClr val="CC0000"/>
                </a:solidFill>
                <a:cs typeface="Times New Roman" charset="0"/>
              </a:rPr>
              <a:t> N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385763" y="4640263"/>
            <a:ext cx="777240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800" dirty="0">
                <a:latin typeface="Gill Sans MT" charset="0"/>
              </a:rPr>
              <a:t>under minor, natural conditions, the estimate </a:t>
            </a:r>
            <a:r>
              <a:rPr lang="en-US" sz="2800" i="1" dirty="0" err="1">
                <a:latin typeface="Gill Sans MT" charset="0"/>
                <a:cs typeface="Times New Roman" charset="0"/>
              </a:rPr>
              <a:t>D</a:t>
            </a:r>
            <a:r>
              <a:rPr lang="en-US" sz="2800" i="1" baseline="-30000" dirty="0" err="1">
                <a:latin typeface="Gill Sans MT" charset="0"/>
                <a:cs typeface="Times New Roman" charset="0"/>
              </a:rPr>
              <a:t>x</a:t>
            </a:r>
            <a:r>
              <a:rPr lang="en-US" sz="2800" i="1" dirty="0">
                <a:latin typeface="Gill Sans MT" charset="0"/>
                <a:cs typeface="Times New Roman" charset="0"/>
              </a:rPr>
              <a:t>(y) converge to the actual least cost </a:t>
            </a:r>
            <a:r>
              <a:rPr lang="en-US" sz="2800" dirty="0">
                <a:latin typeface="Gill Sans MT" charset="0"/>
              </a:rPr>
              <a:t>d</a:t>
            </a:r>
            <a:r>
              <a:rPr lang="en-US" sz="2800" baseline="-25000" dirty="0">
                <a:latin typeface="Gill Sans MT" charset="0"/>
              </a:rPr>
              <a:t>x</a:t>
            </a:r>
            <a:r>
              <a:rPr lang="en-US" sz="2800" dirty="0">
                <a:latin typeface="Gill Sans MT" charset="0"/>
              </a:rPr>
              <a:t>(y)</a:t>
            </a:r>
            <a:r>
              <a:rPr lang="en-US" sz="2400" dirty="0">
                <a:latin typeface="Gill Sans MT" charset="0"/>
              </a:rPr>
              <a:t> </a:t>
            </a:r>
          </a:p>
        </p:txBody>
      </p:sp>
      <p:pic>
        <p:nvPicPr>
          <p:cNvPr id="135174" name="Picture 7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0668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Distance vector algorithm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417638"/>
            <a:ext cx="3781425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iterative, asynchronous:</a:t>
            </a:r>
            <a:r>
              <a:rPr lang="en-US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>
                <a:latin typeface="Gill Sans MT" charset="0"/>
              </a:rPr>
              <a:t>each local iteration caused by: </a:t>
            </a:r>
          </a:p>
          <a:p>
            <a:r>
              <a:rPr lang="en-US" sz="2400">
                <a:latin typeface="Gill Sans MT" charset="0"/>
              </a:rPr>
              <a:t>local link cost change </a:t>
            </a:r>
          </a:p>
          <a:p>
            <a:r>
              <a:rPr lang="en-US" sz="2400">
                <a:latin typeface="Gill Sans MT" charset="0"/>
              </a:rPr>
              <a:t>DV update message from neighbor</a:t>
            </a:r>
          </a:p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distributed:</a:t>
            </a:r>
          </a:p>
          <a:p>
            <a:r>
              <a:rPr lang="en-US" sz="2400">
                <a:latin typeface="Gill Sans MT" charset="0"/>
              </a:rPr>
              <a:t>each node notifies neighbors </a:t>
            </a:r>
            <a:r>
              <a:rPr lang="en-US" sz="2400" i="1">
                <a:latin typeface="Gill Sans MT" charset="0"/>
              </a:rPr>
              <a:t>only</a:t>
            </a:r>
            <a:r>
              <a:rPr lang="en-US" sz="2400">
                <a:latin typeface="Gill Sans MT" charset="0"/>
              </a:rPr>
              <a:t> when its DV changes</a:t>
            </a:r>
          </a:p>
          <a:p>
            <a:pPr lvl="1"/>
            <a:r>
              <a:rPr lang="en-US" sz="2000">
                <a:latin typeface="Gill Sans MT" charset="0"/>
              </a:rPr>
              <a:t>neighbors then notify their neighbors if necessary</a:t>
            </a:r>
            <a:endParaRPr lang="en-US">
              <a:latin typeface="Gill Sans MT" charset="0"/>
            </a:endParaRPr>
          </a:p>
        </p:txBody>
      </p:sp>
      <p:sp>
        <p:nvSpPr>
          <p:cNvPr id="136196" name="Text Box 4"/>
          <p:cNvSpPr txBox="1">
            <a:spLocks noChangeArrowheads="1"/>
          </p:cNvSpPr>
          <p:nvPr/>
        </p:nvSpPr>
        <p:spPr bwMode="auto">
          <a:xfrm>
            <a:off x="5257800" y="1751013"/>
            <a:ext cx="3524250" cy="414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>
              <a:latin typeface="Times New Roman" charset="0"/>
            </a:endParaRPr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0099"/>
                </a:solidFill>
              </a:rPr>
              <a:t>wait</a:t>
            </a:r>
            <a:r>
              <a:rPr lang="en-US" sz="2000">
                <a:solidFill>
                  <a:srgbClr val="000099"/>
                </a:solidFill>
              </a:rPr>
              <a:t> </a:t>
            </a:r>
            <a:r>
              <a:rPr lang="en-US" sz="2000"/>
              <a:t>for (change in local link cost or msg from neighbor)</a:t>
            </a:r>
          </a:p>
          <a:p>
            <a:pPr>
              <a:spcBef>
                <a:spcPct val="50000"/>
              </a:spcBef>
            </a:pPr>
            <a:endParaRPr lang="en-US" sz="2000"/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0099"/>
                </a:solidFill>
              </a:rPr>
              <a:t>recompute</a:t>
            </a:r>
            <a:r>
              <a:rPr lang="en-US" sz="2000"/>
              <a:t> estimates</a:t>
            </a:r>
          </a:p>
          <a:p>
            <a:pPr>
              <a:spcBef>
                <a:spcPct val="50000"/>
              </a:spcBef>
            </a:pP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if DV to any dest has changed, </a:t>
            </a:r>
            <a:r>
              <a:rPr lang="en-US" i="1">
                <a:solidFill>
                  <a:srgbClr val="000099"/>
                </a:solidFill>
              </a:rPr>
              <a:t>notify</a:t>
            </a:r>
            <a:r>
              <a:rPr lang="en-US" sz="2000"/>
              <a:t> neighbors </a:t>
            </a:r>
            <a:endParaRPr lang="en-US"/>
          </a:p>
          <a:p>
            <a:pPr algn="ctr">
              <a:spcBef>
                <a:spcPct val="50000"/>
              </a:spcBef>
            </a:pPr>
            <a:endParaRPr lang="en-US">
              <a:latin typeface="Times New Roman" charset="0"/>
            </a:endParaRPr>
          </a:p>
        </p:txBody>
      </p:sp>
      <p:sp>
        <p:nvSpPr>
          <p:cNvPr id="136197" name="Line 5"/>
          <p:cNvSpPr>
            <a:spLocks noChangeShapeType="1"/>
          </p:cNvSpPr>
          <p:nvPr/>
        </p:nvSpPr>
        <p:spPr bwMode="auto">
          <a:xfrm>
            <a:off x="6811963" y="3055938"/>
            <a:ext cx="0" cy="5905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198" name="Line 6"/>
          <p:cNvSpPr>
            <a:spLocks noChangeShapeType="1"/>
          </p:cNvSpPr>
          <p:nvPr/>
        </p:nvSpPr>
        <p:spPr bwMode="auto">
          <a:xfrm>
            <a:off x="6791325" y="4075113"/>
            <a:ext cx="0" cy="5905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199" name="Freeform 7"/>
          <p:cNvSpPr>
            <a:spLocks/>
          </p:cNvSpPr>
          <p:nvPr/>
        </p:nvSpPr>
        <p:spPr bwMode="auto">
          <a:xfrm>
            <a:off x="5229225" y="2160588"/>
            <a:ext cx="1552575" cy="3581400"/>
          </a:xfrm>
          <a:custGeom>
            <a:avLst/>
            <a:gdLst>
              <a:gd name="T0" fmla="*/ 2147483647 w 978"/>
              <a:gd name="T1" fmla="*/ 2147483647 h 2256"/>
              <a:gd name="T2" fmla="*/ 2147483647 w 978"/>
              <a:gd name="T3" fmla="*/ 2147483647 h 2256"/>
              <a:gd name="T4" fmla="*/ 0 w 978"/>
              <a:gd name="T5" fmla="*/ 2147483647 h 2256"/>
              <a:gd name="T6" fmla="*/ 0 w 978"/>
              <a:gd name="T7" fmla="*/ 0 h 2256"/>
              <a:gd name="T8" fmla="*/ 2147483647 w 978"/>
              <a:gd name="T9" fmla="*/ 0 h 2256"/>
              <a:gd name="T10" fmla="*/ 2147483647 w 978"/>
              <a:gd name="T11" fmla="*/ 2147483647 h 22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78"/>
              <a:gd name="T19" fmla="*/ 0 h 2256"/>
              <a:gd name="T20" fmla="*/ 978 w 978"/>
              <a:gd name="T21" fmla="*/ 2256 h 225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78" h="2256">
                <a:moveTo>
                  <a:pt x="960" y="2010"/>
                </a:moveTo>
                <a:lnTo>
                  <a:pt x="961" y="2256"/>
                </a:lnTo>
                <a:lnTo>
                  <a:pt x="0" y="2256"/>
                </a:lnTo>
                <a:lnTo>
                  <a:pt x="0" y="0"/>
                </a:lnTo>
                <a:lnTo>
                  <a:pt x="978" y="0"/>
                </a:lnTo>
                <a:lnTo>
                  <a:pt x="978" y="155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4916488" y="1327150"/>
            <a:ext cx="162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each node:</a:t>
            </a:r>
          </a:p>
        </p:txBody>
      </p:sp>
      <p:pic>
        <p:nvPicPr>
          <p:cNvPr id="136201" name="Picture 10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0668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7" name="Rectangle 11"/>
          <p:cNvSpPr>
            <a:spLocks noGrp="1" noChangeArrowheads="1"/>
          </p:cNvSpPr>
          <p:nvPr>
            <p:ph type="title"/>
          </p:nvPr>
        </p:nvSpPr>
        <p:spPr>
          <a:xfrm>
            <a:off x="533400" y="2397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Distance vector algorithm 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22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Line 3"/>
          <p:cNvSpPr>
            <a:spLocks noChangeShapeType="1"/>
          </p:cNvSpPr>
          <p:nvPr/>
        </p:nvSpPr>
        <p:spPr bwMode="auto">
          <a:xfrm>
            <a:off x="1219200" y="1447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20" name="Line 4"/>
          <p:cNvSpPr>
            <a:spLocks noChangeShapeType="1"/>
          </p:cNvSpPr>
          <p:nvPr/>
        </p:nvSpPr>
        <p:spPr bwMode="auto">
          <a:xfrm>
            <a:off x="914400" y="1676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1219200" y="12906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914400" y="167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914400" y="197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914400" y="2281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1219200" y="1671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0  2   7</a:t>
            </a:r>
          </a:p>
        </p:txBody>
      </p:sp>
      <p:sp>
        <p:nvSpPr>
          <p:cNvPr id="137226" name="Text Box 10"/>
          <p:cNvSpPr txBox="1">
            <a:spLocks noChangeArrowheads="1"/>
          </p:cNvSpPr>
          <p:nvPr/>
        </p:nvSpPr>
        <p:spPr bwMode="auto">
          <a:xfrm>
            <a:off x="12192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14478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18288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12192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14478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31" name="Text Box 15"/>
          <p:cNvSpPr txBox="1">
            <a:spLocks noChangeArrowheads="1"/>
          </p:cNvSpPr>
          <p:nvPr/>
        </p:nvSpPr>
        <p:spPr bwMode="auto">
          <a:xfrm>
            <a:off x="18288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32" name="Text Box 16"/>
          <p:cNvSpPr txBox="1">
            <a:spLocks noChangeArrowheads="1"/>
          </p:cNvSpPr>
          <p:nvPr/>
        </p:nvSpPr>
        <p:spPr bwMode="auto">
          <a:xfrm rot="-5400000">
            <a:off x="2650332" y="202644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7233" name="Text Box 17"/>
          <p:cNvSpPr txBox="1">
            <a:spLocks noChangeArrowheads="1"/>
          </p:cNvSpPr>
          <p:nvPr/>
        </p:nvSpPr>
        <p:spPr bwMode="auto">
          <a:xfrm>
            <a:off x="1352550" y="1158875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7234" name="Text Box 18"/>
          <p:cNvSpPr txBox="1">
            <a:spLocks noChangeArrowheads="1"/>
          </p:cNvSpPr>
          <p:nvPr/>
        </p:nvSpPr>
        <p:spPr bwMode="auto">
          <a:xfrm rot="-5400000">
            <a:off x="518319" y="381079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/>
              <a:t>from</a:t>
            </a:r>
          </a:p>
        </p:txBody>
      </p:sp>
      <p:sp>
        <p:nvSpPr>
          <p:cNvPr id="137235" name="Text Box 19"/>
          <p:cNvSpPr txBox="1">
            <a:spLocks noChangeArrowheads="1"/>
          </p:cNvSpPr>
          <p:nvPr/>
        </p:nvSpPr>
        <p:spPr bwMode="auto">
          <a:xfrm rot="-5400000">
            <a:off x="518318" y="5618957"/>
            <a:ext cx="538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7236" name="Line 20"/>
          <p:cNvSpPr>
            <a:spLocks noChangeShapeType="1"/>
          </p:cNvSpPr>
          <p:nvPr/>
        </p:nvSpPr>
        <p:spPr bwMode="auto">
          <a:xfrm>
            <a:off x="3276600" y="1447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37" name="Line 21"/>
          <p:cNvSpPr>
            <a:spLocks noChangeShapeType="1"/>
          </p:cNvSpPr>
          <p:nvPr/>
        </p:nvSpPr>
        <p:spPr bwMode="auto">
          <a:xfrm>
            <a:off x="2971800" y="1676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38" name="Text Box 22"/>
          <p:cNvSpPr txBox="1">
            <a:spLocks noChangeArrowheads="1"/>
          </p:cNvSpPr>
          <p:nvPr/>
        </p:nvSpPr>
        <p:spPr bwMode="auto">
          <a:xfrm>
            <a:off x="3276600" y="12906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7239" name="Text Box 23"/>
          <p:cNvSpPr txBox="1">
            <a:spLocks noChangeArrowheads="1"/>
          </p:cNvSpPr>
          <p:nvPr/>
        </p:nvSpPr>
        <p:spPr bwMode="auto">
          <a:xfrm>
            <a:off x="2971800" y="167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7240" name="Text Box 24"/>
          <p:cNvSpPr txBox="1">
            <a:spLocks noChangeArrowheads="1"/>
          </p:cNvSpPr>
          <p:nvPr/>
        </p:nvSpPr>
        <p:spPr bwMode="auto">
          <a:xfrm>
            <a:off x="2971800" y="197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7241" name="Text Box 25"/>
          <p:cNvSpPr txBox="1">
            <a:spLocks noChangeArrowheads="1"/>
          </p:cNvSpPr>
          <p:nvPr/>
        </p:nvSpPr>
        <p:spPr bwMode="auto">
          <a:xfrm>
            <a:off x="2971800" y="2281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7242" name="Text Box 26"/>
          <p:cNvSpPr txBox="1">
            <a:spLocks noChangeArrowheads="1"/>
          </p:cNvSpPr>
          <p:nvPr/>
        </p:nvSpPr>
        <p:spPr bwMode="auto">
          <a:xfrm>
            <a:off x="3297238" y="16716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</a:t>
            </a:r>
          </a:p>
        </p:txBody>
      </p:sp>
      <p:sp>
        <p:nvSpPr>
          <p:cNvPr id="137243" name="Line 29"/>
          <p:cNvSpPr>
            <a:spLocks noChangeShapeType="1"/>
          </p:cNvSpPr>
          <p:nvPr/>
        </p:nvSpPr>
        <p:spPr bwMode="auto">
          <a:xfrm>
            <a:off x="1219200" y="3200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44" name="Line 30"/>
          <p:cNvSpPr>
            <a:spLocks noChangeShapeType="1"/>
          </p:cNvSpPr>
          <p:nvPr/>
        </p:nvSpPr>
        <p:spPr bwMode="auto">
          <a:xfrm>
            <a:off x="914400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45" name="Text Box 31"/>
          <p:cNvSpPr txBox="1">
            <a:spLocks noChangeArrowheads="1"/>
          </p:cNvSpPr>
          <p:nvPr/>
        </p:nvSpPr>
        <p:spPr bwMode="auto">
          <a:xfrm>
            <a:off x="1219200" y="30432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7246" name="Text Box 32"/>
          <p:cNvSpPr txBox="1">
            <a:spLocks noChangeArrowheads="1"/>
          </p:cNvSpPr>
          <p:nvPr/>
        </p:nvSpPr>
        <p:spPr bwMode="auto">
          <a:xfrm>
            <a:off x="914400" y="342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7247" name="Text Box 33"/>
          <p:cNvSpPr txBox="1">
            <a:spLocks noChangeArrowheads="1"/>
          </p:cNvSpPr>
          <p:nvPr/>
        </p:nvSpPr>
        <p:spPr bwMode="auto">
          <a:xfrm>
            <a:off x="914400" y="3729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7248" name="Text Box 34"/>
          <p:cNvSpPr txBox="1">
            <a:spLocks noChangeArrowheads="1"/>
          </p:cNvSpPr>
          <p:nvPr/>
        </p:nvSpPr>
        <p:spPr bwMode="auto">
          <a:xfrm>
            <a:off x="914400" y="4033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7249" name="Text Box 35"/>
          <p:cNvSpPr txBox="1">
            <a:spLocks noChangeArrowheads="1"/>
          </p:cNvSpPr>
          <p:nvPr/>
        </p:nvSpPr>
        <p:spPr bwMode="auto">
          <a:xfrm>
            <a:off x="1524000" y="34242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50" name="Text Box 36"/>
          <p:cNvSpPr txBox="1">
            <a:spLocks noChangeArrowheads="1"/>
          </p:cNvSpPr>
          <p:nvPr/>
        </p:nvSpPr>
        <p:spPr bwMode="auto">
          <a:xfrm>
            <a:off x="1828800" y="34242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51" name="Text Box 37"/>
          <p:cNvSpPr txBox="1">
            <a:spLocks noChangeArrowheads="1"/>
          </p:cNvSpPr>
          <p:nvPr/>
        </p:nvSpPr>
        <p:spPr bwMode="auto">
          <a:xfrm>
            <a:off x="12192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52" name="Text Box 38"/>
          <p:cNvSpPr txBox="1">
            <a:spLocks noChangeArrowheads="1"/>
          </p:cNvSpPr>
          <p:nvPr/>
        </p:nvSpPr>
        <p:spPr bwMode="auto">
          <a:xfrm>
            <a:off x="14478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53" name="Text Box 39"/>
          <p:cNvSpPr txBox="1">
            <a:spLocks noChangeArrowheads="1"/>
          </p:cNvSpPr>
          <p:nvPr/>
        </p:nvSpPr>
        <p:spPr bwMode="auto">
          <a:xfrm>
            <a:off x="18288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54" name="Text Box 40"/>
          <p:cNvSpPr txBox="1">
            <a:spLocks noChangeArrowheads="1"/>
          </p:cNvSpPr>
          <p:nvPr/>
        </p:nvSpPr>
        <p:spPr bwMode="auto">
          <a:xfrm>
            <a:off x="1341438" y="2933700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7255" name="Line 41"/>
          <p:cNvSpPr>
            <a:spLocks noChangeShapeType="1"/>
          </p:cNvSpPr>
          <p:nvPr/>
        </p:nvSpPr>
        <p:spPr bwMode="auto">
          <a:xfrm>
            <a:off x="1219200" y="5029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56" name="Line 42"/>
          <p:cNvSpPr>
            <a:spLocks noChangeShapeType="1"/>
          </p:cNvSpPr>
          <p:nvPr/>
        </p:nvSpPr>
        <p:spPr bwMode="auto">
          <a:xfrm>
            <a:off x="914400" y="5257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57" name="Text Box 43"/>
          <p:cNvSpPr txBox="1">
            <a:spLocks noChangeArrowheads="1"/>
          </p:cNvSpPr>
          <p:nvPr/>
        </p:nvSpPr>
        <p:spPr bwMode="auto">
          <a:xfrm>
            <a:off x="1219200" y="48720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7258" name="Text Box 44"/>
          <p:cNvSpPr txBox="1">
            <a:spLocks noChangeArrowheads="1"/>
          </p:cNvSpPr>
          <p:nvPr/>
        </p:nvSpPr>
        <p:spPr bwMode="auto">
          <a:xfrm>
            <a:off x="914400" y="5253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7259" name="Text Box 45"/>
          <p:cNvSpPr txBox="1">
            <a:spLocks noChangeArrowheads="1"/>
          </p:cNvSpPr>
          <p:nvPr/>
        </p:nvSpPr>
        <p:spPr bwMode="auto">
          <a:xfrm>
            <a:off x="914400" y="5557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7260" name="Text Box 46"/>
          <p:cNvSpPr txBox="1">
            <a:spLocks noChangeArrowheads="1"/>
          </p:cNvSpPr>
          <p:nvPr/>
        </p:nvSpPr>
        <p:spPr bwMode="auto">
          <a:xfrm>
            <a:off x="914400" y="5862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7261" name="Text Box 47"/>
          <p:cNvSpPr txBox="1">
            <a:spLocks noChangeArrowheads="1"/>
          </p:cNvSpPr>
          <p:nvPr/>
        </p:nvSpPr>
        <p:spPr bwMode="auto">
          <a:xfrm>
            <a:off x="1219200" y="56388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62" name="Text Box 48"/>
          <p:cNvSpPr txBox="1">
            <a:spLocks noChangeArrowheads="1"/>
          </p:cNvSpPr>
          <p:nvPr/>
        </p:nvSpPr>
        <p:spPr bwMode="auto">
          <a:xfrm>
            <a:off x="1447800" y="5634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63" name="Text Box 49"/>
          <p:cNvSpPr txBox="1">
            <a:spLocks noChangeArrowheads="1"/>
          </p:cNvSpPr>
          <p:nvPr/>
        </p:nvSpPr>
        <p:spPr bwMode="auto">
          <a:xfrm>
            <a:off x="1828800" y="5634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7264" name="Text Box 50"/>
          <p:cNvSpPr txBox="1">
            <a:spLocks noChangeArrowheads="1"/>
          </p:cNvSpPr>
          <p:nvPr/>
        </p:nvSpPr>
        <p:spPr bwMode="auto">
          <a:xfrm>
            <a:off x="12192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7</a:t>
            </a:r>
          </a:p>
        </p:txBody>
      </p:sp>
      <p:sp>
        <p:nvSpPr>
          <p:cNvPr id="137265" name="Text Box 51"/>
          <p:cNvSpPr txBox="1">
            <a:spLocks noChangeArrowheads="1"/>
          </p:cNvSpPr>
          <p:nvPr/>
        </p:nvSpPr>
        <p:spPr bwMode="auto">
          <a:xfrm>
            <a:off x="14478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1</a:t>
            </a:r>
          </a:p>
        </p:txBody>
      </p:sp>
      <p:sp>
        <p:nvSpPr>
          <p:cNvPr id="137266" name="Text Box 52"/>
          <p:cNvSpPr txBox="1">
            <a:spLocks noChangeArrowheads="1"/>
          </p:cNvSpPr>
          <p:nvPr/>
        </p:nvSpPr>
        <p:spPr bwMode="auto">
          <a:xfrm>
            <a:off x="18288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</a:t>
            </a:r>
          </a:p>
        </p:txBody>
      </p:sp>
      <p:sp>
        <p:nvSpPr>
          <p:cNvPr id="137267" name="Text Box 53"/>
          <p:cNvSpPr txBox="1">
            <a:spLocks noChangeArrowheads="1"/>
          </p:cNvSpPr>
          <p:nvPr/>
        </p:nvSpPr>
        <p:spPr bwMode="auto">
          <a:xfrm>
            <a:off x="1363663" y="4740275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7268" name="Text Box 54"/>
          <p:cNvSpPr txBox="1">
            <a:spLocks noChangeArrowheads="1"/>
          </p:cNvSpPr>
          <p:nvPr/>
        </p:nvSpPr>
        <p:spPr bwMode="auto">
          <a:xfrm>
            <a:off x="1219200" y="3500438"/>
            <a:ext cx="94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  <a:p>
            <a:r>
              <a:rPr lang="en-US" sz="1800"/>
              <a:t>2   0   1</a:t>
            </a:r>
          </a:p>
        </p:txBody>
      </p:sp>
      <p:sp>
        <p:nvSpPr>
          <p:cNvPr id="137269" name="Text Box 55"/>
          <p:cNvSpPr txBox="1">
            <a:spLocks noChangeArrowheads="1"/>
          </p:cNvSpPr>
          <p:nvPr/>
        </p:nvSpPr>
        <p:spPr bwMode="auto">
          <a:xfrm>
            <a:off x="1219200" y="52578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 ∞  ∞</a:t>
            </a:r>
          </a:p>
        </p:txBody>
      </p:sp>
      <p:sp>
        <p:nvSpPr>
          <p:cNvPr id="137270" name="Text Box 56"/>
          <p:cNvSpPr txBox="1">
            <a:spLocks noChangeArrowheads="1"/>
          </p:cNvSpPr>
          <p:nvPr/>
        </p:nvSpPr>
        <p:spPr bwMode="auto">
          <a:xfrm>
            <a:off x="3260725" y="2006600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2   0   1</a:t>
            </a:r>
          </a:p>
        </p:txBody>
      </p:sp>
      <p:sp>
        <p:nvSpPr>
          <p:cNvPr id="137271" name="Text Box 57"/>
          <p:cNvSpPr txBox="1">
            <a:spLocks noChangeArrowheads="1"/>
          </p:cNvSpPr>
          <p:nvPr/>
        </p:nvSpPr>
        <p:spPr bwMode="auto">
          <a:xfrm>
            <a:off x="3260725" y="2322513"/>
            <a:ext cx="94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7   1   0</a:t>
            </a:r>
          </a:p>
        </p:txBody>
      </p:sp>
      <p:sp>
        <p:nvSpPr>
          <p:cNvPr id="137272" name="Line 58"/>
          <p:cNvSpPr>
            <a:spLocks noChangeShapeType="1"/>
          </p:cNvSpPr>
          <p:nvPr/>
        </p:nvSpPr>
        <p:spPr bwMode="auto">
          <a:xfrm>
            <a:off x="2209800" y="1981200"/>
            <a:ext cx="685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3" name="Line 59"/>
          <p:cNvSpPr>
            <a:spLocks noChangeShapeType="1"/>
          </p:cNvSpPr>
          <p:nvPr/>
        </p:nvSpPr>
        <p:spPr bwMode="auto">
          <a:xfrm>
            <a:off x="2133600" y="2057400"/>
            <a:ext cx="6858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4" name="Line 60"/>
          <p:cNvSpPr>
            <a:spLocks noChangeShapeType="1"/>
          </p:cNvSpPr>
          <p:nvPr/>
        </p:nvSpPr>
        <p:spPr bwMode="auto">
          <a:xfrm flipV="1">
            <a:off x="2133600" y="25146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5" name="Line 61"/>
          <p:cNvSpPr>
            <a:spLocks noChangeShapeType="1"/>
          </p:cNvSpPr>
          <p:nvPr/>
        </p:nvSpPr>
        <p:spPr bwMode="auto">
          <a:xfrm>
            <a:off x="2133600" y="41148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6" name="Line 62"/>
          <p:cNvSpPr>
            <a:spLocks noChangeShapeType="1"/>
          </p:cNvSpPr>
          <p:nvPr/>
        </p:nvSpPr>
        <p:spPr bwMode="auto">
          <a:xfrm flipV="1">
            <a:off x="2133600" y="2590800"/>
            <a:ext cx="8382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7" name="Line 63"/>
          <p:cNvSpPr>
            <a:spLocks noChangeShapeType="1"/>
          </p:cNvSpPr>
          <p:nvPr/>
        </p:nvSpPr>
        <p:spPr bwMode="auto">
          <a:xfrm flipV="1">
            <a:off x="2209800" y="4343400"/>
            <a:ext cx="762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8" name="Line 64"/>
          <p:cNvSpPr>
            <a:spLocks noChangeShapeType="1"/>
          </p:cNvSpPr>
          <p:nvPr/>
        </p:nvSpPr>
        <p:spPr bwMode="auto">
          <a:xfrm>
            <a:off x="609600" y="6345238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279" name="Text Box 65"/>
          <p:cNvSpPr txBox="1">
            <a:spLocks noChangeArrowheads="1"/>
          </p:cNvSpPr>
          <p:nvPr/>
        </p:nvSpPr>
        <p:spPr bwMode="auto">
          <a:xfrm>
            <a:off x="6069013" y="6137275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time</a:t>
            </a:r>
          </a:p>
        </p:txBody>
      </p:sp>
      <p:grpSp>
        <p:nvGrpSpPr>
          <p:cNvPr id="137280" name="Group 66"/>
          <p:cNvGrpSpPr>
            <a:grpSpLocks/>
          </p:cNvGrpSpPr>
          <p:nvPr/>
        </p:nvGrpSpPr>
        <p:grpSpPr bwMode="auto">
          <a:xfrm>
            <a:off x="6632575" y="2911475"/>
            <a:ext cx="2184400" cy="1212850"/>
            <a:chOff x="2352" y="0"/>
            <a:chExt cx="1376" cy="764"/>
          </a:xfrm>
        </p:grpSpPr>
        <p:sp>
          <p:nvSpPr>
            <p:cNvPr id="137296" name="Freeform 67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7297" name="Group 68"/>
            <p:cNvGrpSpPr>
              <a:grpSpLocks/>
            </p:cNvGrpSpPr>
            <p:nvPr/>
          </p:nvGrpSpPr>
          <p:grpSpPr bwMode="auto"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37298" name="Freeform 69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299" name="Oval 70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300" name="Line 71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301" name="Line 72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302" name="Rectangle 73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7303" name="Oval 74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304" name="Freeform 75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305" name="Freeform 76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7306" name="Group 77"/>
              <p:cNvGrpSpPr>
                <a:grpSpLocks/>
              </p:cNvGrpSpPr>
              <p:nvPr/>
            </p:nvGrpSpPr>
            <p:grpSpPr bwMode="auto"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37328" name="Rectangle 7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2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x</a:t>
                  </a:r>
                  <a:endParaRPr lang="en-US"/>
                </a:p>
              </p:txBody>
            </p:sp>
          </p:grpSp>
          <p:grpSp>
            <p:nvGrpSpPr>
              <p:cNvPr id="137307" name="Group 80"/>
              <p:cNvGrpSpPr>
                <a:grpSpLocks/>
              </p:cNvGrpSpPr>
              <p:nvPr/>
            </p:nvGrpSpPr>
            <p:grpSpPr bwMode="auto"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37320" name="Oval 81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21" name="Line 82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22" name="Line 83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23" name="Rectangle 84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7324" name="Oval 85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7325" name="Group 86"/>
                <p:cNvGrpSpPr>
                  <a:grpSpLocks/>
                </p:cNvGrpSpPr>
                <p:nvPr/>
              </p:nvGrpSpPr>
              <p:grpSpPr bwMode="auto"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37326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7327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/>
                      <a:t>z</a:t>
                    </a:r>
                  </a:p>
                </p:txBody>
              </p:sp>
            </p:grpSp>
          </p:grpSp>
          <p:sp>
            <p:nvSpPr>
              <p:cNvPr id="137308" name="Text Box 89"/>
              <p:cNvSpPr txBox="1">
                <a:spLocks noChangeArrowheads="1"/>
              </p:cNvSpPr>
              <p:nvPr/>
            </p:nvSpPr>
            <p:spPr bwMode="auto"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1</a:t>
                </a:r>
                <a:endParaRPr lang="en-US"/>
              </a:p>
            </p:txBody>
          </p:sp>
          <p:sp>
            <p:nvSpPr>
              <p:cNvPr id="137309" name="Text Box 90"/>
              <p:cNvSpPr txBox="1">
                <a:spLocks noChangeArrowheads="1"/>
              </p:cNvSpPr>
              <p:nvPr/>
            </p:nvSpPr>
            <p:spPr bwMode="auto"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2</a:t>
                </a:r>
                <a:endParaRPr lang="en-US"/>
              </a:p>
            </p:txBody>
          </p:sp>
          <p:sp>
            <p:nvSpPr>
              <p:cNvPr id="137310" name="Text Box 91"/>
              <p:cNvSpPr txBox="1">
                <a:spLocks noChangeArrowheads="1"/>
              </p:cNvSpPr>
              <p:nvPr/>
            </p:nvSpPr>
            <p:spPr bwMode="auto"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7</a:t>
                </a:r>
                <a:endParaRPr lang="en-US"/>
              </a:p>
            </p:txBody>
          </p:sp>
          <p:grpSp>
            <p:nvGrpSpPr>
              <p:cNvPr id="137311" name="Group 92"/>
              <p:cNvGrpSpPr>
                <a:grpSpLocks/>
              </p:cNvGrpSpPr>
              <p:nvPr/>
            </p:nvGrpSpPr>
            <p:grpSpPr bwMode="auto"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37312" name="Oval 93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13" name="Line 94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14" name="Line 95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315" name="Rectangle 96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7316" name="Oval 97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7317" name="Group 98"/>
                <p:cNvGrpSpPr>
                  <a:grpSpLocks/>
                </p:cNvGrpSpPr>
                <p:nvPr/>
              </p:nvGrpSpPr>
              <p:grpSpPr bwMode="auto"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37318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7319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000"/>
                      <a:t>y</a:t>
                    </a:r>
                    <a:endParaRPr lang="en-US"/>
                  </a:p>
                </p:txBody>
              </p:sp>
            </p:grpSp>
          </p:grpSp>
        </p:grpSp>
      </p:grpSp>
      <p:sp>
        <p:nvSpPr>
          <p:cNvPr id="137281" name="Text Box 101"/>
          <p:cNvSpPr txBox="1">
            <a:spLocks noChangeArrowheads="1"/>
          </p:cNvSpPr>
          <p:nvPr/>
        </p:nvSpPr>
        <p:spPr bwMode="auto">
          <a:xfrm>
            <a:off x="263525" y="1104900"/>
            <a:ext cx="920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x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7282" name="Oval 104"/>
          <p:cNvSpPr>
            <a:spLocks noChangeArrowheads="1"/>
          </p:cNvSpPr>
          <p:nvPr/>
        </p:nvSpPr>
        <p:spPr bwMode="auto">
          <a:xfrm>
            <a:off x="1219200" y="16764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83" name="Oval 105"/>
          <p:cNvSpPr>
            <a:spLocks noChangeArrowheads="1"/>
          </p:cNvSpPr>
          <p:nvPr/>
        </p:nvSpPr>
        <p:spPr bwMode="auto">
          <a:xfrm>
            <a:off x="1219200" y="37338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84" name="Oval 106"/>
          <p:cNvSpPr>
            <a:spLocks noChangeArrowheads="1"/>
          </p:cNvSpPr>
          <p:nvPr/>
        </p:nvSpPr>
        <p:spPr bwMode="auto">
          <a:xfrm>
            <a:off x="1219200" y="59436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85" name="Oval 107"/>
          <p:cNvSpPr>
            <a:spLocks noChangeArrowheads="1"/>
          </p:cNvSpPr>
          <p:nvPr/>
        </p:nvSpPr>
        <p:spPr bwMode="auto">
          <a:xfrm>
            <a:off x="3297238" y="16764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172" name="Rectangle 108"/>
          <p:cNvSpPr>
            <a:spLocks noChangeArrowheads="1"/>
          </p:cNvSpPr>
          <p:nvPr/>
        </p:nvSpPr>
        <p:spPr bwMode="auto">
          <a:xfrm>
            <a:off x="1590675" y="187325"/>
            <a:ext cx="431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fr-FR">
                <a:solidFill>
                  <a:srgbClr val="000000"/>
                </a:solidFill>
                <a:cs typeface="Times New Roman" charset="0"/>
              </a:rPr>
              <a:t>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x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 = min{c(x,y) + 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y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(y), c(x,z) + 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z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(y)} </a:t>
            </a:r>
            <a:br>
              <a:rPr lang="fr-FR">
                <a:solidFill>
                  <a:srgbClr val="000000"/>
                </a:solidFill>
                <a:cs typeface="Times New Roman" charset="0"/>
              </a:rPr>
            </a:br>
            <a:r>
              <a:rPr lang="fr-FR">
                <a:solidFill>
                  <a:srgbClr val="000000"/>
                </a:solidFill>
                <a:cs typeface="Times New Roman" charset="0"/>
              </a:rPr>
              <a:t>             = min{2+0 , 7+1} = 2</a:t>
            </a:r>
          </a:p>
        </p:txBody>
      </p:sp>
      <p:sp>
        <p:nvSpPr>
          <p:cNvPr id="728173" name="Line 109"/>
          <p:cNvSpPr>
            <a:spLocks noChangeShapeType="1"/>
          </p:cNvSpPr>
          <p:nvPr/>
        </p:nvSpPr>
        <p:spPr bwMode="auto">
          <a:xfrm flipH="1">
            <a:off x="3760788" y="809625"/>
            <a:ext cx="809625" cy="966788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28174" name="Rectangle 110"/>
          <p:cNvSpPr>
            <a:spLocks noChangeArrowheads="1"/>
          </p:cNvSpPr>
          <p:nvPr/>
        </p:nvSpPr>
        <p:spPr bwMode="auto">
          <a:xfrm>
            <a:off x="6384925" y="28575"/>
            <a:ext cx="26670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fr-FR" i="1"/>
              <a:t>D</a:t>
            </a:r>
            <a:r>
              <a:rPr lang="fr-FR" i="1" baseline="-25000"/>
              <a:t>x</a:t>
            </a:r>
            <a:r>
              <a:rPr lang="fr-FR" i="1"/>
              <a:t>(z) = </a:t>
            </a:r>
            <a:r>
              <a:rPr lang="fr-FR"/>
              <a:t>min{</a:t>
            </a:r>
            <a:r>
              <a:rPr lang="fr-FR" i="1"/>
              <a:t>c(x,y) + </a:t>
            </a:r>
            <a:br>
              <a:rPr lang="fr-FR" i="1"/>
            </a:br>
            <a:r>
              <a:rPr lang="fr-FR" i="1"/>
              <a:t>      D</a:t>
            </a:r>
            <a:r>
              <a:rPr lang="fr-FR" i="1" baseline="-25000"/>
              <a:t>y</a:t>
            </a:r>
            <a:r>
              <a:rPr lang="fr-FR" i="1"/>
              <a:t>(z), c(x,z) + D</a:t>
            </a:r>
            <a:r>
              <a:rPr lang="fr-FR" i="1" baseline="-25000"/>
              <a:t>z</a:t>
            </a:r>
            <a:r>
              <a:rPr lang="fr-FR" i="1"/>
              <a:t>(z)</a:t>
            </a:r>
            <a:r>
              <a:rPr lang="fr-FR"/>
              <a:t>} </a:t>
            </a:r>
          </a:p>
          <a:p>
            <a:pPr algn="just">
              <a:lnSpc>
                <a:spcPct val="120000"/>
              </a:lnSpc>
            </a:pPr>
            <a:r>
              <a:rPr lang="fr-FR"/>
              <a:t>= min{2+1 , 7+0} = 3</a:t>
            </a:r>
          </a:p>
        </p:txBody>
      </p:sp>
      <p:sp>
        <p:nvSpPr>
          <p:cNvPr id="728175" name="Line 111"/>
          <p:cNvSpPr>
            <a:spLocks noChangeShapeType="1"/>
          </p:cNvSpPr>
          <p:nvPr/>
        </p:nvSpPr>
        <p:spPr bwMode="auto">
          <a:xfrm flipH="1">
            <a:off x="4179888" y="482600"/>
            <a:ext cx="2586037" cy="13335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28176" name="Text Box 112"/>
          <p:cNvSpPr txBox="1">
            <a:spLocks noChangeArrowheads="1"/>
          </p:cNvSpPr>
          <p:nvPr/>
        </p:nvSpPr>
        <p:spPr bwMode="auto">
          <a:xfrm>
            <a:off x="3922713" y="16748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</a:t>
            </a:r>
          </a:p>
        </p:txBody>
      </p:sp>
      <p:sp>
        <p:nvSpPr>
          <p:cNvPr id="728177" name="Text Box 113"/>
          <p:cNvSpPr txBox="1">
            <a:spLocks noChangeArrowheads="1"/>
          </p:cNvSpPr>
          <p:nvPr/>
        </p:nvSpPr>
        <p:spPr bwMode="auto">
          <a:xfrm>
            <a:off x="3579813" y="1679575"/>
            <a:ext cx="34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</a:t>
            </a:r>
          </a:p>
        </p:txBody>
      </p:sp>
      <p:sp>
        <p:nvSpPr>
          <p:cNvPr id="137292" name="Text Box 114"/>
          <p:cNvSpPr txBox="1">
            <a:spLocks noChangeArrowheads="1"/>
          </p:cNvSpPr>
          <p:nvPr/>
        </p:nvSpPr>
        <p:spPr bwMode="auto">
          <a:xfrm>
            <a:off x="292100" y="2851150"/>
            <a:ext cx="920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y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7293" name="Text Box 115"/>
          <p:cNvSpPr txBox="1">
            <a:spLocks noChangeArrowheads="1"/>
          </p:cNvSpPr>
          <p:nvPr/>
        </p:nvSpPr>
        <p:spPr bwMode="auto">
          <a:xfrm>
            <a:off x="311150" y="4699000"/>
            <a:ext cx="9080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z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7294" name="Text Box 117"/>
          <p:cNvSpPr txBox="1">
            <a:spLocks noChangeArrowheads="1"/>
          </p:cNvSpPr>
          <p:nvPr/>
        </p:nvSpPr>
        <p:spPr bwMode="auto">
          <a:xfrm>
            <a:off x="3413125" y="1143000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7295" name="Text Box 118"/>
          <p:cNvSpPr txBox="1">
            <a:spLocks noChangeArrowheads="1"/>
          </p:cNvSpPr>
          <p:nvPr/>
        </p:nvSpPr>
        <p:spPr bwMode="auto">
          <a:xfrm rot="-5400000">
            <a:off x="561182" y="2067719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11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7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172" grpId="0"/>
      <p:bldP spid="728173" grpId="0" animBg="1"/>
      <p:bldP spid="728174" grpId="0"/>
      <p:bldP spid="728175" grpId="0" animBg="1"/>
      <p:bldP spid="728176" grpId="0"/>
      <p:bldP spid="7281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Line 20"/>
          <p:cNvSpPr>
            <a:spLocks noChangeShapeType="1"/>
          </p:cNvSpPr>
          <p:nvPr/>
        </p:nvSpPr>
        <p:spPr bwMode="auto">
          <a:xfrm>
            <a:off x="5486400" y="1524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44" name="Line 21"/>
          <p:cNvSpPr>
            <a:spLocks noChangeShapeType="1"/>
          </p:cNvSpPr>
          <p:nvPr/>
        </p:nvSpPr>
        <p:spPr bwMode="auto">
          <a:xfrm>
            <a:off x="5181600" y="1752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45" name="Text Box 22"/>
          <p:cNvSpPr txBox="1">
            <a:spLocks noChangeArrowheads="1"/>
          </p:cNvSpPr>
          <p:nvPr/>
        </p:nvSpPr>
        <p:spPr bwMode="auto">
          <a:xfrm>
            <a:off x="5486400" y="13668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246" name="Text Box 23"/>
          <p:cNvSpPr txBox="1">
            <a:spLocks noChangeArrowheads="1"/>
          </p:cNvSpPr>
          <p:nvPr/>
        </p:nvSpPr>
        <p:spPr bwMode="auto">
          <a:xfrm>
            <a:off x="5181600" y="1747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247" name="Text Box 24"/>
          <p:cNvSpPr txBox="1">
            <a:spLocks noChangeArrowheads="1"/>
          </p:cNvSpPr>
          <p:nvPr/>
        </p:nvSpPr>
        <p:spPr bwMode="auto">
          <a:xfrm>
            <a:off x="5181600" y="2052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248" name="Text Box 25"/>
          <p:cNvSpPr txBox="1">
            <a:spLocks noChangeArrowheads="1"/>
          </p:cNvSpPr>
          <p:nvPr/>
        </p:nvSpPr>
        <p:spPr bwMode="auto">
          <a:xfrm>
            <a:off x="5181600" y="2357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249" name="Text Box 26"/>
          <p:cNvSpPr txBox="1">
            <a:spLocks noChangeArrowheads="1"/>
          </p:cNvSpPr>
          <p:nvPr/>
        </p:nvSpPr>
        <p:spPr bwMode="auto">
          <a:xfrm>
            <a:off x="5486400" y="17478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0  2   3</a:t>
            </a:r>
          </a:p>
        </p:txBody>
      </p:sp>
      <p:sp>
        <p:nvSpPr>
          <p:cNvPr id="138250" name="Text Box 27"/>
          <p:cNvSpPr txBox="1">
            <a:spLocks noChangeArrowheads="1"/>
          </p:cNvSpPr>
          <p:nvPr/>
        </p:nvSpPr>
        <p:spPr bwMode="auto">
          <a:xfrm rot="-5400000">
            <a:off x="4820443" y="2167732"/>
            <a:ext cx="538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251" name="Text Box 28"/>
          <p:cNvSpPr txBox="1">
            <a:spLocks noChangeArrowheads="1"/>
          </p:cNvSpPr>
          <p:nvPr/>
        </p:nvSpPr>
        <p:spPr bwMode="auto">
          <a:xfrm>
            <a:off x="5608638" y="1223963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252" name="Line 50"/>
          <p:cNvSpPr>
            <a:spLocks noChangeShapeType="1"/>
          </p:cNvSpPr>
          <p:nvPr/>
        </p:nvSpPr>
        <p:spPr bwMode="auto">
          <a:xfrm>
            <a:off x="3276600" y="3200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53" name="Line 51"/>
          <p:cNvSpPr>
            <a:spLocks noChangeShapeType="1"/>
          </p:cNvSpPr>
          <p:nvPr/>
        </p:nvSpPr>
        <p:spPr bwMode="auto">
          <a:xfrm>
            <a:off x="2971800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54" name="Text Box 52"/>
          <p:cNvSpPr txBox="1">
            <a:spLocks noChangeArrowheads="1"/>
          </p:cNvSpPr>
          <p:nvPr/>
        </p:nvSpPr>
        <p:spPr bwMode="auto">
          <a:xfrm>
            <a:off x="3276600" y="30432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255" name="Text Box 53"/>
          <p:cNvSpPr txBox="1">
            <a:spLocks noChangeArrowheads="1"/>
          </p:cNvSpPr>
          <p:nvPr/>
        </p:nvSpPr>
        <p:spPr bwMode="auto">
          <a:xfrm>
            <a:off x="2971800" y="342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256" name="Text Box 54"/>
          <p:cNvSpPr txBox="1">
            <a:spLocks noChangeArrowheads="1"/>
          </p:cNvSpPr>
          <p:nvPr/>
        </p:nvSpPr>
        <p:spPr bwMode="auto">
          <a:xfrm>
            <a:off x="2971800" y="3729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257" name="Text Box 55"/>
          <p:cNvSpPr txBox="1">
            <a:spLocks noChangeArrowheads="1"/>
          </p:cNvSpPr>
          <p:nvPr/>
        </p:nvSpPr>
        <p:spPr bwMode="auto">
          <a:xfrm>
            <a:off x="2971800" y="4033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258" name="Text Box 56"/>
          <p:cNvSpPr txBox="1">
            <a:spLocks noChangeArrowheads="1"/>
          </p:cNvSpPr>
          <p:nvPr/>
        </p:nvSpPr>
        <p:spPr bwMode="auto">
          <a:xfrm>
            <a:off x="3276600" y="34242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0  2   7</a:t>
            </a:r>
          </a:p>
        </p:txBody>
      </p:sp>
      <p:sp>
        <p:nvSpPr>
          <p:cNvPr id="138259" name="Text Box 57"/>
          <p:cNvSpPr txBox="1">
            <a:spLocks noChangeArrowheads="1"/>
          </p:cNvSpPr>
          <p:nvPr/>
        </p:nvSpPr>
        <p:spPr bwMode="auto">
          <a:xfrm rot="-5400000">
            <a:off x="2643981" y="3821907"/>
            <a:ext cx="538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260" name="Text Box 58"/>
          <p:cNvSpPr txBox="1">
            <a:spLocks noChangeArrowheads="1"/>
          </p:cNvSpPr>
          <p:nvPr/>
        </p:nvSpPr>
        <p:spPr bwMode="auto">
          <a:xfrm>
            <a:off x="3421063" y="2900363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261" name="Line 59"/>
          <p:cNvSpPr>
            <a:spLocks noChangeShapeType="1"/>
          </p:cNvSpPr>
          <p:nvPr/>
        </p:nvSpPr>
        <p:spPr bwMode="auto">
          <a:xfrm>
            <a:off x="5486400" y="3276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62" name="Line 60"/>
          <p:cNvSpPr>
            <a:spLocks noChangeShapeType="1"/>
          </p:cNvSpPr>
          <p:nvPr/>
        </p:nvSpPr>
        <p:spPr bwMode="auto">
          <a:xfrm>
            <a:off x="5181600" y="3505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63" name="Text Box 61"/>
          <p:cNvSpPr txBox="1">
            <a:spLocks noChangeArrowheads="1"/>
          </p:cNvSpPr>
          <p:nvPr/>
        </p:nvSpPr>
        <p:spPr bwMode="auto">
          <a:xfrm>
            <a:off x="5486400" y="31194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264" name="Text Box 62"/>
          <p:cNvSpPr txBox="1">
            <a:spLocks noChangeArrowheads="1"/>
          </p:cNvSpPr>
          <p:nvPr/>
        </p:nvSpPr>
        <p:spPr bwMode="auto">
          <a:xfrm>
            <a:off x="5181600" y="3500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265" name="Text Box 63"/>
          <p:cNvSpPr txBox="1">
            <a:spLocks noChangeArrowheads="1"/>
          </p:cNvSpPr>
          <p:nvPr/>
        </p:nvSpPr>
        <p:spPr bwMode="auto">
          <a:xfrm>
            <a:off x="5181600" y="3805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266" name="Text Box 64"/>
          <p:cNvSpPr txBox="1">
            <a:spLocks noChangeArrowheads="1"/>
          </p:cNvSpPr>
          <p:nvPr/>
        </p:nvSpPr>
        <p:spPr bwMode="auto">
          <a:xfrm>
            <a:off x="5181600" y="4110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267" name="Text Box 65"/>
          <p:cNvSpPr txBox="1">
            <a:spLocks noChangeArrowheads="1"/>
          </p:cNvSpPr>
          <p:nvPr/>
        </p:nvSpPr>
        <p:spPr bwMode="auto">
          <a:xfrm>
            <a:off x="5486400" y="35004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0  2   3</a:t>
            </a:r>
          </a:p>
        </p:txBody>
      </p:sp>
      <p:sp>
        <p:nvSpPr>
          <p:cNvPr id="138268" name="Text Box 66"/>
          <p:cNvSpPr txBox="1">
            <a:spLocks noChangeArrowheads="1"/>
          </p:cNvSpPr>
          <p:nvPr/>
        </p:nvSpPr>
        <p:spPr bwMode="auto">
          <a:xfrm rot="-5400000">
            <a:off x="4820443" y="3898107"/>
            <a:ext cx="538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269" name="Text Box 67"/>
          <p:cNvSpPr txBox="1">
            <a:spLocks noChangeArrowheads="1"/>
          </p:cNvSpPr>
          <p:nvPr/>
        </p:nvSpPr>
        <p:spPr bwMode="auto">
          <a:xfrm>
            <a:off x="5597525" y="2965450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270" name="Line 68"/>
          <p:cNvSpPr>
            <a:spLocks noChangeShapeType="1"/>
          </p:cNvSpPr>
          <p:nvPr/>
        </p:nvSpPr>
        <p:spPr bwMode="auto">
          <a:xfrm>
            <a:off x="5410200" y="4953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71" name="Line 69"/>
          <p:cNvSpPr>
            <a:spLocks noChangeShapeType="1"/>
          </p:cNvSpPr>
          <p:nvPr/>
        </p:nvSpPr>
        <p:spPr bwMode="auto">
          <a:xfrm>
            <a:off x="5105400" y="5181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72" name="Text Box 70"/>
          <p:cNvSpPr txBox="1">
            <a:spLocks noChangeArrowheads="1"/>
          </p:cNvSpPr>
          <p:nvPr/>
        </p:nvSpPr>
        <p:spPr bwMode="auto">
          <a:xfrm>
            <a:off x="5410200" y="47958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273" name="Text Box 71"/>
          <p:cNvSpPr txBox="1">
            <a:spLocks noChangeArrowheads="1"/>
          </p:cNvSpPr>
          <p:nvPr/>
        </p:nvSpPr>
        <p:spPr bwMode="auto">
          <a:xfrm>
            <a:off x="5105400" y="5176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274" name="Text Box 72"/>
          <p:cNvSpPr txBox="1">
            <a:spLocks noChangeArrowheads="1"/>
          </p:cNvSpPr>
          <p:nvPr/>
        </p:nvSpPr>
        <p:spPr bwMode="auto">
          <a:xfrm>
            <a:off x="5105400" y="548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275" name="Text Box 73"/>
          <p:cNvSpPr txBox="1">
            <a:spLocks noChangeArrowheads="1"/>
          </p:cNvSpPr>
          <p:nvPr/>
        </p:nvSpPr>
        <p:spPr bwMode="auto">
          <a:xfrm>
            <a:off x="5105400" y="578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276" name="Text Box 74"/>
          <p:cNvSpPr txBox="1">
            <a:spLocks noChangeArrowheads="1"/>
          </p:cNvSpPr>
          <p:nvPr/>
        </p:nvSpPr>
        <p:spPr bwMode="auto">
          <a:xfrm>
            <a:off x="5410200" y="51768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0  2   3</a:t>
            </a:r>
          </a:p>
        </p:txBody>
      </p:sp>
      <p:sp>
        <p:nvSpPr>
          <p:cNvPr id="138277" name="Text Box 75"/>
          <p:cNvSpPr txBox="1">
            <a:spLocks noChangeArrowheads="1"/>
          </p:cNvSpPr>
          <p:nvPr/>
        </p:nvSpPr>
        <p:spPr bwMode="auto">
          <a:xfrm rot="-5400000">
            <a:off x="4755357" y="556339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278" name="Text Box 76"/>
          <p:cNvSpPr txBox="1">
            <a:spLocks noChangeArrowheads="1"/>
          </p:cNvSpPr>
          <p:nvPr/>
        </p:nvSpPr>
        <p:spPr bwMode="auto">
          <a:xfrm>
            <a:off x="5521325" y="4664075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279" name="Line 77"/>
          <p:cNvSpPr>
            <a:spLocks noChangeShapeType="1"/>
          </p:cNvSpPr>
          <p:nvPr/>
        </p:nvSpPr>
        <p:spPr bwMode="auto">
          <a:xfrm>
            <a:off x="3276600" y="4953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80" name="Line 78"/>
          <p:cNvSpPr>
            <a:spLocks noChangeShapeType="1"/>
          </p:cNvSpPr>
          <p:nvPr/>
        </p:nvSpPr>
        <p:spPr bwMode="auto">
          <a:xfrm>
            <a:off x="2971800" y="5181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81" name="Text Box 79"/>
          <p:cNvSpPr txBox="1">
            <a:spLocks noChangeArrowheads="1"/>
          </p:cNvSpPr>
          <p:nvPr/>
        </p:nvSpPr>
        <p:spPr bwMode="auto">
          <a:xfrm>
            <a:off x="3276600" y="47958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282" name="Text Box 80"/>
          <p:cNvSpPr txBox="1">
            <a:spLocks noChangeArrowheads="1"/>
          </p:cNvSpPr>
          <p:nvPr/>
        </p:nvSpPr>
        <p:spPr bwMode="auto">
          <a:xfrm>
            <a:off x="2971800" y="5176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283" name="Text Box 81"/>
          <p:cNvSpPr txBox="1">
            <a:spLocks noChangeArrowheads="1"/>
          </p:cNvSpPr>
          <p:nvPr/>
        </p:nvSpPr>
        <p:spPr bwMode="auto">
          <a:xfrm>
            <a:off x="2971800" y="548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284" name="Text Box 82"/>
          <p:cNvSpPr txBox="1">
            <a:spLocks noChangeArrowheads="1"/>
          </p:cNvSpPr>
          <p:nvPr/>
        </p:nvSpPr>
        <p:spPr bwMode="auto">
          <a:xfrm>
            <a:off x="2971800" y="578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285" name="Text Box 83"/>
          <p:cNvSpPr txBox="1">
            <a:spLocks noChangeArrowheads="1"/>
          </p:cNvSpPr>
          <p:nvPr/>
        </p:nvSpPr>
        <p:spPr bwMode="auto">
          <a:xfrm>
            <a:off x="3276600" y="51768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0  2   7</a:t>
            </a:r>
          </a:p>
        </p:txBody>
      </p:sp>
      <p:sp>
        <p:nvSpPr>
          <p:cNvPr id="138286" name="Text Box 84"/>
          <p:cNvSpPr txBox="1">
            <a:spLocks noChangeArrowheads="1"/>
          </p:cNvSpPr>
          <p:nvPr/>
        </p:nvSpPr>
        <p:spPr bwMode="auto">
          <a:xfrm rot="-5400000">
            <a:off x="2643982" y="553164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287" name="Text Box 85"/>
          <p:cNvSpPr txBox="1">
            <a:spLocks noChangeArrowheads="1"/>
          </p:cNvSpPr>
          <p:nvPr/>
        </p:nvSpPr>
        <p:spPr bwMode="auto">
          <a:xfrm>
            <a:off x="3409950" y="4664075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288" name="Text Box 103"/>
          <p:cNvSpPr txBox="1">
            <a:spLocks noChangeArrowheads="1"/>
          </p:cNvSpPr>
          <p:nvPr/>
        </p:nvSpPr>
        <p:spPr bwMode="auto">
          <a:xfrm>
            <a:off x="3276600" y="3771900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2  0   1</a:t>
            </a:r>
          </a:p>
        </p:txBody>
      </p:sp>
      <p:sp>
        <p:nvSpPr>
          <p:cNvPr id="138289" name="Text Box 104"/>
          <p:cNvSpPr txBox="1">
            <a:spLocks noChangeArrowheads="1"/>
          </p:cNvSpPr>
          <p:nvPr/>
        </p:nvSpPr>
        <p:spPr bwMode="auto">
          <a:xfrm>
            <a:off x="3276600" y="4110038"/>
            <a:ext cx="94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7   1   0</a:t>
            </a:r>
          </a:p>
        </p:txBody>
      </p:sp>
      <p:sp>
        <p:nvSpPr>
          <p:cNvPr id="138290" name="Text Box 105"/>
          <p:cNvSpPr txBox="1">
            <a:spLocks noChangeArrowheads="1"/>
          </p:cNvSpPr>
          <p:nvPr/>
        </p:nvSpPr>
        <p:spPr bwMode="auto">
          <a:xfrm>
            <a:off x="3276600" y="55578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2  0   1</a:t>
            </a:r>
          </a:p>
        </p:txBody>
      </p:sp>
      <p:sp>
        <p:nvSpPr>
          <p:cNvPr id="138291" name="Text Box 106"/>
          <p:cNvSpPr txBox="1">
            <a:spLocks noChangeArrowheads="1"/>
          </p:cNvSpPr>
          <p:nvPr/>
        </p:nvSpPr>
        <p:spPr bwMode="auto">
          <a:xfrm>
            <a:off x="3276600" y="5862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3  1   0</a:t>
            </a:r>
          </a:p>
        </p:txBody>
      </p:sp>
      <p:sp>
        <p:nvSpPr>
          <p:cNvPr id="138292" name="Text Box 107"/>
          <p:cNvSpPr txBox="1">
            <a:spLocks noChangeArrowheads="1"/>
          </p:cNvSpPr>
          <p:nvPr/>
        </p:nvSpPr>
        <p:spPr bwMode="auto">
          <a:xfrm>
            <a:off x="5486400" y="2095500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2   0   1</a:t>
            </a:r>
          </a:p>
        </p:txBody>
      </p:sp>
      <p:sp>
        <p:nvSpPr>
          <p:cNvPr id="138293" name="Text Box 108"/>
          <p:cNvSpPr txBox="1">
            <a:spLocks noChangeArrowheads="1"/>
          </p:cNvSpPr>
          <p:nvPr/>
        </p:nvSpPr>
        <p:spPr bwMode="auto">
          <a:xfrm>
            <a:off x="5486400" y="2433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3  1   0</a:t>
            </a:r>
          </a:p>
        </p:txBody>
      </p:sp>
      <p:sp>
        <p:nvSpPr>
          <p:cNvPr id="138294" name="Text Box 109"/>
          <p:cNvSpPr txBox="1">
            <a:spLocks noChangeArrowheads="1"/>
          </p:cNvSpPr>
          <p:nvPr/>
        </p:nvSpPr>
        <p:spPr bwMode="auto">
          <a:xfrm>
            <a:off x="5486400" y="3825875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2  0   1</a:t>
            </a:r>
          </a:p>
        </p:txBody>
      </p:sp>
      <p:sp>
        <p:nvSpPr>
          <p:cNvPr id="138295" name="Text Box 110"/>
          <p:cNvSpPr txBox="1">
            <a:spLocks noChangeArrowheads="1"/>
          </p:cNvSpPr>
          <p:nvPr/>
        </p:nvSpPr>
        <p:spPr bwMode="auto">
          <a:xfrm>
            <a:off x="5410200" y="5862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3  1   0</a:t>
            </a:r>
          </a:p>
        </p:txBody>
      </p:sp>
      <p:sp>
        <p:nvSpPr>
          <p:cNvPr id="138296" name="Text Box 111"/>
          <p:cNvSpPr txBox="1">
            <a:spLocks noChangeArrowheads="1"/>
          </p:cNvSpPr>
          <p:nvPr/>
        </p:nvSpPr>
        <p:spPr bwMode="auto">
          <a:xfrm>
            <a:off x="5410200" y="5481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2  0   1</a:t>
            </a:r>
          </a:p>
        </p:txBody>
      </p:sp>
      <p:sp>
        <p:nvSpPr>
          <p:cNvPr id="138297" name="Text Box 112"/>
          <p:cNvSpPr txBox="1">
            <a:spLocks noChangeArrowheads="1"/>
          </p:cNvSpPr>
          <p:nvPr/>
        </p:nvSpPr>
        <p:spPr bwMode="auto">
          <a:xfrm>
            <a:off x="5486400" y="41100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3  1   0</a:t>
            </a:r>
          </a:p>
        </p:txBody>
      </p:sp>
      <p:sp>
        <p:nvSpPr>
          <p:cNvPr id="138298" name="Line 113"/>
          <p:cNvSpPr>
            <a:spLocks noChangeShapeType="1"/>
          </p:cNvSpPr>
          <p:nvPr/>
        </p:nvSpPr>
        <p:spPr bwMode="auto">
          <a:xfrm>
            <a:off x="2209800" y="1981200"/>
            <a:ext cx="685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299" name="Line 114"/>
          <p:cNvSpPr>
            <a:spLocks noChangeShapeType="1"/>
          </p:cNvSpPr>
          <p:nvPr/>
        </p:nvSpPr>
        <p:spPr bwMode="auto">
          <a:xfrm>
            <a:off x="2133600" y="2057400"/>
            <a:ext cx="6858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0" name="Line 116"/>
          <p:cNvSpPr>
            <a:spLocks noChangeShapeType="1"/>
          </p:cNvSpPr>
          <p:nvPr/>
        </p:nvSpPr>
        <p:spPr bwMode="auto">
          <a:xfrm>
            <a:off x="2133600" y="41148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1" name="Line 118"/>
          <p:cNvSpPr>
            <a:spLocks noChangeShapeType="1"/>
          </p:cNvSpPr>
          <p:nvPr/>
        </p:nvSpPr>
        <p:spPr bwMode="auto">
          <a:xfrm flipV="1">
            <a:off x="2209800" y="4343400"/>
            <a:ext cx="762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2" name="Line 119"/>
          <p:cNvSpPr>
            <a:spLocks noChangeShapeType="1"/>
          </p:cNvSpPr>
          <p:nvPr/>
        </p:nvSpPr>
        <p:spPr bwMode="auto">
          <a:xfrm>
            <a:off x="4267200" y="1981200"/>
            <a:ext cx="762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3" name="Line 120"/>
          <p:cNvSpPr>
            <a:spLocks noChangeShapeType="1"/>
          </p:cNvSpPr>
          <p:nvPr/>
        </p:nvSpPr>
        <p:spPr bwMode="auto">
          <a:xfrm>
            <a:off x="4191000" y="2057400"/>
            <a:ext cx="838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4" name="Line 121"/>
          <p:cNvSpPr>
            <a:spLocks noChangeShapeType="1"/>
          </p:cNvSpPr>
          <p:nvPr/>
        </p:nvSpPr>
        <p:spPr bwMode="auto">
          <a:xfrm flipV="1">
            <a:off x="4114800" y="2743200"/>
            <a:ext cx="11430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5" name="Line 122"/>
          <p:cNvSpPr>
            <a:spLocks noChangeShapeType="1"/>
          </p:cNvSpPr>
          <p:nvPr/>
        </p:nvSpPr>
        <p:spPr bwMode="auto">
          <a:xfrm flipV="1">
            <a:off x="4114800" y="4419600"/>
            <a:ext cx="1066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6" name="Line 123"/>
          <p:cNvSpPr>
            <a:spLocks noChangeShapeType="1"/>
          </p:cNvSpPr>
          <p:nvPr/>
        </p:nvSpPr>
        <p:spPr bwMode="auto">
          <a:xfrm>
            <a:off x="609600" y="6345238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07" name="Text Box 124"/>
          <p:cNvSpPr txBox="1">
            <a:spLocks noChangeArrowheads="1"/>
          </p:cNvSpPr>
          <p:nvPr/>
        </p:nvSpPr>
        <p:spPr bwMode="auto">
          <a:xfrm>
            <a:off x="6069013" y="6137275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time</a:t>
            </a:r>
          </a:p>
        </p:txBody>
      </p:sp>
      <p:sp>
        <p:nvSpPr>
          <p:cNvPr id="138308" name="Oval 167"/>
          <p:cNvSpPr>
            <a:spLocks noChangeArrowheads="1"/>
          </p:cNvSpPr>
          <p:nvPr/>
        </p:nvSpPr>
        <p:spPr bwMode="auto">
          <a:xfrm>
            <a:off x="3200400" y="58674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309" name="Line 174"/>
          <p:cNvSpPr>
            <a:spLocks noChangeShapeType="1"/>
          </p:cNvSpPr>
          <p:nvPr/>
        </p:nvSpPr>
        <p:spPr bwMode="auto">
          <a:xfrm>
            <a:off x="1219200" y="1447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10" name="Line 175"/>
          <p:cNvSpPr>
            <a:spLocks noChangeShapeType="1"/>
          </p:cNvSpPr>
          <p:nvPr/>
        </p:nvSpPr>
        <p:spPr bwMode="auto">
          <a:xfrm>
            <a:off x="914400" y="1676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11" name="Text Box 176"/>
          <p:cNvSpPr txBox="1">
            <a:spLocks noChangeArrowheads="1"/>
          </p:cNvSpPr>
          <p:nvPr/>
        </p:nvSpPr>
        <p:spPr bwMode="auto">
          <a:xfrm>
            <a:off x="1219200" y="12906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312" name="Text Box 177"/>
          <p:cNvSpPr txBox="1">
            <a:spLocks noChangeArrowheads="1"/>
          </p:cNvSpPr>
          <p:nvPr/>
        </p:nvSpPr>
        <p:spPr bwMode="auto">
          <a:xfrm>
            <a:off x="914400" y="167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313" name="Text Box 178"/>
          <p:cNvSpPr txBox="1">
            <a:spLocks noChangeArrowheads="1"/>
          </p:cNvSpPr>
          <p:nvPr/>
        </p:nvSpPr>
        <p:spPr bwMode="auto">
          <a:xfrm>
            <a:off x="914400" y="197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314" name="Text Box 179"/>
          <p:cNvSpPr txBox="1">
            <a:spLocks noChangeArrowheads="1"/>
          </p:cNvSpPr>
          <p:nvPr/>
        </p:nvSpPr>
        <p:spPr bwMode="auto">
          <a:xfrm>
            <a:off x="914400" y="2281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315" name="Text Box 180"/>
          <p:cNvSpPr txBox="1">
            <a:spLocks noChangeArrowheads="1"/>
          </p:cNvSpPr>
          <p:nvPr/>
        </p:nvSpPr>
        <p:spPr bwMode="auto">
          <a:xfrm>
            <a:off x="1219200" y="167163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0  2   7</a:t>
            </a:r>
          </a:p>
        </p:txBody>
      </p:sp>
      <p:sp>
        <p:nvSpPr>
          <p:cNvPr id="138316" name="Text Box 181"/>
          <p:cNvSpPr txBox="1">
            <a:spLocks noChangeArrowheads="1"/>
          </p:cNvSpPr>
          <p:nvPr/>
        </p:nvSpPr>
        <p:spPr bwMode="auto">
          <a:xfrm>
            <a:off x="12192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17" name="Text Box 182"/>
          <p:cNvSpPr txBox="1">
            <a:spLocks noChangeArrowheads="1"/>
          </p:cNvSpPr>
          <p:nvPr/>
        </p:nvSpPr>
        <p:spPr bwMode="auto">
          <a:xfrm>
            <a:off x="14478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18" name="Text Box 183"/>
          <p:cNvSpPr txBox="1">
            <a:spLocks noChangeArrowheads="1"/>
          </p:cNvSpPr>
          <p:nvPr/>
        </p:nvSpPr>
        <p:spPr bwMode="auto">
          <a:xfrm>
            <a:off x="1828800" y="20526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19" name="Text Box 184"/>
          <p:cNvSpPr txBox="1">
            <a:spLocks noChangeArrowheads="1"/>
          </p:cNvSpPr>
          <p:nvPr/>
        </p:nvSpPr>
        <p:spPr bwMode="auto">
          <a:xfrm>
            <a:off x="12192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20" name="Text Box 185"/>
          <p:cNvSpPr txBox="1">
            <a:spLocks noChangeArrowheads="1"/>
          </p:cNvSpPr>
          <p:nvPr/>
        </p:nvSpPr>
        <p:spPr bwMode="auto">
          <a:xfrm>
            <a:off x="14478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21" name="Text Box 186"/>
          <p:cNvSpPr txBox="1">
            <a:spLocks noChangeArrowheads="1"/>
          </p:cNvSpPr>
          <p:nvPr/>
        </p:nvSpPr>
        <p:spPr bwMode="auto">
          <a:xfrm>
            <a:off x="1828800" y="23574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22" name="Text Box 187"/>
          <p:cNvSpPr txBox="1">
            <a:spLocks noChangeArrowheads="1"/>
          </p:cNvSpPr>
          <p:nvPr/>
        </p:nvSpPr>
        <p:spPr bwMode="auto">
          <a:xfrm rot="-5400000">
            <a:off x="2650332" y="202644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323" name="Text Box 188"/>
          <p:cNvSpPr txBox="1">
            <a:spLocks noChangeArrowheads="1"/>
          </p:cNvSpPr>
          <p:nvPr/>
        </p:nvSpPr>
        <p:spPr bwMode="auto">
          <a:xfrm>
            <a:off x="1352550" y="1158875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324" name="Text Box 189"/>
          <p:cNvSpPr txBox="1">
            <a:spLocks noChangeArrowheads="1"/>
          </p:cNvSpPr>
          <p:nvPr/>
        </p:nvSpPr>
        <p:spPr bwMode="auto">
          <a:xfrm rot="-5400000">
            <a:off x="518319" y="3810794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/>
              <a:t>from</a:t>
            </a:r>
          </a:p>
        </p:txBody>
      </p:sp>
      <p:sp>
        <p:nvSpPr>
          <p:cNvPr id="138325" name="Text Box 190"/>
          <p:cNvSpPr txBox="1">
            <a:spLocks noChangeArrowheads="1"/>
          </p:cNvSpPr>
          <p:nvPr/>
        </p:nvSpPr>
        <p:spPr bwMode="auto">
          <a:xfrm rot="-5400000">
            <a:off x="518318" y="5618957"/>
            <a:ext cx="538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38326" name="Line 191"/>
          <p:cNvSpPr>
            <a:spLocks noChangeShapeType="1"/>
          </p:cNvSpPr>
          <p:nvPr/>
        </p:nvSpPr>
        <p:spPr bwMode="auto">
          <a:xfrm>
            <a:off x="3276600" y="1447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27" name="Line 192"/>
          <p:cNvSpPr>
            <a:spLocks noChangeShapeType="1"/>
          </p:cNvSpPr>
          <p:nvPr/>
        </p:nvSpPr>
        <p:spPr bwMode="auto">
          <a:xfrm>
            <a:off x="2971800" y="1676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28" name="Text Box 193"/>
          <p:cNvSpPr txBox="1">
            <a:spLocks noChangeArrowheads="1"/>
          </p:cNvSpPr>
          <p:nvPr/>
        </p:nvSpPr>
        <p:spPr bwMode="auto">
          <a:xfrm>
            <a:off x="3276600" y="12906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329" name="Text Box 194"/>
          <p:cNvSpPr txBox="1">
            <a:spLocks noChangeArrowheads="1"/>
          </p:cNvSpPr>
          <p:nvPr/>
        </p:nvSpPr>
        <p:spPr bwMode="auto">
          <a:xfrm>
            <a:off x="2971800" y="167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330" name="Text Box 195"/>
          <p:cNvSpPr txBox="1">
            <a:spLocks noChangeArrowheads="1"/>
          </p:cNvSpPr>
          <p:nvPr/>
        </p:nvSpPr>
        <p:spPr bwMode="auto">
          <a:xfrm>
            <a:off x="2971800" y="1976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331" name="Text Box 196"/>
          <p:cNvSpPr txBox="1">
            <a:spLocks noChangeArrowheads="1"/>
          </p:cNvSpPr>
          <p:nvPr/>
        </p:nvSpPr>
        <p:spPr bwMode="auto">
          <a:xfrm>
            <a:off x="2971800" y="2281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332" name="Text Box 197"/>
          <p:cNvSpPr txBox="1">
            <a:spLocks noChangeArrowheads="1"/>
          </p:cNvSpPr>
          <p:nvPr/>
        </p:nvSpPr>
        <p:spPr bwMode="auto">
          <a:xfrm>
            <a:off x="3297238" y="16716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</a:t>
            </a:r>
          </a:p>
        </p:txBody>
      </p:sp>
      <p:sp>
        <p:nvSpPr>
          <p:cNvPr id="138333" name="Line 198"/>
          <p:cNvSpPr>
            <a:spLocks noChangeShapeType="1"/>
          </p:cNvSpPr>
          <p:nvPr/>
        </p:nvSpPr>
        <p:spPr bwMode="auto">
          <a:xfrm>
            <a:off x="1219200" y="3200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34" name="Line 199"/>
          <p:cNvSpPr>
            <a:spLocks noChangeShapeType="1"/>
          </p:cNvSpPr>
          <p:nvPr/>
        </p:nvSpPr>
        <p:spPr bwMode="auto">
          <a:xfrm>
            <a:off x="914400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35" name="Text Box 200"/>
          <p:cNvSpPr txBox="1">
            <a:spLocks noChangeArrowheads="1"/>
          </p:cNvSpPr>
          <p:nvPr/>
        </p:nvSpPr>
        <p:spPr bwMode="auto">
          <a:xfrm>
            <a:off x="1219200" y="30432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336" name="Text Box 201"/>
          <p:cNvSpPr txBox="1">
            <a:spLocks noChangeArrowheads="1"/>
          </p:cNvSpPr>
          <p:nvPr/>
        </p:nvSpPr>
        <p:spPr bwMode="auto">
          <a:xfrm>
            <a:off x="914400" y="342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337" name="Text Box 202"/>
          <p:cNvSpPr txBox="1">
            <a:spLocks noChangeArrowheads="1"/>
          </p:cNvSpPr>
          <p:nvPr/>
        </p:nvSpPr>
        <p:spPr bwMode="auto">
          <a:xfrm>
            <a:off x="914400" y="3729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338" name="Text Box 203"/>
          <p:cNvSpPr txBox="1">
            <a:spLocks noChangeArrowheads="1"/>
          </p:cNvSpPr>
          <p:nvPr/>
        </p:nvSpPr>
        <p:spPr bwMode="auto">
          <a:xfrm>
            <a:off x="914400" y="4033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339" name="Text Box 204"/>
          <p:cNvSpPr txBox="1">
            <a:spLocks noChangeArrowheads="1"/>
          </p:cNvSpPr>
          <p:nvPr/>
        </p:nvSpPr>
        <p:spPr bwMode="auto">
          <a:xfrm>
            <a:off x="1524000" y="34242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40" name="Text Box 205"/>
          <p:cNvSpPr txBox="1">
            <a:spLocks noChangeArrowheads="1"/>
          </p:cNvSpPr>
          <p:nvPr/>
        </p:nvSpPr>
        <p:spPr bwMode="auto">
          <a:xfrm>
            <a:off x="1828800" y="34242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41" name="Text Box 206"/>
          <p:cNvSpPr txBox="1">
            <a:spLocks noChangeArrowheads="1"/>
          </p:cNvSpPr>
          <p:nvPr/>
        </p:nvSpPr>
        <p:spPr bwMode="auto">
          <a:xfrm>
            <a:off x="12192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42" name="Text Box 207"/>
          <p:cNvSpPr txBox="1">
            <a:spLocks noChangeArrowheads="1"/>
          </p:cNvSpPr>
          <p:nvPr/>
        </p:nvSpPr>
        <p:spPr bwMode="auto">
          <a:xfrm>
            <a:off x="14478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43" name="Text Box 208"/>
          <p:cNvSpPr txBox="1">
            <a:spLocks noChangeArrowheads="1"/>
          </p:cNvSpPr>
          <p:nvPr/>
        </p:nvSpPr>
        <p:spPr bwMode="auto">
          <a:xfrm>
            <a:off x="1828800" y="4110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44" name="Text Box 209"/>
          <p:cNvSpPr txBox="1">
            <a:spLocks noChangeArrowheads="1"/>
          </p:cNvSpPr>
          <p:nvPr/>
        </p:nvSpPr>
        <p:spPr bwMode="auto">
          <a:xfrm>
            <a:off x="1341438" y="2933700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345" name="Line 210"/>
          <p:cNvSpPr>
            <a:spLocks noChangeShapeType="1"/>
          </p:cNvSpPr>
          <p:nvPr/>
        </p:nvSpPr>
        <p:spPr bwMode="auto">
          <a:xfrm>
            <a:off x="1219200" y="5029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46" name="Line 211"/>
          <p:cNvSpPr>
            <a:spLocks noChangeShapeType="1"/>
          </p:cNvSpPr>
          <p:nvPr/>
        </p:nvSpPr>
        <p:spPr bwMode="auto">
          <a:xfrm>
            <a:off x="914400" y="5257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47" name="Text Box 212"/>
          <p:cNvSpPr txBox="1">
            <a:spLocks noChangeArrowheads="1"/>
          </p:cNvSpPr>
          <p:nvPr/>
        </p:nvSpPr>
        <p:spPr bwMode="auto">
          <a:xfrm>
            <a:off x="1219200" y="48720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   y   z</a:t>
            </a:r>
          </a:p>
        </p:txBody>
      </p:sp>
      <p:sp>
        <p:nvSpPr>
          <p:cNvPr id="138348" name="Text Box 213"/>
          <p:cNvSpPr txBox="1">
            <a:spLocks noChangeArrowheads="1"/>
          </p:cNvSpPr>
          <p:nvPr/>
        </p:nvSpPr>
        <p:spPr bwMode="auto">
          <a:xfrm>
            <a:off x="914400" y="5253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x</a:t>
            </a:r>
          </a:p>
        </p:txBody>
      </p:sp>
      <p:sp>
        <p:nvSpPr>
          <p:cNvPr id="138349" name="Text Box 214"/>
          <p:cNvSpPr txBox="1">
            <a:spLocks noChangeArrowheads="1"/>
          </p:cNvSpPr>
          <p:nvPr/>
        </p:nvSpPr>
        <p:spPr bwMode="auto">
          <a:xfrm>
            <a:off x="914400" y="5557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y</a:t>
            </a:r>
          </a:p>
        </p:txBody>
      </p:sp>
      <p:sp>
        <p:nvSpPr>
          <p:cNvPr id="138350" name="Text Box 215"/>
          <p:cNvSpPr txBox="1">
            <a:spLocks noChangeArrowheads="1"/>
          </p:cNvSpPr>
          <p:nvPr/>
        </p:nvSpPr>
        <p:spPr bwMode="auto">
          <a:xfrm>
            <a:off x="914400" y="5862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z</a:t>
            </a:r>
          </a:p>
        </p:txBody>
      </p:sp>
      <p:sp>
        <p:nvSpPr>
          <p:cNvPr id="138351" name="Text Box 216"/>
          <p:cNvSpPr txBox="1">
            <a:spLocks noChangeArrowheads="1"/>
          </p:cNvSpPr>
          <p:nvPr/>
        </p:nvSpPr>
        <p:spPr bwMode="auto">
          <a:xfrm>
            <a:off x="1219200" y="56388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52" name="Text Box 217"/>
          <p:cNvSpPr txBox="1">
            <a:spLocks noChangeArrowheads="1"/>
          </p:cNvSpPr>
          <p:nvPr/>
        </p:nvSpPr>
        <p:spPr bwMode="auto">
          <a:xfrm>
            <a:off x="1447800" y="5634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53" name="Text Box 218"/>
          <p:cNvSpPr txBox="1">
            <a:spLocks noChangeArrowheads="1"/>
          </p:cNvSpPr>
          <p:nvPr/>
        </p:nvSpPr>
        <p:spPr bwMode="auto">
          <a:xfrm>
            <a:off x="1828800" y="563403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</p:txBody>
      </p:sp>
      <p:sp>
        <p:nvSpPr>
          <p:cNvPr id="138354" name="Text Box 219"/>
          <p:cNvSpPr txBox="1">
            <a:spLocks noChangeArrowheads="1"/>
          </p:cNvSpPr>
          <p:nvPr/>
        </p:nvSpPr>
        <p:spPr bwMode="auto">
          <a:xfrm>
            <a:off x="12192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7</a:t>
            </a:r>
          </a:p>
        </p:txBody>
      </p:sp>
      <p:sp>
        <p:nvSpPr>
          <p:cNvPr id="138355" name="Text Box 220"/>
          <p:cNvSpPr txBox="1">
            <a:spLocks noChangeArrowheads="1"/>
          </p:cNvSpPr>
          <p:nvPr/>
        </p:nvSpPr>
        <p:spPr bwMode="auto">
          <a:xfrm>
            <a:off x="14478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1</a:t>
            </a:r>
          </a:p>
        </p:txBody>
      </p:sp>
      <p:sp>
        <p:nvSpPr>
          <p:cNvPr id="138356" name="Text Box 221"/>
          <p:cNvSpPr txBox="1">
            <a:spLocks noChangeArrowheads="1"/>
          </p:cNvSpPr>
          <p:nvPr/>
        </p:nvSpPr>
        <p:spPr bwMode="auto">
          <a:xfrm>
            <a:off x="1828800" y="5938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0</a:t>
            </a:r>
          </a:p>
        </p:txBody>
      </p:sp>
      <p:sp>
        <p:nvSpPr>
          <p:cNvPr id="138357" name="Text Box 222"/>
          <p:cNvSpPr txBox="1">
            <a:spLocks noChangeArrowheads="1"/>
          </p:cNvSpPr>
          <p:nvPr/>
        </p:nvSpPr>
        <p:spPr bwMode="auto">
          <a:xfrm>
            <a:off x="1363663" y="4740275"/>
            <a:ext cx="706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358" name="Text Box 223"/>
          <p:cNvSpPr txBox="1">
            <a:spLocks noChangeArrowheads="1"/>
          </p:cNvSpPr>
          <p:nvPr/>
        </p:nvSpPr>
        <p:spPr bwMode="auto">
          <a:xfrm>
            <a:off x="1219200" y="3467100"/>
            <a:ext cx="94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</a:t>
            </a:r>
          </a:p>
          <a:p>
            <a:r>
              <a:rPr lang="en-US" sz="1800"/>
              <a:t>2   0   1</a:t>
            </a:r>
          </a:p>
        </p:txBody>
      </p:sp>
      <p:sp>
        <p:nvSpPr>
          <p:cNvPr id="138359" name="Text Box 224"/>
          <p:cNvSpPr txBox="1">
            <a:spLocks noChangeArrowheads="1"/>
          </p:cNvSpPr>
          <p:nvPr/>
        </p:nvSpPr>
        <p:spPr bwMode="auto">
          <a:xfrm>
            <a:off x="1219200" y="52578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∞ ∞  ∞</a:t>
            </a:r>
          </a:p>
        </p:txBody>
      </p:sp>
      <p:sp>
        <p:nvSpPr>
          <p:cNvPr id="138360" name="Text Box 225"/>
          <p:cNvSpPr txBox="1">
            <a:spLocks noChangeArrowheads="1"/>
          </p:cNvSpPr>
          <p:nvPr/>
        </p:nvSpPr>
        <p:spPr bwMode="auto">
          <a:xfrm>
            <a:off x="3260725" y="2006600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2   0   1</a:t>
            </a:r>
          </a:p>
        </p:txBody>
      </p:sp>
      <p:sp>
        <p:nvSpPr>
          <p:cNvPr id="138361" name="Text Box 226"/>
          <p:cNvSpPr txBox="1">
            <a:spLocks noChangeArrowheads="1"/>
          </p:cNvSpPr>
          <p:nvPr/>
        </p:nvSpPr>
        <p:spPr bwMode="auto">
          <a:xfrm>
            <a:off x="3260725" y="2322513"/>
            <a:ext cx="94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7   1   0</a:t>
            </a:r>
          </a:p>
        </p:txBody>
      </p:sp>
      <p:sp>
        <p:nvSpPr>
          <p:cNvPr id="138362" name="Line 227"/>
          <p:cNvSpPr>
            <a:spLocks noChangeShapeType="1"/>
          </p:cNvSpPr>
          <p:nvPr/>
        </p:nvSpPr>
        <p:spPr bwMode="auto">
          <a:xfrm>
            <a:off x="2209800" y="1981200"/>
            <a:ext cx="685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3" name="Line 228"/>
          <p:cNvSpPr>
            <a:spLocks noChangeShapeType="1"/>
          </p:cNvSpPr>
          <p:nvPr/>
        </p:nvSpPr>
        <p:spPr bwMode="auto">
          <a:xfrm>
            <a:off x="2133600" y="2057400"/>
            <a:ext cx="6858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4" name="Line 229"/>
          <p:cNvSpPr>
            <a:spLocks noChangeShapeType="1"/>
          </p:cNvSpPr>
          <p:nvPr/>
        </p:nvSpPr>
        <p:spPr bwMode="auto">
          <a:xfrm flipV="1">
            <a:off x="2133600" y="25146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5" name="Line 230"/>
          <p:cNvSpPr>
            <a:spLocks noChangeShapeType="1"/>
          </p:cNvSpPr>
          <p:nvPr/>
        </p:nvSpPr>
        <p:spPr bwMode="auto">
          <a:xfrm>
            <a:off x="2133600" y="41148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6" name="Line 231"/>
          <p:cNvSpPr>
            <a:spLocks noChangeShapeType="1"/>
          </p:cNvSpPr>
          <p:nvPr/>
        </p:nvSpPr>
        <p:spPr bwMode="auto">
          <a:xfrm flipV="1">
            <a:off x="2133600" y="2590800"/>
            <a:ext cx="8382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7" name="Line 232"/>
          <p:cNvSpPr>
            <a:spLocks noChangeShapeType="1"/>
          </p:cNvSpPr>
          <p:nvPr/>
        </p:nvSpPr>
        <p:spPr bwMode="auto">
          <a:xfrm flipV="1">
            <a:off x="2209800" y="4343400"/>
            <a:ext cx="762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8" name="Line 233"/>
          <p:cNvSpPr>
            <a:spLocks noChangeShapeType="1"/>
          </p:cNvSpPr>
          <p:nvPr/>
        </p:nvSpPr>
        <p:spPr bwMode="auto">
          <a:xfrm>
            <a:off x="609600" y="6345238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69" name="Text Box 234"/>
          <p:cNvSpPr txBox="1">
            <a:spLocks noChangeArrowheads="1"/>
          </p:cNvSpPr>
          <p:nvPr/>
        </p:nvSpPr>
        <p:spPr bwMode="auto">
          <a:xfrm>
            <a:off x="6069013" y="6137275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time</a:t>
            </a:r>
          </a:p>
        </p:txBody>
      </p:sp>
      <p:grpSp>
        <p:nvGrpSpPr>
          <p:cNvPr id="138370" name="Group 235"/>
          <p:cNvGrpSpPr>
            <a:grpSpLocks/>
          </p:cNvGrpSpPr>
          <p:nvPr/>
        </p:nvGrpSpPr>
        <p:grpSpPr bwMode="auto">
          <a:xfrm>
            <a:off x="6632575" y="2911475"/>
            <a:ext cx="2184400" cy="1212850"/>
            <a:chOff x="2352" y="0"/>
            <a:chExt cx="1376" cy="764"/>
          </a:xfrm>
        </p:grpSpPr>
        <p:sp>
          <p:nvSpPr>
            <p:cNvPr id="138386" name="Freeform 236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8387" name="Group 237"/>
            <p:cNvGrpSpPr>
              <a:grpSpLocks/>
            </p:cNvGrpSpPr>
            <p:nvPr/>
          </p:nvGrpSpPr>
          <p:grpSpPr bwMode="auto"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38388" name="Freeform 238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89" name="Oval 239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90" name="Line 240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91" name="Line 241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92" name="Rectangle 242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8393" name="Oval 243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94" name="Freeform 244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395" name="Freeform 245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8396" name="Group 246"/>
              <p:cNvGrpSpPr>
                <a:grpSpLocks/>
              </p:cNvGrpSpPr>
              <p:nvPr/>
            </p:nvGrpSpPr>
            <p:grpSpPr bwMode="auto"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38418" name="Rectangle 24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19" name="Text Box 248"/>
                <p:cNvSpPr txBox="1">
                  <a:spLocks noChangeArrowheads="1"/>
                </p:cNvSpPr>
                <p:nvPr/>
              </p:nvSpPr>
              <p:spPr bwMode="auto"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x</a:t>
                  </a:r>
                  <a:endParaRPr lang="en-US"/>
                </a:p>
              </p:txBody>
            </p:sp>
          </p:grpSp>
          <p:grpSp>
            <p:nvGrpSpPr>
              <p:cNvPr id="138397" name="Group 249"/>
              <p:cNvGrpSpPr>
                <a:grpSpLocks/>
              </p:cNvGrpSpPr>
              <p:nvPr/>
            </p:nvGrpSpPr>
            <p:grpSpPr bwMode="auto"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38410" name="Oval 25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11" name="Line 25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12" name="Line 25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13" name="Rectangle 25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8414" name="Oval 25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8415" name="Group 255"/>
                <p:cNvGrpSpPr>
                  <a:grpSpLocks/>
                </p:cNvGrpSpPr>
                <p:nvPr/>
              </p:nvGrpSpPr>
              <p:grpSpPr bwMode="auto"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38416" name="Rectangle 25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8417" name="Text Box 2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/>
                      <a:t>z</a:t>
                    </a:r>
                  </a:p>
                </p:txBody>
              </p:sp>
            </p:grpSp>
          </p:grpSp>
          <p:sp>
            <p:nvSpPr>
              <p:cNvPr id="138398" name="Text Box 258"/>
              <p:cNvSpPr txBox="1">
                <a:spLocks noChangeArrowheads="1"/>
              </p:cNvSpPr>
              <p:nvPr/>
            </p:nvSpPr>
            <p:spPr bwMode="auto"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1</a:t>
                </a:r>
                <a:endParaRPr lang="en-US"/>
              </a:p>
            </p:txBody>
          </p:sp>
          <p:sp>
            <p:nvSpPr>
              <p:cNvPr id="138399" name="Text Box 259"/>
              <p:cNvSpPr txBox="1">
                <a:spLocks noChangeArrowheads="1"/>
              </p:cNvSpPr>
              <p:nvPr/>
            </p:nvSpPr>
            <p:spPr bwMode="auto"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2</a:t>
                </a:r>
                <a:endParaRPr lang="en-US"/>
              </a:p>
            </p:txBody>
          </p:sp>
          <p:sp>
            <p:nvSpPr>
              <p:cNvPr id="138400" name="Text Box 260"/>
              <p:cNvSpPr txBox="1">
                <a:spLocks noChangeArrowheads="1"/>
              </p:cNvSpPr>
              <p:nvPr/>
            </p:nvSpPr>
            <p:spPr bwMode="auto"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/>
                  <a:t>7</a:t>
                </a:r>
                <a:endParaRPr lang="en-US"/>
              </a:p>
            </p:txBody>
          </p:sp>
          <p:grpSp>
            <p:nvGrpSpPr>
              <p:cNvPr id="138401" name="Group 261"/>
              <p:cNvGrpSpPr>
                <a:grpSpLocks/>
              </p:cNvGrpSpPr>
              <p:nvPr/>
            </p:nvGrpSpPr>
            <p:grpSpPr bwMode="auto"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38402" name="Oval 262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03" name="Line 263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04" name="Line 264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405" name="Rectangle 265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8406" name="Oval 266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8407" name="Group 267"/>
                <p:cNvGrpSpPr>
                  <a:grpSpLocks/>
                </p:cNvGrpSpPr>
                <p:nvPr/>
              </p:nvGrpSpPr>
              <p:grpSpPr bwMode="auto"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38408" name="Rectangle 268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8409" name="Text Box 2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000"/>
                      <a:t>y</a:t>
                    </a:r>
                    <a:endParaRPr lang="en-US"/>
                  </a:p>
                </p:txBody>
              </p:sp>
            </p:grpSp>
          </p:grpSp>
        </p:grpSp>
      </p:grpSp>
      <p:sp>
        <p:nvSpPr>
          <p:cNvPr id="138371" name="Text Box 270"/>
          <p:cNvSpPr txBox="1">
            <a:spLocks noChangeArrowheads="1"/>
          </p:cNvSpPr>
          <p:nvPr/>
        </p:nvSpPr>
        <p:spPr bwMode="auto">
          <a:xfrm>
            <a:off x="263525" y="1104900"/>
            <a:ext cx="920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x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8372" name="Oval 271"/>
          <p:cNvSpPr>
            <a:spLocks noChangeArrowheads="1"/>
          </p:cNvSpPr>
          <p:nvPr/>
        </p:nvSpPr>
        <p:spPr bwMode="auto">
          <a:xfrm>
            <a:off x="1219200" y="16764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373" name="Oval 272"/>
          <p:cNvSpPr>
            <a:spLocks noChangeArrowheads="1"/>
          </p:cNvSpPr>
          <p:nvPr/>
        </p:nvSpPr>
        <p:spPr bwMode="auto">
          <a:xfrm>
            <a:off x="1219200" y="37338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374" name="Oval 273"/>
          <p:cNvSpPr>
            <a:spLocks noChangeArrowheads="1"/>
          </p:cNvSpPr>
          <p:nvPr/>
        </p:nvSpPr>
        <p:spPr bwMode="auto">
          <a:xfrm>
            <a:off x="1219200" y="59436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375" name="Oval 274"/>
          <p:cNvSpPr>
            <a:spLocks noChangeArrowheads="1"/>
          </p:cNvSpPr>
          <p:nvPr/>
        </p:nvSpPr>
        <p:spPr bwMode="auto">
          <a:xfrm>
            <a:off x="3297238" y="1676400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376" name="Rectangle 275"/>
          <p:cNvSpPr>
            <a:spLocks noChangeArrowheads="1"/>
          </p:cNvSpPr>
          <p:nvPr/>
        </p:nvSpPr>
        <p:spPr bwMode="auto">
          <a:xfrm>
            <a:off x="1590675" y="187325"/>
            <a:ext cx="431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fr-FR">
                <a:solidFill>
                  <a:srgbClr val="000000"/>
                </a:solidFill>
                <a:cs typeface="Times New Roman" charset="0"/>
              </a:rPr>
              <a:t>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x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 = min{c(x,y) + 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y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(y), c(x,z) + D</a:t>
            </a:r>
            <a:r>
              <a:rPr lang="fr-FR" baseline="-25000">
                <a:solidFill>
                  <a:srgbClr val="000000"/>
                </a:solidFill>
                <a:cs typeface="Times New Roman" charset="0"/>
              </a:rPr>
              <a:t>z</a:t>
            </a:r>
            <a:r>
              <a:rPr lang="fr-FR">
                <a:solidFill>
                  <a:srgbClr val="000000"/>
                </a:solidFill>
                <a:cs typeface="Times New Roman" charset="0"/>
              </a:rPr>
              <a:t>(y)} </a:t>
            </a:r>
            <a:br>
              <a:rPr lang="fr-FR">
                <a:solidFill>
                  <a:srgbClr val="000000"/>
                </a:solidFill>
                <a:cs typeface="Times New Roman" charset="0"/>
              </a:rPr>
            </a:br>
            <a:r>
              <a:rPr lang="fr-FR">
                <a:solidFill>
                  <a:srgbClr val="000000"/>
                </a:solidFill>
                <a:cs typeface="Times New Roman" charset="0"/>
              </a:rPr>
              <a:t>             = min{2+0 , 7+1} = 2</a:t>
            </a:r>
          </a:p>
        </p:txBody>
      </p:sp>
      <p:sp>
        <p:nvSpPr>
          <p:cNvPr id="138377" name="Line 276"/>
          <p:cNvSpPr>
            <a:spLocks noChangeShapeType="1"/>
          </p:cNvSpPr>
          <p:nvPr/>
        </p:nvSpPr>
        <p:spPr bwMode="auto">
          <a:xfrm flipH="1">
            <a:off x="3760788" y="809625"/>
            <a:ext cx="809625" cy="966788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78" name="Rectangle 277"/>
          <p:cNvSpPr>
            <a:spLocks noChangeArrowheads="1"/>
          </p:cNvSpPr>
          <p:nvPr/>
        </p:nvSpPr>
        <p:spPr bwMode="auto">
          <a:xfrm>
            <a:off x="6384925" y="28575"/>
            <a:ext cx="26670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fr-FR" i="1"/>
              <a:t>D</a:t>
            </a:r>
            <a:r>
              <a:rPr lang="fr-FR" i="1" baseline="-25000"/>
              <a:t>x</a:t>
            </a:r>
            <a:r>
              <a:rPr lang="fr-FR" i="1"/>
              <a:t>(z) = </a:t>
            </a:r>
            <a:r>
              <a:rPr lang="fr-FR"/>
              <a:t>min{</a:t>
            </a:r>
            <a:r>
              <a:rPr lang="fr-FR" i="1"/>
              <a:t>c(x,y) + </a:t>
            </a:r>
            <a:br>
              <a:rPr lang="fr-FR" i="1"/>
            </a:br>
            <a:r>
              <a:rPr lang="fr-FR" i="1"/>
              <a:t>      D</a:t>
            </a:r>
            <a:r>
              <a:rPr lang="fr-FR" i="1" baseline="-25000"/>
              <a:t>y</a:t>
            </a:r>
            <a:r>
              <a:rPr lang="fr-FR" i="1"/>
              <a:t>(z), c(x,z) + D</a:t>
            </a:r>
            <a:r>
              <a:rPr lang="fr-FR" i="1" baseline="-25000"/>
              <a:t>z</a:t>
            </a:r>
            <a:r>
              <a:rPr lang="fr-FR" i="1"/>
              <a:t>(z)</a:t>
            </a:r>
            <a:r>
              <a:rPr lang="fr-FR"/>
              <a:t>} </a:t>
            </a:r>
          </a:p>
          <a:p>
            <a:pPr algn="just">
              <a:lnSpc>
                <a:spcPct val="120000"/>
              </a:lnSpc>
            </a:pPr>
            <a:r>
              <a:rPr lang="fr-FR"/>
              <a:t>= min{2+1 , 7+0} = 3</a:t>
            </a:r>
          </a:p>
        </p:txBody>
      </p:sp>
      <p:sp>
        <p:nvSpPr>
          <p:cNvPr id="138379" name="Line 278"/>
          <p:cNvSpPr>
            <a:spLocks noChangeShapeType="1"/>
          </p:cNvSpPr>
          <p:nvPr/>
        </p:nvSpPr>
        <p:spPr bwMode="auto">
          <a:xfrm flipH="1">
            <a:off x="4179888" y="482600"/>
            <a:ext cx="2586037" cy="13335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8380" name="Text Box 279"/>
          <p:cNvSpPr txBox="1">
            <a:spLocks noChangeArrowheads="1"/>
          </p:cNvSpPr>
          <p:nvPr/>
        </p:nvSpPr>
        <p:spPr bwMode="auto">
          <a:xfrm>
            <a:off x="3922713" y="16748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3</a:t>
            </a:r>
          </a:p>
        </p:txBody>
      </p:sp>
      <p:sp>
        <p:nvSpPr>
          <p:cNvPr id="138381" name="Text Box 280"/>
          <p:cNvSpPr txBox="1">
            <a:spLocks noChangeArrowheads="1"/>
          </p:cNvSpPr>
          <p:nvPr/>
        </p:nvSpPr>
        <p:spPr bwMode="auto">
          <a:xfrm>
            <a:off x="3579813" y="1679575"/>
            <a:ext cx="34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2 </a:t>
            </a:r>
          </a:p>
        </p:txBody>
      </p:sp>
      <p:sp>
        <p:nvSpPr>
          <p:cNvPr id="138382" name="Text Box 281"/>
          <p:cNvSpPr txBox="1">
            <a:spLocks noChangeArrowheads="1"/>
          </p:cNvSpPr>
          <p:nvPr/>
        </p:nvSpPr>
        <p:spPr bwMode="auto">
          <a:xfrm>
            <a:off x="292100" y="2851150"/>
            <a:ext cx="920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y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8383" name="Text Box 282"/>
          <p:cNvSpPr txBox="1">
            <a:spLocks noChangeArrowheads="1"/>
          </p:cNvSpPr>
          <p:nvPr/>
        </p:nvSpPr>
        <p:spPr bwMode="auto">
          <a:xfrm>
            <a:off x="311150" y="4699000"/>
            <a:ext cx="9080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node z</a:t>
            </a:r>
          </a:p>
          <a:p>
            <a:pPr algn="r" eaLnBrk="1" hangingPunct="1">
              <a:lnSpc>
                <a:spcPct val="85000"/>
              </a:lnSpc>
            </a:pPr>
            <a:r>
              <a:rPr lang="en-US" sz="1800" b="1">
                <a:solidFill>
                  <a:srgbClr val="CC0000"/>
                </a:solidFill>
              </a:rPr>
              <a:t>table</a:t>
            </a:r>
          </a:p>
        </p:txBody>
      </p:sp>
      <p:sp>
        <p:nvSpPr>
          <p:cNvPr id="138384" name="Text Box 283"/>
          <p:cNvSpPr txBox="1">
            <a:spLocks noChangeArrowheads="1"/>
          </p:cNvSpPr>
          <p:nvPr/>
        </p:nvSpPr>
        <p:spPr bwMode="auto">
          <a:xfrm>
            <a:off x="3413125" y="1143000"/>
            <a:ext cx="706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cost to</a:t>
            </a:r>
          </a:p>
        </p:txBody>
      </p:sp>
      <p:sp>
        <p:nvSpPr>
          <p:cNvPr id="138385" name="Text Box 284"/>
          <p:cNvSpPr txBox="1">
            <a:spLocks noChangeArrowheads="1"/>
          </p:cNvSpPr>
          <p:nvPr/>
        </p:nvSpPr>
        <p:spPr bwMode="auto">
          <a:xfrm rot="-5400000">
            <a:off x="561182" y="2067719"/>
            <a:ext cx="538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i="1"/>
              <a:t>from</a:t>
            </a:r>
          </a:p>
        </p:txBody>
      </p:sp>
      <p:sp>
        <p:nvSpPr>
          <p:cNvPr id="18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18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1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7" name="Picture 15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4772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008063"/>
          </a:xfrm>
        </p:spPr>
        <p:txBody>
          <a:bodyPr/>
          <a:lstStyle/>
          <a:p>
            <a:r>
              <a:rPr lang="en-US" sz="3600">
                <a:latin typeface="Gill Sans MT" charset="0"/>
              </a:rPr>
              <a:t>Distance vector: link cost changes</a:t>
            </a:r>
            <a:endParaRPr lang="en-US">
              <a:latin typeface="Gill Sans MT" charset="0"/>
            </a:endParaRPr>
          </a:p>
        </p:txBody>
      </p:sp>
      <p:sp>
        <p:nvSpPr>
          <p:cNvPr id="139269" name="Rectangle 3"/>
          <p:cNvSpPr>
            <a:spLocks noChangeArrowheads="1"/>
          </p:cNvSpPr>
          <p:nvPr/>
        </p:nvSpPr>
        <p:spPr bwMode="auto">
          <a:xfrm>
            <a:off x="552450" y="1400175"/>
            <a:ext cx="48672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link cost changes: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node detects local link cost change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updates routing info, recalculates </a:t>
            </a:r>
            <a:br>
              <a:rPr lang="en-US" sz="2400">
                <a:latin typeface="Gill Sans MT" charset="0"/>
              </a:rPr>
            </a:br>
            <a:r>
              <a:rPr lang="en-US" sz="2400">
                <a:latin typeface="Gill Sans MT" charset="0"/>
              </a:rPr>
              <a:t>distance vector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if DV changes, notify neighbors</a:t>
            </a:r>
            <a:r>
              <a:rPr lang="en-US" sz="2200">
                <a:latin typeface="Gill Sans MT" charset="0"/>
              </a:rPr>
              <a:t> </a:t>
            </a:r>
          </a:p>
        </p:txBody>
      </p:sp>
      <p:sp>
        <p:nvSpPr>
          <p:cNvPr id="139270" name="Text Box 4"/>
          <p:cNvSpPr txBox="1">
            <a:spLocks noChangeArrowheads="1"/>
          </p:cNvSpPr>
          <p:nvPr/>
        </p:nvSpPr>
        <p:spPr bwMode="auto">
          <a:xfrm>
            <a:off x="314325" y="3694113"/>
            <a:ext cx="10001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ja-JP" altLang="en-US">
                <a:solidFill>
                  <a:srgbClr val="CC0000"/>
                </a:solidFill>
                <a:latin typeface="Gill Sans MT" charset="0"/>
              </a:rPr>
              <a:t>“</a:t>
            </a:r>
            <a:r>
              <a:rPr lang="en-US" altLang="ja-JP">
                <a:solidFill>
                  <a:srgbClr val="CC0000"/>
                </a:solidFill>
                <a:latin typeface="Gill Sans MT" charset="0"/>
              </a:rPr>
              <a:t>good</a:t>
            </a:r>
          </a:p>
          <a:p>
            <a:pPr>
              <a:lnSpc>
                <a:spcPct val="80000"/>
              </a:lnSpc>
            </a:pPr>
            <a:r>
              <a:rPr lang="en-US">
                <a:solidFill>
                  <a:srgbClr val="CC0000"/>
                </a:solidFill>
                <a:latin typeface="Gill Sans MT" charset="0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>
                <a:solidFill>
                  <a:srgbClr val="CC0000"/>
                </a:solidFill>
                <a:latin typeface="Gill Sans MT" charset="0"/>
              </a:rPr>
              <a:t>travels</a:t>
            </a:r>
          </a:p>
          <a:p>
            <a:pPr>
              <a:lnSpc>
                <a:spcPct val="80000"/>
              </a:lnSpc>
            </a:pPr>
            <a:r>
              <a:rPr lang="en-US">
                <a:solidFill>
                  <a:srgbClr val="CC0000"/>
                </a:solidFill>
                <a:latin typeface="Gill Sans MT" charset="0"/>
              </a:rPr>
              <a:t>fast</a:t>
            </a:r>
            <a:r>
              <a:rPr lang="ja-JP" altLang="en-US">
                <a:solidFill>
                  <a:srgbClr val="CC0000"/>
                </a:solidFill>
                <a:latin typeface="Gill Sans MT" charset="0"/>
              </a:rPr>
              <a:t>”</a:t>
            </a:r>
            <a:endParaRPr lang="en-US" sz="1600">
              <a:solidFill>
                <a:srgbClr val="CC0000"/>
              </a:solidFill>
              <a:latin typeface="Gill Sans MT" charset="0"/>
            </a:endParaRPr>
          </a:p>
        </p:txBody>
      </p:sp>
      <p:grpSp>
        <p:nvGrpSpPr>
          <p:cNvPr id="139271" name="Group 5"/>
          <p:cNvGrpSpPr>
            <a:grpSpLocks/>
          </p:cNvGrpSpPr>
          <p:nvPr/>
        </p:nvGrpSpPr>
        <p:grpSpPr bwMode="auto">
          <a:xfrm>
            <a:off x="5838825" y="1609725"/>
            <a:ext cx="2184400" cy="1314450"/>
            <a:chOff x="3625" y="1076"/>
            <a:chExt cx="1376" cy="828"/>
          </a:xfrm>
        </p:grpSpPr>
        <p:sp>
          <p:nvSpPr>
            <p:cNvPr id="139275" name="Freeform 6"/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76" name="Freeform 7"/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77" name="Oval 8"/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78" name="Line 9"/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79" name="Line 10"/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0" name="Rectangle 11"/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sp>
          <p:nvSpPr>
            <p:cNvPr id="139281" name="Oval 12"/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2" name="Freeform 13"/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3" name="Freeform 14"/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9284" name="Group 15"/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39308" name="Rectangle 1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09" name="Text Box 17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>
                    <a:latin typeface="Comic Sans MS" charset="0"/>
                  </a:rPr>
                  <a:t>x</a:t>
                </a:r>
                <a:endParaRPr lang="en-US">
                  <a:latin typeface="Times New Roman" charset="0"/>
                </a:endParaRPr>
              </a:p>
            </p:txBody>
          </p:sp>
        </p:grpSp>
        <p:grpSp>
          <p:nvGrpSpPr>
            <p:cNvPr id="139285" name="Group 18"/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39300" name="Oval 19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01" name="Line 20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02" name="Line 21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303" name="Rectangle 22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139304" name="Oval 23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9305" name="Group 24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39306" name="Rectangle 2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30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>
                      <a:latin typeface="Comic Sans MS" charset="0"/>
                    </a:rPr>
                    <a:t>z</a:t>
                  </a:r>
                  <a:endParaRPr lang="en-US">
                    <a:latin typeface="Times New Roman" charset="0"/>
                  </a:endParaRPr>
                </a:p>
              </p:txBody>
            </p:sp>
          </p:grpSp>
        </p:grpSp>
        <p:sp>
          <p:nvSpPr>
            <p:cNvPr id="139286" name="Text Box 27"/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latin typeface="Comic Sans MS" charset="0"/>
                </a:rPr>
                <a:t>1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39287" name="Text Box 28"/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latin typeface="Comic Sans MS" charset="0"/>
                </a:rPr>
                <a:t>4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39288" name="Text Box 29"/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latin typeface="Comic Sans MS" charset="0"/>
                </a:rPr>
                <a:t>50</a:t>
              </a:r>
              <a:endParaRPr lang="en-US">
                <a:latin typeface="Times New Roman" charset="0"/>
              </a:endParaRPr>
            </a:p>
          </p:txBody>
        </p:sp>
        <p:grpSp>
          <p:nvGrpSpPr>
            <p:cNvPr id="139289" name="Group 30"/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39292" name="Oval 31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293" name="Line 32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294" name="Line 33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295" name="Rectangle 34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139296" name="Oval 35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9297" name="Group 36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39298" name="Rectangle 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29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>
                      <a:latin typeface="Comic Sans MS" charset="0"/>
                    </a:rPr>
                    <a:t>y</a:t>
                  </a:r>
                  <a:endParaRPr lang="en-US">
                    <a:latin typeface="Times New Roman" charset="0"/>
                  </a:endParaRPr>
                </a:p>
              </p:txBody>
            </p:sp>
          </p:grpSp>
        </p:grpSp>
        <p:sp>
          <p:nvSpPr>
            <p:cNvPr id="139290" name="Text Box 39"/>
            <p:cNvSpPr txBox="1">
              <a:spLocks noChangeArrowheads="1"/>
            </p:cNvSpPr>
            <p:nvPr/>
          </p:nvSpPr>
          <p:spPr bwMode="auto">
            <a:xfrm>
              <a:off x="3839" y="1076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39291" name="Line 40"/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30153" name="Rectangle 41"/>
          <p:cNvSpPr>
            <a:spLocks noChangeArrowheads="1"/>
          </p:cNvSpPr>
          <p:nvPr/>
        </p:nvSpPr>
        <p:spPr bwMode="auto">
          <a:xfrm>
            <a:off x="1698625" y="3633788"/>
            <a:ext cx="669131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i="1"/>
              <a:t>t</a:t>
            </a:r>
            <a:r>
              <a:rPr lang="en-US" i="1" baseline="-25000"/>
              <a:t>0 </a:t>
            </a:r>
            <a:r>
              <a:rPr lang="en-US"/>
              <a:t>: </a:t>
            </a:r>
            <a:r>
              <a:rPr lang="en-US" i="1"/>
              <a:t>y</a:t>
            </a:r>
            <a:r>
              <a:rPr lang="en-US"/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/>
          </a:p>
        </p:txBody>
      </p:sp>
      <p:sp>
        <p:nvSpPr>
          <p:cNvPr id="730154" name="Rectangle 42"/>
          <p:cNvSpPr>
            <a:spLocks noChangeArrowheads="1"/>
          </p:cNvSpPr>
          <p:nvPr/>
        </p:nvSpPr>
        <p:spPr bwMode="auto">
          <a:xfrm>
            <a:off x="1711325" y="4327525"/>
            <a:ext cx="65039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i="1"/>
              <a:t>t</a:t>
            </a:r>
            <a:r>
              <a:rPr lang="en-US" i="1" baseline="-25000"/>
              <a:t>1 </a:t>
            </a:r>
            <a:r>
              <a:rPr lang="en-US"/>
              <a:t>: </a:t>
            </a:r>
            <a:r>
              <a:rPr lang="en-US" i="1"/>
              <a:t>z</a:t>
            </a:r>
            <a:r>
              <a:rPr lang="en-US"/>
              <a:t> receives update from </a:t>
            </a:r>
            <a:r>
              <a:rPr lang="en-US" i="1"/>
              <a:t>y</a:t>
            </a:r>
            <a:r>
              <a:rPr lang="en-US"/>
              <a:t>, updates its table, computes new least cost to </a:t>
            </a:r>
            <a:r>
              <a:rPr lang="en-US" i="1"/>
              <a:t>x</a:t>
            </a:r>
            <a:r>
              <a:rPr lang="en-US"/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/>
          </a:p>
        </p:txBody>
      </p:sp>
      <p:sp>
        <p:nvSpPr>
          <p:cNvPr id="730155" name="Rectangle 43"/>
          <p:cNvSpPr>
            <a:spLocks noChangeArrowheads="1"/>
          </p:cNvSpPr>
          <p:nvPr/>
        </p:nvSpPr>
        <p:spPr bwMode="auto">
          <a:xfrm>
            <a:off x="1733550" y="5151438"/>
            <a:ext cx="715803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i="1"/>
              <a:t>t</a:t>
            </a:r>
            <a:r>
              <a:rPr lang="en-US" i="1" baseline="-25000"/>
              <a:t>2 </a:t>
            </a:r>
            <a:r>
              <a:rPr lang="en-US"/>
              <a:t>: </a:t>
            </a:r>
            <a:r>
              <a:rPr lang="en-US" i="1"/>
              <a:t>y</a:t>
            </a:r>
            <a:r>
              <a:rPr lang="en-US"/>
              <a:t> receives </a:t>
            </a:r>
            <a:r>
              <a:rPr lang="en-US" i="1"/>
              <a:t>z</a:t>
            </a:r>
            <a:r>
              <a:rPr lang="ja-JP" altLang="en-US"/>
              <a:t>’</a:t>
            </a:r>
            <a:r>
              <a:rPr lang="en-US" altLang="ja-JP"/>
              <a:t>s update, updates its distance table.  </a:t>
            </a:r>
            <a:r>
              <a:rPr lang="en-US" altLang="ja-JP" i="1"/>
              <a:t>y</a:t>
            </a:r>
            <a:r>
              <a:rPr lang="ja-JP" altLang="en-US"/>
              <a:t>’</a:t>
            </a:r>
            <a:r>
              <a:rPr lang="en-US" altLang="ja-JP"/>
              <a:t>s least costs do </a:t>
            </a:r>
            <a:r>
              <a:rPr lang="en-US" altLang="ja-JP" i="1"/>
              <a:t>not</a:t>
            </a:r>
            <a:r>
              <a:rPr lang="en-US" altLang="ja-JP"/>
              <a:t> change, so </a:t>
            </a:r>
            <a:r>
              <a:rPr lang="en-US" altLang="ja-JP" i="1"/>
              <a:t>y</a:t>
            </a:r>
            <a:r>
              <a:rPr lang="en-US" altLang="ja-JP"/>
              <a:t>  does </a:t>
            </a:r>
            <a:r>
              <a:rPr lang="en-US" altLang="ja-JP" i="1"/>
              <a:t>not</a:t>
            </a:r>
            <a:r>
              <a:rPr lang="en-US" altLang="ja-JP"/>
              <a:t> send a message to </a:t>
            </a:r>
            <a:r>
              <a:rPr lang="en-US" altLang="ja-JP" i="1"/>
              <a:t>z</a:t>
            </a:r>
            <a:r>
              <a:rPr lang="en-US" altLang="ja-JP"/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/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sp>
        <p:nvSpPr>
          <p:cNvPr id="49" name="TextBox 1"/>
          <p:cNvSpPr txBox="1">
            <a:spLocks noChangeArrowheads="1"/>
          </p:cNvSpPr>
          <p:nvPr/>
        </p:nvSpPr>
        <p:spPr bwMode="auto"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 smtClean="0"/>
              <a:t>* Check </a:t>
            </a:r>
            <a:r>
              <a:rPr lang="en-US" sz="1400" dirty="0"/>
              <a:t>out the online interactive exercises for more </a:t>
            </a:r>
            <a:r>
              <a:rPr lang="en-US" sz="1400" dirty="0" smtClean="0"/>
              <a:t>examples: h</a:t>
            </a:r>
            <a:r>
              <a:rPr lang="en-US" sz="1200" dirty="0" smtClean="0"/>
              <a:t>ttp</a:t>
            </a:r>
            <a:r>
              <a:rPr lang="en-US" sz="1200" dirty="0"/>
              <a:t>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352354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53" grpId="0"/>
      <p:bldP spid="730154" grpId="0"/>
      <p:bldP spid="7301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1" name="Picture 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4772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2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008063"/>
          </a:xfrm>
        </p:spPr>
        <p:txBody>
          <a:bodyPr/>
          <a:lstStyle/>
          <a:p>
            <a:r>
              <a:rPr lang="en-US" sz="3600">
                <a:latin typeface="Gill Sans MT" charset="0"/>
              </a:rPr>
              <a:t>Distance vector: link cost changes</a:t>
            </a:r>
            <a:endParaRPr lang="en-US">
              <a:latin typeface="Gill Sans MT" charset="0"/>
            </a:endParaRPr>
          </a:p>
        </p:txBody>
      </p:sp>
      <p:sp>
        <p:nvSpPr>
          <p:cNvPr id="140293" name="Rectangle 4"/>
          <p:cNvSpPr>
            <a:spLocks noChangeArrowheads="1"/>
          </p:cNvSpPr>
          <p:nvPr/>
        </p:nvSpPr>
        <p:spPr bwMode="auto">
          <a:xfrm>
            <a:off x="552450" y="1400175"/>
            <a:ext cx="48672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link cost changes: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node detects local link cost change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bad news travels slow</a:t>
            </a:r>
            <a:r>
              <a:rPr lang="en-US" sz="2400">
                <a:latin typeface="Gill Sans MT" charset="0"/>
              </a:rPr>
              <a:t> -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>
                <a:latin typeface="Gill Sans MT" charset="0"/>
              </a:rPr>
              <a:t>count to infinity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>
                <a:latin typeface="Gill Sans MT" charset="0"/>
              </a:rPr>
              <a:t> problem!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44 iterations before algorithm stabilizes: see text</a:t>
            </a:r>
          </a:p>
        </p:txBody>
      </p:sp>
      <p:grpSp>
        <p:nvGrpSpPr>
          <p:cNvPr id="140294" name="Group 6"/>
          <p:cNvGrpSpPr>
            <a:grpSpLocks/>
          </p:cNvGrpSpPr>
          <p:nvPr/>
        </p:nvGrpSpPr>
        <p:grpSpPr bwMode="auto">
          <a:xfrm>
            <a:off x="5838825" y="1609725"/>
            <a:ext cx="2184400" cy="1314450"/>
            <a:chOff x="3625" y="1076"/>
            <a:chExt cx="1376" cy="828"/>
          </a:xfrm>
        </p:grpSpPr>
        <p:sp>
          <p:nvSpPr>
            <p:cNvPr id="140296" name="Freeform 7"/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297" name="Freeform 8"/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298" name="Oval 9"/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299" name="Line 10"/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00" name="Line 11"/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01" name="Rectangle 12"/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sp>
          <p:nvSpPr>
            <p:cNvPr id="140302" name="Oval 13"/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03" name="Freeform 14"/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04" name="Freeform 15"/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0305" name="Group 16"/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40329" name="Rectangle 1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30" name="Text Box 18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>
                    <a:latin typeface="Comic Sans MS" charset="0"/>
                  </a:rPr>
                  <a:t>x</a:t>
                </a:r>
                <a:endParaRPr lang="en-US">
                  <a:latin typeface="Times New Roman" charset="0"/>
                </a:endParaRPr>
              </a:p>
            </p:txBody>
          </p:sp>
        </p:grpSp>
        <p:grpSp>
          <p:nvGrpSpPr>
            <p:cNvPr id="140306" name="Group 19"/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40321" name="Oval 2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22" name="Line 2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23" name="Line 2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24" name="Rectangle 2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140325" name="Oval 2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0326" name="Group 25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40327" name="Rectangle 2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032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>
                      <a:latin typeface="Comic Sans MS" charset="0"/>
                    </a:rPr>
                    <a:t>z</a:t>
                  </a:r>
                  <a:endParaRPr lang="en-US">
                    <a:latin typeface="Times New Roman" charset="0"/>
                  </a:endParaRPr>
                </a:p>
              </p:txBody>
            </p:sp>
          </p:grpSp>
        </p:grpSp>
        <p:sp>
          <p:nvSpPr>
            <p:cNvPr id="140307" name="Text Box 28"/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latin typeface="Comic Sans MS" charset="0"/>
                </a:rPr>
                <a:t>1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40308" name="Text Box 29"/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latin typeface="Comic Sans MS" charset="0"/>
                </a:rPr>
                <a:t>4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40309" name="Text Box 30"/>
            <p:cNvSpPr txBox="1">
              <a:spLocks noChangeArrowheads="1"/>
            </p:cNvSpPr>
            <p:nvPr/>
          </p:nvSpPr>
          <p:spPr bwMode="auto">
            <a:xfrm>
              <a:off x="4169" y="1658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>
                  <a:latin typeface="Comic Sans MS" charset="0"/>
                </a:rPr>
                <a:t>50</a:t>
              </a:r>
              <a:endParaRPr lang="en-US" dirty="0">
                <a:latin typeface="Times New Roman" charset="0"/>
              </a:endParaRPr>
            </a:p>
          </p:txBody>
        </p:sp>
        <p:grpSp>
          <p:nvGrpSpPr>
            <p:cNvPr id="140310" name="Group 31"/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40313" name="Oval 32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14" name="Line 33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15" name="Line 34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316" name="Rectangle 35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140317" name="Oval 36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0318" name="Group 37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40319" name="Rectangle 3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032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>
                      <a:latin typeface="Comic Sans MS" charset="0"/>
                    </a:rPr>
                    <a:t>y</a:t>
                  </a:r>
                  <a:endParaRPr lang="en-US">
                    <a:latin typeface="Times New Roman" charset="0"/>
                  </a:endParaRPr>
                </a:p>
              </p:txBody>
            </p:sp>
          </p:grpSp>
        </p:grpSp>
        <p:sp>
          <p:nvSpPr>
            <p:cNvPr id="140311" name="Text Box 40"/>
            <p:cNvSpPr txBox="1">
              <a:spLocks noChangeArrowheads="1"/>
            </p:cNvSpPr>
            <p:nvPr/>
          </p:nvSpPr>
          <p:spPr bwMode="auto">
            <a:xfrm>
              <a:off x="3784" y="1076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60</a:t>
              </a:r>
              <a:endParaRPr lang="en-US">
                <a:latin typeface="Times New Roman" charset="0"/>
              </a:endParaRPr>
            </a:p>
          </p:txBody>
        </p:sp>
        <p:sp>
          <p:nvSpPr>
            <p:cNvPr id="140312" name="Line 41"/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0295" name="Rectangle 45"/>
          <p:cNvSpPr>
            <a:spLocks noChangeArrowheads="1"/>
          </p:cNvSpPr>
          <p:nvPr/>
        </p:nvSpPr>
        <p:spPr bwMode="auto">
          <a:xfrm>
            <a:off x="604838" y="3787775"/>
            <a:ext cx="72104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poisoned reverse:</a:t>
            </a:r>
            <a:r>
              <a:rPr lang="en-US" sz="2000">
                <a:latin typeface="Gill Sans MT" charset="0"/>
              </a:rPr>
              <a:t>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If Z routes through Y to get to X 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000">
                <a:latin typeface="Gill Sans MT" charset="0"/>
              </a:rPr>
              <a:t>Z tells Y its (Z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>
                <a:latin typeface="Gill Sans MT" charset="0"/>
              </a:rPr>
              <a:t>s) distance to X is infinite (so Y won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>
                <a:latin typeface="Gill Sans MT" charset="0"/>
              </a:rPr>
              <a:t>t route to X via Z)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400">
                <a:latin typeface="Gill Sans MT" charset="0"/>
              </a:rPr>
              <a:t>will this completely solve count to infinity problem?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4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56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5" name="Picture 7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04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1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452438"/>
            <a:ext cx="7772400" cy="528637"/>
          </a:xfrm>
        </p:spPr>
        <p:txBody>
          <a:bodyPr/>
          <a:lstStyle/>
          <a:p>
            <a:pPr>
              <a:defRPr/>
            </a:pPr>
            <a:r>
              <a:rPr lang="en-US" sz="3600">
                <a:cs typeface="+mj-cs"/>
              </a:rPr>
              <a:t>Comparison of LS and DV algorithms</a:t>
            </a:r>
          </a:p>
        </p:txBody>
      </p:sp>
      <p:sp>
        <p:nvSpPr>
          <p:cNvPr id="141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3875" y="1295400"/>
            <a:ext cx="4029075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message complexity</a:t>
            </a:r>
          </a:p>
          <a:p>
            <a:r>
              <a:rPr lang="en-US" sz="2000" b="1" i="1">
                <a:solidFill>
                  <a:srgbClr val="CC0000"/>
                </a:solidFill>
                <a:latin typeface="Gill Sans MT" charset="0"/>
              </a:rPr>
              <a:t>LS:</a:t>
            </a:r>
            <a:r>
              <a:rPr lang="en-US" sz="2000">
                <a:latin typeface="Gill Sans MT" charset="0"/>
              </a:rPr>
              <a:t> with n nodes, E links, O(nE) msgs sent  </a:t>
            </a:r>
          </a:p>
          <a:p>
            <a:r>
              <a:rPr lang="en-US" sz="2000" b="1" i="1">
                <a:solidFill>
                  <a:srgbClr val="CC0000"/>
                </a:solidFill>
                <a:latin typeface="Gill Sans MT" charset="0"/>
              </a:rPr>
              <a:t>DV:</a:t>
            </a:r>
            <a:r>
              <a:rPr lang="en-US" sz="200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000">
                <a:latin typeface="Gill Sans MT" charset="0"/>
              </a:rPr>
              <a:t>exchange between neighbors only</a:t>
            </a:r>
          </a:p>
          <a:p>
            <a:pPr lvl="1"/>
            <a:r>
              <a:rPr lang="en-US" sz="2000">
                <a:latin typeface="Gill Sans MT" charset="0"/>
              </a:rPr>
              <a:t>convergence time varies</a:t>
            </a:r>
          </a:p>
          <a:p>
            <a:pPr>
              <a:spcBef>
                <a:spcPct val="50000"/>
              </a:spcBef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speed of convergence</a:t>
            </a:r>
          </a:p>
          <a:p>
            <a:r>
              <a:rPr lang="en-US" sz="2000" b="1" i="1">
                <a:solidFill>
                  <a:srgbClr val="CC0000"/>
                </a:solidFill>
                <a:latin typeface="Gill Sans MT" charset="0"/>
              </a:rPr>
              <a:t>LS:</a:t>
            </a:r>
            <a:r>
              <a:rPr lang="en-US" sz="2000">
                <a:latin typeface="Gill Sans MT" charset="0"/>
              </a:rPr>
              <a:t> O(n</a:t>
            </a:r>
            <a:r>
              <a:rPr lang="en-US" sz="2000" b="1" baseline="30000">
                <a:latin typeface="Gill Sans MT" charset="0"/>
              </a:rPr>
              <a:t>2</a:t>
            </a:r>
            <a:r>
              <a:rPr lang="en-US" sz="2000">
                <a:latin typeface="Gill Sans MT" charset="0"/>
              </a:rPr>
              <a:t>) algorithm requires O(nE) msgs</a:t>
            </a:r>
          </a:p>
          <a:p>
            <a:pPr lvl="1"/>
            <a:r>
              <a:rPr lang="en-US" sz="2000">
                <a:latin typeface="Gill Sans MT" charset="0"/>
              </a:rPr>
              <a:t>may have oscillations</a:t>
            </a:r>
            <a:endParaRPr lang="en-US" sz="1800">
              <a:latin typeface="Gill Sans MT" charset="0"/>
            </a:endParaRPr>
          </a:p>
          <a:p>
            <a:r>
              <a:rPr lang="en-US" sz="2000" b="1" i="1">
                <a:solidFill>
                  <a:srgbClr val="CC0000"/>
                </a:solidFill>
                <a:latin typeface="Gill Sans MT" charset="0"/>
              </a:rPr>
              <a:t>DV:</a:t>
            </a:r>
            <a:r>
              <a:rPr lang="en-US" sz="2000">
                <a:latin typeface="Gill Sans MT" charset="0"/>
              </a:rPr>
              <a:t> convergence time varies</a:t>
            </a:r>
          </a:p>
          <a:p>
            <a:pPr lvl="1"/>
            <a:r>
              <a:rPr lang="en-US" sz="2000">
                <a:latin typeface="Gill Sans MT" charset="0"/>
              </a:rPr>
              <a:t>may be routing loops</a:t>
            </a:r>
          </a:p>
          <a:p>
            <a:pPr lvl="1"/>
            <a:r>
              <a:rPr lang="en-US" sz="2000">
                <a:latin typeface="Gill Sans MT" charset="0"/>
              </a:rPr>
              <a:t>count-to-infinity problem</a:t>
            </a:r>
            <a:endParaRPr lang="en-US" sz="1800">
              <a:latin typeface="Gill Sans MT" charset="0"/>
            </a:endParaRPr>
          </a:p>
        </p:txBody>
      </p:sp>
      <p:sp>
        <p:nvSpPr>
          <p:cNvPr id="1413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43450" y="1328738"/>
            <a:ext cx="4010025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robustness:</a:t>
            </a:r>
            <a:r>
              <a:rPr lang="en-US" sz="2400">
                <a:latin typeface="Gill Sans MT" charset="0"/>
              </a:rPr>
              <a:t> what happens if router malfunctions?</a:t>
            </a:r>
          </a:p>
          <a:p>
            <a:pPr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LS:</a:t>
            </a:r>
            <a:r>
              <a:rPr lang="en-US" sz="2400">
                <a:latin typeface="Gill Sans MT" charset="0"/>
              </a:rPr>
              <a:t> </a:t>
            </a:r>
          </a:p>
          <a:p>
            <a:pPr lvl="1"/>
            <a:r>
              <a:rPr lang="en-US" sz="2000">
                <a:latin typeface="Gill Sans MT" charset="0"/>
              </a:rPr>
              <a:t>node can advertise incorrect </a:t>
            </a:r>
            <a:r>
              <a:rPr lang="en-US" sz="2000" i="1">
                <a:solidFill>
                  <a:srgbClr val="000099"/>
                </a:solidFill>
                <a:latin typeface="Gill Sans MT" charset="0"/>
              </a:rPr>
              <a:t>link</a:t>
            </a:r>
            <a:r>
              <a:rPr lang="en-US" sz="2000">
                <a:latin typeface="Gill Sans MT" charset="0"/>
              </a:rPr>
              <a:t> cost</a:t>
            </a:r>
          </a:p>
          <a:p>
            <a:pPr lvl="1"/>
            <a:r>
              <a:rPr lang="en-US" sz="2000">
                <a:latin typeface="Gill Sans MT" charset="0"/>
              </a:rPr>
              <a:t>each node computes only its </a:t>
            </a:r>
            <a:r>
              <a:rPr lang="en-US" sz="2000" i="1">
                <a:latin typeface="Gill Sans MT" charset="0"/>
              </a:rPr>
              <a:t>own</a:t>
            </a:r>
            <a:r>
              <a:rPr lang="en-US" sz="2000">
                <a:latin typeface="Gill Sans MT" charset="0"/>
              </a:rPr>
              <a:t> table</a:t>
            </a:r>
          </a:p>
          <a:p>
            <a:pPr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DV:</a:t>
            </a:r>
          </a:p>
          <a:p>
            <a:pPr lvl="1"/>
            <a:r>
              <a:rPr lang="en-US" sz="2000">
                <a:latin typeface="Gill Sans MT" charset="0"/>
              </a:rPr>
              <a:t>DV node can advertise incorrect </a:t>
            </a:r>
            <a:r>
              <a:rPr lang="en-US" sz="2000" i="1">
                <a:solidFill>
                  <a:srgbClr val="000099"/>
                </a:solidFill>
                <a:latin typeface="Gill Sans MT" charset="0"/>
              </a:rPr>
              <a:t>path</a:t>
            </a:r>
            <a:r>
              <a:rPr lang="en-US" sz="2000">
                <a:latin typeface="Gill Sans MT" charset="0"/>
              </a:rPr>
              <a:t> cost</a:t>
            </a:r>
          </a:p>
          <a:p>
            <a:pPr lvl="1"/>
            <a:r>
              <a:rPr lang="en-US" sz="2000">
                <a:latin typeface="Gill Sans MT" charset="0"/>
              </a:rPr>
              <a:t>each node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altLang="ja-JP" sz="2000">
                <a:latin typeface="Gill Sans MT" charset="0"/>
              </a:rPr>
              <a:t>s table used by others </a:t>
            </a:r>
          </a:p>
          <a:p>
            <a:pPr lvl="2"/>
            <a:r>
              <a:rPr lang="en-US" sz="1800">
                <a:latin typeface="Comic Sans MS" charset="0"/>
              </a:rPr>
              <a:t>error propagate thru network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3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6146460"/>
      </p:ext>
    </p:extLst>
  </p:cSld>
  <p:clrMapOvr>
    <a:masterClrMapping/>
  </p:clrMapOvr>
  <p:transition spd="slow" advTm="44844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20889</TotalTime>
  <Words>1272</Words>
  <Application>Microsoft Office PowerPoint</Application>
  <PresentationFormat>화면 슬라이드 쇼(4:3)</PresentationFormat>
  <Paragraphs>350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MS Mincho</vt:lpstr>
      <vt:lpstr>ＭＳ Ｐゴシック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PowerPoint 프레젠테이션</vt:lpstr>
      <vt:lpstr>Distance vector algorithm </vt:lpstr>
      <vt:lpstr>Bellman-Ford example </vt:lpstr>
      <vt:lpstr>Distance vector algorithm </vt:lpstr>
      <vt:lpstr>Distance vector algorithm </vt:lpstr>
      <vt:lpstr>Distance vector algorithm </vt:lpstr>
      <vt:lpstr>PowerPoint 프레젠테이션</vt:lpstr>
      <vt:lpstr>PowerPoint 프레젠테이션</vt:lpstr>
      <vt:lpstr>Distance vector: link cost changes</vt:lpstr>
      <vt:lpstr>Distance vector: link cost changes</vt:lpstr>
      <vt:lpstr>Comparison of LS and DV algorithms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515</cp:revision>
  <dcterms:created xsi:type="dcterms:W3CDTF">1999-10-08T19:08:27Z</dcterms:created>
  <dcterms:modified xsi:type="dcterms:W3CDTF">2020-09-04T07:50:15Z</dcterms:modified>
</cp:coreProperties>
</file>