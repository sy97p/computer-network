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778" r:id="rId2"/>
    <p:sldId id="862" r:id="rId3"/>
    <p:sldId id="345" r:id="rId4"/>
    <p:sldId id="694" r:id="rId5"/>
    <p:sldId id="882" r:id="rId6"/>
    <p:sldId id="883" r:id="rId7"/>
    <p:sldId id="884" r:id="rId8"/>
    <p:sldId id="894" r:id="rId9"/>
    <p:sldId id="895" r:id="rId10"/>
    <p:sldId id="896" r:id="rId11"/>
    <p:sldId id="897" r:id="rId12"/>
    <p:sldId id="898" r:id="rId1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A4C393-E737-BC43-97C2-03F614D801C4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F84B22-79F1-5A4C-ADC0-95054349920C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D16E53-AA3A-1B40-8834-C507253CDA7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7A7DFF-E366-894D-AE11-E372FC777130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164779-EDBD-A947-A945-45F2979F167B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</a:t>
            </a:r>
            <a:r>
              <a:rPr lang="en-US" sz="2400" dirty="0">
                <a:latin typeface="Gill Sans MT" charset="0"/>
              </a:rPr>
              <a:t>c</a:t>
            </a:r>
            <a:r>
              <a:rPr lang="en-US" sz="2400" dirty="0" smtClean="0">
                <a:latin typeface="Gill Sans MT" charset="0"/>
              </a:rPr>
              <a:t>ontrol </a:t>
            </a:r>
            <a:r>
              <a:rPr lang="en-US" sz="2400" dirty="0">
                <a:latin typeface="Gill Sans MT" charset="0"/>
              </a:rPr>
              <a:t>p</a:t>
            </a:r>
            <a:r>
              <a:rPr lang="en-US" sz="2400" dirty="0" smtClean="0">
                <a:latin typeface="Gill Sans MT" charset="0"/>
              </a:rPr>
              <a:t>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CC0000"/>
                </a:solidFill>
              </a:rPr>
              <a:t>5.6 </a:t>
            </a:r>
            <a:r>
              <a:rPr lang="en-US" sz="2400" dirty="0">
                <a:solidFill>
                  <a:srgbClr val="CC0000"/>
                </a:solidFill>
              </a:rPr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2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24825" cy="876300"/>
          </a:xfrm>
        </p:spPr>
        <p:txBody>
          <a:bodyPr/>
          <a:lstStyle/>
          <a:p>
            <a:r>
              <a:rPr lang="en-US" sz="3600">
                <a:latin typeface="Gill Sans MT" charset="0"/>
              </a:rPr>
              <a:t>ICMP: internet control message protocol</a:t>
            </a:r>
            <a:endParaRPr lang="en-US">
              <a:latin typeface="Gill Sans MT" charset="0"/>
            </a:endParaRPr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7838" y="1544638"/>
            <a:ext cx="3810000" cy="4648200"/>
          </a:xfrm>
        </p:spPr>
        <p:txBody>
          <a:bodyPr/>
          <a:lstStyle/>
          <a:p>
            <a:r>
              <a:rPr lang="en-US" sz="2400">
                <a:latin typeface="Gill Sans MT" charset="0"/>
              </a:rPr>
              <a:t>used by hosts &amp; routers to communicate network-level information</a:t>
            </a:r>
          </a:p>
          <a:p>
            <a:pPr lvl="1"/>
            <a:r>
              <a:rPr lang="en-US" sz="2000">
                <a:latin typeface="Gill Sans MT" charset="0"/>
              </a:rPr>
              <a:t>error reporting: unreachable host, network, port, protocol</a:t>
            </a:r>
          </a:p>
          <a:p>
            <a:pPr lvl="1"/>
            <a:r>
              <a:rPr lang="en-US" sz="2000">
                <a:latin typeface="Gill Sans MT" charset="0"/>
              </a:rPr>
              <a:t>echo request/reply (used by ping)</a:t>
            </a:r>
          </a:p>
          <a:p>
            <a:r>
              <a:rPr lang="en-US" sz="2400">
                <a:latin typeface="Gill Sans MT" charset="0"/>
              </a:rPr>
              <a:t>network-layer </a:t>
            </a:r>
            <a:r>
              <a:rPr lang="ja-JP" altLang="en-US" sz="2400">
                <a:latin typeface="Gill Sans MT" charset="0"/>
              </a:rPr>
              <a:t>“</a:t>
            </a:r>
            <a:r>
              <a:rPr lang="en-US" altLang="ja-JP" sz="2400">
                <a:latin typeface="Gill Sans MT" charset="0"/>
              </a:rPr>
              <a:t>above</a:t>
            </a:r>
            <a:r>
              <a:rPr lang="ja-JP" altLang="en-US" sz="2400">
                <a:latin typeface="Gill Sans MT" charset="0"/>
              </a:rPr>
              <a:t>”</a:t>
            </a:r>
            <a:r>
              <a:rPr lang="en-US" altLang="ja-JP" sz="2400">
                <a:latin typeface="Gill Sans MT" charset="0"/>
              </a:rPr>
              <a:t> IP:</a:t>
            </a:r>
          </a:p>
          <a:p>
            <a:pPr lvl="1"/>
            <a:r>
              <a:rPr lang="en-US" sz="2000">
                <a:latin typeface="Gill Sans MT" charset="0"/>
              </a:rPr>
              <a:t>ICMP msgs carried in IP datagrams</a:t>
            </a:r>
          </a:p>
          <a:p>
            <a:r>
              <a:rPr lang="en-US" sz="2400">
                <a:solidFill>
                  <a:srgbClr val="000099"/>
                </a:solidFill>
                <a:latin typeface="Gill Sans MT" charset="0"/>
              </a:rPr>
              <a:t>ICMP message:</a:t>
            </a:r>
            <a:r>
              <a:rPr lang="en-US" sz="2400">
                <a:latin typeface="Gill Sans MT" charset="0"/>
              </a:rPr>
              <a:t> type, code plus first 8 bytes of IP datagram causing error</a:t>
            </a:r>
          </a:p>
        </p:txBody>
      </p:sp>
      <p:sp>
        <p:nvSpPr>
          <p:cNvPr id="109573" name="Text Box 4"/>
          <p:cNvSpPr txBox="1">
            <a:spLocks noChangeArrowheads="1"/>
          </p:cNvSpPr>
          <p:nvPr/>
        </p:nvSpPr>
        <p:spPr bwMode="auto">
          <a:xfrm>
            <a:off x="4584700" y="1760538"/>
            <a:ext cx="42608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u="sng"/>
              <a:t>Type</a:t>
            </a:r>
            <a:r>
              <a:rPr lang="en-US" sz="1800"/>
              <a:t>  </a:t>
            </a:r>
            <a:r>
              <a:rPr lang="en-US" sz="1800" u="sng"/>
              <a:t>Code</a:t>
            </a:r>
            <a:r>
              <a:rPr lang="en-US" sz="1800"/>
              <a:t>  </a:t>
            </a:r>
            <a:r>
              <a:rPr lang="en-US" sz="1800" u="sng"/>
              <a:t>description</a:t>
            </a:r>
            <a:endParaRPr lang="en-US" sz="1800"/>
          </a:p>
          <a:p>
            <a:r>
              <a:rPr lang="en-US" sz="1800"/>
              <a:t>0        0         echo reply (ping)</a:t>
            </a:r>
          </a:p>
          <a:p>
            <a:r>
              <a:rPr lang="en-US" sz="1800"/>
              <a:t>3        0         dest. network unreachable</a:t>
            </a:r>
          </a:p>
          <a:p>
            <a:r>
              <a:rPr lang="en-US" sz="1800"/>
              <a:t>3        1         dest host unreachable</a:t>
            </a:r>
          </a:p>
          <a:p>
            <a:r>
              <a:rPr lang="en-US" sz="1800"/>
              <a:t>3        2         dest protocol unreachable</a:t>
            </a:r>
          </a:p>
          <a:p>
            <a:r>
              <a:rPr lang="en-US" sz="1800"/>
              <a:t>3        3         dest port unreachable</a:t>
            </a:r>
          </a:p>
          <a:p>
            <a:r>
              <a:rPr lang="en-US" sz="1800"/>
              <a:t>3        6         dest network unknown</a:t>
            </a:r>
          </a:p>
          <a:p>
            <a:r>
              <a:rPr lang="en-US" sz="1800"/>
              <a:t>3        7         dest host unknown</a:t>
            </a:r>
          </a:p>
          <a:p>
            <a:r>
              <a:rPr lang="en-US" sz="1800"/>
              <a:t>4        0         source quench (congestion</a:t>
            </a:r>
          </a:p>
          <a:p>
            <a:r>
              <a:rPr lang="en-US" sz="1800"/>
              <a:t>                     control - not used)</a:t>
            </a:r>
          </a:p>
          <a:p>
            <a:r>
              <a:rPr lang="en-US" sz="1800"/>
              <a:t>8        0         echo request (ping)</a:t>
            </a:r>
          </a:p>
          <a:p>
            <a:r>
              <a:rPr lang="en-US" sz="1800"/>
              <a:t>9        0         route advertisement</a:t>
            </a:r>
          </a:p>
          <a:p>
            <a:r>
              <a:rPr lang="en-US" sz="1800"/>
              <a:t>10      0         router discovery</a:t>
            </a:r>
          </a:p>
          <a:p>
            <a:r>
              <a:rPr lang="en-US" sz="1800"/>
              <a:t>11      0         TTL expired</a:t>
            </a:r>
          </a:p>
          <a:p>
            <a:r>
              <a:rPr lang="en-US" sz="1800"/>
              <a:t>12      0         bad IP header</a:t>
            </a:r>
          </a:p>
          <a:p>
            <a:endParaRPr lang="en-US" sz="1800"/>
          </a:p>
        </p:txBody>
      </p:sp>
      <p:pic>
        <p:nvPicPr>
          <p:cNvPr id="109574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95567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5725"/>
            <a:ext cx="7772400" cy="974725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Traceroute and ICMP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1166813"/>
            <a:ext cx="3887788" cy="4648200"/>
          </a:xfrm>
        </p:spPr>
        <p:txBody>
          <a:bodyPr/>
          <a:lstStyle/>
          <a:p>
            <a:pPr marL="282575" indent="-282575">
              <a:defRPr/>
            </a:pPr>
            <a:r>
              <a:rPr lang="en-US" sz="2400" dirty="0">
                <a:cs typeface="+mn-cs"/>
              </a:rPr>
              <a:t>source sends series of UDP segments to </a:t>
            </a:r>
            <a:r>
              <a:rPr lang="en-US" sz="2400" dirty="0" smtClean="0">
                <a:cs typeface="+mn-cs"/>
              </a:rPr>
              <a:t>destination</a:t>
            </a:r>
            <a:endParaRPr lang="en-US" sz="2400" dirty="0">
              <a:cs typeface="+mn-cs"/>
            </a:endParaRPr>
          </a:p>
          <a:p>
            <a:pPr marL="565150" lvl="1" indent="-222250">
              <a:defRPr/>
            </a:pPr>
            <a:r>
              <a:rPr lang="en-US" sz="2000" dirty="0"/>
              <a:t>first set has TTL =1</a:t>
            </a:r>
          </a:p>
          <a:p>
            <a:pPr marL="565150" lvl="1" indent="-222250">
              <a:defRPr/>
            </a:pPr>
            <a:r>
              <a:rPr lang="en-US" sz="2000" dirty="0"/>
              <a:t>second set has TTL=2, etc.</a:t>
            </a:r>
          </a:p>
          <a:p>
            <a:pPr marL="565150" lvl="1" indent="-222250">
              <a:defRPr/>
            </a:pPr>
            <a:r>
              <a:rPr lang="en-US" sz="2000" dirty="0"/>
              <a:t>unlikely port number</a:t>
            </a:r>
          </a:p>
          <a:p>
            <a:pPr marL="282575" indent="-282575">
              <a:defRPr/>
            </a:pPr>
            <a:r>
              <a:rPr lang="en-US" sz="2400" dirty="0">
                <a:cs typeface="+mn-cs"/>
              </a:rPr>
              <a:t>when </a:t>
            </a:r>
            <a:r>
              <a:rPr lang="en-US" sz="2400" dirty="0" smtClean="0">
                <a:cs typeface="+mn-cs"/>
              </a:rPr>
              <a:t>datagram in </a:t>
            </a:r>
            <a:r>
              <a:rPr lang="en-US" sz="2400" i="1" dirty="0" smtClean="0">
                <a:cs typeface="+mn-cs"/>
              </a:rPr>
              <a:t>n</a:t>
            </a:r>
            <a:r>
              <a:rPr lang="en-US" sz="2400" dirty="0" smtClean="0">
                <a:cs typeface="+mn-cs"/>
              </a:rPr>
              <a:t>th </a:t>
            </a:r>
            <a:r>
              <a:rPr lang="en-US" sz="2400" dirty="0">
                <a:cs typeface="+mn-cs"/>
              </a:rPr>
              <a:t>set </a:t>
            </a:r>
            <a:r>
              <a:rPr lang="en-US" sz="2400" dirty="0" smtClean="0">
                <a:cs typeface="+mn-cs"/>
              </a:rPr>
              <a:t>arrives </a:t>
            </a:r>
            <a:r>
              <a:rPr lang="en-US" sz="2400" dirty="0">
                <a:cs typeface="+mn-cs"/>
              </a:rPr>
              <a:t>to nth router:</a:t>
            </a:r>
          </a:p>
          <a:p>
            <a:pPr marL="523875" lvl="1" indent="-180975">
              <a:defRPr/>
            </a:pPr>
            <a:r>
              <a:rPr lang="en-US" sz="2000" dirty="0"/>
              <a:t>router discards </a:t>
            </a:r>
            <a:r>
              <a:rPr lang="en-US" sz="2000" dirty="0" smtClean="0"/>
              <a:t>datagram and sends </a:t>
            </a:r>
            <a:r>
              <a:rPr lang="en-US" sz="2000" dirty="0"/>
              <a:t>source ICMP </a:t>
            </a:r>
            <a:r>
              <a:rPr lang="en-US" sz="2000" dirty="0" smtClean="0"/>
              <a:t>message </a:t>
            </a:r>
            <a:r>
              <a:rPr lang="en-US" sz="2000" dirty="0"/>
              <a:t>(type 11, code 0)</a:t>
            </a:r>
          </a:p>
          <a:p>
            <a:pPr marL="523875" lvl="1" indent="-180975">
              <a:defRPr/>
            </a:pPr>
            <a:r>
              <a:rPr lang="en-US" sz="2000" dirty="0"/>
              <a:t>ICMP </a:t>
            </a:r>
            <a:r>
              <a:rPr lang="en-US" sz="2000" dirty="0" smtClean="0"/>
              <a:t>message include </a:t>
            </a:r>
            <a:r>
              <a:rPr lang="en-US" sz="2000" dirty="0"/>
              <a:t>name of router &amp; IP address</a:t>
            </a:r>
          </a:p>
        </p:txBody>
      </p:sp>
      <p:sp>
        <p:nvSpPr>
          <p:cNvPr id="6656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95850" y="1177925"/>
            <a:ext cx="3810000" cy="2005013"/>
          </a:xfrm>
        </p:spPr>
        <p:txBody>
          <a:bodyPr/>
          <a:lstStyle/>
          <a:p>
            <a:pPr marL="282575" indent="-282575">
              <a:defRPr/>
            </a:pPr>
            <a:r>
              <a:rPr lang="en-US" sz="2400" dirty="0">
                <a:cs typeface="+mn-cs"/>
              </a:rPr>
              <a:t>when ICMP </a:t>
            </a:r>
            <a:r>
              <a:rPr lang="en-US" sz="2400" dirty="0" smtClean="0">
                <a:cs typeface="+mn-cs"/>
              </a:rPr>
              <a:t>message </a:t>
            </a:r>
            <a:r>
              <a:rPr lang="en-US" sz="2400" dirty="0">
                <a:cs typeface="+mn-cs"/>
              </a:rPr>
              <a:t>arrives, source records RTTs</a:t>
            </a:r>
          </a:p>
        </p:txBody>
      </p:sp>
      <p:sp>
        <p:nvSpPr>
          <p:cNvPr id="655365" name="Rectangle 5"/>
          <p:cNvSpPr>
            <a:spLocks noChangeArrowheads="1"/>
          </p:cNvSpPr>
          <p:nvPr/>
        </p:nvSpPr>
        <p:spPr bwMode="auto">
          <a:xfrm>
            <a:off x="4892675" y="2411413"/>
            <a:ext cx="3810000" cy="304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None/>
            </a:pPr>
            <a:r>
              <a:rPr lang="en-US" sz="2400" i="1" dirty="0">
                <a:solidFill>
                  <a:srgbClr val="000099"/>
                </a:solidFill>
                <a:latin typeface="Gill Sans MT" charset="0"/>
              </a:rPr>
              <a:t>stopping criteria: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UDP segment eventually arrives at destination host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destination returns ICMP 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port unreachable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 message (type 3, code 3)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source stops</a:t>
            </a:r>
          </a:p>
        </p:txBody>
      </p:sp>
      <p:pic>
        <p:nvPicPr>
          <p:cNvPr id="110599" name="Picture 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81121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600" name="Line 38"/>
          <p:cNvSpPr>
            <a:spLocks noChangeShapeType="1"/>
          </p:cNvSpPr>
          <p:nvPr/>
        </p:nvSpPr>
        <p:spPr bwMode="auto">
          <a:xfrm>
            <a:off x="1285875" y="5684890"/>
            <a:ext cx="288925" cy="265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Line 105"/>
          <p:cNvSpPr>
            <a:spLocks noChangeShapeType="1"/>
          </p:cNvSpPr>
          <p:nvPr/>
        </p:nvSpPr>
        <p:spPr bwMode="auto">
          <a:xfrm flipV="1">
            <a:off x="2079625" y="5735690"/>
            <a:ext cx="458788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2" name="Line 106"/>
          <p:cNvSpPr>
            <a:spLocks noChangeShapeType="1"/>
          </p:cNvSpPr>
          <p:nvPr/>
        </p:nvSpPr>
        <p:spPr bwMode="auto">
          <a:xfrm>
            <a:off x="3014663" y="5719815"/>
            <a:ext cx="485775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3" name="Line 108"/>
          <p:cNvSpPr>
            <a:spLocks noChangeShapeType="1"/>
          </p:cNvSpPr>
          <p:nvPr/>
        </p:nvSpPr>
        <p:spPr bwMode="auto">
          <a:xfrm flipH="1">
            <a:off x="2776538" y="5451528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4" name="Line 113"/>
          <p:cNvSpPr>
            <a:spLocks noChangeShapeType="1"/>
          </p:cNvSpPr>
          <p:nvPr/>
        </p:nvSpPr>
        <p:spPr bwMode="auto">
          <a:xfrm flipH="1">
            <a:off x="3990975" y="5780140"/>
            <a:ext cx="620713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5" name="Line 260"/>
          <p:cNvSpPr>
            <a:spLocks noChangeShapeType="1"/>
          </p:cNvSpPr>
          <p:nvPr/>
        </p:nvSpPr>
        <p:spPr bwMode="auto">
          <a:xfrm>
            <a:off x="5110163" y="5745215"/>
            <a:ext cx="485775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6" name="Line 261"/>
          <p:cNvSpPr>
            <a:spLocks noChangeShapeType="1"/>
          </p:cNvSpPr>
          <p:nvPr/>
        </p:nvSpPr>
        <p:spPr bwMode="auto">
          <a:xfrm flipH="1">
            <a:off x="6048375" y="5691240"/>
            <a:ext cx="557213" cy="277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7" name="Line 291"/>
          <p:cNvSpPr>
            <a:spLocks noChangeShapeType="1"/>
          </p:cNvSpPr>
          <p:nvPr/>
        </p:nvSpPr>
        <p:spPr bwMode="auto">
          <a:xfrm>
            <a:off x="2744788" y="5851578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8" name="Line 292"/>
          <p:cNvSpPr>
            <a:spLocks noChangeShapeType="1"/>
          </p:cNvSpPr>
          <p:nvPr/>
        </p:nvSpPr>
        <p:spPr bwMode="auto">
          <a:xfrm>
            <a:off x="4668838" y="5438828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09" name="Line 294"/>
          <p:cNvSpPr>
            <a:spLocks noChangeShapeType="1"/>
          </p:cNvSpPr>
          <p:nvPr/>
        </p:nvSpPr>
        <p:spPr bwMode="auto">
          <a:xfrm flipH="1">
            <a:off x="3386138" y="6042078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610" name="Line 295"/>
          <p:cNvSpPr>
            <a:spLocks noChangeShapeType="1"/>
          </p:cNvSpPr>
          <p:nvPr/>
        </p:nvSpPr>
        <p:spPr bwMode="auto">
          <a:xfrm>
            <a:off x="3741738" y="5546778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1387475" y="540390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3 probes</a:t>
            </a:r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2001838" y="5964290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3 probes</a:t>
            </a:r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3025775" y="5378503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CC0000"/>
                </a:solidFill>
              </a:rPr>
              <a:t>3 probes</a:t>
            </a:r>
          </a:p>
        </p:txBody>
      </p:sp>
      <p:grpSp>
        <p:nvGrpSpPr>
          <p:cNvPr id="110614" name="Group 21"/>
          <p:cNvGrpSpPr>
            <a:grpSpLocks/>
          </p:cNvGrpSpPr>
          <p:nvPr/>
        </p:nvGrpSpPr>
        <p:grpSpPr bwMode="auto">
          <a:xfrm>
            <a:off x="517525" y="5340403"/>
            <a:ext cx="820738" cy="688975"/>
            <a:chOff x="-44" y="1473"/>
            <a:chExt cx="981" cy="1105"/>
          </a:xfrm>
        </p:grpSpPr>
        <p:pic>
          <p:nvPicPr>
            <p:cNvPr id="110666" name="Picture 22" descr="desktop_computer_stylized_medium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67" name="Freeform 2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0615" name="Group 24"/>
          <p:cNvGrpSpPr>
            <a:grpSpLocks/>
          </p:cNvGrpSpPr>
          <p:nvPr/>
        </p:nvGrpSpPr>
        <p:grpSpPr bwMode="auto">
          <a:xfrm flipH="1">
            <a:off x="6565900" y="5378503"/>
            <a:ext cx="754063" cy="669925"/>
            <a:chOff x="-44" y="1473"/>
            <a:chExt cx="981" cy="1105"/>
          </a:xfrm>
        </p:grpSpPr>
        <p:pic>
          <p:nvPicPr>
            <p:cNvPr id="110664" name="Picture 2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665" name="Freeform 2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4176 w 356"/>
                <a:gd name="T3" fmla="*/ 248 h 368"/>
                <a:gd name="T4" fmla="*/ 4954 w 356"/>
                <a:gd name="T5" fmla="*/ 5173 h 368"/>
                <a:gd name="T6" fmla="*/ 1092 w 356"/>
                <a:gd name="T7" fmla="*/ 6469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10616" name="Group 27"/>
          <p:cNvGrpSpPr>
            <a:grpSpLocks/>
          </p:cNvGrpSpPr>
          <p:nvPr/>
        </p:nvGrpSpPr>
        <p:grpSpPr bwMode="auto">
          <a:xfrm>
            <a:off x="5513388" y="5878565"/>
            <a:ext cx="617537" cy="250825"/>
            <a:chOff x="2356" y="1300"/>
            <a:chExt cx="555" cy="194"/>
          </a:xfrm>
        </p:grpSpPr>
        <p:sp>
          <p:nvSpPr>
            <p:cNvPr id="110656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57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58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10659" name="Group 31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0662" name="Freeform 3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63" name="Freeform 3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660" name="Line 34"/>
            <p:cNvSpPr>
              <a:spLocks noChangeShapeType="1"/>
            </p:cNvSpPr>
            <p:nvPr/>
          </p:nvSpPr>
          <p:spPr bwMode="auto">
            <a:xfrm>
              <a:off x="2357" y="1361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61" name="Line 35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617" name="Group 36"/>
          <p:cNvGrpSpPr>
            <a:grpSpLocks/>
          </p:cNvGrpSpPr>
          <p:nvPr/>
        </p:nvGrpSpPr>
        <p:grpSpPr bwMode="auto">
          <a:xfrm>
            <a:off x="4545013" y="5607103"/>
            <a:ext cx="617537" cy="250825"/>
            <a:chOff x="2356" y="1300"/>
            <a:chExt cx="555" cy="194"/>
          </a:xfrm>
        </p:grpSpPr>
        <p:sp>
          <p:nvSpPr>
            <p:cNvPr id="110648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49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50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10651" name="Group 40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0654" name="Freeform 4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55" name="Freeform 4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652" name="Line 43"/>
            <p:cNvSpPr>
              <a:spLocks noChangeShapeType="1"/>
            </p:cNvSpPr>
            <p:nvPr/>
          </p:nvSpPr>
          <p:spPr bwMode="auto">
            <a:xfrm>
              <a:off x="2357" y="1361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3" name="Line 44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618" name="Group 45"/>
          <p:cNvGrpSpPr>
            <a:grpSpLocks/>
          </p:cNvGrpSpPr>
          <p:nvPr/>
        </p:nvGrpSpPr>
        <p:grpSpPr bwMode="auto">
          <a:xfrm>
            <a:off x="3394075" y="5816653"/>
            <a:ext cx="617538" cy="250825"/>
            <a:chOff x="2356" y="1300"/>
            <a:chExt cx="555" cy="194"/>
          </a:xfrm>
        </p:grpSpPr>
        <p:sp>
          <p:nvSpPr>
            <p:cNvPr id="110640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41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42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10643" name="Group 49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0646" name="Freeform 50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47" name="Freeform 51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644" name="Line 52"/>
            <p:cNvSpPr>
              <a:spLocks noChangeShapeType="1"/>
            </p:cNvSpPr>
            <p:nvPr/>
          </p:nvSpPr>
          <p:spPr bwMode="auto">
            <a:xfrm>
              <a:off x="2357" y="1361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5" name="Line 53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619" name="Group 54"/>
          <p:cNvGrpSpPr>
            <a:grpSpLocks/>
          </p:cNvGrpSpPr>
          <p:nvPr/>
        </p:nvGrpSpPr>
        <p:grpSpPr bwMode="auto">
          <a:xfrm>
            <a:off x="2392363" y="5570590"/>
            <a:ext cx="617537" cy="250825"/>
            <a:chOff x="2356" y="1300"/>
            <a:chExt cx="555" cy="194"/>
          </a:xfrm>
        </p:grpSpPr>
        <p:sp>
          <p:nvSpPr>
            <p:cNvPr id="110632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33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34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10635" name="Group 58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0638" name="Freeform 59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39" name="Freeform 60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636" name="Line 61"/>
            <p:cNvSpPr>
              <a:spLocks noChangeShapeType="1"/>
            </p:cNvSpPr>
            <p:nvPr/>
          </p:nvSpPr>
          <p:spPr bwMode="auto">
            <a:xfrm>
              <a:off x="2357" y="1361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37" name="Line 62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0620" name="Group 63"/>
          <p:cNvGrpSpPr>
            <a:grpSpLocks/>
          </p:cNvGrpSpPr>
          <p:nvPr/>
        </p:nvGrpSpPr>
        <p:grpSpPr bwMode="auto">
          <a:xfrm>
            <a:off x="1517650" y="5837290"/>
            <a:ext cx="617538" cy="250825"/>
            <a:chOff x="2356" y="1300"/>
            <a:chExt cx="555" cy="194"/>
          </a:xfrm>
        </p:grpSpPr>
        <p:sp>
          <p:nvSpPr>
            <p:cNvPr id="11062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2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 sz="2400">
                <a:latin typeface="Times New Roman" charset="0"/>
                <a:cs typeface="Arial" charset="0"/>
              </a:endParaRPr>
            </a:p>
          </p:txBody>
        </p:sp>
        <p:sp>
          <p:nvSpPr>
            <p:cNvPr id="11062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Times New Roman" charset="0"/>
                <a:cs typeface="Arial" charset="0"/>
              </a:endParaRPr>
            </a:p>
          </p:txBody>
        </p:sp>
        <p:grpSp>
          <p:nvGrpSpPr>
            <p:cNvPr id="110627" name="Group 67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0630" name="Freeform 68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631" name="Freeform 69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0628" name="Line 70"/>
            <p:cNvSpPr>
              <a:spLocks noChangeShapeType="1"/>
            </p:cNvSpPr>
            <p:nvPr/>
          </p:nvSpPr>
          <p:spPr bwMode="auto">
            <a:xfrm>
              <a:off x="2357" y="1361"/>
              <a:ext cx="0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9" name="Line 71"/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3247" name="Freeform 303"/>
          <p:cNvSpPr>
            <a:spLocks/>
          </p:cNvSpPr>
          <p:nvPr/>
        </p:nvSpPr>
        <p:spPr bwMode="auto">
          <a:xfrm>
            <a:off x="1257300" y="5624565"/>
            <a:ext cx="2247900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1289050" y="5661078"/>
            <a:ext cx="419100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1282700" y="5575353"/>
            <a:ext cx="1346200" cy="474662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7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5" grpId="0"/>
      <p:bldP spid="83244" grpId="0"/>
      <p:bldP spid="83246" grpId="0"/>
      <p:bldP spid="83248" grpId="0"/>
      <p:bldP spid="83247" grpId="0" animBg="1"/>
      <p:bldP spid="83243" grpId="0" animBg="1"/>
      <p:bldP spid="832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5.4 routing among </a:t>
            </a:r>
            <a:r>
              <a:rPr lang="en-US" sz="2400" dirty="0"/>
              <a:t>the ISPs: B</a:t>
            </a:r>
            <a:r>
              <a:rPr lang="en-US" sz="2400" dirty="0" smtClean="0"/>
              <a:t>GP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</a:t>
            </a:r>
            <a:r>
              <a:rPr lang="en-US" sz="2400" dirty="0">
                <a:latin typeface="Gill Sans MT" charset="0"/>
              </a:rPr>
              <a:t>c</a:t>
            </a:r>
            <a:r>
              <a:rPr lang="en-US" sz="2400" dirty="0" smtClean="0">
                <a:latin typeface="Gill Sans MT" charset="0"/>
              </a:rPr>
              <a:t>ontrol </a:t>
            </a:r>
            <a:r>
              <a:rPr lang="en-US" sz="2400" dirty="0">
                <a:latin typeface="Gill Sans MT" charset="0"/>
              </a:rPr>
              <a:t>p</a:t>
            </a:r>
            <a:r>
              <a:rPr lang="en-US" sz="2400" dirty="0" smtClean="0">
                <a:latin typeface="Gill Sans MT" charset="0"/>
              </a:rPr>
              <a:t>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5.6 </a:t>
            </a:r>
            <a:r>
              <a:rPr lang="en-US" sz="2400" dirty="0">
                <a:solidFill>
                  <a:srgbClr val="000000"/>
                </a:solidFill>
              </a:rPr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>
                <a:solidFill>
                  <a:srgbClr val="CC0000"/>
                </a:solidFill>
              </a:rPr>
              <a:t>5.7 Network </a:t>
            </a:r>
            <a:r>
              <a:rPr lang="en-US" sz="2400" dirty="0" smtClean="0">
                <a:solidFill>
                  <a:srgbClr val="CC0000"/>
                </a:solidFill>
              </a:rPr>
              <a:t>management </a:t>
            </a:r>
            <a:r>
              <a:rPr lang="en-US" sz="2400" dirty="0">
                <a:solidFill>
                  <a:srgbClr val="CC0000"/>
                </a:solidFill>
              </a:rPr>
              <a:t>and SNMP</a:t>
            </a:r>
            <a:endParaRPr lang="en-US" sz="24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69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6" descr="underline_base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870123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1448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400" dirty="0" smtClean="0"/>
              <a:t>What is network management?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52632"/>
            <a:ext cx="8191500" cy="3067050"/>
          </a:xfrm>
        </p:spPr>
        <p:txBody>
          <a:bodyPr/>
          <a:lstStyle/>
          <a:p>
            <a:pPr>
              <a:defRPr/>
            </a:pPr>
            <a:r>
              <a:rPr lang="en-US" sz="2400" dirty="0" smtClean="0">
                <a:solidFill>
                  <a:srgbClr val="CC0000"/>
                </a:solidFill>
              </a:rPr>
              <a:t>autonomous systems (aka </a:t>
            </a:r>
            <a:r>
              <a:rPr lang="ja-JP" altLang="en-US" sz="2400" dirty="0" smtClean="0">
                <a:solidFill>
                  <a:srgbClr val="CC0000"/>
                </a:solidFill>
                <a:latin typeface="Arial"/>
              </a:rPr>
              <a:t>“</a:t>
            </a:r>
            <a:r>
              <a:rPr lang="en-US" sz="2400" dirty="0" smtClean="0">
                <a:solidFill>
                  <a:srgbClr val="CC0000"/>
                </a:solidFill>
              </a:rPr>
              <a:t>network</a:t>
            </a:r>
            <a:r>
              <a:rPr lang="ja-JP" altLang="en-US" sz="2400" dirty="0" smtClean="0">
                <a:solidFill>
                  <a:srgbClr val="CC0000"/>
                </a:solidFill>
                <a:latin typeface="Arial"/>
              </a:rPr>
              <a:t>”</a:t>
            </a:r>
            <a:r>
              <a:rPr lang="en-US" sz="2400" dirty="0" smtClean="0">
                <a:solidFill>
                  <a:srgbClr val="CC0000"/>
                </a:solidFill>
              </a:rPr>
              <a:t>): </a:t>
            </a:r>
            <a:r>
              <a:rPr lang="en-US" sz="2400" dirty="0" smtClean="0"/>
              <a:t>1000s of interacting hardware/software components</a:t>
            </a:r>
          </a:p>
          <a:p>
            <a:pPr>
              <a:defRPr/>
            </a:pPr>
            <a:r>
              <a:rPr lang="en-US" sz="2400" dirty="0" smtClean="0"/>
              <a:t>other complex systems requiring monitoring, control:</a:t>
            </a:r>
          </a:p>
          <a:p>
            <a:pPr lvl="1">
              <a:defRPr/>
            </a:pPr>
            <a:r>
              <a:rPr lang="en-US" dirty="0" smtClean="0"/>
              <a:t>jet airplane</a:t>
            </a:r>
          </a:p>
          <a:p>
            <a:pPr lvl="1">
              <a:defRPr/>
            </a:pPr>
            <a:r>
              <a:rPr lang="en-US" dirty="0" smtClean="0"/>
              <a:t>nuclear power plant</a:t>
            </a:r>
          </a:p>
          <a:p>
            <a:pPr lvl="1">
              <a:defRPr/>
            </a:pPr>
            <a:r>
              <a:rPr lang="en-US" dirty="0" smtClean="0"/>
              <a:t>others?</a:t>
            </a:r>
          </a:p>
        </p:txBody>
      </p:sp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1522413" y="3845193"/>
            <a:ext cx="696277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"</a:t>
            </a:r>
            <a:r>
              <a:rPr lang="en-US" sz="2000" dirty="0">
                <a:solidFill>
                  <a:srgbClr val="000099"/>
                </a:solidFill>
                <a:latin typeface="Arial"/>
                <a:cs typeface="Arial"/>
              </a:rPr>
              <a:t>Network management</a:t>
            </a:r>
            <a:r>
              <a:rPr lang="en-US" sz="2000" dirty="0">
                <a:latin typeface="Arial"/>
                <a:cs typeface="Arial"/>
              </a:rPr>
              <a:t> includes the deployment, integration </a:t>
            </a:r>
          </a:p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and coordination of the hardware, software, and human </a:t>
            </a:r>
          </a:p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elements to monitor, test, poll, configure, analyze, evaluate, </a:t>
            </a:r>
          </a:p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and control the network and element resources to meet the </a:t>
            </a:r>
          </a:p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real-time, operational performance, and Quality of Service </a:t>
            </a:r>
          </a:p>
          <a:p>
            <a:pPr algn="l">
              <a:defRPr/>
            </a:pPr>
            <a:r>
              <a:rPr lang="en-US" sz="2000" dirty="0">
                <a:latin typeface="Arial"/>
                <a:cs typeface="Arial"/>
              </a:rPr>
              <a:t>requirements at a reasonable cost."</a:t>
            </a:r>
            <a:r>
              <a:rPr 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1427163" y="3815030"/>
            <a:ext cx="7148512" cy="2093913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5187433"/>
              </p:ext>
            </p:extLst>
          </p:nvPr>
        </p:nvGraphicFramePr>
        <p:xfrm>
          <a:off x="342900" y="4008705"/>
          <a:ext cx="112395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Clip" r:id="rId5" imgW="2861640" imgH="4077360" progId="">
                  <p:embed/>
                </p:oleObj>
              </mc:Choice>
              <mc:Fallback>
                <p:oleObj name="Clip" r:id="rId5" imgW="2861640" imgH="407736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" y="4008705"/>
                        <a:ext cx="1123950" cy="16002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85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2"/>
          <p:cNvSpPr>
            <a:spLocks/>
          </p:cNvSpPr>
          <p:nvPr/>
        </p:nvSpPr>
        <p:spPr bwMode="auto">
          <a:xfrm rot="16383367">
            <a:off x="1251820" y="2563335"/>
            <a:ext cx="4057421" cy="2452239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5841" name="Picture 6" descr="underline_bas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89852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8913"/>
            <a:ext cx="8631238" cy="947737"/>
          </a:xfrm>
        </p:spPr>
        <p:txBody>
          <a:bodyPr/>
          <a:lstStyle/>
          <a:p>
            <a:pPr>
              <a:defRPr/>
            </a:pPr>
            <a:r>
              <a:rPr lang="en-US" sz="4000" dirty="0" smtClean="0"/>
              <a:t>Infrastructure for network management</a:t>
            </a:r>
          </a:p>
        </p:txBody>
      </p:sp>
      <p:sp>
        <p:nvSpPr>
          <p:cNvPr id="35068" name="Line 252"/>
          <p:cNvSpPr>
            <a:spLocks noChangeShapeType="1"/>
          </p:cNvSpPr>
          <p:nvPr/>
        </p:nvSpPr>
        <p:spPr bwMode="auto">
          <a:xfrm flipV="1">
            <a:off x="3308350" y="2808288"/>
            <a:ext cx="338138" cy="1042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5070" name="Line 254"/>
          <p:cNvSpPr>
            <a:spLocks noChangeShapeType="1"/>
          </p:cNvSpPr>
          <p:nvPr/>
        </p:nvSpPr>
        <p:spPr bwMode="auto">
          <a:xfrm flipV="1">
            <a:off x="3641725" y="3762375"/>
            <a:ext cx="187325" cy="211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5072" name="Line 256"/>
          <p:cNvSpPr>
            <a:spLocks noChangeShapeType="1"/>
          </p:cNvSpPr>
          <p:nvPr/>
        </p:nvSpPr>
        <p:spPr bwMode="auto">
          <a:xfrm flipV="1">
            <a:off x="3117850" y="5441950"/>
            <a:ext cx="350838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5088" name="Line 272"/>
          <p:cNvSpPr>
            <a:spLocks noChangeShapeType="1"/>
          </p:cNvSpPr>
          <p:nvPr/>
        </p:nvSpPr>
        <p:spPr bwMode="auto">
          <a:xfrm>
            <a:off x="3541713" y="4252913"/>
            <a:ext cx="373062" cy="554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35149" name="Text Box 333"/>
          <p:cNvSpPr txBox="1">
            <a:spLocks noChangeArrowheads="1"/>
          </p:cNvSpPr>
          <p:nvPr/>
        </p:nvSpPr>
        <p:spPr bwMode="auto">
          <a:xfrm>
            <a:off x="2014538" y="5565775"/>
            <a:ext cx="1690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latin typeface="Arial"/>
                <a:cs typeface="Arial"/>
              </a:rPr>
              <a:t>managed device</a:t>
            </a:r>
          </a:p>
        </p:txBody>
      </p:sp>
      <p:sp>
        <p:nvSpPr>
          <p:cNvPr id="35154" name="Text Box 338"/>
          <p:cNvSpPr txBox="1">
            <a:spLocks noChangeArrowheads="1"/>
          </p:cNvSpPr>
          <p:nvPr/>
        </p:nvSpPr>
        <p:spPr bwMode="auto">
          <a:xfrm>
            <a:off x="3860800" y="5299075"/>
            <a:ext cx="1690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latin typeface="Arial"/>
                <a:cs typeface="Arial"/>
              </a:rPr>
              <a:t>managed device</a:t>
            </a:r>
          </a:p>
        </p:txBody>
      </p:sp>
      <p:sp>
        <p:nvSpPr>
          <p:cNvPr id="35155" name="Text Box 339"/>
          <p:cNvSpPr txBox="1">
            <a:spLocks noChangeArrowheads="1"/>
          </p:cNvSpPr>
          <p:nvPr/>
        </p:nvSpPr>
        <p:spPr bwMode="auto">
          <a:xfrm>
            <a:off x="4079792" y="2506245"/>
            <a:ext cx="1690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latin typeface="Arial"/>
                <a:cs typeface="Arial"/>
              </a:rPr>
              <a:t>managed device</a:t>
            </a:r>
          </a:p>
        </p:txBody>
      </p:sp>
      <p:sp>
        <p:nvSpPr>
          <p:cNvPr id="35156" name="Text Box 340"/>
          <p:cNvSpPr txBox="1">
            <a:spLocks noChangeArrowheads="1"/>
          </p:cNvSpPr>
          <p:nvPr/>
        </p:nvSpPr>
        <p:spPr bwMode="auto">
          <a:xfrm>
            <a:off x="4033838" y="3765550"/>
            <a:ext cx="1690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>
                <a:latin typeface="Arial"/>
                <a:cs typeface="Arial"/>
              </a:rPr>
              <a:t>managed device</a:t>
            </a:r>
          </a:p>
        </p:txBody>
      </p:sp>
      <p:sp>
        <p:nvSpPr>
          <p:cNvPr id="35163" name="Text Box 347"/>
          <p:cNvSpPr txBox="1">
            <a:spLocks noChangeArrowheads="1"/>
          </p:cNvSpPr>
          <p:nvPr/>
        </p:nvSpPr>
        <p:spPr bwMode="auto">
          <a:xfrm>
            <a:off x="436563" y="1217613"/>
            <a:ext cx="1770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latin typeface="Gill Sans"/>
                <a:cs typeface="Gill Sans"/>
              </a:rPr>
              <a:t>definitions:</a:t>
            </a:r>
          </a:p>
        </p:txBody>
      </p:sp>
      <p:sp>
        <p:nvSpPr>
          <p:cNvPr id="35164" name="Text Box 348"/>
          <p:cNvSpPr txBox="1">
            <a:spLocks noChangeArrowheads="1"/>
          </p:cNvSpPr>
          <p:nvPr/>
        </p:nvSpPr>
        <p:spPr bwMode="auto">
          <a:xfrm>
            <a:off x="5996822" y="2283242"/>
            <a:ext cx="2973388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solidFill>
                  <a:srgbClr val="000099"/>
                </a:solidFill>
                <a:latin typeface="Gill Sans"/>
                <a:cs typeface="Gill Sans"/>
              </a:rPr>
              <a:t>managed </a:t>
            </a:r>
            <a:r>
              <a:rPr lang="en-US" sz="2400" i="1" dirty="0" smtClean="0">
                <a:solidFill>
                  <a:srgbClr val="000099"/>
                </a:solidFill>
                <a:latin typeface="Gill Sans"/>
                <a:cs typeface="Gill Sans"/>
              </a:rPr>
              <a:t>devices</a:t>
            </a:r>
            <a:r>
              <a:rPr lang="en-US" sz="2400" dirty="0">
                <a:latin typeface="Gill Sans"/>
                <a:cs typeface="Gill Sans"/>
              </a:rPr>
              <a:t> </a:t>
            </a:r>
            <a:r>
              <a:rPr lang="en-US" sz="2400" dirty="0" smtClean="0">
                <a:latin typeface="Gill Sans"/>
                <a:cs typeface="Gill Sans"/>
              </a:rPr>
              <a:t>contain</a:t>
            </a:r>
            <a:r>
              <a:rPr lang="en-US" sz="2400" dirty="0">
                <a:latin typeface="Gill Sans"/>
                <a:cs typeface="Gill Sans"/>
              </a:rPr>
              <a:t> </a:t>
            </a:r>
            <a:r>
              <a:rPr lang="en-US" sz="2400" i="1" dirty="0" smtClean="0">
                <a:solidFill>
                  <a:srgbClr val="000099"/>
                </a:solidFill>
                <a:latin typeface="Gill Sans"/>
                <a:cs typeface="Gill Sans"/>
              </a:rPr>
              <a:t>managed </a:t>
            </a:r>
            <a:r>
              <a:rPr lang="en-US" sz="2400" i="1" dirty="0">
                <a:solidFill>
                  <a:srgbClr val="000099"/>
                </a:solidFill>
                <a:latin typeface="Gill Sans"/>
                <a:cs typeface="Gill Sans"/>
              </a:rPr>
              <a:t>objects</a:t>
            </a:r>
            <a:r>
              <a:rPr lang="en-US" sz="2400" dirty="0">
                <a:latin typeface="Gill Sans"/>
                <a:cs typeface="Gill Sans"/>
              </a:rPr>
              <a:t> whose </a:t>
            </a:r>
            <a:r>
              <a:rPr lang="en-US" sz="2400" dirty="0" smtClean="0">
                <a:latin typeface="Gill Sans"/>
                <a:cs typeface="Gill Sans"/>
              </a:rPr>
              <a:t> data </a:t>
            </a:r>
            <a:r>
              <a:rPr lang="en-US" sz="2400" dirty="0">
                <a:latin typeface="Gill Sans"/>
                <a:cs typeface="Gill Sans"/>
              </a:rPr>
              <a:t>is gathered into </a:t>
            </a:r>
            <a:r>
              <a:rPr lang="en-US" sz="2400" dirty="0" smtClean="0">
                <a:latin typeface="Gill Sans"/>
                <a:cs typeface="Gill Sans"/>
              </a:rPr>
              <a:t>a </a:t>
            </a:r>
            <a:r>
              <a:rPr lang="en-US" sz="2400" i="1" dirty="0" smtClean="0">
                <a:solidFill>
                  <a:srgbClr val="000099"/>
                </a:solidFill>
                <a:latin typeface="Gill Sans"/>
                <a:cs typeface="Gill Sans"/>
              </a:rPr>
              <a:t>Management Information Base </a:t>
            </a:r>
            <a:r>
              <a:rPr lang="en-US" sz="2400" i="1" dirty="0">
                <a:solidFill>
                  <a:srgbClr val="000099"/>
                </a:solidFill>
                <a:latin typeface="Gill Sans"/>
                <a:cs typeface="Gill Sans"/>
              </a:rPr>
              <a:t>(MIB)</a:t>
            </a:r>
            <a:r>
              <a:rPr lang="en-US" sz="2400" i="1" dirty="0">
                <a:latin typeface="Gill Sans"/>
                <a:cs typeface="Gill Sans"/>
              </a:rPr>
              <a:t> </a:t>
            </a:r>
          </a:p>
          <a:p>
            <a:pPr>
              <a:defRPr/>
            </a:pPr>
            <a:endParaRPr lang="en-US" sz="2000" dirty="0">
              <a:cs typeface="+mn-cs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28625" y="1933575"/>
            <a:ext cx="2047875" cy="1133475"/>
            <a:chOff x="428625" y="1933980"/>
            <a:chExt cx="2047875" cy="1133070"/>
          </a:xfrm>
        </p:grpSpPr>
        <p:grpSp>
          <p:nvGrpSpPr>
            <p:cNvPr id="35941" name="Group 345"/>
            <p:cNvGrpSpPr>
              <a:grpSpLocks/>
            </p:cNvGrpSpPr>
            <p:nvPr/>
          </p:nvGrpSpPr>
          <p:grpSpPr bwMode="auto">
            <a:xfrm>
              <a:off x="428625" y="2295525"/>
              <a:ext cx="2047875" cy="771525"/>
              <a:chOff x="396" y="1116"/>
              <a:chExt cx="1290" cy="486"/>
            </a:xfrm>
          </p:grpSpPr>
          <p:sp>
            <p:nvSpPr>
              <p:cNvPr id="35096" name="Oval 280"/>
              <p:cNvSpPr>
                <a:spLocks noChangeArrowheads="1"/>
              </p:cNvSpPr>
              <p:nvPr/>
            </p:nvSpPr>
            <p:spPr bwMode="auto">
              <a:xfrm>
                <a:off x="396" y="1116"/>
                <a:ext cx="1290" cy="48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35092" name="Text Box 276"/>
              <p:cNvSpPr txBox="1">
                <a:spLocks noChangeArrowheads="1"/>
              </p:cNvSpPr>
              <p:nvPr/>
            </p:nvSpPr>
            <p:spPr bwMode="auto">
              <a:xfrm>
                <a:off x="445" y="1142"/>
                <a:ext cx="684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 dirty="0">
                    <a:latin typeface="Arial"/>
                    <a:cs typeface="Arial"/>
                  </a:rPr>
                  <a:t>managing</a:t>
                </a:r>
              </a:p>
              <a:p>
                <a:pPr>
                  <a:defRPr/>
                </a:pPr>
                <a:r>
                  <a:rPr lang="en-US" sz="1600" dirty="0">
                    <a:latin typeface="Arial"/>
                    <a:cs typeface="Arial"/>
                  </a:rPr>
                  <a:t>entity</a:t>
                </a:r>
              </a:p>
            </p:txBody>
          </p:sp>
          <p:sp>
            <p:nvSpPr>
              <p:cNvPr id="35093" name="Text Box 277"/>
              <p:cNvSpPr txBox="1">
                <a:spLocks noChangeArrowheads="1"/>
              </p:cNvSpPr>
              <p:nvPr/>
            </p:nvSpPr>
            <p:spPr bwMode="auto">
              <a:xfrm>
                <a:off x="1160" y="1262"/>
                <a:ext cx="368" cy="21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600">
                  <a:latin typeface="Arial"/>
                  <a:cs typeface="Arial"/>
                </a:endParaRPr>
              </a:p>
            </p:txBody>
          </p:sp>
        </p:grpSp>
        <p:sp>
          <p:nvSpPr>
            <p:cNvPr id="35165" name="Text Box 349"/>
            <p:cNvSpPr txBox="1">
              <a:spLocks noChangeArrowheads="1"/>
            </p:cNvSpPr>
            <p:nvPr/>
          </p:nvSpPr>
          <p:spPr bwMode="auto">
            <a:xfrm>
              <a:off x="455613" y="1933980"/>
              <a:ext cx="1657486" cy="338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i="1" dirty="0">
                  <a:solidFill>
                    <a:srgbClr val="000099"/>
                  </a:solidFill>
                  <a:latin typeface="Arial"/>
                  <a:cs typeface="Arial"/>
                </a:rPr>
                <a:t>managing entity</a:t>
              </a:r>
              <a:endParaRPr lang="en-US" sz="1600" dirty="0">
                <a:solidFill>
                  <a:srgbClr val="000099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96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63" y="3857625"/>
            <a:ext cx="8763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5862" name="Group 906"/>
          <p:cNvGrpSpPr>
            <a:grpSpLocks/>
          </p:cNvGrpSpPr>
          <p:nvPr/>
        </p:nvGrpSpPr>
        <p:grpSpPr bwMode="auto">
          <a:xfrm>
            <a:off x="3786188" y="4800600"/>
            <a:ext cx="366712" cy="579438"/>
            <a:chOff x="4140" y="429"/>
            <a:chExt cx="1425" cy="2396"/>
          </a:xfrm>
        </p:grpSpPr>
        <p:sp>
          <p:nvSpPr>
            <p:cNvPr id="35909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9" name="Rectangle 908"/>
            <p:cNvSpPr>
              <a:spLocks noChangeArrowheads="1"/>
            </p:cNvSpPr>
            <p:nvPr/>
          </p:nvSpPr>
          <p:spPr bwMode="auto">
            <a:xfrm>
              <a:off x="4208" y="429"/>
              <a:ext cx="1043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911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912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2" name="Rectangle 911"/>
            <p:cNvSpPr>
              <a:spLocks noChangeArrowheads="1"/>
            </p:cNvSpPr>
            <p:nvPr/>
          </p:nvSpPr>
          <p:spPr bwMode="auto">
            <a:xfrm>
              <a:off x="4214" y="692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35914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8" name="AutoShape 913"/>
              <p:cNvSpPr>
                <a:spLocks noChangeArrowheads="1"/>
              </p:cNvSpPr>
              <p:nvPr/>
            </p:nvSpPr>
            <p:spPr bwMode="auto">
              <a:xfrm>
                <a:off x="616" y="2565"/>
                <a:ext cx="724" cy="12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9" name="AutoShape 914"/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04" name="Rectangle 915"/>
            <p:cNvSpPr>
              <a:spLocks noChangeArrowheads="1"/>
            </p:cNvSpPr>
            <p:nvPr/>
          </p:nvSpPr>
          <p:spPr bwMode="auto">
            <a:xfrm>
              <a:off x="4226" y="1020"/>
              <a:ext cx="592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35916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6" name="AutoShape 9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7" name="AutoShape 918"/>
              <p:cNvSpPr>
                <a:spLocks noChangeArrowheads="1"/>
              </p:cNvSpPr>
              <p:nvPr/>
            </p:nvSpPr>
            <p:spPr bwMode="auto">
              <a:xfrm>
                <a:off x="626" y="2581"/>
                <a:ext cx="700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06" name="Rectangle 919"/>
            <p:cNvSpPr>
              <a:spLocks noChangeArrowheads="1"/>
            </p:cNvSpPr>
            <p:nvPr/>
          </p:nvSpPr>
          <p:spPr bwMode="auto">
            <a:xfrm>
              <a:off x="4214" y="1361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07" name="Rectangle 920"/>
            <p:cNvSpPr>
              <a:spLocks noChangeArrowheads="1"/>
            </p:cNvSpPr>
            <p:nvPr/>
          </p:nvSpPr>
          <p:spPr bwMode="auto">
            <a:xfrm>
              <a:off x="4226" y="1657"/>
              <a:ext cx="598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35919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4" name="AutoShape 922"/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5" name="AutoShape 923"/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699" cy="11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35920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grpSp>
          <p:nvGrpSpPr>
            <p:cNvPr id="35921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2" name="AutoShape 926"/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1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23" name="AutoShape 927"/>
              <p:cNvSpPr>
                <a:spLocks noChangeArrowheads="1"/>
              </p:cNvSpPr>
              <p:nvPr/>
            </p:nvSpPr>
            <p:spPr bwMode="auto">
              <a:xfrm>
                <a:off x="629" y="2582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11" name="Rectangle 928"/>
            <p:cNvSpPr>
              <a:spLocks noChangeArrowheads="1"/>
            </p:cNvSpPr>
            <p:nvPr/>
          </p:nvSpPr>
          <p:spPr bwMode="auto">
            <a:xfrm>
              <a:off x="5250" y="429"/>
              <a:ext cx="68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923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5924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4" name="Oval 931"/>
            <p:cNvSpPr>
              <a:spLocks noChangeArrowheads="1"/>
            </p:cNvSpPr>
            <p:nvPr/>
          </p:nvSpPr>
          <p:spPr bwMode="auto"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5926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6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7" cy="144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7" name="AutoShape 934"/>
            <p:cNvSpPr>
              <a:spLocks noChangeArrowheads="1"/>
            </p:cNvSpPr>
            <p:nvPr/>
          </p:nvSpPr>
          <p:spPr bwMode="auto">
            <a:xfrm>
              <a:off x="4208" y="2713"/>
              <a:ext cx="1067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8" name="Oval 935"/>
            <p:cNvSpPr>
              <a:spLocks noChangeArrowheads="1"/>
            </p:cNvSpPr>
            <p:nvPr/>
          </p:nvSpPr>
          <p:spPr bwMode="auto"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19" name="Oval 936"/>
            <p:cNvSpPr>
              <a:spLocks noChangeArrowheads="1"/>
            </p:cNvSpPr>
            <p:nvPr/>
          </p:nvSpPr>
          <p:spPr bwMode="auto"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160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20" name="Oval 937"/>
            <p:cNvSpPr>
              <a:spLocks noChangeArrowheads="1"/>
            </p:cNvSpPr>
            <p:nvPr/>
          </p:nvSpPr>
          <p:spPr bwMode="auto"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21" name="Rectangle 938"/>
            <p:cNvSpPr>
              <a:spLocks noChangeArrowheads="1"/>
            </p:cNvSpPr>
            <p:nvPr/>
          </p:nvSpPr>
          <p:spPr bwMode="auto"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35863" name="Group 44"/>
          <p:cNvGrpSpPr>
            <a:grpSpLocks/>
          </p:cNvGrpSpPr>
          <p:nvPr/>
        </p:nvGrpSpPr>
        <p:grpSpPr bwMode="auto">
          <a:xfrm>
            <a:off x="3251200" y="2220913"/>
            <a:ext cx="903288" cy="727075"/>
            <a:chOff x="-44" y="1473"/>
            <a:chExt cx="981" cy="1105"/>
          </a:xfrm>
        </p:grpSpPr>
        <p:pic>
          <p:nvPicPr>
            <p:cNvPr id="35907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08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</p:grpSp>
      <p:grpSp>
        <p:nvGrpSpPr>
          <p:cNvPr id="35864" name="Group 44"/>
          <p:cNvGrpSpPr>
            <a:grpSpLocks/>
          </p:cNvGrpSpPr>
          <p:nvPr/>
        </p:nvGrpSpPr>
        <p:grpSpPr bwMode="auto">
          <a:xfrm>
            <a:off x="2055813" y="2655888"/>
            <a:ext cx="903287" cy="727075"/>
            <a:chOff x="-44" y="1473"/>
            <a:chExt cx="981" cy="1105"/>
          </a:xfrm>
        </p:grpSpPr>
        <p:pic>
          <p:nvPicPr>
            <p:cNvPr id="35905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906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1600"/>
            </a:p>
          </p:txBody>
        </p:sp>
      </p:grpSp>
      <p:sp>
        <p:nvSpPr>
          <p:cNvPr id="136" name="Line 272"/>
          <p:cNvSpPr>
            <a:spLocks noChangeShapeType="1"/>
          </p:cNvSpPr>
          <p:nvPr/>
        </p:nvSpPr>
        <p:spPr bwMode="auto">
          <a:xfrm>
            <a:off x="2733675" y="3303588"/>
            <a:ext cx="371475" cy="554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sp>
        <p:nvSpPr>
          <p:cNvPr id="137" name="Line 272"/>
          <p:cNvSpPr>
            <a:spLocks noChangeShapeType="1"/>
          </p:cNvSpPr>
          <p:nvPr/>
        </p:nvSpPr>
        <p:spPr bwMode="auto">
          <a:xfrm flipH="1">
            <a:off x="2947988" y="4241800"/>
            <a:ext cx="309562" cy="1023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4006850" y="4752975"/>
            <a:ext cx="1293813" cy="615950"/>
            <a:chOff x="6563312" y="4346525"/>
            <a:chExt cx="1292995" cy="615298"/>
          </a:xfrm>
        </p:grpSpPr>
        <p:sp>
          <p:nvSpPr>
            <p:cNvPr id="35122" name="Oval 306"/>
            <p:cNvSpPr>
              <a:spLocks noChangeArrowheads="1"/>
            </p:cNvSpPr>
            <p:nvPr/>
          </p:nvSpPr>
          <p:spPr bwMode="auto">
            <a:xfrm>
              <a:off x="6563312" y="4346525"/>
              <a:ext cx="1292995" cy="615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35118" name="Text Box 302"/>
            <p:cNvSpPr txBox="1">
              <a:spLocks noChangeArrowheads="1"/>
            </p:cNvSpPr>
            <p:nvPr/>
          </p:nvSpPr>
          <p:spPr bwMode="auto">
            <a:xfrm>
              <a:off x="6607734" y="4465462"/>
              <a:ext cx="633544" cy="307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>
                  <a:latin typeface="Arial"/>
                  <a:cs typeface="Arial"/>
                </a:rPr>
                <a:t>agent</a:t>
              </a:r>
            </a:p>
          </p:txBody>
        </p:sp>
        <p:grpSp>
          <p:nvGrpSpPr>
            <p:cNvPr id="35902" name="Group 303"/>
            <p:cNvGrpSpPr>
              <a:grpSpLocks/>
            </p:cNvGrpSpPr>
            <p:nvPr/>
          </p:nvGrpSpPr>
          <p:grpSpPr bwMode="auto">
            <a:xfrm>
              <a:off x="7112206" y="4464844"/>
              <a:ext cx="567758" cy="370756"/>
              <a:chOff x="714" y="2006"/>
              <a:chExt cx="347" cy="219"/>
            </a:xfrm>
          </p:grpSpPr>
          <p:sp>
            <p:nvSpPr>
              <p:cNvPr id="35120" name="Rectangle 304"/>
              <p:cNvSpPr>
                <a:spLocks noChangeArrowheads="1"/>
              </p:cNvSpPr>
              <p:nvPr/>
            </p:nvSpPr>
            <p:spPr bwMode="auto">
              <a:xfrm>
                <a:off x="747" y="2026"/>
                <a:ext cx="314" cy="19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35121" name="Text Box 305"/>
              <p:cNvSpPr txBox="1">
                <a:spLocks noChangeArrowheads="1"/>
              </p:cNvSpPr>
              <p:nvPr/>
            </p:nvSpPr>
            <p:spPr bwMode="auto">
              <a:xfrm>
                <a:off x="714" y="2006"/>
                <a:ext cx="326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40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145" name="Group 144"/>
          <p:cNvGrpSpPr>
            <a:grpSpLocks/>
          </p:cNvGrpSpPr>
          <p:nvPr/>
        </p:nvGrpSpPr>
        <p:grpSpPr bwMode="auto">
          <a:xfrm>
            <a:off x="3856038" y="1949450"/>
            <a:ext cx="1293812" cy="614363"/>
            <a:chOff x="6563312" y="4346525"/>
            <a:chExt cx="1292995" cy="615298"/>
          </a:xfrm>
        </p:grpSpPr>
        <p:sp>
          <p:nvSpPr>
            <p:cNvPr id="146" name="Oval 306"/>
            <p:cNvSpPr>
              <a:spLocks noChangeArrowheads="1"/>
            </p:cNvSpPr>
            <p:nvPr/>
          </p:nvSpPr>
          <p:spPr bwMode="auto">
            <a:xfrm>
              <a:off x="6563312" y="4346525"/>
              <a:ext cx="1292995" cy="615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47" name="Text Box 302"/>
            <p:cNvSpPr txBox="1">
              <a:spLocks noChangeArrowheads="1"/>
            </p:cNvSpPr>
            <p:nvPr/>
          </p:nvSpPr>
          <p:spPr bwMode="auto">
            <a:xfrm>
              <a:off x="6607734" y="4465769"/>
              <a:ext cx="633545" cy="308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>
                  <a:latin typeface="Arial"/>
                  <a:cs typeface="Arial"/>
                </a:rPr>
                <a:t>agent</a:t>
              </a:r>
            </a:p>
          </p:txBody>
        </p:sp>
        <p:grpSp>
          <p:nvGrpSpPr>
            <p:cNvPr id="35892" name="Group 303"/>
            <p:cNvGrpSpPr>
              <a:grpSpLocks/>
            </p:cNvGrpSpPr>
            <p:nvPr/>
          </p:nvGrpSpPr>
          <p:grpSpPr bwMode="auto">
            <a:xfrm>
              <a:off x="7112206" y="4464844"/>
              <a:ext cx="567758" cy="370756"/>
              <a:chOff x="714" y="2006"/>
              <a:chExt cx="347" cy="219"/>
            </a:xfrm>
          </p:grpSpPr>
          <p:sp>
            <p:nvSpPr>
              <p:cNvPr id="149" name="Rectangle 304"/>
              <p:cNvSpPr>
                <a:spLocks noChangeArrowheads="1"/>
              </p:cNvSpPr>
              <p:nvPr/>
            </p:nvSpPr>
            <p:spPr bwMode="auto">
              <a:xfrm>
                <a:off x="747" y="2025"/>
                <a:ext cx="314" cy="20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150" name="Text Box 305"/>
              <p:cNvSpPr txBox="1">
                <a:spLocks noChangeArrowheads="1"/>
              </p:cNvSpPr>
              <p:nvPr/>
            </p:nvSpPr>
            <p:spPr bwMode="auto">
              <a:xfrm>
                <a:off x="714" y="2006"/>
                <a:ext cx="326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40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-231252" y="2262188"/>
            <a:ext cx="4327002" cy="2670175"/>
            <a:chOff x="-230765" y="2262935"/>
            <a:chExt cx="4326515" cy="2669941"/>
          </a:xfrm>
        </p:grpSpPr>
        <p:sp>
          <p:nvSpPr>
            <p:cNvPr id="35162" name="Text Box 346"/>
            <p:cNvSpPr txBox="1">
              <a:spLocks noChangeArrowheads="1"/>
            </p:cNvSpPr>
            <p:nvPr/>
          </p:nvSpPr>
          <p:spPr bwMode="auto">
            <a:xfrm>
              <a:off x="-230765" y="3396311"/>
              <a:ext cx="1926485" cy="8309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en-US" sz="1600" i="1" dirty="0">
                  <a:solidFill>
                    <a:srgbClr val="000099"/>
                  </a:solidFill>
                  <a:latin typeface="Arial"/>
                  <a:cs typeface="Arial"/>
                </a:rPr>
                <a:t>network</a:t>
              </a:r>
            </a:p>
            <a:p>
              <a:pPr algn="r">
                <a:defRPr/>
              </a:pPr>
              <a:r>
                <a:rPr lang="en-US" sz="1600" i="1" dirty="0">
                  <a:solidFill>
                    <a:srgbClr val="000099"/>
                  </a:solidFill>
                  <a:latin typeface="Arial"/>
                  <a:cs typeface="Arial"/>
                </a:rPr>
                <a:t>management</a:t>
              </a:r>
            </a:p>
            <a:p>
              <a:pPr algn="r">
                <a:defRPr/>
              </a:pPr>
              <a:r>
                <a:rPr lang="en-US" sz="1600" i="1" dirty="0">
                  <a:solidFill>
                    <a:srgbClr val="000099"/>
                  </a:solidFill>
                  <a:latin typeface="Arial"/>
                  <a:cs typeface="Arial"/>
                </a:rPr>
                <a:t>protocol</a:t>
              </a:r>
              <a:endParaRPr lang="en-US" sz="1600" dirty="0">
                <a:solidFill>
                  <a:srgbClr val="000099"/>
                </a:solidFill>
                <a:latin typeface="Arial"/>
                <a:cs typeface="Arial"/>
              </a:endParaRPr>
            </a:p>
          </p:txBody>
        </p:sp>
        <p:sp>
          <p:nvSpPr>
            <p:cNvPr id="35159" name="Line 343"/>
            <p:cNvSpPr>
              <a:spLocks noChangeShapeType="1"/>
            </p:cNvSpPr>
            <p:nvPr/>
          </p:nvSpPr>
          <p:spPr bwMode="auto">
            <a:xfrm>
              <a:off x="2210012" y="2934388"/>
              <a:ext cx="1885738" cy="165720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35157" name="Line 341"/>
            <p:cNvSpPr>
              <a:spLocks noChangeShapeType="1"/>
            </p:cNvSpPr>
            <p:nvPr/>
          </p:nvSpPr>
          <p:spPr bwMode="auto">
            <a:xfrm flipV="1">
              <a:off x="2410014" y="2262935"/>
              <a:ext cx="1431764" cy="24286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35158" name="Line 342"/>
            <p:cNvSpPr>
              <a:spLocks noChangeShapeType="1"/>
            </p:cNvSpPr>
            <p:nvPr/>
          </p:nvSpPr>
          <p:spPr bwMode="auto">
            <a:xfrm>
              <a:off x="2429062" y="2762953"/>
              <a:ext cx="1666688" cy="63811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35160" name="Line 344"/>
            <p:cNvSpPr>
              <a:spLocks noChangeShapeType="1"/>
            </p:cNvSpPr>
            <p:nvPr/>
          </p:nvSpPr>
          <p:spPr bwMode="auto">
            <a:xfrm>
              <a:off x="1486193" y="3051853"/>
              <a:ext cx="369846" cy="188102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63" name="Line 342"/>
            <p:cNvSpPr>
              <a:spLocks noChangeShapeType="1"/>
            </p:cNvSpPr>
            <p:nvPr/>
          </p:nvSpPr>
          <p:spPr bwMode="auto">
            <a:xfrm>
              <a:off x="1800483" y="3045503"/>
              <a:ext cx="479371" cy="76352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</p:grpSp>
      <p:sp>
        <p:nvSpPr>
          <p:cNvPr id="167" name="Text Box 338"/>
          <p:cNvSpPr txBox="1">
            <a:spLocks noChangeArrowheads="1"/>
          </p:cNvSpPr>
          <p:nvPr/>
        </p:nvSpPr>
        <p:spPr bwMode="auto">
          <a:xfrm>
            <a:off x="1475707" y="4334377"/>
            <a:ext cx="16903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600" dirty="0">
                <a:latin typeface="Arial"/>
                <a:cs typeface="Arial"/>
              </a:rPr>
              <a:t>managed device</a:t>
            </a:r>
          </a:p>
        </p:txBody>
      </p:sp>
      <p:grpSp>
        <p:nvGrpSpPr>
          <p:cNvPr id="151" name="Group 150"/>
          <p:cNvGrpSpPr>
            <a:grpSpLocks/>
          </p:cNvGrpSpPr>
          <p:nvPr/>
        </p:nvGrpSpPr>
        <p:grpSpPr bwMode="auto">
          <a:xfrm>
            <a:off x="1858963" y="3810000"/>
            <a:ext cx="1293812" cy="615950"/>
            <a:chOff x="6563312" y="4346525"/>
            <a:chExt cx="1292995" cy="615298"/>
          </a:xfrm>
        </p:grpSpPr>
        <p:sp>
          <p:nvSpPr>
            <p:cNvPr id="152" name="Oval 306"/>
            <p:cNvSpPr>
              <a:spLocks noChangeArrowheads="1"/>
            </p:cNvSpPr>
            <p:nvPr/>
          </p:nvSpPr>
          <p:spPr bwMode="auto">
            <a:xfrm>
              <a:off x="6563312" y="4346525"/>
              <a:ext cx="1292995" cy="615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3" name="Text Box 302"/>
            <p:cNvSpPr txBox="1">
              <a:spLocks noChangeArrowheads="1"/>
            </p:cNvSpPr>
            <p:nvPr/>
          </p:nvSpPr>
          <p:spPr bwMode="auto">
            <a:xfrm>
              <a:off x="6607734" y="4465462"/>
              <a:ext cx="633545" cy="3074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>
                  <a:latin typeface="Arial"/>
                  <a:cs typeface="Arial"/>
                </a:rPr>
                <a:t>agent</a:t>
              </a:r>
            </a:p>
          </p:txBody>
        </p:sp>
        <p:grpSp>
          <p:nvGrpSpPr>
            <p:cNvPr id="35876" name="Group 303"/>
            <p:cNvGrpSpPr>
              <a:grpSpLocks/>
            </p:cNvGrpSpPr>
            <p:nvPr/>
          </p:nvGrpSpPr>
          <p:grpSpPr bwMode="auto">
            <a:xfrm>
              <a:off x="7112206" y="4464844"/>
              <a:ext cx="567758" cy="370756"/>
              <a:chOff x="714" y="2006"/>
              <a:chExt cx="347" cy="219"/>
            </a:xfrm>
          </p:grpSpPr>
          <p:sp>
            <p:nvSpPr>
              <p:cNvPr id="155" name="Rectangle 304"/>
              <p:cNvSpPr>
                <a:spLocks noChangeArrowheads="1"/>
              </p:cNvSpPr>
              <p:nvPr/>
            </p:nvSpPr>
            <p:spPr bwMode="auto">
              <a:xfrm>
                <a:off x="747" y="2026"/>
                <a:ext cx="314" cy="199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156" name="Text Box 305"/>
              <p:cNvSpPr txBox="1">
                <a:spLocks noChangeArrowheads="1"/>
              </p:cNvSpPr>
              <p:nvPr/>
            </p:nvSpPr>
            <p:spPr bwMode="auto">
              <a:xfrm>
                <a:off x="714" y="2006"/>
                <a:ext cx="326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40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135" name="Group 327"/>
          <p:cNvGrpSpPr>
            <a:grpSpLocks/>
          </p:cNvGrpSpPr>
          <p:nvPr/>
        </p:nvGrpSpPr>
        <p:grpSpPr bwMode="auto">
          <a:xfrm>
            <a:off x="2526083" y="5188911"/>
            <a:ext cx="687402" cy="404026"/>
            <a:chOff x="1871277" y="1576300"/>
            <a:chExt cx="1128371" cy="437861"/>
          </a:xfrm>
        </p:grpSpPr>
        <p:sp>
          <p:nvSpPr>
            <p:cNvPr id="154" name="Oval 153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0" name="Rectangle 15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4" name="Oval 163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5" name="Freeform 164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6" name="Freeform 165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8" name="Freeform 167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9" name="Freeform 168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0" name="Straight Connector 169"/>
            <p:cNvCxnSpPr>
              <a:endCxn id="164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087" name="Line 271"/>
          <p:cNvSpPr>
            <a:spLocks noChangeShapeType="1"/>
          </p:cNvSpPr>
          <p:nvPr/>
        </p:nvSpPr>
        <p:spPr bwMode="auto">
          <a:xfrm flipV="1">
            <a:off x="2201863" y="5435600"/>
            <a:ext cx="350837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grpSp>
        <p:nvGrpSpPr>
          <p:cNvPr id="157" name="Group 156"/>
          <p:cNvGrpSpPr>
            <a:grpSpLocks/>
          </p:cNvGrpSpPr>
          <p:nvPr/>
        </p:nvGrpSpPr>
        <p:grpSpPr bwMode="auto">
          <a:xfrm>
            <a:off x="1458913" y="4940300"/>
            <a:ext cx="1292225" cy="614363"/>
            <a:chOff x="6563312" y="4346525"/>
            <a:chExt cx="1292995" cy="615298"/>
          </a:xfrm>
        </p:grpSpPr>
        <p:sp>
          <p:nvSpPr>
            <p:cNvPr id="158" name="Oval 306"/>
            <p:cNvSpPr>
              <a:spLocks noChangeArrowheads="1"/>
            </p:cNvSpPr>
            <p:nvPr/>
          </p:nvSpPr>
          <p:spPr bwMode="auto">
            <a:xfrm>
              <a:off x="6563312" y="4346525"/>
              <a:ext cx="1292995" cy="615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59" name="Text Box 302"/>
            <p:cNvSpPr txBox="1">
              <a:spLocks noChangeArrowheads="1"/>
            </p:cNvSpPr>
            <p:nvPr/>
          </p:nvSpPr>
          <p:spPr bwMode="auto">
            <a:xfrm>
              <a:off x="6607788" y="4465769"/>
              <a:ext cx="634323" cy="308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>
                  <a:latin typeface="Arial"/>
                  <a:cs typeface="Arial"/>
                </a:rPr>
                <a:t>agent</a:t>
              </a:r>
            </a:p>
          </p:txBody>
        </p:sp>
        <p:grpSp>
          <p:nvGrpSpPr>
            <p:cNvPr id="35887" name="Group 303"/>
            <p:cNvGrpSpPr>
              <a:grpSpLocks/>
            </p:cNvGrpSpPr>
            <p:nvPr/>
          </p:nvGrpSpPr>
          <p:grpSpPr bwMode="auto">
            <a:xfrm>
              <a:off x="7112206" y="4464844"/>
              <a:ext cx="567758" cy="370756"/>
              <a:chOff x="714" y="2006"/>
              <a:chExt cx="347" cy="219"/>
            </a:xfrm>
          </p:grpSpPr>
          <p:sp>
            <p:nvSpPr>
              <p:cNvPr id="161" name="Rectangle 304"/>
              <p:cNvSpPr>
                <a:spLocks noChangeArrowheads="1"/>
              </p:cNvSpPr>
              <p:nvPr/>
            </p:nvSpPr>
            <p:spPr bwMode="auto">
              <a:xfrm>
                <a:off x="747" y="2025"/>
                <a:ext cx="314" cy="20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162" name="Text Box 305"/>
              <p:cNvSpPr txBox="1">
                <a:spLocks noChangeArrowheads="1"/>
              </p:cNvSpPr>
              <p:nvPr/>
            </p:nvSpPr>
            <p:spPr bwMode="auto">
              <a:xfrm>
                <a:off x="714" y="2006"/>
                <a:ext cx="327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400" dirty="0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174" name="Group 327"/>
          <p:cNvGrpSpPr>
            <a:grpSpLocks/>
          </p:cNvGrpSpPr>
          <p:nvPr/>
        </p:nvGrpSpPr>
        <p:grpSpPr bwMode="auto">
          <a:xfrm>
            <a:off x="3715872" y="3464385"/>
            <a:ext cx="687402" cy="404025"/>
            <a:chOff x="1871277" y="1576300"/>
            <a:chExt cx="1128371" cy="437861"/>
          </a:xfrm>
        </p:grpSpPr>
        <p:sp>
          <p:nvSpPr>
            <p:cNvPr id="178" name="Oval 177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9" name="Rectangle 178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0" name="Oval 179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1" name="Freeform 180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2" name="Freeform 181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3" name="Freeform 182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4" name="Freeform 183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85" name="Straight Connector 184"/>
            <p:cNvCxnSpPr>
              <a:endCxn id="18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071" name="Line 255"/>
          <p:cNvSpPr>
            <a:spLocks noChangeShapeType="1"/>
          </p:cNvSpPr>
          <p:nvPr/>
        </p:nvSpPr>
        <p:spPr bwMode="auto">
          <a:xfrm flipV="1">
            <a:off x="4410075" y="3738563"/>
            <a:ext cx="350838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600">
              <a:latin typeface="Arial"/>
              <a:cs typeface="Arial"/>
            </a:endParaRPr>
          </a:p>
        </p:txBody>
      </p:sp>
      <p:grpSp>
        <p:nvGrpSpPr>
          <p:cNvPr id="139" name="Group 138"/>
          <p:cNvGrpSpPr>
            <a:grpSpLocks/>
          </p:cNvGrpSpPr>
          <p:nvPr/>
        </p:nvGrpSpPr>
        <p:grpSpPr bwMode="auto">
          <a:xfrm>
            <a:off x="4013200" y="3148013"/>
            <a:ext cx="1292225" cy="614362"/>
            <a:chOff x="6563312" y="4346525"/>
            <a:chExt cx="1292995" cy="615298"/>
          </a:xfrm>
        </p:grpSpPr>
        <p:sp>
          <p:nvSpPr>
            <p:cNvPr id="140" name="Oval 306"/>
            <p:cNvSpPr>
              <a:spLocks noChangeArrowheads="1"/>
            </p:cNvSpPr>
            <p:nvPr/>
          </p:nvSpPr>
          <p:spPr bwMode="auto">
            <a:xfrm>
              <a:off x="6563312" y="4346525"/>
              <a:ext cx="1292995" cy="61529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600">
                <a:latin typeface="Arial"/>
                <a:cs typeface="Arial"/>
              </a:endParaRPr>
            </a:p>
          </p:txBody>
        </p:sp>
        <p:sp>
          <p:nvSpPr>
            <p:cNvPr id="141" name="Text Box 302"/>
            <p:cNvSpPr txBox="1">
              <a:spLocks noChangeArrowheads="1"/>
            </p:cNvSpPr>
            <p:nvPr/>
          </p:nvSpPr>
          <p:spPr bwMode="auto">
            <a:xfrm>
              <a:off x="6607788" y="4465768"/>
              <a:ext cx="634323" cy="308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400" dirty="0">
                  <a:latin typeface="Arial"/>
                  <a:cs typeface="Arial"/>
                </a:rPr>
                <a:t>agent</a:t>
              </a:r>
            </a:p>
          </p:txBody>
        </p:sp>
        <p:grpSp>
          <p:nvGrpSpPr>
            <p:cNvPr id="35897" name="Group 303"/>
            <p:cNvGrpSpPr>
              <a:grpSpLocks/>
            </p:cNvGrpSpPr>
            <p:nvPr/>
          </p:nvGrpSpPr>
          <p:grpSpPr bwMode="auto">
            <a:xfrm>
              <a:off x="7112206" y="4464844"/>
              <a:ext cx="567758" cy="370756"/>
              <a:chOff x="714" y="2006"/>
              <a:chExt cx="347" cy="219"/>
            </a:xfrm>
          </p:grpSpPr>
          <p:sp>
            <p:nvSpPr>
              <p:cNvPr id="143" name="Rectangle 304"/>
              <p:cNvSpPr>
                <a:spLocks noChangeArrowheads="1"/>
              </p:cNvSpPr>
              <p:nvPr/>
            </p:nvSpPr>
            <p:spPr bwMode="auto">
              <a:xfrm>
                <a:off x="747" y="2025"/>
                <a:ext cx="314" cy="20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 sz="1600">
                  <a:latin typeface="Arial"/>
                  <a:cs typeface="Arial"/>
                </a:endParaRPr>
              </a:p>
            </p:txBody>
          </p:sp>
          <p:sp>
            <p:nvSpPr>
              <p:cNvPr id="144" name="Text Box 305"/>
              <p:cNvSpPr txBox="1">
                <a:spLocks noChangeArrowheads="1"/>
              </p:cNvSpPr>
              <p:nvPr/>
            </p:nvSpPr>
            <p:spPr bwMode="auto">
              <a:xfrm>
                <a:off x="714" y="2006"/>
                <a:ext cx="327" cy="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dirty="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 sz="1400" dirty="0">
                  <a:latin typeface="Arial"/>
                  <a:cs typeface="Arial"/>
                </a:endParaRPr>
              </a:p>
            </p:txBody>
          </p:sp>
        </p:grpSp>
      </p:grpSp>
      <p:sp>
        <p:nvSpPr>
          <p:cNvPr id="18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18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50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reeform 2"/>
          <p:cNvSpPr>
            <a:spLocks/>
          </p:cNvSpPr>
          <p:nvPr/>
        </p:nvSpPr>
        <p:spPr bwMode="auto">
          <a:xfrm rot="16383367">
            <a:off x="5235611" y="2469756"/>
            <a:ext cx="4057421" cy="2452239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91" name="Freeform 2"/>
          <p:cNvSpPr>
            <a:spLocks/>
          </p:cNvSpPr>
          <p:nvPr/>
        </p:nvSpPr>
        <p:spPr bwMode="auto">
          <a:xfrm rot="16383367">
            <a:off x="1011196" y="2563335"/>
            <a:ext cx="4057421" cy="2452239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3" name="Line 252"/>
          <p:cNvSpPr>
            <a:spLocks noChangeShapeType="1"/>
          </p:cNvSpPr>
          <p:nvPr/>
        </p:nvSpPr>
        <p:spPr bwMode="auto">
          <a:xfrm flipV="1">
            <a:off x="7246938" y="2713038"/>
            <a:ext cx="327025" cy="962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" name="Line 254"/>
          <p:cNvSpPr>
            <a:spLocks noChangeShapeType="1"/>
          </p:cNvSpPr>
          <p:nvPr/>
        </p:nvSpPr>
        <p:spPr bwMode="auto">
          <a:xfrm flipV="1">
            <a:off x="7567613" y="3592513"/>
            <a:ext cx="182562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" name="Line 255"/>
          <p:cNvSpPr>
            <a:spLocks noChangeShapeType="1"/>
          </p:cNvSpPr>
          <p:nvPr/>
        </p:nvSpPr>
        <p:spPr bwMode="auto">
          <a:xfrm flipV="1">
            <a:off x="8388350" y="3576638"/>
            <a:ext cx="3397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" name="Line 256"/>
          <p:cNvSpPr>
            <a:spLocks noChangeShapeType="1"/>
          </p:cNvSpPr>
          <p:nvPr/>
        </p:nvSpPr>
        <p:spPr bwMode="auto">
          <a:xfrm flipV="1">
            <a:off x="7061200" y="5143500"/>
            <a:ext cx="3397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" name="Line 271"/>
          <p:cNvSpPr>
            <a:spLocks noChangeShapeType="1"/>
          </p:cNvSpPr>
          <p:nvPr/>
        </p:nvSpPr>
        <p:spPr bwMode="auto">
          <a:xfrm flipV="1">
            <a:off x="6175375" y="5138738"/>
            <a:ext cx="3397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8" name="Line 272"/>
          <p:cNvSpPr>
            <a:spLocks noChangeShapeType="1"/>
          </p:cNvSpPr>
          <p:nvPr/>
        </p:nvSpPr>
        <p:spPr bwMode="auto">
          <a:xfrm>
            <a:off x="7364413" y="3983038"/>
            <a:ext cx="468312" cy="57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pic>
        <p:nvPicPr>
          <p:cNvPr id="209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13" y="3681413"/>
            <a:ext cx="712787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6449" name="Group 906"/>
          <p:cNvGrpSpPr>
            <a:grpSpLocks/>
          </p:cNvGrpSpPr>
          <p:nvPr/>
        </p:nvGrpSpPr>
        <p:grpSpPr bwMode="auto">
          <a:xfrm>
            <a:off x="7707395" y="4551854"/>
            <a:ext cx="354740" cy="534865"/>
            <a:chOff x="4140" y="429"/>
            <a:chExt cx="1425" cy="2396"/>
          </a:xfrm>
        </p:grpSpPr>
        <p:sp>
          <p:nvSpPr>
            <p:cNvPr id="56472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Rectangle 908"/>
            <p:cNvSpPr>
              <a:spLocks noChangeArrowheads="1"/>
            </p:cNvSpPr>
            <p:nvPr/>
          </p:nvSpPr>
          <p:spPr bwMode="auto">
            <a:xfrm>
              <a:off x="4210" y="427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474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475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Rectangle 911"/>
            <p:cNvSpPr>
              <a:spLocks noChangeArrowheads="1"/>
            </p:cNvSpPr>
            <p:nvPr/>
          </p:nvSpPr>
          <p:spPr bwMode="auto">
            <a:xfrm>
              <a:off x="4216" y="690"/>
              <a:ext cx="593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77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3" name="AutoShape 913"/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24" cy="13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64" name="AutoShape 914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239" name="Rectangle 915"/>
            <p:cNvSpPr>
              <a:spLocks noChangeArrowheads="1"/>
            </p:cNvSpPr>
            <p:nvPr/>
          </p:nvSpPr>
          <p:spPr bwMode="auto">
            <a:xfrm>
              <a:off x="4229" y="1017"/>
              <a:ext cx="593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79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1" name="AutoShape 917"/>
              <p:cNvSpPr>
                <a:spLocks noChangeArrowheads="1"/>
              </p:cNvSpPr>
              <p:nvPr/>
            </p:nvSpPr>
            <p:spPr bwMode="auto">
              <a:xfrm>
                <a:off x="612" y="2562"/>
                <a:ext cx="732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62" name="AutoShape 918"/>
              <p:cNvSpPr>
                <a:spLocks noChangeArrowheads="1"/>
              </p:cNvSpPr>
              <p:nvPr/>
            </p:nvSpPr>
            <p:spPr bwMode="auto">
              <a:xfrm>
                <a:off x="628" y="2577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241" name="Rectangle 919"/>
            <p:cNvSpPr>
              <a:spLocks noChangeArrowheads="1"/>
            </p:cNvSpPr>
            <p:nvPr/>
          </p:nvSpPr>
          <p:spPr bwMode="auto">
            <a:xfrm>
              <a:off x="4216" y="1358"/>
              <a:ext cx="599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42" name="Rectangle 920"/>
            <p:cNvSpPr>
              <a:spLocks noChangeArrowheads="1"/>
            </p:cNvSpPr>
            <p:nvPr/>
          </p:nvSpPr>
          <p:spPr bwMode="auto">
            <a:xfrm>
              <a:off x="4229" y="1657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82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9" name="AutoShape 922"/>
              <p:cNvSpPr>
                <a:spLocks noChangeArrowheads="1"/>
              </p:cNvSpPr>
              <p:nvPr/>
            </p:nvSpPr>
            <p:spPr bwMode="auto">
              <a:xfrm>
                <a:off x="619" y="2569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60" name="AutoShape 923"/>
              <p:cNvSpPr>
                <a:spLocks noChangeArrowheads="1"/>
              </p:cNvSpPr>
              <p:nvPr/>
            </p:nvSpPr>
            <p:spPr bwMode="auto">
              <a:xfrm>
                <a:off x="635" y="2589"/>
                <a:ext cx="691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56483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484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7" name="AutoShape 926"/>
              <p:cNvSpPr>
                <a:spLocks noChangeArrowheads="1"/>
              </p:cNvSpPr>
              <p:nvPr/>
            </p:nvSpPr>
            <p:spPr bwMode="auto">
              <a:xfrm>
                <a:off x="614" y="2564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258" name="AutoShape 927"/>
              <p:cNvSpPr>
                <a:spLocks noChangeArrowheads="1"/>
              </p:cNvSpPr>
              <p:nvPr/>
            </p:nvSpPr>
            <p:spPr bwMode="auto">
              <a:xfrm>
                <a:off x="630" y="2578"/>
                <a:ext cx="69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246" name="Rectangle 928"/>
            <p:cNvSpPr>
              <a:spLocks noChangeArrowheads="1"/>
            </p:cNvSpPr>
            <p:nvPr/>
          </p:nvSpPr>
          <p:spPr bwMode="auto">
            <a:xfrm>
              <a:off x="5249" y="427"/>
              <a:ext cx="70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486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487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Oval 931"/>
            <p:cNvSpPr>
              <a:spLocks noChangeArrowheads="1"/>
            </p:cNvSpPr>
            <p:nvPr/>
          </p:nvSpPr>
          <p:spPr bwMode="auto">
            <a:xfrm>
              <a:off x="5517" y="2603"/>
              <a:ext cx="51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489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9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52" name="AutoShape 934"/>
            <p:cNvSpPr>
              <a:spLocks noChangeArrowheads="1"/>
            </p:cNvSpPr>
            <p:nvPr/>
          </p:nvSpPr>
          <p:spPr bwMode="auto">
            <a:xfrm>
              <a:off x="4210" y="2710"/>
              <a:ext cx="1065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53" name="Oval 935"/>
            <p:cNvSpPr>
              <a:spLocks noChangeArrowheads="1"/>
            </p:cNvSpPr>
            <p:nvPr/>
          </p:nvSpPr>
          <p:spPr bwMode="auto">
            <a:xfrm>
              <a:off x="4305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54" name="Oval 936"/>
            <p:cNvSpPr>
              <a:spLocks noChangeArrowheads="1"/>
            </p:cNvSpPr>
            <p:nvPr/>
          </p:nvSpPr>
          <p:spPr bwMode="auto">
            <a:xfrm>
              <a:off x="4484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55" name="Oval 937"/>
            <p:cNvSpPr>
              <a:spLocks noChangeArrowheads="1"/>
            </p:cNvSpPr>
            <p:nvPr/>
          </p:nvSpPr>
          <p:spPr bwMode="auto">
            <a:xfrm>
              <a:off x="4663" y="2375"/>
              <a:ext cx="159" cy="14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256" name="Rectangle 938"/>
            <p:cNvSpPr>
              <a:spLocks noChangeArrowheads="1"/>
            </p:cNvSpPr>
            <p:nvPr/>
          </p:nvSpPr>
          <p:spPr bwMode="auto">
            <a:xfrm>
              <a:off x="5058" y="1835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6450" name="Group 44"/>
          <p:cNvGrpSpPr>
            <a:grpSpLocks/>
          </p:cNvGrpSpPr>
          <p:nvPr/>
        </p:nvGrpSpPr>
        <p:grpSpPr bwMode="auto">
          <a:xfrm>
            <a:off x="7190928" y="2171180"/>
            <a:ext cx="873545" cy="670537"/>
            <a:chOff x="-44" y="1473"/>
            <a:chExt cx="981" cy="1105"/>
          </a:xfrm>
        </p:grpSpPr>
        <p:pic>
          <p:nvPicPr>
            <p:cNvPr id="56470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471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6451" name="Group 44"/>
          <p:cNvGrpSpPr>
            <a:grpSpLocks/>
          </p:cNvGrpSpPr>
          <p:nvPr/>
        </p:nvGrpSpPr>
        <p:grpSpPr bwMode="auto">
          <a:xfrm>
            <a:off x="6034088" y="2572384"/>
            <a:ext cx="873545" cy="670537"/>
            <a:chOff x="-44" y="1473"/>
            <a:chExt cx="981" cy="1105"/>
          </a:xfrm>
        </p:grpSpPr>
        <p:pic>
          <p:nvPicPr>
            <p:cNvPr id="56468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469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3" name="Line 272"/>
          <p:cNvSpPr>
            <a:spLocks noChangeShapeType="1"/>
          </p:cNvSpPr>
          <p:nvPr/>
        </p:nvSpPr>
        <p:spPr bwMode="auto">
          <a:xfrm>
            <a:off x="6689725" y="3170238"/>
            <a:ext cx="360363" cy="511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" name="Line 272"/>
          <p:cNvSpPr>
            <a:spLocks noChangeShapeType="1"/>
          </p:cNvSpPr>
          <p:nvPr/>
        </p:nvSpPr>
        <p:spPr bwMode="auto">
          <a:xfrm flipH="1">
            <a:off x="6897688" y="3975100"/>
            <a:ext cx="257175" cy="1006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" name="Line 252"/>
          <p:cNvSpPr>
            <a:spLocks noChangeShapeType="1"/>
          </p:cNvSpPr>
          <p:nvPr/>
        </p:nvSpPr>
        <p:spPr bwMode="auto">
          <a:xfrm flipV="1">
            <a:off x="3033713" y="2732088"/>
            <a:ext cx="327025" cy="962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2" name="Line 254"/>
          <p:cNvSpPr>
            <a:spLocks noChangeShapeType="1"/>
          </p:cNvSpPr>
          <p:nvPr/>
        </p:nvSpPr>
        <p:spPr bwMode="auto">
          <a:xfrm flipV="1">
            <a:off x="3354388" y="3611563"/>
            <a:ext cx="182562" cy="195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" name="Line 255"/>
          <p:cNvSpPr>
            <a:spLocks noChangeShapeType="1"/>
          </p:cNvSpPr>
          <p:nvPr/>
        </p:nvSpPr>
        <p:spPr bwMode="auto">
          <a:xfrm flipV="1">
            <a:off x="4175125" y="3595688"/>
            <a:ext cx="339725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4" name="Line 256"/>
          <p:cNvSpPr>
            <a:spLocks noChangeShapeType="1"/>
          </p:cNvSpPr>
          <p:nvPr/>
        </p:nvSpPr>
        <p:spPr bwMode="auto">
          <a:xfrm flipV="1">
            <a:off x="2847975" y="5162550"/>
            <a:ext cx="3397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" name="Line 271"/>
          <p:cNvSpPr>
            <a:spLocks noChangeShapeType="1"/>
          </p:cNvSpPr>
          <p:nvPr/>
        </p:nvSpPr>
        <p:spPr bwMode="auto">
          <a:xfrm flipV="1">
            <a:off x="2055726" y="5171156"/>
            <a:ext cx="33972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" name="Line 272"/>
          <p:cNvSpPr>
            <a:spLocks noChangeShapeType="1"/>
          </p:cNvSpPr>
          <p:nvPr/>
        </p:nvSpPr>
        <p:spPr bwMode="auto">
          <a:xfrm>
            <a:off x="3151188" y="4002088"/>
            <a:ext cx="468312" cy="574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pic>
        <p:nvPicPr>
          <p:cNvPr id="12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3700463"/>
            <a:ext cx="712787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56372" name="Group 906"/>
          <p:cNvGrpSpPr>
            <a:grpSpLocks/>
          </p:cNvGrpSpPr>
          <p:nvPr/>
        </p:nvGrpSpPr>
        <p:grpSpPr bwMode="auto">
          <a:xfrm>
            <a:off x="3494170" y="4570904"/>
            <a:ext cx="354740" cy="534865"/>
            <a:chOff x="4140" y="429"/>
            <a:chExt cx="1425" cy="2396"/>
          </a:xfrm>
        </p:grpSpPr>
        <p:sp>
          <p:nvSpPr>
            <p:cNvPr id="56395" name="Freeform 907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Rectangle 908"/>
            <p:cNvSpPr>
              <a:spLocks noChangeArrowheads="1"/>
            </p:cNvSpPr>
            <p:nvPr/>
          </p:nvSpPr>
          <p:spPr bwMode="auto">
            <a:xfrm>
              <a:off x="4210" y="427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397" name="Freeform 909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98" name="Freeform 910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Rectangle 911"/>
            <p:cNvSpPr>
              <a:spLocks noChangeArrowheads="1"/>
            </p:cNvSpPr>
            <p:nvPr/>
          </p:nvSpPr>
          <p:spPr bwMode="auto">
            <a:xfrm>
              <a:off x="4216" y="690"/>
              <a:ext cx="593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00" name="Group 912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81" name="AutoShape 913"/>
              <p:cNvSpPr>
                <a:spLocks noChangeArrowheads="1"/>
              </p:cNvSpPr>
              <p:nvPr/>
            </p:nvSpPr>
            <p:spPr bwMode="auto">
              <a:xfrm>
                <a:off x="618" y="2569"/>
                <a:ext cx="724" cy="13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2" name="AutoShape 914"/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57" name="Rectangle 915"/>
            <p:cNvSpPr>
              <a:spLocks noChangeArrowheads="1"/>
            </p:cNvSpPr>
            <p:nvPr/>
          </p:nvSpPr>
          <p:spPr bwMode="auto">
            <a:xfrm>
              <a:off x="4229" y="1017"/>
              <a:ext cx="593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02" name="Group 916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79" name="AutoShape 917"/>
              <p:cNvSpPr>
                <a:spLocks noChangeArrowheads="1"/>
              </p:cNvSpPr>
              <p:nvPr/>
            </p:nvSpPr>
            <p:spPr bwMode="auto">
              <a:xfrm>
                <a:off x="612" y="2562"/>
                <a:ext cx="732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80" name="AutoShape 918"/>
              <p:cNvSpPr>
                <a:spLocks noChangeArrowheads="1"/>
              </p:cNvSpPr>
              <p:nvPr/>
            </p:nvSpPr>
            <p:spPr bwMode="auto">
              <a:xfrm>
                <a:off x="628" y="2577"/>
                <a:ext cx="700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59" name="Rectangle 919"/>
            <p:cNvSpPr>
              <a:spLocks noChangeArrowheads="1"/>
            </p:cNvSpPr>
            <p:nvPr/>
          </p:nvSpPr>
          <p:spPr bwMode="auto">
            <a:xfrm>
              <a:off x="4216" y="1358"/>
              <a:ext cx="599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60" name="Rectangle 920"/>
            <p:cNvSpPr>
              <a:spLocks noChangeArrowheads="1"/>
            </p:cNvSpPr>
            <p:nvPr/>
          </p:nvSpPr>
          <p:spPr bwMode="auto">
            <a:xfrm>
              <a:off x="4229" y="1657"/>
              <a:ext cx="599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grpSp>
          <p:nvGrpSpPr>
            <p:cNvPr id="56405" name="Group 921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77" name="AutoShape 922"/>
              <p:cNvSpPr>
                <a:spLocks noChangeArrowheads="1"/>
              </p:cNvSpPr>
              <p:nvPr/>
            </p:nvSpPr>
            <p:spPr bwMode="auto">
              <a:xfrm>
                <a:off x="619" y="2569"/>
                <a:ext cx="723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78" name="AutoShape 923"/>
              <p:cNvSpPr>
                <a:spLocks noChangeArrowheads="1"/>
              </p:cNvSpPr>
              <p:nvPr/>
            </p:nvSpPr>
            <p:spPr bwMode="auto">
              <a:xfrm>
                <a:off x="635" y="2589"/>
                <a:ext cx="691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56406" name="Freeform 924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6407" name="Group 925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75" name="AutoShape 926"/>
              <p:cNvSpPr>
                <a:spLocks noChangeArrowheads="1"/>
              </p:cNvSpPr>
              <p:nvPr/>
            </p:nvSpPr>
            <p:spPr bwMode="auto">
              <a:xfrm>
                <a:off x="614" y="2564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176" name="AutoShape 927"/>
              <p:cNvSpPr>
                <a:spLocks noChangeArrowheads="1"/>
              </p:cNvSpPr>
              <p:nvPr/>
            </p:nvSpPr>
            <p:spPr bwMode="auto">
              <a:xfrm>
                <a:off x="630" y="2578"/>
                <a:ext cx="69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164" name="Rectangle 928"/>
            <p:cNvSpPr>
              <a:spLocks noChangeArrowheads="1"/>
            </p:cNvSpPr>
            <p:nvPr/>
          </p:nvSpPr>
          <p:spPr bwMode="auto">
            <a:xfrm>
              <a:off x="5249" y="427"/>
              <a:ext cx="70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409" name="Freeform 929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410" name="Freeform 930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Oval 931"/>
            <p:cNvSpPr>
              <a:spLocks noChangeArrowheads="1"/>
            </p:cNvSpPr>
            <p:nvPr/>
          </p:nvSpPr>
          <p:spPr bwMode="auto">
            <a:xfrm>
              <a:off x="5517" y="2603"/>
              <a:ext cx="51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6412" name="Freeform 932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AutoShape 933"/>
            <p:cNvSpPr>
              <a:spLocks noChangeArrowheads="1"/>
            </p:cNvSpPr>
            <p:nvPr/>
          </p:nvSpPr>
          <p:spPr bwMode="auto">
            <a:xfrm>
              <a:off x="4140" y="2681"/>
              <a:ext cx="1199" cy="142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0" name="AutoShape 934"/>
            <p:cNvSpPr>
              <a:spLocks noChangeArrowheads="1"/>
            </p:cNvSpPr>
            <p:nvPr/>
          </p:nvSpPr>
          <p:spPr bwMode="auto">
            <a:xfrm>
              <a:off x="4210" y="2710"/>
              <a:ext cx="1065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1" name="Oval 935"/>
            <p:cNvSpPr>
              <a:spLocks noChangeArrowheads="1"/>
            </p:cNvSpPr>
            <p:nvPr/>
          </p:nvSpPr>
          <p:spPr bwMode="auto">
            <a:xfrm>
              <a:off x="4305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2" name="Oval 936"/>
            <p:cNvSpPr>
              <a:spLocks noChangeArrowheads="1"/>
            </p:cNvSpPr>
            <p:nvPr/>
          </p:nvSpPr>
          <p:spPr bwMode="auto">
            <a:xfrm>
              <a:off x="4484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73" name="Oval 937"/>
            <p:cNvSpPr>
              <a:spLocks noChangeArrowheads="1"/>
            </p:cNvSpPr>
            <p:nvPr/>
          </p:nvSpPr>
          <p:spPr bwMode="auto">
            <a:xfrm>
              <a:off x="4663" y="2375"/>
              <a:ext cx="159" cy="14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174" name="Rectangle 938"/>
            <p:cNvSpPr>
              <a:spLocks noChangeArrowheads="1"/>
            </p:cNvSpPr>
            <p:nvPr/>
          </p:nvSpPr>
          <p:spPr bwMode="auto">
            <a:xfrm>
              <a:off x="5058" y="1835"/>
              <a:ext cx="89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56373" name="Group 44"/>
          <p:cNvGrpSpPr>
            <a:grpSpLocks/>
          </p:cNvGrpSpPr>
          <p:nvPr/>
        </p:nvGrpSpPr>
        <p:grpSpPr bwMode="auto">
          <a:xfrm>
            <a:off x="2977703" y="2190230"/>
            <a:ext cx="873545" cy="670537"/>
            <a:chOff x="-44" y="1473"/>
            <a:chExt cx="981" cy="1105"/>
          </a:xfrm>
        </p:grpSpPr>
        <p:pic>
          <p:nvPicPr>
            <p:cNvPr id="56393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94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56374" name="Group 44"/>
          <p:cNvGrpSpPr>
            <a:grpSpLocks/>
          </p:cNvGrpSpPr>
          <p:nvPr/>
        </p:nvGrpSpPr>
        <p:grpSpPr bwMode="auto">
          <a:xfrm>
            <a:off x="1820863" y="2591434"/>
            <a:ext cx="873545" cy="670537"/>
            <a:chOff x="-44" y="1473"/>
            <a:chExt cx="981" cy="1105"/>
          </a:xfrm>
        </p:grpSpPr>
        <p:pic>
          <p:nvPicPr>
            <p:cNvPr id="56391" name="Picture 45" descr="desktop_computer_stylized_medium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92" name="Freeform 4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31" name="Line 272"/>
          <p:cNvSpPr>
            <a:spLocks noChangeShapeType="1"/>
          </p:cNvSpPr>
          <p:nvPr/>
        </p:nvSpPr>
        <p:spPr bwMode="auto">
          <a:xfrm>
            <a:off x="2476500" y="3189288"/>
            <a:ext cx="360363" cy="511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" name="Line 272"/>
          <p:cNvSpPr>
            <a:spLocks noChangeShapeType="1"/>
          </p:cNvSpPr>
          <p:nvPr/>
        </p:nvSpPr>
        <p:spPr bwMode="auto">
          <a:xfrm flipH="1">
            <a:off x="2684463" y="3994150"/>
            <a:ext cx="257175" cy="1006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pic>
        <p:nvPicPr>
          <p:cNvPr id="56323" name="Picture 24" descr="underline_base"/>
          <p:cNvPicPr>
            <a:picLocks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767101"/>
            <a:ext cx="3656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2888"/>
            <a:ext cx="4827588" cy="901700"/>
          </a:xfrm>
        </p:spPr>
        <p:txBody>
          <a:bodyPr/>
          <a:lstStyle/>
          <a:p>
            <a:pPr>
              <a:defRPr/>
            </a:pPr>
            <a:r>
              <a:rPr lang="en-US" sz="4400" dirty="0" smtClean="0"/>
              <a:t>SNMP protocol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067" y="1156453"/>
            <a:ext cx="7772400" cy="603250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2400" dirty="0" smtClean="0"/>
              <a:t>Two ways to convey MIB info, commands:</a:t>
            </a:r>
            <a:endParaRPr lang="en-US" dirty="0" smtClean="0"/>
          </a:p>
        </p:txBody>
      </p:sp>
      <p:grpSp>
        <p:nvGrpSpPr>
          <p:cNvPr id="56328" name="Group 84"/>
          <p:cNvGrpSpPr>
            <a:grpSpLocks/>
          </p:cNvGrpSpPr>
          <p:nvPr/>
        </p:nvGrpSpPr>
        <p:grpSpPr bwMode="auto">
          <a:xfrm>
            <a:off x="925513" y="4475163"/>
            <a:ext cx="1704975" cy="627062"/>
            <a:chOff x="1189" y="3477"/>
            <a:chExt cx="1074" cy="395"/>
          </a:xfrm>
        </p:grpSpPr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1189" y="3477"/>
              <a:ext cx="1074" cy="39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06" name="Text Box 46"/>
            <p:cNvSpPr txBox="1">
              <a:spLocks noChangeArrowheads="1"/>
            </p:cNvSpPr>
            <p:nvPr/>
          </p:nvSpPr>
          <p:spPr bwMode="auto">
            <a:xfrm>
              <a:off x="1216" y="3545"/>
              <a:ext cx="4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agent</a:t>
              </a:r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56360" name="Group 47"/>
            <p:cNvGrpSpPr>
              <a:grpSpLocks/>
            </p:cNvGrpSpPr>
            <p:nvPr/>
          </p:nvGrpSpPr>
          <p:grpSpPr bwMode="auto">
            <a:xfrm>
              <a:off x="1701" y="3547"/>
              <a:ext cx="399" cy="244"/>
              <a:chOff x="698" y="2006"/>
              <a:chExt cx="399" cy="244"/>
            </a:xfrm>
          </p:grpSpPr>
          <p:sp>
            <p:nvSpPr>
              <p:cNvPr id="66608" name="Rectangle 48"/>
              <p:cNvSpPr>
                <a:spLocks noChangeArrowheads="1"/>
              </p:cNvSpPr>
              <p:nvPr/>
            </p:nvSpPr>
            <p:spPr bwMode="auto">
              <a:xfrm>
                <a:off x="714" y="2016"/>
                <a:ext cx="372" cy="23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66609" name="Text Box 49"/>
              <p:cNvSpPr txBox="1">
                <a:spLocks noChangeArrowheads="1"/>
              </p:cNvSpPr>
              <p:nvPr/>
            </p:nvSpPr>
            <p:spPr bwMode="auto">
              <a:xfrm>
                <a:off x="698" y="2006"/>
                <a:ext cx="39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80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66629" name="Text Box 69"/>
          <p:cNvSpPr txBox="1">
            <a:spLocks noChangeArrowheads="1"/>
          </p:cNvSpPr>
          <p:nvPr/>
        </p:nvSpPr>
        <p:spPr bwMode="auto">
          <a:xfrm>
            <a:off x="1322388" y="5259388"/>
            <a:ext cx="18669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 dirty="0">
                <a:latin typeface="Arial"/>
                <a:cs typeface="Arial"/>
              </a:rPr>
              <a:t>managed device</a:t>
            </a:r>
            <a:endParaRPr lang="en-US" dirty="0">
              <a:latin typeface="Arial"/>
              <a:cs typeface="Arial"/>
            </a:endParaRPr>
          </a:p>
        </p:txBody>
      </p:sp>
      <p:grpSp>
        <p:nvGrpSpPr>
          <p:cNvPr id="56330" name="Group 83"/>
          <p:cNvGrpSpPr>
            <a:grpSpLocks/>
          </p:cNvGrpSpPr>
          <p:nvPr/>
        </p:nvGrpSpPr>
        <p:grpSpPr bwMode="auto">
          <a:xfrm>
            <a:off x="839788" y="2232025"/>
            <a:ext cx="1941512" cy="646113"/>
            <a:chOff x="728" y="1420"/>
            <a:chExt cx="1223" cy="407"/>
          </a:xfrm>
        </p:grpSpPr>
        <p:sp>
          <p:nvSpPr>
            <p:cNvPr id="66637" name="Oval 77"/>
            <p:cNvSpPr>
              <a:spLocks noChangeArrowheads="1"/>
            </p:cNvSpPr>
            <p:nvPr/>
          </p:nvSpPr>
          <p:spPr bwMode="auto">
            <a:xfrm>
              <a:off x="728" y="1446"/>
              <a:ext cx="1223" cy="37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38" name="Text Box 78"/>
            <p:cNvSpPr txBox="1">
              <a:spLocks noChangeArrowheads="1"/>
            </p:cNvSpPr>
            <p:nvPr/>
          </p:nvSpPr>
          <p:spPr bwMode="auto">
            <a:xfrm>
              <a:off x="944" y="1420"/>
              <a:ext cx="7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managing</a:t>
              </a:r>
            </a:p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entity</a:t>
              </a:r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56331" name="Group 119"/>
          <p:cNvGrpSpPr>
            <a:grpSpLocks/>
          </p:cNvGrpSpPr>
          <p:nvPr/>
        </p:nvGrpSpPr>
        <p:grpSpPr bwMode="auto">
          <a:xfrm>
            <a:off x="5064125" y="4448175"/>
            <a:ext cx="1704975" cy="627063"/>
            <a:chOff x="1189" y="3477"/>
            <a:chExt cx="1074" cy="395"/>
          </a:xfrm>
        </p:grpSpPr>
        <p:sp>
          <p:nvSpPr>
            <p:cNvPr id="66680" name="Oval 120"/>
            <p:cNvSpPr>
              <a:spLocks noChangeArrowheads="1"/>
            </p:cNvSpPr>
            <p:nvPr/>
          </p:nvSpPr>
          <p:spPr bwMode="auto">
            <a:xfrm>
              <a:off x="1189" y="3477"/>
              <a:ext cx="1074" cy="39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81" name="Text Box 121"/>
            <p:cNvSpPr txBox="1">
              <a:spLocks noChangeArrowheads="1"/>
            </p:cNvSpPr>
            <p:nvPr/>
          </p:nvSpPr>
          <p:spPr bwMode="auto">
            <a:xfrm>
              <a:off x="1216" y="3545"/>
              <a:ext cx="4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agent</a:t>
              </a:r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56353" name="Group 122"/>
            <p:cNvGrpSpPr>
              <a:grpSpLocks/>
            </p:cNvGrpSpPr>
            <p:nvPr/>
          </p:nvGrpSpPr>
          <p:grpSpPr bwMode="auto">
            <a:xfrm>
              <a:off x="1701" y="3547"/>
              <a:ext cx="399" cy="244"/>
              <a:chOff x="698" y="2006"/>
              <a:chExt cx="399" cy="244"/>
            </a:xfrm>
          </p:grpSpPr>
          <p:sp>
            <p:nvSpPr>
              <p:cNvPr id="66683" name="Rectangle 123"/>
              <p:cNvSpPr>
                <a:spLocks noChangeArrowheads="1"/>
              </p:cNvSpPr>
              <p:nvPr/>
            </p:nvSpPr>
            <p:spPr bwMode="auto">
              <a:xfrm>
                <a:off x="714" y="2016"/>
                <a:ext cx="372" cy="234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66684" name="Text Box 124"/>
              <p:cNvSpPr txBox="1">
                <a:spLocks noChangeArrowheads="1"/>
              </p:cNvSpPr>
              <p:nvPr/>
            </p:nvSpPr>
            <p:spPr bwMode="auto">
              <a:xfrm>
                <a:off x="698" y="2006"/>
                <a:ext cx="39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800">
                    <a:solidFill>
                      <a:schemeClr val="bg1"/>
                    </a:solidFill>
                    <a:latin typeface="Arial"/>
                    <a:cs typeface="Arial"/>
                  </a:rPr>
                  <a:t>data</a:t>
                </a:r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66685" name="Text Box 125"/>
          <p:cNvSpPr txBox="1">
            <a:spLocks noChangeArrowheads="1"/>
          </p:cNvSpPr>
          <p:nvPr/>
        </p:nvSpPr>
        <p:spPr bwMode="auto">
          <a:xfrm>
            <a:off x="5461000" y="5232400"/>
            <a:ext cx="18780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1800" dirty="0">
                <a:latin typeface="Arial"/>
                <a:cs typeface="Arial"/>
              </a:rPr>
              <a:t>managed device</a:t>
            </a:r>
            <a:endParaRPr lang="en-US" dirty="0">
              <a:latin typeface="Arial"/>
              <a:cs typeface="Arial"/>
            </a:endParaRPr>
          </a:p>
        </p:txBody>
      </p:sp>
      <p:grpSp>
        <p:nvGrpSpPr>
          <p:cNvPr id="56333" name="Group 127"/>
          <p:cNvGrpSpPr>
            <a:grpSpLocks/>
          </p:cNvGrpSpPr>
          <p:nvPr/>
        </p:nvGrpSpPr>
        <p:grpSpPr bwMode="auto">
          <a:xfrm>
            <a:off x="4978400" y="2205038"/>
            <a:ext cx="1941513" cy="646112"/>
            <a:chOff x="728" y="1420"/>
            <a:chExt cx="1223" cy="407"/>
          </a:xfrm>
        </p:grpSpPr>
        <p:sp>
          <p:nvSpPr>
            <p:cNvPr id="66688" name="Oval 128"/>
            <p:cNvSpPr>
              <a:spLocks noChangeArrowheads="1"/>
            </p:cNvSpPr>
            <p:nvPr/>
          </p:nvSpPr>
          <p:spPr bwMode="auto">
            <a:xfrm>
              <a:off x="728" y="1446"/>
              <a:ext cx="1223" cy="37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89" name="Text Box 129"/>
            <p:cNvSpPr txBox="1">
              <a:spLocks noChangeArrowheads="1"/>
            </p:cNvSpPr>
            <p:nvPr/>
          </p:nvSpPr>
          <p:spPr bwMode="auto">
            <a:xfrm>
              <a:off x="944" y="1420"/>
              <a:ext cx="75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managing</a:t>
              </a:r>
            </a:p>
            <a:p>
              <a:pPr>
                <a:defRPr/>
              </a:pPr>
              <a:r>
                <a:rPr lang="en-US" sz="1800">
                  <a:latin typeface="Arial"/>
                  <a:cs typeface="Arial"/>
                </a:rPr>
                <a:t>entity</a:t>
              </a:r>
              <a:endParaRPr lang="en-US">
                <a:latin typeface="Arial"/>
                <a:cs typeface="Arial"/>
              </a:endParaRP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186363" y="2870200"/>
            <a:ext cx="2455681" cy="1538288"/>
            <a:chOff x="5186363" y="2870200"/>
            <a:chExt cx="2455681" cy="1538288"/>
          </a:xfrm>
        </p:grpSpPr>
        <p:sp>
          <p:nvSpPr>
            <p:cNvPr id="66705" name="Freeform 145"/>
            <p:cNvSpPr>
              <a:spLocks/>
            </p:cNvSpPr>
            <p:nvPr/>
          </p:nvSpPr>
          <p:spPr bwMode="auto">
            <a:xfrm>
              <a:off x="5784850" y="2870200"/>
              <a:ext cx="74613" cy="1538288"/>
            </a:xfrm>
            <a:custGeom>
              <a:avLst/>
              <a:gdLst>
                <a:gd name="T0" fmla="*/ 0 w 1"/>
                <a:gd name="T1" fmla="*/ 0 h 1044"/>
                <a:gd name="T2" fmla="*/ 0 w 1"/>
                <a:gd name="T3" fmla="*/ 1044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706" name="Rectangle 146"/>
            <p:cNvSpPr>
              <a:spLocks noChangeArrowheads="1"/>
            </p:cNvSpPr>
            <p:nvPr/>
          </p:nvSpPr>
          <p:spPr bwMode="auto">
            <a:xfrm>
              <a:off x="5186363" y="3503613"/>
              <a:ext cx="1693862" cy="387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707" name="Text Box 147"/>
            <p:cNvSpPr txBox="1">
              <a:spLocks noChangeArrowheads="1"/>
            </p:cNvSpPr>
            <p:nvPr/>
          </p:nvSpPr>
          <p:spPr bwMode="auto">
            <a:xfrm>
              <a:off x="5384619" y="3466849"/>
              <a:ext cx="22574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CC0000"/>
                  </a:solidFill>
                  <a:latin typeface="Arial"/>
                  <a:cs typeface="Arial"/>
                </a:rPr>
                <a:t>trap </a:t>
              </a:r>
              <a:r>
                <a:rPr lang="en-US" dirty="0" err="1">
                  <a:solidFill>
                    <a:srgbClr val="CC0000"/>
                  </a:solidFill>
                  <a:latin typeface="Arial"/>
                  <a:cs typeface="Arial"/>
                </a:rPr>
                <a:t>msg</a:t>
              </a:r>
              <a:endParaRPr lang="en-US" dirty="0">
                <a:solidFill>
                  <a:srgbClr val="CC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61939" y="2786063"/>
            <a:ext cx="1601788" cy="1657350"/>
            <a:chOff x="419102" y="2801938"/>
            <a:chExt cx="1601788" cy="1657350"/>
          </a:xfrm>
        </p:grpSpPr>
        <p:sp>
          <p:nvSpPr>
            <p:cNvPr id="66635" name="Freeform 75"/>
            <p:cNvSpPr>
              <a:spLocks/>
            </p:cNvSpPr>
            <p:nvPr/>
          </p:nvSpPr>
          <p:spPr bwMode="auto">
            <a:xfrm>
              <a:off x="1143001" y="2801938"/>
              <a:ext cx="1587" cy="1657350"/>
            </a:xfrm>
            <a:custGeom>
              <a:avLst/>
              <a:gdLst>
                <a:gd name="T0" fmla="*/ 0 w 1"/>
                <a:gd name="T1" fmla="*/ 0 h 1044"/>
                <a:gd name="T2" fmla="*/ 0 w 1"/>
                <a:gd name="T3" fmla="*/ 1044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56343" name="Group 148"/>
            <p:cNvGrpSpPr>
              <a:grpSpLocks/>
            </p:cNvGrpSpPr>
            <p:nvPr/>
          </p:nvGrpSpPr>
          <p:grpSpPr bwMode="auto">
            <a:xfrm>
              <a:off x="419102" y="3213100"/>
              <a:ext cx="1601788" cy="457200"/>
              <a:chOff x="3657" y="439"/>
              <a:chExt cx="1009" cy="288"/>
            </a:xfrm>
          </p:grpSpPr>
          <p:sp>
            <p:nvSpPr>
              <p:cNvPr id="66647" name="Rectangle 87"/>
              <p:cNvSpPr>
                <a:spLocks noChangeArrowheads="1"/>
              </p:cNvSpPr>
              <p:nvPr/>
            </p:nvSpPr>
            <p:spPr bwMode="auto">
              <a:xfrm>
                <a:off x="3657" y="446"/>
                <a:ext cx="844" cy="2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/>
                  <a:cs typeface="Arial"/>
                </a:endParaRPr>
              </a:p>
            </p:txBody>
          </p:sp>
          <p:sp>
            <p:nvSpPr>
              <p:cNvPr id="66646" name="Text Box 86"/>
              <p:cNvSpPr txBox="1">
                <a:spLocks noChangeArrowheads="1"/>
              </p:cNvSpPr>
              <p:nvPr/>
            </p:nvSpPr>
            <p:spPr bwMode="auto">
              <a:xfrm>
                <a:off x="3750" y="439"/>
                <a:ext cx="91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dirty="0">
                    <a:solidFill>
                      <a:srgbClr val="CC0000"/>
                    </a:solidFill>
                    <a:latin typeface="Arial"/>
                    <a:cs typeface="Arial"/>
                  </a:rPr>
                  <a:t>request</a:t>
                </a:r>
              </a:p>
            </p:txBody>
          </p:sp>
        </p:grpSp>
      </p:grpSp>
      <p:sp>
        <p:nvSpPr>
          <p:cNvPr id="66709" name="Text Box 149"/>
          <p:cNvSpPr txBox="1">
            <a:spLocks noChangeArrowheads="1"/>
          </p:cNvSpPr>
          <p:nvPr/>
        </p:nvSpPr>
        <p:spPr bwMode="auto">
          <a:xfrm>
            <a:off x="1687596" y="6047457"/>
            <a:ext cx="26098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  <a:latin typeface="Arial"/>
                <a:cs typeface="Arial"/>
              </a:rPr>
              <a:t>request/response mode</a:t>
            </a:r>
          </a:p>
        </p:txBody>
      </p:sp>
      <p:sp>
        <p:nvSpPr>
          <p:cNvPr id="66710" name="Text Box 150"/>
          <p:cNvSpPr txBox="1">
            <a:spLocks noChangeArrowheads="1"/>
          </p:cNvSpPr>
          <p:nvPr/>
        </p:nvSpPr>
        <p:spPr bwMode="auto">
          <a:xfrm>
            <a:off x="6735512" y="6035674"/>
            <a:ext cx="12239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99"/>
                </a:solidFill>
                <a:latin typeface="Arial"/>
                <a:cs typeface="Arial"/>
              </a:rPr>
              <a:t>trap mode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084263" y="2936875"/>
            <a:ext cx="2383238" cy="1466850"/>
            <a:chOff x="9064738" y="1353594"/>
            <a:chExt cx="2383238" cy="1466850"/>
          </a:xfrm>
        </p:grpSpPr>
        <p:sp>
          <p:nvSpPr>
            <p:cNvPr id="66649" name="Freeform 89"/>
            <p:cNvSpPr>
              <a:spLocks/>
            </p:cNvSpPr>
            <p:nvPr/>
          </p:nvSpPr>
          <p:spPr bwMode="auto">
            <a:xfrm>
              <a:off x="9820388" y="1353594"/>
              <a:ext cx="74612" cy="1466850"/>
            </a:xfrm>
            <a:custGeom>
              <a:avLst/>
              <a:gdLst>
                <a:gd name="T0" fmla="*/ 0 w 1"/>
                <a:gd name="T1" fmla="*/ 0 h 1044"/>
                <a:gd name="T2" fmla="*/ 0 w 1"/>
                <a:gd name="T3" fmla="*/ 1044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044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51" name="Rectangle 91"/>
            <p:cNvSpPr>
              <a:spLocks noChangeArrowheads="1"/>
            </p:cNvSpPr>
            <p:nvPr/>
          </p:nvSpPr>
          <p:spPr bwMode="auto">
            <a:xfrm>
              <a:off x="9064738" y="2155282"/>
              <a:ext cx="1422400" cy="387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/>
                <a:cs typeface="Arial"/>
              </a:endParaRPr>
            </a:p>
          </p:txBody>
        </p:sp>
        <p:sp>
          <p:nvSpPr>
            <p:cNvPr id="66652" name="Text Box 92"/>
            <p:cNvSpPr txBox="1">
              <a:spLocks noChangeArrowheads="1"/>
            </p:cNvSpPr>
            <p:nvPr/>
          </p:nvSpPr>
          <p:spPr bwMode="auto">
            <a:xfrm>
              <a:off x="9190551" y="2152272"/>
              <a:ext cx="22574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CC0000"/>
                  </a:solidFill>
                  <a:latin typeface="Arial"/>
                  <a:cs typeface="Arial"/>
                </a:rPr>
                <a:t>response</a:t>
              </a:r>
            </a:p>
          </p:txBody>
        </p:sp>
      </p:grpSp>
      <p:grpSp>
        <p:nvGrpSpPr>
          <p:cNvPr id="198" name="Group 327"/>
          <p:cNvGrpSpPr>
            <a:grpSpLocks/>
          </p:cNvGrpSpPr>
          <p:nvPr/>
        </p:nvGrpSpPr>
        <p:grpSpPr bwMode="auto">
          <a:xfrm>
            <a:off x="2365660" y="4961649"/>
            <a:ext cx="687402" cy="404025"/>
            <a:chOff x="1871277" y="1576300"/>
            <a:chExt cx="1128371" cy="437861"/>
          </a:xfrm>
        </p:grpSpPr>
        <p:sp>
          <p:nvSpPr>
            <p:cNvPr id="199" name="Oval 198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0" name="Rectangle 19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2" name="Oval 201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0" name="Freeform 209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1" name="Freeform 210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2" name="Freeform 211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5" name="Freeform 21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21" name="Straight Connector 220"/>
            <p:cNvCxnSpPr>
              <a:endCxn id="202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Group 327"/>
          <p:cNvGrpSpPr>
            <a:grpSpLocks/>
          </p:cNvGrpSpPr>
          <p:nvPr/>
        </p:nvGrpSpPr>
        <p:grpSpPr bwMode="auto">
          <a:xfrm>
            <a:off x="3534062" y="3389522"/>
            <a:ext cx="687402" cy="404025"/>
            <a:chOff x="1871277" y="1576300"/>
            <a:chExt cx="1128371" cy="437861"/>
          </a:xfrm>
        </p:grpSpPr>
        <p:sp>
          <p:nvSpPr>
            <p:cNvPr id="230" name="Oval 229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1" name="Rectangle 230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2" name="Oval 231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33" name="Freeform 232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5" name="Freeform 234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6" name="Freeform 235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8" name="Freeform 237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40" name="Straight Connector 239"/>
            <p:cNvCxnSpPr>
              <a:endCxn id="232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4" name="Group 327"/>
          <p:cNvGrpSpPr>
            <a:grpSpLocks/>
          </p:cNvGrpSpPr>
          <p:nvPr/>
        </p:nvGrpSpPr>
        <p:grpSpPr bwMode="auto">
          <a:xfrm>
            <a:off x="7670251" y="3394869"/>
            <a:ext cx="687402" cy="404025"/>
            <a:chOff x="1871277" y="1576300"/>
            <a:chExt cx="1128371" cy="437861"/>
          </a:xfrm>
        </p:grpSpPr>
        <p:sp>
          <p:nvSpPr>
            <p:cNvPr id="245" name="Oval 244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7" name="Rectangle 246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8" name="Oval 247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0" name="Freeform 249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0" name="Freeform 269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1" name="Freeform 270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8" name="Freeform 277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79" name="Straight Connector 278"/>
            <p:cNvCxnSpPr>
              <a:endCxn id="248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Group 327"/>
          <p:cNvGrpSpPr>
            <a:grpSpLocks/>
          </p:cNvGrpSpPr>
          <p:nvPr/>
        </p:nvGrpSpPr>
        <p:grpSpPr bwMode="auto">
          <a:xfrm>
            <a:off x="6525914" y="4937584"/>
            <a:ext cx="687402" cy="404025"/>
            <a:chOff x="1871277" y="1576300"/>
            <a:chExt cx="1128371" cy="437861"/>
          </a:xfrm>
        </p:grpSpPr>
        <p:sp>
          <p:nvSpPr>
            <p:cNvPr id="282" name="Oval 281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3" name="Rectangle 282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4" name="Oval 283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5" name="Freeform 284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6" name="Freeform 285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7" name="Freeform 286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88" name="Freeform 287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89" name="Straight Connector 288"/>
            <p:cNvCxnSpPr>
              <a:endCxn id="284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29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18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16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82232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400" dirty="0" smtClean="0"/>
              <a:t>SNMP protocol: message types</a:t>
            </a:r>
          </a:p>
        </p:txBody>
      </p:sp>
      <p:sp>
        <p:nvSpPr>
          <p:cNvPr id="67699" name="Text Box 115"/>
          <p:cNvSpPr txBox="1">
            <a:spLocks noChangeArrowheads="1"/>
          </p:cNvSpPr>
          <p:nvPr/>
        </p:nvSpPr>
        <p:spPr bwMode="auto">
          <a:xfrm>
            <a:off x="506413" y="1806575"/>
            <a:ext cx="2468562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>
                <a:latin typeface="Arial"/>
                <a:cs typeface="Arial"/>
              </a:rPr>
              <a:t>GetRequest</a:t>
            </a:r>
          </a:p>
          <a:p>
            <a:pPr algn="r">
              <a:defRPr/>
            </a:pPr>
            <a:r>
              <a:rPr lang="en-US">
                <a:latin typeface="Arial"/>
                <a:cs typeface="Arial"/>
              </a:rPr>
              <a:t>GetNextRequest</a:t>
            </a:r>
          </a:p>
          <a:p>
            <a:pPr algn="r">
              <a:defRPr/>
            </a:pPr>
            <a:r>
              <a:rPr lang="en-US">
                <a:latin typeface="Arial"/>
                <a:cs typeface="Arial"/>
              </a:rPr>
              <a:t>GetBulkRequest</a:t>
            </a:r>
          </a:p>
        </p:txBody>
      </p:sp>
      <p:sp>
        <p:nvSpPr>
          <p:cNvPr id="67700" name="Text Box 116"/>
          <p:cNvSpPr txBox="1">
            <a:spLocks noChangeArrowheads="1"/>
          </p:cNvSpPr>
          <p:nvPr/>
        </p:nvSpPr>
        <p:spPr bwMode="auto">
          <a:xfrm>
            <a:off x="3453732" y="1971675"/>
            <a:ext cx="48167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dirty="0" smtClean="0">
                <a:latin typeface="Arial"/>
                <a:cs typeface="Arial"/>
              </a:rPr>
              <a:t>manager-</a:t>
            </a:r>
            <a:r>
              <a:rPr lang="en-US" dirty="0">
                <a:latin typeface="Arial"/>
                <a:cs typeface="Arial"/>
              </a:rPr>
              <a:t>to-agent: </a:t>
            </a:r>
            <a:r>
              <a:rPr lang="ja-JP" altLang="en-US" dirty="0">
                <a:latin typeface="Arial"/>
                <a:cs typeface="Arial"/>
              </a:rPr>
              <a:t>“</a:t>
            </a:r>
            <a:r>
              <a:rPr lang="en-US" dirty="0">
                <a:latin typeface="Arial"/>
                <a:cs typeface="Arial"/>
              </a:rPr>
              <a:t>get me data</a:t>
            </a:r>
            <a:r>
              <a:rPr lang="ja-JP" altLang="en-US" dirty="0">
                <a:latin typeface="Arial"/>
                <a:cs typeface="Arial"/>
              </a:rPr>
              <a:t>”</a:t>
            </a:r>
            <a:endParaRPr lang="en-US" dirty="0">
              <a:latin typeface="Arial"/>
              <a:cs typeface="Arial"/>
            </a:endParaRPr>
          </a:p>
          <a:p>
            <a:pPr algn="l">
              <a:defRPr/>
            </a:pPr>
            <a:r>
              <a:rPr lang="en-US" dirty="0" smtClean="0">
                <a:latin typeface="Arial"/>
                <a:cs typeface="Arial"/>
              </a:rPr>
              <a:t>(data instance, next data in </a:t>
            </a:r>
            <a:r>
              <a:rPr lang="en-US" dirty="0">
                <a:latin typeface="Arial"/>
                <a:cs typeface="Arial"/>
              </a:rPr>
              <a:t>list, </a:t>
            </a:r>
            <a:r>
              <a:rPr lang="en-US" dirty="0" smtClean="0">
                <a:latin typeface="Arial"/>
                <a:cs typeface="Arial"/>
              </a:rPr>
              <a:t>block of data)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67702" name="Text Box 118"/>
          <p:cNvSpPr txBox="1">
            <a:spLocks noChangeArrowheads="1"/>
          </p:cNvSpPr>
          <p:nvPr/>
        </p:nvSpPr>
        <p:spPr bwMode="auto">
          <a:xfrm>
            <a:off x="568325" y="1265238"/>
            <a:ext cx="2419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2800" u="sng" dirty="0">
                <a:solidFill>
                  <a:srgbClr val="CC0000"/>
                </a:solidFill>
                <a:latin typeface="Arial"/>
                <a:cs typeface="Arial"/>
              </a:rPr>
              <a:t>Message type</a:t>
            </a:r>
            <a:endParaRPr lang="en-US" sz="2800" dirty="0">
              <a:solidFill>
                <a:srgbClr val="CC0000"/>
              </a:solidFill>
              <a:latin typeface="Arial"/>
              <a:cs typeface="Arial"/>
            </a:endParaRPr>
          </a:p>
        </p:txBody>
      </p:sp>
      <p:sp>
        <p:nvSpPr>
          <p:cNvPr id="67703" name="Text Box 119"/>
          <p:cNvSpPr txBox="1">
            <a:spLocks noChangeArrowheads="1"/>
          </p:cNvSpPr>
          <p:nvPr/>
        </p:nvSpPr>
        <p:spPr bwMode="auto">
          <a:xfrm>
            <a:off x="3614738" y="1263650"/>
            <a:ext cx="15621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800" u="sng" dirty="0">
                <a:solidFill>
                  <a:srgbClr val="CC0000"/>
                </a:solidFill>
                <a:latin typeface="Arial"/>
                <a:cs typeface="Arial"/>
              </a:rPr>
              <a:t>Function</a:t>
            </a:r>
            <a:endParaRPr lang="en-US" sz="2800" dirty="0">
              <a:solidFill>
                <a:srgbClr val="CC0000"/>
              </a:solidFill>
              <a:latin typeface="Arial"/>
              <a:cs typeface="Arial"/>
            </a:endParaRPr>
          </a:p>
        </p:txBody>
      </p:sp>
      <p:sp>
        <p:nvSpPr>
          <p:cNvPr id="67704" name="Line 120"/>
          <p:cNvSpPr>
            <a:spLocks noChangeShapeType="1"/>
          </p:cNvSpPr>
          <p:nvPr/>
        </p:nvSpPr>
        <p:spPr bwMode="auto">
          <a:xfrm>
            <a:off x="1330325" y="3081338"/>
            <a:ext cx="537368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705" name="Text Box 121"/>
          <p:cNvSpPr txBox="1">
            <a:spLocks noChangeArrowheads="1"/>
          </p:cNvSpPr>
          <p:nvPr/>
        </p:nvSpPr>
        <p:spPr bwMode="auto">
          <a:xfrm>
            <a:off x="361950" y="3225800"/>
            <a:ext cx="257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>
                <a:latin typeface="Arial"/>
                <a:cs typeface="Arial"/>
              </a:rPr>
              <a:t>InformRequest</a:t>
            </a:r>
          </a:p>
        </p:txBody>
      </p:sp>
      <p:sp>
        <p:nvSpPr>
          <p:cNvPr id="67706" name="Text Box 122"/>
          <p:cNvSpPr txBox="1">
            <a:spLocks noChangeArrowheads="1"/>
          </p:cNvSpPr>
          <p:nvPr/>
        </p:nvSpPr>
        <p:spPr bwMode="auto">
          <a:xfrm>
            <a:off x="3537786" y="3240088"/>
            <a:ext cx="45085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manager-to-manager: </a:t>
            </a:r>
            <a:r>
              <a:rPr lang="en-US" dirty="0">
                <a:latin typeface="Arial"/>
                <a:cs typeface="Arial"/>
              </a:rPr>
              <a:t>here</a:t>
            </a:r>
            <a:r>
              <a:rPr lang="ja-JP" altLang="en-US" dirty="0">
                <a:latin typeface="Arial"/>
                <a:cs typeface="Arial"/>
              </a:rPr>
              <a:t>’</a:t>
            </a:r>
            <a:r>
              <a:rPr lang="en-US" dirty="0">
                <a:latin typeface="Arial"/>
                <a:cs typeface="Arial"/>
              </a:rPr>
              <a:t>s MIB value</a:t>
            </a:r>
          </a:p>
        </p:txBody>
      </p:sp>
      <p:sp>
        <p:nvSpPr>
          <p:cNvPr id="67707" name="Line 123"/>
          <p:cNvSpPr>
            <a:spLocks noChangeShapeType="1"/>
          </p:cNvSpPr>
          <p:nvPr/>
        </p:nvSpPr>
        <p:spPr bwMode="auto">
          <a:xfrm>
            <a:off x="1363663" y="3797300"/>
            <a:ext cx="5373687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708" name="Text Box 124"/>
          <p:cNvSpPr txBox="1">
            <a:spLocks noChangeArrowheads="1"/>
          </p:cNvSpPr>
          <p:nvPr/>
        </p:nvSpPr>
        <p:spPr bwMode="auto">
          <a:xfrm>
            <a:off x="417513" y="3886200"/>
            <a:ext cx="257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>
                <a:latin typeface="Arial"/>
                <a:cs typeface="Arial"/>
              </a:rPr>
              <a:t>SetRequest</a:t>
            </a:r>
          </a:p>
        </p:txBody>
      </p:sp>
      <p:sp>
        <p:nvSpPr>
          <p:cNvPr id="67709" name="Text Box 125"/>
          <p:cNvSpPr txBox="1">
            <a:spLocks noChangeArrowheads="1"/>
          </p:cNvSpPr>
          <p:nvPr/>
        </p:nvSpPr>
        <p:spPr bwMode="auto">
          <a:xfrm>
            <a:off x="3557923" y="3921794"/>
            <a:ext cx="42735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 smtClean="0">
                <a:latin typeface="Arial"/>
                <a:cs typeface="Arial"/>
              </a:rPr>
              <a:t>manager-</a:t>
            </a:r>
            <a:r>
              <a:rPr lang="en-US" dirty="0">
                <a:latin typeface="Arial"/>
                <a:cs typeface="Arial"/>
              </a:rPr>
              <a:t>to-agent: set MIB value</a:t>
            </a:r>
          </a:p>
        </p:txBody>
      </p:sp>
      <p:sp>
        <p:nvSpPr>
          <p:cNvPr id="67710" name="Line 126"/>
          <p:cNvSpPr>
            <a:spLocks noChangeShapeType="1"/>
          </p:cNvSpPr>
          <p:nvPr/>
        </p:nvSpPr>
        <p:spPr bwMode="auto">
          <a:xfrm>
            <a:off x="1327150" y="4491038"/>
            <a:ext cx="537368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711" name="Text Box 127"/>
          <p:cNvSpPr txBox="1">
            <a:spLocks noChangeArrowheads="1"/>
          </p:cNvSpPr>
          <p:nvPr/>
        </p:nvSpPr>
        <p:spPr bwMode="auto">
          <a:xfrm>
            <a:off x="395288" y="4675188"/>
            <a:ext cx="257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>
                <a:latin typeface="Arial"/>
                <a:cs typeface="Arial"/>
              </a:rPr>
              <a:t>Response</a:t>
            </a:r>
          </a:p>
        </p:txBody>
      </p:sp>
      <p:sp>
        <p:nvSpPr>
          <p:cNvPr id="67712" name="Text Box 128"/>
          <p:cNvSpPr txBox="1">
            <a:spLocks noChangeArrowheads="1"/>
          </p:cNvSpPr>
          <p:nvPr/>
        </p:nvSpPr>
        <p:spPr bwMode="auto">
          <a:xfrm>
            <a:off x="3516313" y="4578350"/>
            <a:ext cx="423737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dirty="0">
                <a:latin typeface="Arial"/>
                <a:cs typeface="Arial"/>
              </a:rPr>
              <a:t>Agent-to-</a:t>
            </a:r>
            <a:r>
              <a:rPr lang="en-US" dirty="0" smtClean="0">
                <a:latin typeface="Arial"/>
                <a:cs typeface="Arial"/>
              </a:rPr>
              <a:t>manager: </a:t>
            </a:r>
            <a:r>
              <a:rPr lang="en-US" dirty="0">
                <a:latin typeface="Arial"/>
                <a:cs typeface="Arial"/>
              </a:rPr>
              <a:t>value, response to </a:t>
            </a:r>
          </a:p>
          <a:p>
            <a:pPr algn="l">
              <a:defRPr/>
            </a:pPr>
            <a:r>
              <a:rPr lang="en-US" dirty="0">
                <a:latin typeface="Arial"/>
                <a:cs typeface="Arial"/>
              </a:rPr>
              <a:t>Request</a:t>
            </a:r>
          </a:p>
        </p:txBody>
      </p:sp>
      <p:sp>
        <p:nvSpPr>
          <p:cNvPr id="67713" name="Line 129"/>
          <p:cNvSpPr>
            <a:spLocks noChangeShapeType="1"/>
          </p:cNvSpPr>
          <p:nvPr/>
        </p:nvSpPr>
        <p:spPr bwMode="auto">
          <a:xfrm>
            <a:off x="1387475" y="5407025"/>
            <a:ext cx="537368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714" name="Text Box 130"/>
          <p:cNvSpPr txBox="1">
            <a:spLocks noChangeArrowheads="1"/>
          </p:cNvSpPr>
          <p:nvPr/>
        </p:nvSpPr>
        <p:spPr bwMode="auto">
          <a:xfrm>
            <a:off x="411163" y="5553075"/>
            <a:ext cx="2578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>
                <a:latin typeface="Arial"/>
                <a:cs typeface="Arial"/>
              </a:rPr>
              <a:t>Trap</a:t>
            </a:r>
          </a:p>
        </p:txBody>
      </p:sp>
      <p:sp>
        <p:nvSpPr>
          <p:cNvPr id="67715" name="Line 131"/>
          <p:cNvSpPr>
            <a:spLocks noChangeShapeType="1"/>
          </p:cNvSpPr>
          <p:nvPr/>
        </p:nvSpPr>
        <p:spPr bwMode="auto">
          <a:xfrm>
            <a:off x="3279775" y="1352550"/>
            <a:ext cx="0" cy="4964113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716" name="Text Box 132"/>
          <p:cNvSpPr txBox="1">
            <a:spLocks noChangeArrowheads="1"/>
          </p:cNvSpPr>
          <p:nvPr/>
        </p:nvSpPr>
        <p:spPr bwMode="auto">
          <a:xfrm>
            <a:off x="3505200" y="5541963"/>
            <a:ext cx="47926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dirty="0">
                <a:latin typeface="Arial"/>
                <a:cs typeface="Arial"/>
              </a:rPr>
              <a:t>Agent-to</a:t>
            </a:r>
            <a:r>
              <a:rPr lang="en-US" dirty="0" smtClean="0">
                <a:latin typeface="Arial"/>
                <a:cs typeface="Arial"/>
              </a:rPr>
              <a:t>-manager: </a:t>
            </a:r>
            <a:r>
              <a:rPr lang="en-US" dirty="0">
                <a:latin typeface="Arial"/>
                <a:cs typeface="Arial"/>
              </a:rPr>
              <a:t>inform manager</a:t>
            </a:r>
          </a:p>
          <a:p>
            <a:pPr algn="l">
              <a:defRPr/>
            </a:pPr>
            <a:r>
              <a:rPr lang="en-US" dirty="0">
                <a:latin typeface="Arial"/>
                <a:cs typeface="Arial"/>
              </a:rPr>
              <a:t>of exceptional event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21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5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8890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15925" y="219075"/>
            <a:ext cx="7772400" cy="835025"/>
          </a:xfrm>
        </p:spPr>
        <p:txBody>
          <a:bodyPr/>
          <a:lstStyle/>
          <a:p>
            <a:pPr>
              <a:defRPr/>
            </a:pPr>
            <a:r>
              <a:rPr lang="en-US" sz="4400" dirty="0" smtClean="0"/>
              <a:t>SNMP protocol: message formats</a:t>
            </a:r>
          </a:p>
        </p:txBody>
      </p:sp>
      <p:sp>
        <p:nvSpPr>
          <p:cNvPr id="60421" name="Rectangle 1"/>
          <p:cNvSpPr>
            <a:spLocks noChangeArrowheads="1"/>
          </p:cNvSpPr>
          <p:nvPr/>
        </p:nvSpPr>
        <p:spPr bwMode="auto">
          <a:xfrm>
            <a:off x="939392" y="1751775"/>
            <a:ext cx="6943725" cy="1004888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cxnSp>
        <p:nvCxnSpPr>
          <p:cNvPr id="9" name="Straight Connector 3"/>
          <p:cNvCxnSpPr>
            <a:cxnSpLocks noChangeShapeType="1"/>
          </p:cNvCxnSpPr>
          <p:nvPr/>
        </p:nvCxnSpPr>
        <p:spPr bwMode="auto">
          <a:xfrm>
            <a:off x="1856967" y="1756538"/>
            <a:ext cx="0" cy="1020762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0423" name="TextBox 39"/>
          <p:cNvSpPr txBox="1">
            <a:spLocks noChangeArrowheads="1"/>
          </p:cNvSpPr>
          <p:nvPr/>
        </p:nvSpPr>
        <p:spPr bwMode="auto">
          <a:xfrm>
            <a:off x="7386229" y="2110550"/>
            <a:ext cx="4968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sz="1600" i="1">
                <a:solidFill>
                  <a:schemeClr val="bg1"/>
                </a:solidFill>
                <a:latin typeface="Arial" charset="0"/>
                <a:cs typeface="Arial" charset="0"/>
              </a:rPr>
              <a:t>….</a:t>
            </a:r>
          </a:p>
        </p:txBody>
      </p:sp>
      <p:sp>
        <p:nvSpPr>
          <p:cNvPr id="60424" name="TextBox 40"/>
          <p:cNvSpPr txBox="1">
            <a:spLocks noChangeArrowheads="1"/>
          </p:cNvSpPr>
          <p:nvPr/>
        </p:nvSpPr>
        <p:spPr bwMode="auto">
          <a:xfrm>
            <a:off x="1152117" y="1778763"/>
            <a:ext cx="58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PDU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type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(0-3)</a:t>
            </a:r>
          </a:p>
        </p:txBody>
      </p:sp>
      <p:cxnSp>
        <p:nvCxnSpPr>
          <p:cNvPr id="20" name="Straight Connector 3"/>
          <p:cNvCxnSpPr>
            <a:cxnSpLocks noChangeShapeType="1"/>
          </p:cNvCxnSpPr>
          <p:nvPr/>
        </p:nvCxnSpPr>
        <p:spPr bwMode="auto">
          <a:xfrm>
            <a:off x="2750729" y="1743838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1" name="Straight Connector 3"/>
          <p:cNvCxnSpPr>
            <a:cxnSpLocks noChangeShapeType="1"/>
          </p:cNvCxnSpPr>
          <p:nvPr/>
        </p:nvCxnSpPr>
        <p:spPr bwMode="auto">
          <a:xfrm>
            <a:off x="3644492" y="173590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2" name="Straight Connector 3"/>
          <p:cNvCxnSpPr>
            <a:cxnSpLocks noChangeShapeType="1"/>
          </p:cNvCxnSpPr>
          <p:nvPr/>
        </p:nvCxnSpPr>
        <p:spPr bwMode="auto">
          <a:xfrm>
            <a:off x="4546192" y="1758125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3" name="Straight Connector 3"/>
          <p:cNvCxnSpPr>
            <a:cxnSpLocks noChangeShapeType="1"/>
          </p:cNvCxnSpPr>
          <p:nvPr/>
        </p:nvCxnSpPr>
        <p:spPr bwMode="auto">
          <a:xfrm>
            <a:off x="5255804" y="1750188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4" name="Straight Connector 3"/>
          <p:cNvCxnSpPr>
            <a:cxnSpLocks noChangeShapeType="1"/>
          </p:cNvCxnSpPr>
          <p:nvPr/>
        </p:nvCxnSpPr>
        <p:spPr bwMode="auto">
          <a:xfrm>
            <a:off x="5978117" y="174225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5" name="Straight Connector 3"/>
          <p:cNvCxnSpPr>
            <a:cxnSpLocks noChangeShapeType="1"/>
          </p:cNvCxnSpPr>
          <p:nvPr/>
        </p:nvCxnSpPr>
        <p:spPr bwMode="auto">
          <a:xfrm>
            <a:off x="6681379" y="1734313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6" name="Straight Connector 3"/>
          <p:cNvCxnSpPr>
            <a:cxnSpLocks noChangeShapeType="1"/>
          </p:cNvCxnSpPr>
          <p:nvPr/>
        </p:nvCxnSpPr>
        <p:spPr bwMode="auto">
          <a:xfrm>
            <a:off x="7403692" y="176130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0432" name="TextBox 40"/>
          <p:cNvSpPr txBox="1">
            <a:spLocks noChangeArrowheads="1"/>
          </p:cNvSpPr>
          <p:nvPr/>
        </p:nvSpPr>
        <p:spPr bwMode="auto">
          <a:xfrm>
            <a:off x="1858554" y="1926400"/>
            <a:ext cx="88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Request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ID</a:t>
            </a:r>
          </a:p>
        </p:txBody>
      </p:sp>
      <p:sp>
        <p:nvSpPr>
          <p:cNvPr id="60433" name="TextBox 40"/>
          <p:cNvSpPr txBox="1">
            <a:spLocks noChangeArrowheads="1"/>
          </p:cNvSpPr>
          <p:nvPr/>
        </p:nvSpPr>
        <p:spPr bwMode="auto">
          <a:xfrm>
            <a:off x="2842804" y="1781938"/>
            <a:ext cx="7207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Error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Status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(0-5)</a:t>
            </a:r>
          </a:p>
        </p:txBody>
      </p:sp>
      <p:sp>
        <p:nvSpPr>
          <p:cNvPr id="60434" name="TextBox 40"/>
          <p:cNvSpPr txBox="1">
            <a:spLocks noChangeArrowheads="1"/>
          </p:cNvSpPr>
          <p:nvPr/>
        </p:nvSpPr>
        <p:spPr bwMode="auto">
          <a:xfrm>
            <a:off x="3774667" y="1929575"/>
            <a:ext cx="647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Error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Index</a:t>
            </a:r>
          </a:p>
        </p:txBody>
      </p:sp>
      <p:sp>
        <p:nvSpPr>
          <p:cNvPr id="60435" name="TextBox 40"/>
          <p:cNvSpPr txBox="1">
            <a:spLocks noChangeArrowheads="1"/>
          </p:cNvSpPr>
          <p:nvPr/>
        </p:nvSpPr>
        <p:spPr bwMode="auto">
          <a:xfrm>
            <a:off x="4549367" y="2064513"/>
            <a:ext cx="6905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Name</a:t>
            </a:r>
          </a:p>
        </p:txBody>
      </p:sp>
      <p:sp>
        <p:nvSpPr>
          <p:cNvPr id="60436" name="TextBox 40"/>
          <p:cNvSpPr txBox="1">
            <a:spLocks noChangeArrowheads="1"/>
          </p:cNvSpPr>
          <p:nvPr/>
        </p:nvSpPr>
        <p:spPr bwMode="auto">
          <a:xfrm>
            <a:off x="5289142" y="2074038"/>
            <a:ext cx="655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Value</a:t>
            </a:r>
          </a:p>
        </p:txBody>
      </p:sp>
      <p:sp>
        <p:nvSpPr>
          <p:cNvPr id="60437" name="TextBox 40"/>
          <p:cNvSpPr txBox="1">
            <a:spLocks noChangeArrowheads="1"/>
          </p:cNvSpPr>
          <p:nvPr/>
        </p:nvSpPr>
        <p:spPr bwMode="auto">
          <a:xfrm>
            <a:off x="5984467" y="2074038"/>
            <a:ext cx="688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Name</a:t>
            </a:r>
          </a:p>
        </p:txBody>
      </p:sp>
      <p:sp>
        <p:nvSpPr>
          <p:cNvPr id="60438" name="TextBox 40"/>
          <p:cNvSpPr txBox="1">
            <a:spLocks noChangeArrowheads="1"/>
          </p:cNvSpPr>
          <p:nvPr/>
        </p:nvSpPr>
        <p:spPr bwMode="auto">
          <a:xfrm>
            <a:off x="6717892" y="2083563"/>
            <a:ext cx="654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Value</a:t>
            </a:r>
          </a:p>
        </p:txBody>
      </p:sp>
      <p:sp>
        <p:nvSpPr>
          <p:cNvPr id="60439" name="Rectangle 1"/>
          <p:cNvSpPr>
            <a:spLocks noChangeArrowheads="1"/>
          </p:cNvSpPr>
          <p:nvPr/>
        </p:nvSpPr>
        <p:spPr bwMode="auto">
          <a:xfrm>
            <a:off x="902879" y="3267838"/>
            <a:ext cx="6943725" cy="1004887"/>
          </a:xfrm>
          <a:prstGeom prst="rect">
            <a:avLst/>
          </a:prstGeom>
          <a:solidFill>
            <a:srgbClr val="006633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cxnSp>
        <p:nvCxnSpPr>
          <p:cNvPr id="59" name="Straight Connector 3"/>
          <p:cNvCxnSpPr>
            <a:cxnSpLocks noChangeShapeType="1"/>
          </p:cNvCxnSpPr>
          <p:nvPr/>
        </p:nvCxnSpPr>
        <p:spPr bwMode="auto">
          <a:xfrm>
            <a:off x="1820454" y="3274188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0441" name="TextBox 39"/>
          <p:cNvSpPr txBox="1">
            <a:spLocks noChangeArrowheads="1"/>
          </p:cNvSpPr>
          <p:nvPr/>
        </p:nvSpPr>
        <p:spPr bwMode="auto">
          <a:xfrm>
            <a:off x="7349717" y="3628200"/>
            <a:ext cx="4968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sz="1600" i="1">
                <a:solidFill>
                  <a:schemeClr val="bg1"/>
                </a:solidFill>
                <a:latin typeface="Arial" charset="0"/>
                <a:cs typeface="Arial" charset="0"/>
              </a:rPr>
              <a:t>….</a:t>
            </a:r>
          </a:p>
        </p:txBody>
      </p:sp>
      <p:sp>
        <p:nvSpPr>
          <p:cNvPr id="60442" name="TextBox 40"/>
          <p:cNvSpPr txBox="1">
            <a:spLocks noChangeArrowheads="1"/>
          </p:cNvSpPr>
          <p:nvPr/>
        </p:nvSpPr>
        <p:spPr bwMode="auto">
          <a:xfrm>
            <a:off x="1115604" y="3296413"/>
            <a:ext cx="5842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PDU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type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4</a:t>
            </a:r>
          </a:p>
        </p:txBody>
      </p:sp>
      <p:cxnSp>
        <p:nvCxnSpPr>
          <p:cNvPr id="62" name="Straight Connector 3"/>
          <p:cNvCxnSpPr>
            <a:cxnSpLocks noChangeShapeType="1"/>
          </p:cNvCxnSpPr>
          <p:nvPr/>
        </p:nvCxnSpPr>
        <p:spPr bwMode="auto">
          <a:xfrm>
            <a:off x="2714217" y="325990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3" name="Straight Connector 3"/>
          <p:cNvCxnSpPr>
            <a:cxnSpLocks noChangeShapeType="1"/>
          </p:cNvCxnSpPr>
          <p:nvPr/>
        </p:nvCxnSpPr>
        <p:spPr bwMode="auto">
          <a:xfrm>
            <a:off x="3433354" y="3258313"/>
            <a:ext cx="0" cy="1020762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4" name="Straight Connector 3"/>
          <p:cNvCxnSpPr>
            <a:cxnSpLocks noChangeShapeType="1"/>
          </p:cNvCxnSpPr>
          <p:nvPr/>
        </p:nvCxnSpPr>
        <p:spPr bwMode="auto">
          <a:xfrm>
            <a:off x="4327117" y="3267838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5" name="Straight Connector 3"/>
          <p:cNvCxnSpPr>
            <a:cxnSpLocks noChangeShapeType="1"/>
          </p:cNvCxnSpPr>
          <p:nvPr/>
        </p:nvCxnSpPr>
        <p:spPr bwMode="auto">
          <a:xfrm>
            <a:off x="5179604" y="326625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6" name="Straight Connector 3"/>
          <p:cNvCxnSpPr>
            <a:cxnSpLocks noChangeShapeType="1"/>
          </p:cNvCxnSpPr>
          <p:nvPr/>
        </p:nvCxnSpPr>
        <p:spPr bwMode="auto">
          <a:xfrm>
            <a:off x="6013042" y="3258313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7" name="Straight Connector 3"/>
          <p:cNvCxnSpPr>
            <a:cxnSpLocks noChangeShapeType="1"/>
          </p:cNvCxnSpPr>
          <p:nvPr/>
        </p:nvCxnSpPr>
        <p:spPr bwMode="auto">
          <a:xfrm>
            <a:off x="6722654" y="3244025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68" name="Straight Connector 3"/>
          <p:cNvCxnSpPr>
            <a:cxnSpLocks noChangeShapeType="1"/>
          </p:cNvCxnSpPr>
          <p:nvPr/>
        </p:nvCxnSpPr>
        <p:spPr bwMode="auto">
          <a:xfrm>
            <a:off x="7373529" y="3272600"/>
            <a:ext cx="0" cy="101917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0450" name="TextBox 40"/>
          <p:cNvSpPr txBox="1">
            <a:spLocks noChangeArrowheads="1"/>
          </p:cNvSpPr>
          <p:nvPr/>
        </p:nvSpPr>
        <p:spPr bwMode="auto">
          <a:xfrm>
            <a:off x="1788704" y="3578988"/>
            <a:ext cx="9540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600">
                <a:solidFill>
                  <a:schemeClr val="bg1"/>
                </a:solidFill>
                <a:latin typeface="Arial Narrow" charset="0"/>
                <a:cs typeface="Arial Narrow" charset="0"/>
              </a:rPr>
              <a:t>Enterprise</a:t>
            </a:r>
          </a:p>
        </p:txBody>
      </p:sp>
      <p:sp>
        <p:nvSpPr>
          <p:cNvPr id="60451" name="TextBox 40"/>
          <p:cNvSpPr txBox="1">
            <a:spLocks noChangeArrowheads="1"/>
          </p:cNvSpPr>
          <p:nvPr/>
        </p:nvSpPr>
        <p:spPr bwMode="auto">
          <a:xfrm>
            <a:off x="2749142" y="3453575"/>
            <a:ext cx="679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Agent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Addr</a:t>
            </a:r>
          </a:p>
        </p:txBody>
      </p:sp>
      <p:sp>
        <p:nvSpPr>
          <p:cNvPr id="60452" name="TextBox 40"/>
          <p:cNvSpPr txBox="1">
            <a:spLocks noChangeArrowheads="1"/>
          </p:cNvSpPr>
          <p:nvPr/>
        </p:nvSpPr>
        <p:spPr bwMode="auto">
          <a:xfrm>
            <a:off x="3563529" y="3317050"/>
            <a:ext cx="595313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Trap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Type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(0-7)</a:t>
            </a:r>
          </a:p>
        </p:txBody>
      </p:sp>
      <p:sp>
        <p:nvSpPr>
          <p:cNvPr id="60453" name="TextBox 40"/>
          <p:cNvSpPr txBox="1">
            <a:spLocks noChangeArrowheads="1"/>
          </p:cNvSpPr>
          <p:nvPr/>
        </p:nvSpPr>
        <p:spPr bwMode="auto">
          <a:xfrm>
            <a:off x="4330292" y="3458338"/>
            <a:ext cx="847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Specific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code</a:t>
            </a:r>
          </a:p>
        </p:txBody>
      </p:sp>
      <p:sp>
        <p:nvSpPr>
          <p:cNvPr id="60454" name="TextBox 40"/>
          <p:cNvSpPr txBox="1">
            <a:spLocks noChangeArrowheads="1"/>
          </p:cNvSpPr>
          <p:nvPr/>
        </p:nvSpPr>
        <p:spPr bwMode="auto">
          <a:xfrm>
            <a:off x="5249454" y="3467863"/>
            <a:ext cx="7000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Time</a:t>
            </a:r>
          </a:p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stamp</a:t>
            </a:r>
          </a:p>
        </p:txBody>
      </p:sp>
      <p:sp>
        <p:nvSpPr>
          <p:cNvPr id="60455" name="TextBox 40"/>
          <p:cNvSpPr txBox="1">
            <a:spLocks noChangeArrowheads="1"/>
          </p:cNvSpPr>
          <p:nvPr/>
        </p:nvSpPr>
        <p:spPr bwMode="auto">
          <a:xfrm>
            <a:off x="6032092" y="3591688"/>
            <a:ext cx="688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Name</a:t>
            </a:r>
          </a:p>
        </p:txBody>
      </p:sp>
      <p:sp>
        <p:nvSpPr>
          <p:cNvPr id="60456" name="TextBox 40"/>
          <p:cNvSpPr txBox="1">
            <a:spLocks noChangeArrowheads="1"/>
          </p:cNvSpPr>
          <p:nvPr/>
        </p:nvSpPr>
        <p:spPr bwMode="auto">
          <a:xfrm>
            <a:off x="6713129" y="3601213"/>
            <a:ext cx="655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chemeClr val="bg1"/>
                </a:solidFill>
                <a:latin typeface="Arial Narrow" charset="0"/>
                <a:cs typeface="Arial Narrow" charset="0"/>
              </a:rPr>
              <a:t>Value</a:t>
            </a:r>
          </a:p>
        </p:txBody>
      </p:sp>
      <p:cxnSp>
        <p:nvCxnSpPr>
          <p:cNvPr id="34" name="Straight Connector 33"/>
          <p:cNvCxnSpPr/>
          <p:nvPr/>
        </p:nvCxnSpPr>
        <p:spPr bwMode="auto">
          <a:xfrm>
            <a:off x="1836329" y="4482692"/>
            <a:ext cx="4170363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" name="Straight Connector 77"/>
          <p:cNvCxnSpPr/>
          <p:nvPr/>
        </p:nvCxnSpPr>
        <p:spPr bwMode="auto">
          <a:xfrm>
            <a:off x="6016217" y="4479517"/>
            <a:ext cx="1817687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Straight Connector 80"/>
          <p:cNvCxnSpPr/>
          <p:nvPr/>
        </p:nvCxnSpPr>
        <p:spPr bwMode="auto">
          <a:xfrm>
            <a:off x="1831567" y="1537463"/>
            <a:ext cx="270986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Straight Connector 82"/>
          <p:cNvCxnSpPr/>
          <p:nvPr/>
        </p:nvCxnSpPr>
        <p:spPr bwMode="auto">
          <a:xfrm>
            <a:off x="4533492" y="1553338"/>
            <a:ext cx="3309937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61" name="TextBox 68612"/>
          <p:cNvSpPr txBox="1">
            <a:spLocks noChangeArrowheads="1"/>
          </p:cNvSpPr>
          <p:nvPr/>
        </p:nvSpPr>
        <p:spPr bwMode="auto">
          <a:xfrm>
            <a:off x="2401479" y="1345375"/>
            <a:ext cx="17113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latin typeface="Arial" charset="0"/>
                <a:cs typeface="Arial" charset="0"/>
              </a:rPr>
              <a:t>Get/set header</a:t>
            </a:r>
          </a:p>
        </p:txBody>
      </p:sp>
      <p:sp>
        <p:nvSpPr>
          <p:cNvPr id="60462" name="TextBox 85"/>
          <p:cNvSpPr txBox="1">
            <a:spLocks noChangeArrowheads="1"/>
          </p:cNvSpPr>
          <p:nvPr/>
        </p:nvSpPr>
        <p:spPr bwMode="auto">
          <a:xfrm>
            <a:off x="5104992" y="1342200"/>
            <a:ext cx="21574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latin typeface="Arial" charset="0"/>
                <a:cs typeface="Arial" charset="0"/>
              </a:rPr>
              <a:t>Variables to get/set</a:t>
            </a:r>
          </a:p>
        </p:txBody>
      </p:sp>
      <p:sp>
        <p:nvSpPr>
          <p:cNvPr id="60463" name="TextBox 87"/>
          <p:cNvSpPr txBox="1">
            <a:spLocks noChangeArrowheads="1"/>
          </p:cNvSpPr>
          <p:nvPr/>
        </p:nvSpPr>
        <p:spPr bwMode="auto">
          <a:xfrm>
            <a:off x="3246029" y="4290604"/>
            <a:ext cx="1433513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latin typeface="Arial" charset="0"/>
                <a:cs typeface="Arial" charset="0"/>
              </a:rPr>
              <a:t>Trap header</a:t>
            </a:r>
          </a:p>
        </p:txBody>
      </p:sp>
      <p:sp>
        <p:nvSpPr>
          <p:cNvPr id="60464" name="TextBox 88"/>
          <p:cNvSpPr txBox="1">
            <a:spLocks noChangeArrowheads="1"/>
          </p:cNvSpPr>
          <p:nvPr/>
        </p:nvSpPr>
        <p:spPr bwMode="auto">
          <a:xfrm>
            <a:off x="6282917" y="4279492"/>
            <a:ext cx="1087437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latin typeface="Arial" charset="0"/>
                <a:cs typeface="Arial" charset="0"/>
              </a:rPr>
              <a:t>Trap info</a:t>
            </a:r>
          </a:p>
        </p:txBody>
      </p:sp>
      <p:cxnSp>
        <p:nvCxnSpPr>
          <p:cNvPr id="90" name="Straight Connector 89"/>
          <p:cNvCxnSpPr/>
          <p:nvPr/>
        </p:nvCxnSpPr>
        <p:spPr bwMode="auto">
          <a:xfrm>
            <a:off x="913992" y="5083938"/>
            <a:ext cx="693261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66" name="TextBox 91"/>
          <p:cNvSpPr txBox="1">
            <a:spLocks noChangeArrowheads="1"/>
          </p:cNvSpPr>
          <p:nvPr/>
        </p:nvSpPr>
        <p:spPr bwMode="auto">
          <a:xfrm>
            <a:off x="3641317" y="4896613"/>
            <a:ext cx="1398587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latin typeface="Arial" charset="0"/>
                <a:cs typeface="Arial" charset="0"/>
              </a:rPr>
              <a:t>SNMP PDU</a:t>
            </a:r>
          </a:p>
        </p:txBody>
      </p:sp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5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5052" y="5708316"/>
            <a:ext cx="6138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More on network management: </a:t>
            </a:r>
            <a:r>
              <a:rPr lang="en-US" dirty="0" smtClean="0"/>
              <a:t>see earlier editions of text!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5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7" name="Picture 7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866696"/>
            <a:ext cx="4165600" cy="18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184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cs typeface="+mj-cs"/>
              </a:rPr>
              <a:t>Chapter </a:t>
            </a:r>
            <a:r>
              <a:rPr lang="en-US" sz="4000" dirty="0" smtClean="0">
                <a:cs typeface="+mj-cs"/>
              </a:rPr>
              <a:t>5: </a:t>
            </a:r>
            <a:r>
              <a:rPr lang="en-US" sz="3600" dirty="0" smtClean="0">
                <a:cs typeface="+mj-cs"/>
              </a:rPr>
              <a:t>summary</a:t>
            </a:r>
            <a:endParaRPr lang="en-US" sz="3600" dirty="0">
              <a:cs typeface="+mj-cs"/>
            </a:endParaRP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347" y="1199153"/>
            <a:ext cx="8503653" cy="3680326"/>
          </a:xfrm>
        </p:spPr>
        <p:txBody>
          <a:bodyPr/>
          <a:lstStyle/>
          <a:p>
            <a:pPr>
              <a:buFont typeface="Wingdings" charset="0"/>
              <a:buNone/>
              <a:defRPr/>
            </a:pPr>
            <a:r>
              <a:rPr lang="en-US" sz="3200" i="1" dirty="0" smtClean="0">
                <a:solidFill>
                  <a:srgbClr val="CC0000"/>
                </a:solidFill>
                <a:cs typeface="+mn-cs"/>
              </a:rPr>
              <a:t>we’ve learned a lot!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 smtClean="0">
                <a:cs typeface="+mn-cs"/>
              </a:rPr>
              <a:t>approaches to network control plane</a:t>
            </a:r>
          </a:p>
          <a:p>
            <a:pPr marL="746125" lvl="1" indent="-346075">
              <a:buClr>
                <a:srgbClr val="000090"/>
              </a:buClr>
            </a:pPr>
            <a:r>
              <a:rPr lang="en-US" dirty="0">
                <a:cs typeface="Gill Sans MT"/>
              </a:rPr>
              <a:t>per-router control (traditional)</a:t>
            </a:r>
          </a:p>
          <a:p>
            <a:pPr marL="746125" lvl="1" indent="-346075">
              <a:buClr>
                <a:srgbClr val="000090"/>
              </a:buClr>
            </a:pPr>
            <a:r>
              <a:rPr lang="en-US" dirty="0">
                <a:cs typeface="Gill Sans MT"/>
              </a:rPr>
              <a:t>logically centralized control (software defined networking</a:t>
            </a:r>
            <a:r>
              <a:rPr lang="en-US" dirty="0" smtClean="0">
                <a:cs typeface="Gill Sans MT"/>
              </a:rPr>
              <a:t>)</a:t>
            </a:r>
            <a:endParaRPr lang="en-US" dirty="0" smtClean="0">
              <a:cs typeface="+mn-cs"/>
            </a:endParaRPr>
          </a:p>
          <a:p>
            <a:pPr>
              <a:defRPr/>
            </a:pPr>
            <a:r>
              <a:rPr lang="en-US" dirty="0" smtClean="0">
                <a:cs typeface="+mn-cs"/>
              </a:rPr>
              <a:t>traditional routing algorithms</a:t>
            </a:r>
          </a:p>
          <a:p>
            <a:pPr lvl="1">
              <a:defRPr/>
            </a:pPr>
            <a:r>
              <a:rPr lang="en-US" dirty="0" smtClean="0">
                <a:cs typeface="+mn-cs"/>
              </a:rPr>
              <a:t>implementation in Internet: OSPF, BGP</a:t>
            </a:r>
          </a:p>
          <a:p>
            <a:pPr>
              <a:defRPr/>
            </a:pPr>
            <a:r>
              <a:rPr lang="en-US" dirty="0" smtClean="0">
                <a:cs typeface="+mn-cs"/>
              </a:rPr>
              <a:t>SDN controllers</a:t>
            </a:r>
          </a:p>
          <a:p>
            <a:pPr lvl="1">
              <a:defRPr/>
            </a:pPr>
            <a:r>
              <a:rPr lang="en-US" dirty="0" smtClean="0">
                <a:cs typeface="+mn-cs"/>
              </a:rPr>
              <a:t>implementation in practice: ODL, ONOS</a:t>
            </a:r>
          </a:p>
          <a:p>
            <a:pPr>
              <a:defRPr/>
            </a:pPr>
            <a:r>
              <a:rPr lang="en-US" dirty="0"/>
              <a:t>Internet Control Message </a:t>
            </a:r>
            <a:r>
              <a:rPr lang="en-US" dirty="0" smtClean="0"/>
              <a:t>Protocol</a:t>
            </a:r>
            <a:endParaRPr lang="en-US" dirty="0">
              <a:cs typeface="+mn-cs"/>
            </a:endParaRPr>
          </a:p>
          <a:p>
            <a:pPr>
              <a:defRPr/>
            </a:pPr>
            <a:r>
              <a:rPr lang="en-US" dirty="0" smtClean="0">
                <a:cs typeface="+mn-cs"/>
              </a:rPr>
              <a:t>network management</a:t>
            </a:r>
          </a:p>
          <a:p>
            <a:pPr marL="0" indent="0">
              <a:buNone/>
              <a:defRPr/>
            </a:pPr>
            <a:endParaRPr lang="en-US" dirty="0"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8530" y="5721690"/>
            <a:ext cx="3544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smtClean="0">
                <a:solidFill>
                  <a:srgbClr val="000099"/>
                </a:solidFill>
              </a:rPr>
              <a:t>next stop:  link layer!</a:t>
            </a:r>
            <a:endParaRPr lang="en-US" sz="2800" i="1" dirty="0">
              <a:solidFill>
                <a:srgbClr val="000099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50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4296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18074</TotalTime>
  <Words>952</Words>
  <Application>Microsoft Office PowerPoint</Application>
  <PresentationFormat>화면 슬라이드 쇼(4:3)</PresentationFormat>
  <Paragraphs>225</Paragraphs>
  <Slides>12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Gill Sans</vt:lpstr>
      <vt:lpstr>ＭＳ Ｐゴシック</vt:lpstr>
      <vt:lpstr>Arial</vt:lpstr>
      <vt:lpstr>Arial Narrow</vt:lpstr>
      <vt:lpstr>Comic Sans MS</vt:lpstr>
      <vt:lpstr>Gill Sans MT</vt:lpstr>
      <vt:lpstr>Tahoma</vt:lpstr>
      <vt:lpstr>Times New Roman</vt:lpstr>
      <vt:lpstr>Wingdings</vt:lpstr>
      <vt:lpstr>Default Design</vt:lpstr>
      <vt:lpstr>Clip</vt:lpstr>
      <vt:lpstr>PowerPoint 프레젠테이션</vt:lpstr>
      <vt:lpstr>PowerPoint 프레젠테이션</vt:lpstr>
      <vt:lpstr>ICMP: internet control message protocol</vt:lpstr>
      <vt:lpstr>Traceroute and ICMP</vt:lpstr>
      <vt:lpstr>PowerPoint 프레젠테이션</vt:lpstr>
      <vt:lpstr>What is network management?</vt:lpstr>
      <vt:lpstr>Infrastructure for network management</vt:lpstr>
      <vt:lpstr>SNMP protocol</vt:lpstr>
      <vt:lpstr>SNMP protocol: message types</vt:lpstr>
      <vt:lpstr>SNMP protocol: message formats</vt:lpstr>
      <vt:lpstr>Chapter 5: 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509</cp:revision>
  <dcterms:created xsi:type="dcterms:W3CDTF">1999-10-08T19:08:27Z</dcterms:created>
  <dcterms:modified xsi:type="dcterms:W3CDTF">2020-09-11T10:20:34Z</dcterms:modified>
</cp:coreProperties>
</file>