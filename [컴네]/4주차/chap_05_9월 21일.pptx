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778" r:id="rId2"/>
    <p:sldId id="825" r:id="rId3"/>
    <p:sldId id="857" r:id="rId4"/>
    <p:sldId id="870" r:id="rId5"/>
    <p:sldId id="871" r:id="rId6"/>
    <p:sldId id="869" r:id="rId7"/>
    <p:sldId id="872" r:id="rId8"/>
    <p:sldId id="866" r:id="rId9"/>
    <p:sldId id="867" r:id="rId10"/>
    <p:sldId id="868" r:id="rId11"/>
    <p:sldId id="863" r:id="rId12"/>
    <p:sldId id="858" r:id="rId13"/>
    <p:sldId id="859" r:id="rId14"/>
    <p:sldId id="860" r:id="rId15"/>
    <p:sldId id="861" r:id="rId16"/>
    <p:sldId id="873" r:id="rId17"/>
    <p:sldId id="874" r:id="rId18"/>
    <p:sldId id="875" r:id="rId19"/>
    <p:sldId id="878" r:id="rId20"/>
    <p:sldId id="879" r:id="rId21"/>
    <p:sldId id="880" r:id="rId22"/>
    <p:sldId id="881" r:id="rId23"/>
    <p:sldId id="876" r:id="rId24"/>
    <p:sldId id="898" r:id="rId2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eaLnBrk="1" hangingPunct="1"/>
            <a:fld id="{CE294AAA-E8DC-2445-B69E-0E43F432FDC4}" type="slidenum">
              <a:rPr lang="en-US" sz="1300" b="0">
                <a:solidFill>
                  <a:prstClr val="black"/>
                </a:solidFill>
                <a:latin typeface="Arial" charset="0"/>
              </a:rPr>
              <a:pPr eaLnBrk="1" hangingPunct="1"/>
              <a:t>7</a:t>
            </a:fld>
            <a:endParaRPr lang="en-US" sz="1300" b="0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Note: implicit assumption here:</a:t>
            </a:r>
            <a:r>
              <a:rPr lang="en-US" baseline="0" dirty="0" smtClean="0"/>
              <a:t> </a:t>
            </a:r>
            <a:r>
              <a:rPr lang="en-US" dirty="0" smtClean="0"/>
              <a:t>destination</a:t>
            </a:r>
            <a:r>
              <a:rPr lang="en-US" baseline="0" dirty="0" smtClean="0"/>
              <a:t> based </a:t>
            </a:r>
            <a:r>
              <a:rPr lang="en-US" baseline="0" dirty="0" smtClean="0"/>
              <a:t>forwarding (knobs: </a:t>
            </a:r>
            <a:r>
              <a:rPr lang="ko-KR" altLang="en-US" baseline="0" dirty="0" smtClean="0"/>
              <a:t>손잡이</a:t>
            </a:r>
            <a:r>
              <a:rPr lang="en-US" altLang="ko-KR" baseline="0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1296B1-910C-4044-A082-0309C11C1AF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5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Note: implicit assumption here:</a:t>
            </a:r>
            <a:r>
              <a:rPr lang="en-US" baseline="0" dirty="0" smtClean="0"/>
              <a:t> </a:t>
            </a:r>
            <a:r>
              <a:rPr lang="en-US" dirty="0" smtClean="0"/>
              <a:t>destination</a:t>
            </a:r>
            <a:r>
              <a:rPr lang="en-US" baseline="0" dirty="0" smtClean="0"/>
              <a:t> based forwarding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1296B1-910C-4044-A082-0309C11C1AF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59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Note: implicit assumption here:</a:t>
            </a:r>
            <a:r>
              <a:rPr lang="en-US" baseline="0" dirty="0" smtClean="0"/>
              <a:t> </a:t>
            </a:r>
            <a:r>
              <a:rPr lang="en-US" dirty="0" smtClean="0"/>
              <a:t>destination</a:t>
            </a:r>
            <a:r>
              <a:rPr lang="en-US" baseline="0" dirty="0" smtClean="0"/>
              <a:t> based forwarding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1296B1-910C-4044-A082-0309C11C1AF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59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43F53F6-B523-C44E-B4C1-FCBC5EB649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498B073-F070-8F40-A264-45FE158B6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1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E2E980-7D79-7040-B5D8-18DB884801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2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F735F25A-B97A-024B-B408-E1A4C1DF4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8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9" name="Slide Number Placeholder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D8B96B1-2EDF-B64A-A4F1-BB54A74ACD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6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0DCF9BDD-CFA9-4940-A134-4E3EBF4AC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7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14D338-4107-944C-9C9F-B78F8039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0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FD97474-BCA4-8B48-AA21-40B47D81E8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2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38D61CF4-3907-BD48-A0AD-B97C00B71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1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4E5268B6-BFED-754B-A245-6D16E75F0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64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C0F1923-A596-1A47-A249-877B26CCB9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9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</a:t>
            </a:r>
            <a:r>
              <a:rPr lang="en-US" sz="2800" i="1">
                <a:solidFill>
                  <a:srgbClr val="008000"/>
                </a:solidFill>
                <a:cs typeface="Arial" charset="0"/>
              </a:rPr>
              <a:t>Down </a:t>
            </a:r>
            <a:r>
              <a:rPr lang="en-US" sz="2800" i="1" smtClean="0">
                <a:solidFill>
                  <a:srgbClr val="008000"/>
                </a:solidFill>
                <a:cs typeface="Arial" charset="0"/>
              </a:rPr>
              <a:t>Approach </a:t>
            </a:r>
            <a:r>
              <a:rPr lang="en-US" sz="28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 smtClean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use these slides (e.g., in a class) that you mention their source (after all, we</a:t>
            </a:r>
            <a:r>
              <a:rPr lang="ja-JP" altLang="en-US" sz="1200" dirty="0" smtClean="0"/>
              <a:t>’</a:t>
            </a:r>
            <a:r>
              <a:rPr lang="en-US" altLang="ja-JP" sz="1200" dirty="0" smtClean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 smtClean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 smtClean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 smtClean="0"/>
          </a:p>
          <a:p>
            <a:pPr>
              <a:defRPr/>
            </a:pPr>
            <a:r>
              <a:rPr lang="en-US" sz="1200" dirty="0" smtClean="0"/>
              <a:t>     All material copyright 1996-2016</a:t>
            </a:r>
          </a:p>
          <a:p>
            <a:pPr>
              <a:defRPr/>
            </a:pPr>
            <a:r>
              <a:rPr lang="en-US" sz="1200" dirty="0" smtClean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Edition, </a:t>
            </a:r>
            <a:r>
              <a:rPr lang="en-US" dirty="0" smtClean="0">
                <a:solidFill>
                  <a:srgbClr val="008000"/>
                </a:solidFill>
              </a:rPr>
              <a:t>Global Edition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r>
              <a:rPr lang="en-US">
                <a:solidFill>
                  <a:srgbClr val="008000"/>
                </a:solidFill>
                <a:cs typeface="Arial" charset="0"/>
              </a:rPr>
              <a:t/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 smtClean="0">
                <a:solidFill>
                  <a:srgbClr val="008000"/>
                </a:solidFill>
                <a:cs typeface="Arial" charset="0"/>
              </a:rPr>
              <a:t>Pearson</a:t>
            </a:r>
            <a:r>
              <a:rPr lang="en-US" sz="14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5</a:t>
            </a:r>
            <a: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  <a:t/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Control Plane</a:t>
            </a:r>
            <a:endParaRPr lang="en-US" sz="4400" dirty="0">
              <a:solidFill>
                <a:srgbClr val="000099"/>
              </a:solidFill>
              <a:latin typeface="Gill Sans MT" charset="0"/>
              <a:cs typeface="Arial" charset="0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543936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5.1 </a:t>
            </a:r>
            <a:r>
              <a:rPr lang="en-US" sz="2400" dirty="0">
                <a:latin typeface="Gill Sans MT" charset="0"/>
              </a:rPr>
              <a:t>introduction</a:t>
            </a:r>
          </a:p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5.2 routing protocols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link state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distance vector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5.3 intra</a:t>
            </a:r>
            <a:r>
              <a:rPr lang="en-US" sz="2400" dirty="0"/>
              <a:t>-AS </a:t>
            </a:r>
            <a:r>
              <a:rPr lang="en-US" sz="2400" dirty="0" smtClean="0"/>
              <a:t>routing </a:t>
            </a:r>
            <a:r>
              <a:rPr lang="en-US" sz="2400" dirty="0"/>
              <a:t>in the Internet: </a:t>
            </a:r>
            <a:r>
              <a:rPr lang="en-US" sz="2400" dirty="0" smtClean="0"/>
              <a:t>OSPF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5.4 routing among </a:t>
            </a:r>
            <a:r>
              <a:rPr lang="en-US" sz="2400" dirty="0"/>
              <a:t>the ISPs: B</a:t>
            </a:r>
            <a:r>
              <a:rPr lang="en-US" sz="2400" dirty="0" smtClean="0"/>
              <a:t>GP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461963" indent="-461963"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solidFill>
                  <a:srgbClr val="CC0000"/>
                </a:solidFill>
                <a:latin typeface="Gill Sans MT" charset="0"/>
              </a:rPr>
              <a:t>5.5 The SDN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</a:rPr>
              <a:t>c</a:t>
            </a:r>
            <a:r>
              <a:rPr lang="en-US" sz="2400" dirty="0" smtClean="0">
                <a:solidFill>
                  <a:srgbClr val="CC0000"/>
                </a:solidFill>
                <a:latin typeface="Gill Sans MT" charset="0"/>
              </a:rPr>
              <a:t>ontrol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</a:rPr>
              <a:t>p</a:t>
            </a:r>
            <a:r>
              <a:rPr lang="en-US" sz="2400" dirty="0" smtClean="0">
                <a:solidFill>
                  <a:srgbClr val="CC0000"/>
                </a:solidFill>
                <a:latin typeface="Gill Sans MT" charset="0"/>
              </a:rPr>
              <a:t>lane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5.6 </a:t>
            </a:r>
            <a:r>
              <a:rPr lang="en-US" sz="2400" dirty="0"/>
              <a:t>ICMP: The Internet Control Message Protocol 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/>
              <a:t>5.7 Network </a:t>
            </a:r>
            <a:r>
              <a:rPr lang="en-US" sz="2400" dirty="0" smtClean="0"/>
              <a:t>management </a:t>
            </a:r>
            <a:r>
              <a:rPr lang="en-US" sz="2400" dirty="0"/>
              <a:t>and SNMP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4" name="Rectangle 2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</a:rPr>
              <a:t>5: </a:t>
            </a:r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outline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04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69218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Software defined networking (SDN)</a:t>
            </a:r>
            <a:endParaRPr lang="en-US" sz="3600" dirty="0">
              <a:solidFill>
                <a:srgbClr val="000099"/>
              </a:solidFill>
              <a:latin typeface="Gill Sans MT" charset="0"/>
            </a:endParaRPr>
          </a:p>
        </p:txBody>
      </p:sp>
      <p:pic>
        <p:nvPicPr>
          <p:cNvPr id="48170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776288"/>
            <a:ext cx="6422481" cy="208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1427" y="1282678"/>
            <a:ext cx="77724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Internet network layer: historically has been implemented via distributed, per-router approach</a:t>
            </a:r>
          </a:p>
          <a:p>
            <a:pPr lvl="1">
              <a:lnSpc>
                <a:spcPct val="90000"/>
              </a:lnSpc>
            </a:pPr>
            <a:r>
              <a:rPr lang="en-US" i="1" dirty="0" smtClean="0">
                <a:solidFill>
                  <a:srgbClr val="000090"/>
                </a:solidFill>
              </a:rPr>
              <a:t>monolithic</a:t>
            </a:r>
            <a:r>
              <a:rPr lang="en-US" dirty="0" smtClean="0"/>
              <a:t> router contains switching hardware, runs proprietary implementation of Internet standard protocols (IP, RIP, IS-IS, OSPF, BGP) in proprietary router OS (e.g., Cisco IOS)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different “middleboxes” for different network layer functions: firewalls, load balancers, NAT boxes, ..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r>
              <a:rPr lang="en-US" dirty="0" smtClean="0"/>
              <a:t>~2005: renewed interest in rethinking network control plane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687845" cy="38210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18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43" name="Picture 5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3" y="819150"/>
            <a:ext cx="5858352" cy="185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5" name="Freeform 2"/>
          <p:cNvSpPr>
            <a:spLocks/>
          </p:cNvSpPr>
          <p:nvPr/>
        </p:nvSpPr>
        <p:spPr bwMode="auto">
          <a:xfrm>
            <a:off x="2592388" y="5766426"/>
            <a:ext cx="4027487" cy="939800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8" name="Straight Connector 147"/>
          <p:cNvCxnSpPr/>
          <p:nvPr/>
        </p:nvCxnSpPr>
        <p:spPr>
          <a:xfrm flipV="1">
            <a:off x="3222625" y="5918826"/>
            <a:ext cx="1316038" cy="1317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3111500" y="6104563"/>
            <a:ext cx="2259013" cy="3000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3124200" y="6210926"/>
            <a:ext cx="714375" cy="27463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4141788" y="6404601"/>
            <a:ext cx="1247775" cy="809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4802188" y="5950576"/>
            <a:ext cx="1057275" cy="1238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4086225" y="6104563"/>
            <a:ext cx="1790700" cy="3000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5413375" y="6133138"/>
            <a:ext cx="588963" cy="271463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>
            <a:off x="4556125" y="5918826"/>
            <a:ext cx="814388" cy="4000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128" name="Group 7"/>
          <p:cNvGrpSpPr>
            <a:grpSpLocks/>
          </p:cNvGrpSpPr>
          <p:nvPr/>
        </p:nvGrpSpPr>
        <p:grpSpPr bwMode="auto">
          <a:xfrm>
            <a:off x="3681413" y="6344276"/>
            <a:ext cx="563562" cy="293687"/>
            <a:chOff x="1871277" y="1576300"/>
            <a:chExt cx="1128371" cy="437861"/>
          </a:xfrm>
        </p:grpSpPr>
        <p:sp>
          <p:nvSpPr>
            <p:cNvPr id="318" name="Oval 317"/>
            <p:cNvSpPr/>
            <p:nvPr/>
          </p:nvSpPr>
          <p:spPr bwMode="auto">
            <a:xfrm flipV="1">
              <a:off x="1874455" y="1694641"/>
              <a:ext cx="1125193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9" name="Rectangle 318"/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0" name="Oval 319"/>
            <p:cNvSpPr/>
            <p:nvPr/>
          </p:nvSpPr>
          <p:spPr bwMode="auto">
            <a:xfrm flipV="1">
              <a:off x="1871277" y="1576300"/>
              <a:ext cx="1125193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4" name="Freeform 323"/>
            <p:cNvSpPr/>
            <p:nvPr/>
          </p:nvSpPr>
          <p:spPr bwMode="auto">
            <a:xfrm>
              <a:off x="2160521" y="1673339"/>
              <a:ext cx="546704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5" name="Freeform 324"/>
            <p:cNvSpPr/>
            <p:nvPr/>
          </p:nvSpPr>
          <p:spPr bwMode="auto">
            <a:xfrm>
              <a:off x="2103307" y="1633104"/>
              <a:ext cx="661131" cy="111240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6" name="Freeform 325"/>
            <p:cNvSpPr/>
            <p:nvPr/>
          </p:nvSpPr>
          <p:spPr bwMode="auto">
            <a:xfrm>
              <a:off x="2538765" y="1727776"/>
              <a:ext cx="241567" cy="97039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7" name="Freeform 326"/>
            <p:cNvSpPr/>
            <p:nvPr/>
          </p:nvSpPr>
          <p:spPr bwMode="auto">
            <a:xfrm>
              <a:off x="2090593" y="1730143"/>
              <a:ext cx="238389" cy="97040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22" name="Straight Connector 321"/>
            <p:cNvCxnSpPr>
              <a:endCxn id="320" idx="2"/>
            </p:cNvCxnSpPr>
            <p:nvPr/>
          </p:nvCxnSpPr>
          <p:spPr bwMode="auto">
            <a:xfrm flipH="1" flipV="1">
              <a:off x="1871277" y="1737244"/>
              <a:ext cx="3178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/>
          </p:nvCxnSpPr>
          <p:spPr bwMode="auto">
            <a:xfrm flipH="1" flipV="1">
              <a:off x="2996470" y="1734876"/>
              <a:ext cx="3178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29" name="Group 327"/>
          <p:cNvGrpSpPr>
            <a:grpSpLocks/>
          </p:cNvGrpSpPr>
          <p:nvPr/>
        </p:nvGrpSpPr>
        <p:grpSpPr bwMode="auto">
          <a:xfrm>
            <a:off x="4376738" y="5802938"/>
            <a:ext cx="565150" cy="292100"/>
            <a:chOff x="1871277" y="1576300"/>
            <a:chExt cx="1128371" cy="437861"/>
          </a:xfrm>
        </p:grpSpPr>
        <p:sp>
          <p:nvSpPr>
            <p:cNvPr id="329" name="Oval 328"/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0" name="Rectangle 329"/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1" name="Oval 330"/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2" name="Freeform 331"/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3" name="Freeform 332"/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4" name="Freeform 333"/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5" name="Freeform 334"/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36" name="Straight Connector 335"/>
            <p:cNvCxnSpPr>
              <a:endCxn id="331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0" name="Group 337"/>
          <p:cNvGrpSpPr>
            <a:grpSpLocks/>
          </p:cNvGrpSpPr>
          <p:nvPr/>
        </p:nvGrpSpPr>
        <p:grpSpPr bwMode="auto">
          <a:xfrm>
            <a:off x="5019675" y="6256963"/>
            <a:ext cx="563563" cy="293688"/>
            <a:chOff x="1871277" y="1576300"/>
            <a:chExt cx="1128371" cy="437861"/>
          </a:xfrm>
        </p:grpSpPr>
        <p:sp>
          <p:nvSpPr>
            <p:cNvPr id="339" name="Oval 338"/>
            <p:cNvSpPr/>
            <p:nvPr/>
          </p:nvSpPr>
          <p:spPr bwMode="auto">
            <a:xfrm flipV="1">
              <a:off x="1874457" y="1694641"/>
              <a:ext cx="1125191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0" name="Rectangle 33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1" name="Oval 340"/>
            <p:cNvSpPr/>
            <p:nvPr/>
          </p:nvSpPr>
          <p:spPr bwMode="auto">
            <a:xfrm flipV="1">
              <a:off x="1871277" y="1576300"/>
              <a:ext cx="1125191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2" name="Freeform 341"/>
            <p:cNvSpPr/>
            <p:nvPr/>
          </p:nvSpPr>
          <p:spPr bwMode="auto">
            <a:xfrm>
              <a:off x="2160522" y="1673340"/>
              <a:ext cx="546703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3" name="Freeform 342"/>
            <p:cNvSpPr/>
            <p:nvPr/>
          </p:nvSpPr>
          <p:spPr bwMode="auto">
            <a:xfrm>
              <a:off x="2103309" y="1633103"/>
              <a:ext cx="661129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4" name="Freeform 343"/>
            <p:cNvSpPr/>
            <p:nvPr/>
          </p:nvSpPr>
          <p:spPr bwMode="auto">
            <a:xfrm>
              <a:off x="2538763" y="1727776"/>
              <a:ext cx="24156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5" name="Freeform 344"/>
            <p:cNvSpPr/>
            <p:nvPr/>
          </p:nvSpPr>
          <p:spPr bwMode="auto">
            <a:xfrm>
              <a:off x="2090595" y="1730144"/>
              <a:ext cx="238387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46" name="Straight Connector 345"/>
            <p:cNvCxnSpPr>
              <a:endCxn id="341" idx="2"/>
            </p:cNvCxnSpPr>
            <p:nvPr/>
          </p:nvCxnSpPr>
          <p:spPr bwMode="auto">
            <a:xfrm flipH="1" flipV="1">
              <a:off x="1871277" y="1737243"/>
              <a:ext cx="3180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/>
          </p:nvCxnSpPr>
          <p:spPr bwMode="auto">
            <a:xfrm flipH="1" flipV="1">
              <a:off x="2996468" y="1734877"/>
              <a:ext cx="3180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1" name="Group 347"/>
          <p:cNvGrpSpPr>
            <a:grpSpLocks/>
          </p:cNvGrpSpPr>
          <p:nvPr/>
        </p:nvGrpSpPr>
        <p:grpSpPr bwMode="auto">
          <a:xfrm>
            <a:off x="5741988" y="5942638"/>
            <a:ext cx="565150" cy="293688"/>
            <a:chOff x="1871277" y="1576300"/>
            <a:chExt cx="1128371" cy="437861"/>
          </a:xfrm>
        </p:grpSpPr>
        <p:sp>
          <p:nvSpPr>
            <p:cNvPr id="349" name="Oval 348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0" name="Rectangle 34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1" name="Oval 350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2" name="Freeform 351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3" name="Freeform 352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4" name="Freeform 353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5" name="Freeform 354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56" name="Straight Connector 355"/>
            <p:cNvCxnSpPr>
              <a:endCxn id="351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2" name="Group 357"/>
          <p:cNvGrpSpPr>
            <a:grpSpLocks/>
          </p:cNvGrpSpPr>
          <p:nvPr/>
        </p:nvGrpSpPr>
        <p:grpSpPr bwMode="auto">
          <a:xfrm>
            <a:off x="2714625" y="5988676"/>
            <a:ext cx="565150" cy="293687"/>
            <a:chOff x="1871277" y="1576300"/>
            <a:chExt cx="1128371" cy="437861"/>
          </a:xfrm>
        </p:grpSpPr>
        <p:sp>
          <p:nvSpPr>
            <p:cNvPr id="359" name="Oval 358"/>
            <p:cNvSpPr/>
            <p:nvPr/>
          </p:nvSpPr>
          <p:spPr bwMode="auto">
            <a:xfrm flipV="1">
              <a:off x="1874448" y="1694641"/>
              <a:ext cx="1125200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0" name="Rectangle 359"/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1" name="Oval 360"/>
            <p:cNvSpPr/>
            <p:nvPr/>
          </p:nvSpPr>
          <p:spPr bwMode="auto">
            <a:xfrm flipV="1">
              <a:off x="1871277" y="1576300"/>
              <a:ext cx="1125202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2" name="Freeform 361"/>
            <p:cNvSpPr/>
            <p:nvPr/>
          </p:nvSpPr>
          <p:spPr bwMode="auto">
            <a:xfrm>
              <a:off x="2159710" y="1673339"/>
              <a:ext cx="548337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3" name="Freeform 362"/>
            <p:cNvSpPr/>
            <p:nvPr/>
          </p:nvSpPr>
          <p:spPr bwMode="auto">
            <a:xfrm>
              <a:off x="2102657" y="1633104"/>
              <a:ext cx="662442" cy="111240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4" name="Freeform 363"/>
            <p:cNvSpPr/>
            <p:nvPr/>
          </p:nvSpPr>
          <p:spPr bwMode="auto">
            <a:xfrm>
              <a:off x="2536889" y="1727776"/>
              <a:ext cx="244059" cy="97039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5" name="Freeform 364"/>
            <p:cNvSpPr/>
            <p:nvPr/>
          </p:nvSpPr>
          <p:spPr bwMode="auto">
            <a:xfrm>
              <a:off x="2089979" y="1730143"/>
              <a:ext cx="240888" cy="97040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66" name="Straight Connector 365"/>
            <p:cNvCxnSpPr>
              <a:endCxn id="361" idx="2"/>
            </p:cNvCxnSpPr>
            <p:nvPr/>
          </p:nvCxnSpPr>
          <p:spPr bwMode="auto">
            <a:xfrm flipH="1" flipV="1">
              <a:off x="1871277" y="1737244"/>
              <a:ext cx="3171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/>
          </p:nvCxnSpPr>
          <p:spPr bwMode="auto">
            <a:xfrm flipH="1" flipV="1">
              <a:off x="2996479" y="1734876"/>
              <a:ext cx="3169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757805" y="2660292"/>
            <a:ext cx="5270058" cy="3804634"/>
            <a:chOff x="1757805" y="2331054"/>
            <a:chExt cx="5270058" cy="3804634"/>
          </a:xfrm>
        </p:grpSpPr>
        <p:sp>
          <p:nvSpPr>
            <p:cNvPr id="268" name="Freeform 267"/>
            <p:cNvSpPr/>
            <p:nvPr/>
          </p:nvSpPr>
          <p:spPr>
            <a:xfrm>
              <a:off x="1776413" y="4829175"/>
              <a:ext cx="1220787" cy="920750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6102350" y="4916488"/>
              <a:ext cx="925513" cy="75723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5287963" y="4937125"/>
              <a:ext cx="725487" cy="110013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4300538" y="4956175"/>
              <a:ext cx="514350" cy="577850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3521075" y="4919663"/>
              <a:ext cx="593725" cy="1216025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1757805" y="2331054"/>
              <a:ext cx="1079500" cy="2674334"/>
              <a:chOff x="1757805" y="2331054"/>
              <a:chExt cx="1079500" cy="2674334"/>
            </a:xfrm>
          </p:grpSpPr>
          <p:sp>
            <p:nvSpPr>
              <p:cNvPr id="108" name="Rectangle 107"/>
              <p:cNvSpPr/>
              <p:nvPr/>
            </p:nvSpPr>
            <p:spPr bwMode="auto">
              <a:xfrm rot="10800000">
                <a:off x="1789113" y="2580876"/>
                <a:ext cx="1027112" cy="108307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47266" name="Group 104"/>
              <p:cNvGrpSpPr>
                <a:grpSpLocks/>
              </p:cNvGrpSpPr>
              <p:nvPr/>
            </p:nvGrpSpPr>
            <p:grpSpPr bwMode="auto">
              <a:xfrm>
                <a:off x="1782739" y="4616206"/>
                <a:ext cx="1034710" cy="389182"/>
                <a:chOff x="4128636" y="3606589"/>
                <a:chExt cx="568145" cy="338667"/>
              </a:xfrm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0" name="Rectangle 119"/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7" name="Rectangle 146"/>
              <p:cNvSpPr/>
              <p:nvPr/>
            </p:nvSpPr>
            <p:spPr bwMode="auto">
              <a:xfrm>
                <a:off x="1801813" y="3602038"/>
                <a:ext cx="1027112" cy="1163637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3" name="Straight Connector 112"/>
              <p:cNvCxnSpPr/>
              <p:nvPr/>
            </p:nvCxnSpPr>
            <p:spPr bwMode="auto">
              <a:xfrm>
                <a:off x="1781175" y="2805113"/>
                <a:ext cx="20638" cy="202088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 bwMode="auto">
              <a:xfrm flipH="1">
                <a:off x="2817813" y="2805113"/>
                <a:ext cx="4762" cy="197643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72" name="Group 9"/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430213"/>
                <a:chOff x="2183302" y="1574638"/>
                <a:chExt cx="1200154" cy="430181"/>
              </a:xfrm>
            </p:grpSpPr>
            <p:sp>
              <p:nvSpPr>
                <p:cNvPr id="369" name="Oval 368"/>
                <p:cNvSpPr/>
                <p:nvPr/>
              </p:nvSpPr>
              <p:spPr bwMode="auto">
                <a:xfrm flipV="1">
                  <a:off x="2186832" y="1690517"/>
                  <a:ext cx="1194859" cy="3143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0" name="Rectangle 369"/>
                <p:cNvSpPr/>
                <p:nvPr/>
              </p:nvSpPr>
              <p:spPr bwMode="auto"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1" name="Oval 370"/>
                <p:cNvSpPr/>
                <p:nvPr/>
              </p:nvSpPr>
              <p:spPr bwMode="auto">
                <a:xfrm flipV="1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2" name="Freeform 371"/>
                <p:cNvSpPr/>
                <p:nvPr/>
              </p:nvSpPr>
              <p:spPr bwMode="auto">
                <a:xfrm>
                  <a:off x="2490400" y="1671469"/>
                  <a:ext cx="582428" cy="15715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3" name="Freeform 372"/>
                <p:cNvSpPr/>
                <p:nvPr/>
              </p:nvSpPr>
              <p:spPr bwMode="auto">
                <a:xfrm>
                  <a:off x="2430393" y="1630197"/>
                  <a:ext cx="702443" cy="10952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4" name="Freeform 373"/>
                <p:cNvSpPr/>
                <p:nvPr/>
              </p:nvSpPr>
              <p:spPr bwMode="auto">
                <a:xfrm>
                  <a:off x="2892805" y="1723852"/>
                  <a:ext cx="257680" cy="952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5" name="Freeform 374"/>
                <p:cNvSpPr/>
                <p:nvPr/>
              </p:nvSpPr>
              <p:spPr bwMode="auto">
                <a:xfrm>
                  <a:off x="2418037" y="1725440"/>
                  <a:ext cx="254150" cy="9524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76" name="Straight Connector 375"/>
                <p:cNvCxnSpPr>
                  <a:endCxn id="371" idx="2"/>
                </p:cNvCxnSpPr>
                <p:nvPr/>
              </p:nvCxnSpPr>
              <p:spPr bwMode="auto">
                <a:xfrm flipH="1" flipV="1">
                  <a:off x="2183302" y="1731787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/>
                <p:cNvCxnSpPr/>
                <p:nvPr/>
              </p:nvCxnSpPr>
              <p:spPr bwMode="auto">
                <a:xfrm flipH="1" flipV="1">
                  <a:off x="3379926" y="1728615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" name="Group 18"/>
            <p:cNvGrpSpPr/>
            <p:nvPr/>
          </p:nvGrpSpPr>
          <p:grpSpPr>
            <a:xfrm>
              <a:off x="3500438" y="3174091"/>
              <a:ext cx="522287" cy="1831297"/>
              <a:chOff x="3500438" y="3174091"/>
              <a:chExt cx="522287" cy="1831297"/>
            </a:xfrm>
          </p:grpSpPr>
          <p:sp>
            <p:nvSpPr>
              <p:cNvPr id="171" name="Rectangle 170"/>
              <p:cNvSpPr/>
              <p:nvPr/>
            </p:nvSpPr>
            <p:spPr bwMode="auto"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0" name="Straight Connector 89"/>
              <p:cNvCxnSpPr/>
              <p:nvPr/>
            </p:nvCxnSpPr>
            <p:spPr bwMode="auto">
              <a:xfrm flipH="1">
                <a:off x="4019550" y="3321180"/>
                <a:ext cx="1059" cy="153657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247" name="Picture 86" descr="router_top.png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7249" name="Group 82"/>
              <p:cNvGrpSpPr>
                <a:grpSpLocks/>
              </p:cNvGrpSpPr>
              <p:nvPr/>
            </p:nvGrpSpPr>
            <p:grpSpPr bwMode="auto">
              <a:xfrm>
                <a:off x="3511442" y="4783543"/>
                <a:ext cx="507858" cy="221845"/>
                <a:chOff x="4128636" y="3606589"/>
                <a:chExt cx="568145" cy="338667"/>
              </a:xfrm>
            </p:grpSpPr>
            <p:sp>
              <p:nvSpPr>
                <p:cNvPr id="97" name="Oval 96"/>
                <p:cNvSpPr/>
                <p:nvPr/>
              </p:nvSpPr>
              <p:spPr>
                <a:xfrm>
                  <a:off x="4128757" y="3719873"/>
                  <a:ext cx="568304" cy="225383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4128757" y="3719873"/>
                  <a:ext cx="568304" cy="111479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9" name="Oval 98"/>
                <p:cNvSpPr/>
                <p:nvPr/>
              </p:nvSpPr>
              <p:spPr>
                <a:xfrm>
                  <a:off x="4128757" y="3605971"/>
                  <a:ext cx="568304" cy="22538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4697061" y="3719873"/>
                  <a:ext cx="0" cy="11147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4128757" y="3719873"/>
                  <a:ext cx="0" cy="11147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5" name="Rectangle 154"/>
              <p:cNvSpPr/>
              <p:nvPr/>
            </p:nvSpPr>
            <p:spPr bwMode="auto">
              <a:xfrm>
                <a:off x="3516313" y="3697288"/>
                <a:ext cx="498475" cy="1163637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74" name="Straight Connector 173"/>
              <p:cNvCxnSpPr>
                <a:stCxn id="381" idx="2"/>
              </p:cNvCxnSpPr>
              <p:nvPr/>
            </p:nvCxnSpPr>
            <p:spPr bwMode="auto">
              <a:xfrm flipH="1">
                <a:off x="3506788" y="3262991"/>
                <a:ext cx="4762" cy="1688422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33" name="Group 377"/>
              <p:cNvGrpSpPr>
                <a:grpSpLocks/>
              </p:cNvGrpSpPr>
              <p:nvPr/>
            </p:nvGrpSpPr>
            <p:grpSpPr bwMode="auto">
              <a:xfrm>
                <a:off x="3511057" y="3174091"/>
                <a:ext cx="504096" cy="242719"/>
                <a:chOff x="2183302" y="1574638"/>
                <a:chExt cx="1200154" cy="430218"/>
              </a:xfrm>
            </p:grpSpPr>
            <p:sp>
              <p:nvSpPr>
                <p:cNvPr id="379" name="Oval 378"/>
                <p:cNvSpPr/>
                <p:nvPr/>
              </p:nvSpPr>
              <p:spPr bwMode="auto">
                <a:xfrm flipV="1">
                  <a:off x="2188256" y="1690004"/>
                  <a:ext cx="1194331" cy="3151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80" name="Rectangle 379"/>
                <p:cNvSpPr/>
                <p:nvPr/>
              </p:nvSpPr>
              <p:spPr bwMode="auto">
                <a:xfrm>
                  <a:off x="2184476" y="1735026"/>
                  <a:ext cx="1198111" cy="11255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1" name="Oval 380"/>
                <p:cNvSpPr/>
                <p:nvPr/>
              </p:nvSpPr>
              <p:spPr bwMode="auto">
                <a:xfrm flipV="1">
                  <a:off x="2184476" y="1574638"/>
                  <a:ext cx="1194331" cy="315149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82" name="Freeform 381"/>
                <p:cNvSpPr/>
                <p:nvPr/>
              </p:nvSpPr>
              <p:spPr bwMode="auto">
                <a:xfrm>
                  <a:off x="2490619" y="1670308"/>
                  <a:ext cx="582047" cy="15757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3" name="Freeform 382"/>
                <p:cNvSpPr/>
                <p:nvPr/>
              </p:nvSpPr>
              <p:spPr bwMode="auto">
                <a:xfrm>
                  <a:off x="2430146" y="1630915"/>
                  <a:ext cx="702992" cy="10973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4" name="Freeform 383"/>
                <p:cNvSpPr/>
                <p:nvPr/>
              </p:nvSpPr>
              <p:spPr bwMode="auto">
                <a:xfrm>
                  <a:off x="2891248" y="1723770"/>
                  <a:ext cx="260786" cy="9567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5" name="Freeform 384"/>
                <p:cNvSpPr/>
                <p:nvPr/>
              </p:nvSpPr>
              <p:spPr bwMode="auto">
                <a:xfrm>
                  <a:off x="2418806" y="1726585"/>
                  <a:ext cx="253230" cy="92856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86" name="Straight Connector 385"/>
                <p:cNvCxnSpPr>
                  <a:endCxn id="381" idx="2"/>
                </p:cNvCxnSpPr>
                <p:nvPr/>
              </p:nvCxnSpPr>
              <p:spPr bwMode="auto">
                <a:xfrm flipH="1" flipV="1">
                  <a:off x="2184476" y="1732213"/>
                  <a:ext cx="3781" cy="12099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/>
                <p:cNvCxnSpPr/>
                <p:nvPr/>
              </p:nvCxnSpPr>
              <p:spPr bwMode="auto">
                <a:xfrm flipH="1" flipV="1">
                  <a:off x="3378806" y="1729398"/>
                  <a:ext cx="3781" cy="120996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" name="Group 19"/>
            <p:cNvGrpSpPr/>
            <p:nvPr/>
          </p:nvGrpSpPr>
          <p:grpSpPr>
            <a:xfrm>
              <a:off x="4299212" y="2486508"/>
              <a:ext cx="528376" cy="2517292"/>
              <a:chOff x="4299212" y="2486508"/>
              <a:chExt cx="528376" cy="2517292"/>
            </a:xfrm>
          </p:grpSpPr>
          <p:sp>
            <p:nvSpPr>
              <p:cNvPr id="439" name="Rectangle 438"/>
              <p:cNvSpPr/>
              <p:nvPr/>
            </p:nvSpPr>
            <p:spPr bwMode="auto"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40" name="Straight Connector 439"/>
              <p:cNvCxnSpPr/>
              <p:nvPr/>
            </p:nvCxnSpPr>
            <p:spPr bwMode="auto">
              <a:xfrm>
                <a:off x="4822015" y="2642002"/>
                <a:ext cx="5573" cy="2214161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18" name="Group 442"/>
              <p:cNvGrpSpPr>
                <a:grpSpLocks/>
              </p:cNvGrpSpPr>
              <p:nvPr/>
            </p:nvGrpSpPr>
            <p:grpSpPr bwMode="auto">
              <a:xfrm>
                <a:off x="4319479" y="4781999"/>
                <a:ext cx="507859" cy="221801"/>
                <a:chOff x="4128636" y="3606589"/>
                <a:chExt cx="568145" cy="338667"/>
              </a:xfrm>
            </p:grpSpPr>
            <p:sp>
              <p:nvSpPr>
                <p:cNvPr id="452" name="Oval 451"/>
                <p:cNvSpPr/>
                <p:nvPr/>
              </p:nvSpPr>
              <p:spPr>
                <a:xfrm>
                  <a:off x="4128758" y="3719830"/>
                  <a:ext cx="568303" cy="22542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3" name="Rectangle 452"/>
                <p:cNvSpPr/>
                <p:nvPr/>
              </p:nvSpPr>
              <p:spPr>
                <a:xfrm>
                  <a:off x="4128758" y="3719830"/>
                  <a:ext cx="568303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4" name="Oval 453"/>
                <p:cNvSpPr/>
                <p:nvPr/>
              </p:nvSpPr>
              <p:spPr>
                <a:xfrm>
                  <a:off x="4128758" y="3605903"/>
                  <a:ext cx="568303" cy="22542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55" name="Straight Connector 454"/>
                <p:cNvCxnSpPr/>
                <p:nvPr/>
              </p:nvCxnSpPr>
              <p:spPr>
                <a:xfrm>
                  <a:off x="4697061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6" name="Straight Connector 455"/>
                <p:cNvCxnSpPr/>
                <p:nvPr/>
              </p:nvCxnSpPr>
              <p:spPr>
                <a:xfrm>
                  <a:off x="4128758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4" name="Rectangle 443"/>
              <p:cNvSpPr/>
              <p:nvPr/>
            </p:nvSpPr>
            <p:spPr bwMode="auto">
              <a:xfrm>
                <a:off x="4324350" y="3695700"/>
                <a:ext cx="498475" cy="116363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47" name="Straight Connector 446"/>
              <p:cNvCxnSpPr>
                <a:stCxn id="458" idx="2"/>
              </p:cNvCxnSpPr>
              <p:nvPr/>
            </p:nvCxnSpPr>
            <p:spPr bwMode="auto">
              <a:xfrm>
                <a:off x="4300799" y="2640496"/>
                <a:ext cx="14026" cy="2309329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37" name="Group 456"/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04825" cy="242888"/>
                <a:chOff x="2183302" y="1574638"/>
                <a:chExt cx="1200154" cy="430218"/>
              </a:xfrm>
            </p:grpSpPr>
            <p:sp>
              <p:nvSpPr>
                <p:cNvPr id="458" name="Oval 457"/>
                <p:cNvSpPr/>
                <p:nvPr/>
              </p:nvSpPr>
              <p:spPr bwMode="auto">
                <a:xfrm flipV="1">
                  <a:off x="2187075" y="1689926"/>
                  <a:ext cx="1196381" cy="31493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59" name="Rectangle 458"/>
                <p:cNvSpPr/>
                <p:nvPr/>
              </p:nvSpPr>
              <p:spPr bwMode="auto">
                <a:xfrm>
                  <a:off x="2183302" y="1734916"/>
                  <a:ext cx="1200154" cy="11247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0" name="Oval 459"/>
                <p:cNvSpPr/>
                <p:nvPr/>
              </p:nvSpPr>
              <p:spPr bwMode="auto">
                <a:xfrm flipV="1">
                  <a:off x="2183302" y="1574638"/>
                  <a:ext cx="1196379" cy="3149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61" name="Freeform 460"/>
                <p:cNvSpPr/>
                <p:nvPr/>
              </p:nvSpPr>
              <p:spPr bwMode="auto">
                <a:xfrm>
                  <a:off x="2489000" y="1670242"/>
                  <a:ext cx="584982" cy="1574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2" name="Freeform 461"/>
                <p:cNvSpPr/>
                <p:nvPr/>
              </p:nvSpPr>
              <p:spPr bwMode="auto">
                <a:xfrm>
                  <a:off x="2428615" y="1630876"/>
                  <a:ext cx="705752" cy="10966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3" name="Freeform 462"/>
                <p:cNvSpPr/>
                <p:nvPr/>
              </p:nvSpPr>
              <p:spPr bwMode="auto">
                <a:xfrm>
                  <a:off x="2892827" y="1723668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4" name="Freeform 463"/>
                <p:cNvSpPr/>
                <p:nvPr/>
              </p:nvSpPr>
              <p:spPr bwMode="auto">
                <a:xfrm>
                  <a:off x="2417294" y="1726479"/>
                  <a:ext cx="252861" cy="9279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65" name="Straight Connector 464"/>
                <p:cNvCxnSpPr>
                  <a:endCxn id="460" idx="2"/>
                </p:cNvCxnSpPr>
                <p:nvPr/>
              </p:nvCxnSpPr>
              <p:spPr bwMode="auto">
                <a:xfrm flipH="1" flipV="1">
                  <a:off x="2183302" y="1732103"/>
                  <a:ext cx="3773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Straight Connector 465"/>
                <p:cNvCxnSpPr/>
                <p:nvPr/>
              </p:nvCxnSpPr>
              <p:spPr bwMode="auto">
                <a:xfrm flipH="1" flipV="1">
                  <a:off x="3379681" y="1729292"/>
                  <a:ext cx="3775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" name="Group 20"/>
            <p:cNvGrpSpPr/>
            <p:nvPr/>
          </p:nvGrpSpPr>
          <p:grpSpPr>
            <a:xfrm>
              <a:off x="5491163" y="3179295"/>
              <a:ext cx="522287" cy="1824505"/>
              <a:chOff x="5491163" y="3179295"/>
              <a:chExt cx="522287" cy="1824505"/>
            </a:xfrm>
          </p:grpSpPr>
          <p:sp>
            <p:nvSpPr>
              <p:cNvPr id="468" name="Rectangle 467"/>
              <p:cNvSpPr/>
              <p:nvPr/>
            </p:nvSpPr>
            <p:spPr bwMode="auto"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69" name="Straight Connector 468"/>
              <p:cNvCxnSpPr>
                <a:stCxn id="489" idx="6"/>
              </p:cNvCxnSpPr>
              <p:nvPr/>
            </p:nvCxnSpPr>
            <p:spPr bwMode="auto">
              <a:xfrm>
                <a:off x="6003925" y="3268195"/>
                <a:ext cx="6350" cy="1581176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187" name="Picture 469" descr="router_top.png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7189" name="Group 471"/>
              <p:cNvGrpSpPr>
                <a:grpSpLocks/>
              </p:cNvGrpSpPr>
              <p:nvPr/>
            </p:nvGrpSpPr>
            <p:grpSpPr bwMode="auto">
              <a:xfrm>
                <a:off x="5502167" y="4781999"/>
                <a:ext cx="507858" cy="221801"/>
                <a:chOff x="4128636" y="3606589"/>
                <a:chExt cx="568145" cy="338667"/>
              </a:xfrm>
            </p:grpSpPr>
            <p:sp>
              <p:nvSpPr>
                <p:cNvPr id="481" name="Oval 480"/>
                <p:cNvSpPr/>
                <p:nvPr/>
              </p:nvSpPr>
              <p:spPr>
                <a:xfrm>
                  <a:off x="4128757" y="3719830"/>
                  <a:ext cx="568304" cy="22542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2" name="Rectangle 481"/>
                <p:cNvSpPr/>
                <p:nvPr/>
              </p:nvSpPr>
              <p:spPr>
                <a:xfrm>
                  <a:off x="4128757" y="3719830"/>
                  <a:ext cx="568304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3" name="Oval 482"/>
                <p:cNvSpPr/>
                <p:nvPr/>
              </p:nvSpPr>
              <p:spPr>
                <a:xfrm>
                  <a:off x="4128757" y="3605903"/>
                  <a:ext cx="568304" cy="22542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84" name="Straight Connector 483"/>
                <p:cNvCxnSpPr/>
                <p:nvPr/>
              </p:nvCxnSpPr>
              <p:spPr>
                <a:xfrm>
                  <a:off x="4697061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/>
                <p:cNvCxnSpPr/>
                <p:nvPr/>
              </p:nvCxnSpPr>
              <p:spPr>
                <a:xfrm>
                  <a:off x="4128757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3" name="Rectangle 472"/>
              <p:cNvSpPr/>
              <p:nvPr/>
            </p:nvSpPr>
            <p:spPr bwMode="auto">
              <a:xfrm>
                <a:off x="5507038" y="3695700"/>
                <a:ext cx="498475" cy="116363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76" name="Straight Connector 475"/>
              <p:cNvCxnSpPr>
                <a:stCxn id="47187" idx="1"/>
              </p:cNvCxnSpPr>
              <p:nvPr/>
            </p:nvCxnSpPr>
            <p:spPr bwMode="auto">
              <a:xfrm>
                <a:off x="5491163" y="3316941"/>
                <a:ext cx="6350" cy="1632884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39" name="Group 485"/>
              <p:cNvGrpSpPr>
                <a:grpSpLocks/>
              </p:cNvGrpSpPr>
              <p:nvPr/>
            </p:nvGrpSpPr>
            <p:grpSpPr bwMode="auto">
              <a:xfrm>
                <a:off x="5500688" y="3179295"/>
                <a:ext cx="504825" cy="242888"/>
                <a:chOff x="2183302" y="1574638"/>
                <a:chExt cx="1200154" cy="430218"/>
              </a:xfrm>
            </p:grpSpPr>
            <p:sp>
              <p:nvSpPr>
                <p:cNvPr id="487" name="Oval 486"/>
                <p:cNvSpPr/>
                <p:nvPr/>
              </p:nvSpPr>
              <p:spPr bwMode="auto">
                <a:xfrm flipV="1">
                  <a:off x="2187075" y="1689926"/>
                  <a:ext cx="1196381" cy="31493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88" name="Rectangle 487"/>
                <p:cNvSpPr/>
                <p:nvPr/>
              </p:nvSpPr>
              <p:spPr bwMode="auto">
                <a:xfrm>
                  <a:off x="2183302" y="1734916"/>
                  <a:ext cx="1200154" cy="11247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9" name="Oval 488"/>
                <p:cNvSpPr/>
                <p:nvPr/>
              </p:nvSpPr>
              <p:spPr bwMode="auto">
                <a:xfrm flipV="1">
                  <a:off x="2183302" y="1574638"/>
                  <a:ext cx="1196379" cy="3149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90" name="Freeform 489"/>
                <p:cNvSpPr/>
                <p:nvPr/>
              </p:nvSpPr>
              <p:spPr bwMode="auto">
                <a:xfrm>
                  <a:off x="2489000" y="1670242"/>
                  <a:ext cx="584982" cy="1574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1" name="Freeform 490"/>
                <p:cNvSpPr/>
                <p:nvPr/>
              </p:nvSpPr>
              <p:spPr bwMode="auto">
                <a:xfrm>
                  <a:off x="2428615" y="1630876"/>
                  <a:ext cx="705752" cy="10966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2" name="Freeform 491"/>
                <p:cNvSpPr/>
                <p:nvPr/>
              </p:nvSpPr>
              <p:spPr bwMode="auto">
                <a:xfrm>
                  <a:off x="2892827" y="1723668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3" name="Freeform 492"/>
                <p:cNvSpPr/>
                <p:nvPr/>
              </p:nvSpPr>
              <p:spPr bwMode="auto">
                <a:xfrm>
                  <a:off x="2417294" y="1726479"/>
                  <a:ext cx="252861" cy="9279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94" name="Straight Connector 493"/>
                <p:cNvCxnSpPr>
                  <a:endCxn id="489" idx="2"/>
                </p:cNvCxnSpPr>
                <p:nvPr/>
              </p:nvCxnSpPr>
              <p:spPr bwMode="auto">
                <a:xfrm flipH="1" flipV="1">
                  <a:off x="2183302" y="1732103"/>
                  <a:ext cx="3773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/>
                <p:cNvCxnSpPr/>
                <p:nvPr/>
              </p:nvCxnSpPr>
              <p:spPr bwMode="auto">
                <a:xfrm flipH="1" flipV="1">
                  <a:off x="3379681" y="1729292"/>
                  <a:ext cx="3775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" name="Group 21"/>
            <p:cNvGrpSpPr/>
            <p:nvPr/>
          </p:nvGrpSpPr>
          <p:grpSpPr>
            <a:xfrm>
              <a:off x="6472366" y="2647932"/>
              <a:ext cx="522159" cy="2354282"/>
              <a:chOff x="6472366" y="2647932"/>
              <a:chExt cx="522159" cy="2354282"/>
            </a:xfrm>
          </p:grpSpPr>
          <p:sp>
            <p:nvSpPr>
              <p:cNvPr id="497" name="Rectangle 496"/>
              <p:cNvSpPr/>
              <p:nvPr/>
            </p:nvSpPr>
            <p:spPr bwMode="auto"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98" name="Straight Connector 497"/>
              <p:cNvCxnSpPr/>
              <p:nvPr/>
            </p:nvCxnSpPr>
            <p:spPr bwMode="auto">
              <a:xfrm>
                <a:off x="6994525" y="2845840"/>
                <a:ext cx="0" cy="1999208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60" name="Group 500"/>
              <p:cNvGrpSpPr>
                <a:grpSpLocks/>
              </p:cNvGrpSpPr>
              <p:nvPr/>
            </p:nvGrpSpPr>
            <p:grpSpPr bwMode="auto">
              <a:xfrm>
                <a:off x="6486417" y="4766099"/>
                <a:ext cx="507858" cy="236115"/>
                <a:chOff x="4128636" y="3606589"/>
                <a:chExt cx="568145" cy="338667"/>
              </a:xfrm>
            </p:grpSpPr>
            <p:sp>
              <p:nvSpPr>
                <p:cNvPr id="510" name="Oval 509"/>
                <p:cNvSpPr/>
                <p:nvPr/>
              </p:nvSpPr>
              <p:spPr>
                <a:xfrm>
                  <a:off x="4128757" y="3719828"/>
                  <a:ext cx="568304" cy="22542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1" name="Rectangle 510"/>
                <p:cNvSpPr/>
                <p:nvPr/>
              </p:nvSpPr>
              <p:spPr>
                <a:xfrm>
                  <a:off x="4128757" y="3719828"/>
                  <a:ext cx="568304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2" name="Oval 511"/>
                <p:cNvSpPr/>
                <p:nvPr/>
              </p:nvSpPr>
              <p:spPr>
                <a:xfrm>
                  <a:off x="4128757" y="3605903"/>
                  <a:ext cx="568304" cy="225426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13" name="Straight Connector 512"/>
                <p:cNvCxnSpPr/>
                <p:nvPr/>
              </p:nvCxnSpPr>
              <p:spPr>
                <a:xfrm>
                  <a:off x="4697061" y="3719828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/>
                <p:cNvCxnSpPr/>
                <p:nvPr/>
              </p:nvCxnSpPr>
              <p:spPr>
                <a:xfrm>
                  <a:off x="4128757" y="3719828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2" name="Rectangle 501"/>
              <p:cNvSpPr/>
              <p:nvPr/>
            </p:nvSpPr>
            <p:spPr bwMode="auto">
              <a:xfrm>
                <a:off x="6491288" y="3609696"/>
                <a:ext cx="498475" cy="1238732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05" name="Straight Connector 504"/>
              <p:cNvCxnSpPr/>
              <p:nvPr/>
            </p:nvCxnSpPr>
            <p:spPr bwMode="auto">
              <a:xfrm>
                <a:off x="6472366" y="2818589"/>
                <a:ext cx="9397" cy="2126166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41" name="Group 514"/>
              <p:cNvGrpSpPr>
                <a:grpSpLocks/>
              </p:cNvGrpSpPr>
              <p:nvPr/>
            </p:nvGrpSpPr>
            <p:grpSpPr bwMode="auto">
              <a:xfrm>
                <a:off x="6478146" y="2647932"/>
                <a:ext cx="504825" cy="242887"/>
                <a:chOff x="2183302" y="1574638"/>
                <a:chExt cx="1200154" cy="430218"/>
              </a:xfrm>
            </p:grpSpPr>
            <p:sp>
              <p:nvSpPr>
                <p:cNvPr id="516" name="Oval 515"/>
                <p:cNvSpPr/>
                <p:nvPr/>
              </p:nvSpPr>
              <p:spPr bwMode="auto">
                <a:xfrm flipV="1">
                  <a:off x="2187075" y="1689925"/>
                  <a:ext cx="1196381" cy="31493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17" name="Rectangle 516"/>
                <p:cNvSpPr/>
                <p:nvPr/>
              </p:nvSpPr>
              <p:spPr bwMode="auto">
                <a:xfrm>
                  <a:off x="2183302" y="1734915"/>
                  <a:ext cx="1200154" cy="112476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8" name="Oval 517"/>
                <p:cNvSpPr/>
                <p:nvPr/>
              </p:nvSpPr>
              <p:spPr bwMode="auto">
                <a:xfrm flipV="1">
                  <a:off x="2183302" y="1574638"/>
                  <a:ext cx="1196379" cy="31493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19" name="Freeform 518"/>
                <p:cNvSpPr/>
                <p:nvPr/>
              </p:nvSpPr>
              <p:spPr bwMode="auto">
                <a:xfrm>
                  <a:off x="2489000" y="1670242"/>
                  <a:ext cx="584982" cy="157466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0" name="Freeform 519"/>
                <p:cNvSpPr/>
                <p:nvPr/>
              </p:nvSpPr>
              <p:spPr bwMode="auto">
                <a:xfrm>
                  <a:off x="2428615" y="1630876"/>
                  <a:ext cx="705752" cy="109663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1" name="Freeform 520"/>
                <p:cNvSpPr/>
                <p:nvPr/>
              </p:nvSpPr>
              <p:spPr bwMode="auto">
                <a:xfrm>
                  <a:off x="2892827" y="1723667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2" name="Freeform 521"/>
                <p:cNvSpPr/>
                <p:nvPr/>
              </p:nvSpPr>
              <p:spPr bwMode="auto">
                <a:xfrm>
                  <a:off x="2417294" y="1726480"/>
                  <a:ext cx="252861" cy="92791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23" name="Straight Connector 522"/>
                <p:cNvCxnSpPr>
                  <a:endCxn id="518" idx="2"/>
                </p:cNvCxnSpPr>
                <p:nvPr/>
              </p:nvCxnSpPr>
              <p:spPr bwMode="auto">
                <a:xfrm flipH="1" flipV="1">
                  <a:off x="2183302" y="1732104"/>
                  <a:ext cx="3773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/>
                <p:cNvCxnSpPr/>
                <p:nvPr/>
              </p:nvCxnSpPr>
              <p:spPr bwMode="auto">
                <a:xfrm flipH="1" flipV="1">
                  <a:off x="3379681" y="1729291"/>
                  <a:ext cx="3775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7142" name="Text Box 167"/>
          <p:cNvSpPr txBox="1">
            <a:spLocks noChangeArrowheads="1"/>
          </p:cNvSpPr>
          <p:nvPr/>
        </p:nvSpPr>
        <p:spPr bwMode="auto">
          <a:xfrm>
            <a:off x="563563" y="277813"/>
            <a:ext cx="60305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Recall: per</a:t>
            </a:r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-router </a:t>
            </a:r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control plane</a:t>
            </a:r>
            <a:endParaRPr lang="en-US" sz="3600" dirty="0">
              <a:solidFill>
                <a:srgbClr val="000099"/>
              </a:solidFill>
              <a:latin typeface="Gill Sans MT" charset="0"/>
            </a:endParaRPr>
          </a:p>
        </p:txBody>
      </p:sp>
      <p:grpSp>
        <p:nvGrpSpPr>
          <p:cNvPr id="229" name="Group 228"/>
          <p:cNvGrpSpPr/>
          <p:nvPr/>
        </p:nvGrpSpPr>
        <p:grpSpPr>
          <a:xfrm>
            <a:off x="1828233" y="3016011"/>
            <a:ext cx="5112820" cy="879389"/>
            <a:chOff x="1866825" y="707349"/>
            <a:chExt cx="5112820" cy="879389"/>
          </a:xfrm>
        </p:grpSpPr>
        <p:sp>
          <p:nvSpPr>
            <p:cNvPr id="233" name="Oval 232"/>
            <p:cNvSpPr/>
            <p:nvPr/>
          </p:nvSpPr>
          <p:spPr>
            <a:xfrm>
              <a:off x="1866825" y="785347"/>
              <a:ext cx="954705" cy="491476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80"/>
                </a:lnSpc>
              </a:pPr>
              <a:r>
                <a:rPr lang="en-US" sz="1400" dirty="0" smtClean="0"/>
                <a:t>Routing</a:t>
              </a:r>
            </a:p>
            <a:p>
              <a:pPr algn="ctr">
                <a:lnSpc>
                  <a:spcPts val="1480"/>
                </a:lnSpc>
              </a:pPr>
              <a:r>
                <a:rPr lang="en-US" sz="1400" dirty="0" smtClean="0"/>
                <a:t>Algorithm</a:t>
              </a:r>
              <a:endParaRPr lang="en-US" sz="1400" dirty="0"/>
            </a:p>
          </p:txBody>
        </p:sp>
        <p:cxnSp>
          <p:nvCxnSpPr>
            <p:cNvPr id="235" name="Straight Arrow Connector 234"/>
            <p:cNvCxnSpPr/>
            <p:nvPr/>
          </p:nvCxnSpPr>
          <p:spPr>
            <a:xfrm flipV="1">
              <a:off x="2833714" y="807908"/>
              <a:ext cx="1517851" cy="213379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>
              <a:off x="2750618" y="1201670"/>
              <a:ext cx="797027" cy="279264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Arrow Connector 236"/>
            <p:cNvCxnSpPr/>
            <p:nvPr/>
          </p:nvCxnSpPr>
          <p:spPr>
            <a:xfrm>
              <a:off x="4684666" y="894080"/>
              <a:ext cx="893541" cy="510629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/>
            <p:nvPr/>
          </p:nvCxnSpPr>
          <p:spPr>
            <a:xfrm>
              <a:off x="4800837" y="800746"/>
              <a:ext cx="1695897" cy="130795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Oval 238"/>
            <p:cNvSpPr/>
            <p:nvPr/>
          </p:nvSpPr>
          <p:spPr>
            <a:xfrm>
              <a:off x="6558622" y="894080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/>
            <p:cNvSpPr/>
            <p:nvPr/>
          </p:nvSpPr>
          <p:spPr>
            <a:xfrm>
              <a:off x="5572329" y="1404709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/>
            <p:cNvSpPr/>
            <p:nvPr/>
          </p:nvSpPr>
          <p:spPr>
            <a:xfrm>
              <a:off x="4367082" y="707349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/>
            <p:cNvSpPr/>
            <p:nvPr/>
          </p:nvSpPr>
          <p:spPr>
            <a:xfrm>
              <a:off x="3571953" y="1402071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3" name="Straight Arrow Connector 242"/>
            <p:cNvCxnSpPr/>
            <p:nvPr/>
          </p:nvCxnSpPr>
          <p:spPr>
            <a:xfrm>
              <a:off x="2821560" y="1106261"/>
              <a:ext cx="2738615" cy="338776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>
              <a:endCxn id="239" idx="2"/>
            </p:cNvCxnSpPr>
            <p:nvPr/>
          </p:nvCxnSpPr>
          <p:spPr>
            <a:xfrm flipV="1">
              <a:off x="3997124" y="985095"/>
              <a:ext cx="2561498" cy="469120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/>
            <p:cNvCxnSpPr/>
            <p:nvPr/>
          </p:nvCxnSpPr>
          <p:spPr>
            <a:xfrm flipV="1">
              <a:off x="3992124" y="1509221"/>
              <a:ext cx="1580205" cy="2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/>
            <p:cNvCxnSpPr/>
            <p:nvPr/>
          </p:nvCxnSpPr>
          <p:spPr>
            <a:xfrm flipV="1">
              <a:off x="5997500" y="1083737"/>
              <a:ext cx="751103" cy="397197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8" name="TextBox 257"/>
          <p:cNvSpPr txBox="1"/>
          <p:nvPr/>
        </p:nvSpPr>
        <p:spPr>
          <a:xfrm>
            <a:off x="517479" y="1154626"/>
            <a:ext cx="820901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Individual </a:t>
            </a:r>
            <a:r>
              <a:rPr lang="en-US" sz="2400" dirty="0"/>
              <a:t>routing algorithm </a:t>
            </a:r>
            <a:r>
              <a:rPr lang="en-US" sz="2400" dirty="0" smtClean="0"/>
              <a:t>components </a:t>
            </a:r>
            <a:r>
              <a:rPr lang="en-US" sz="2400" i="1" dirty="0" smtClean="0">
                <a:solidFill>
                  <a:srgbClr val="000090"/>
                </a:solidFill>
              </a:rPr>
              <a:t>in each and every router </a:t>
            </a:r>
            <a:r>
              <a:rPr lang="en-US" sz="2400" dirty="0" smtClean="0"/>
              <a:t>interact with each other in control plane to compute forwarding tables</a:t>
            </a:r>
            <a:endParaRPr lang="en-US" sz="24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1557338" y="3404226"/>
            <a:ext cx="6375400" cy="1047750"/>
            <a:chOff x="1557338" y="3074988"/>
            <a:chExt cx="6375400" cy="1047750"/>
          </a:xfrm>
        </p:grpSpPr>
        <p:sp>
          <p:nvSpPr>
            <p:cNvPr id="47115" name="TextBox 232"/>
            <p:cNvSpPr txBox="1">
              <a:spLocks noChangeArrowheads="1"/>
            </p:cNvSpPr>
            <p:nvPr/>
          </p:nvSpPr>
          <p:spPr bwMode="auto"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data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sp>
          <p:nvSpPr>
            <p:cNvPr id="47116" name="TextBox 233"/>
            <p:cNvSpPr txBox="1">
              <a:spLocks noChangeArrowheads="1"/>
            </p:cNvSpPr>
            <p:nvPr/>
          </p:nvSpPr>
          <p:spPr bwMode="auto"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control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cxnSp>
          <p:nvCxnSpPr>
            <p:cNvPr id="232" name="Straight Connector 231"/>
            <p:cNvCxnSpPr/>
            <p:nvPr/>
          </p:nvCxnSpPr>
          <p:spPr>
            <a:xfrm>
              <a:off x="1557338" y="3613150"/>
              <a:ext cx="6207125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1829356" y="4031984"/>
            <a:ext cx="5126173" cy="1120753"/>
            <a:chOff x="-4746102" y="4471477"/>
            <a:chExt cx="5126173" cy="1120753"/>
          </a:xfrm>
        </p:grpSpPr>
        <p:pic>
          <p:nvPicPr>
            <p:cNvPr id="47268" name="Picture 10" descr="fig42_table.pdf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746102" y="4471477"/>
              <a:ext cx="966463" cy="966962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6" name="Group 25"/>
            <p:cNvGrpSpPr/>
            <p:nvPr/>
          </p:nvGrpSpPr>
          <p:grpSpPr>
            <a:xfrm>
              <a:off x="-3025264" y="5228984"/>
              <a:ext cx="3405335" cy="363246"/>
              <a:chOff x="-3025264" y="5228984"/>
              <a:chExt cx="3405335" cy="363246"/>
            </a:xfrm>
          </p:grpSpPr>
          <p:grpSp>
            <p:nvGrpSpPr>
              <p:cNvPr id="47251" name="Group 241"/>
              <p:cNvGrpSpPr>
                <a:grpSpLocks/>
              </p:cNvGrpSpPr>
              <p:nvPr/>
            </p:nvGrpSpPr>
            <p:grpSpPr bwMode="auto">
              <a:xfrm>
                <a:off x="-3025264" y="5262858"/>
                <a:ext cx="430360" cy="329372"/>
                <a:chOff x="2931664" y="3912603"/>
                <a:chExt cx="430450" cy="329314"/>
              </a:xfrm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2935837" y="3912034"/>
                  <a:ext cx="425539" cy="33014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2931074" y="4004093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2931074" y="4067582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>
                  <a:stCxn id="92" idx="2"/>
                </p:cNvCxnSpPr>
                <p:nvPr/>
              </p:nvCxnSpPr>
              <p:spPr>
                <a:xfrm flipH="1" flipV="1">
                  <a:off x="3147019" y="4004093"/>
                  <a:ext cx="1587" cy="238083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220" name="Group 444"/>
              <p:cNvGrpSpPr>
                <a:grpSpLocks/>
              </p:cNvGrpSpPr>
              <p:nvPr/>
            </p:nvGrpSpPr>
            <p:grpSpPr bwMode="auto">
              <a:xfrm>
                <a:off x="-2217227" y="5261364"/>
                <a:ext cx="430361" cy="329307"/>
                <a:chOff x="2931664" y="3912603"/>
                <a:chExt cx="430450" cy="329314"/>
              </a:xfrm>
            </p:grpSpPr>
            <p:sp>
              <p:nvSpPr>
                <p:cNvPr id="448" name="Rectangle 447"/>
                <p:cNvSpPr/>
                <p:nvPr/>
              </p:nvSpPr>
              <p:spPr>
                <a:xfrm>
                  <a:off x="2935838" y="3911941"/>
                  <a:ext cx="425538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49" name="Straight Connector 448"/>
                <p:cNvCxnSpPr/>
                <p:nvPr/>
              </p:nvCxnSpPr>
              <p:spPr>
                <a:xfrm>
                  <a:off x="2931074" y="4004018"/>
                  <a:ext cx="425538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/>
                <p:cNvCxnSpPr/>
                <p:nvPr/>
              </p:nvCxnSpPr>
              <p:spPr>
                <a:xfrm>
                  <a:off x="2931074" y="4067519"/>
                  <a:ext cx="425538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Straight Connector 450"/>
                <p:cNvCxnSpPr>
                  <a:stCxn id="448" idx="2"/>
                </p:cNvCxnSpPr>
                <p:nvPr/>
              </p:nvCxnSpPr>
              <p:spPr>
                <a:xfrm flipH="1" flipV="1">
                  <a:off x="3147019" y="4004018"/>
                  <a:ext cx="1588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191" name="Group 473"/>
              <p:cNvGrpSpPr>
                <a:grpSpLocks/>
              </p:cNvGrpSpPr>
              <p:nvPr/>
            </p:nvGrpSpPr>
            <p:grpSpPr bwMode="auto">
              <a:xfrm>
                <a:off x="-1034539" y="5261364"/>
                <a:ext cx="430360" cy="329307"/>
                <a:chOff x="2931664" y="3912603"/>
                <a:chExt cx="430450" cy="329314"/>
              </a:xfrm>
            </p:grpSpPr>
            <p:sp>
              <p:nvSpPr>
                <p:cNvPr id="477" name="Rectangle 476"/>
                <p:cNvSpPr/>
                <p:nvPr/>
              </p:nvSpPr>
              <p:spPr>
                <a:xfrm>
                  <a:off x="2935837" y="3911941"/>
                  <a:ext cx="425539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78" name="Straight Connector 477"/>
                <p:cNvCxnSpPr/>
                <p:nvPr/>
              </p:nvCxnSpPr>
              <p:spPr>
                <a:xfrm>
                  <a:off x="2931074" y="4004018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Straight Connector 478"/>
                <p:cNvCxnSpPr/>
                <p:nvPr/>
              </p:nvCxnSpPr>
              <p:spPr>
                <a:xfrm>
                  <a:off x="2931074" y="4067519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Straight Connector 479"/>
                <p:cNvCxnSpPr>
                  <a:stCxn id="477" idx="2"/>
                </p:cNvCxnSpPr>
                <p:nvPr/>
              </p:nvCxnSpPr>
              <p:spPr>
                <a:xfrm flipH="1" flipV="1">
                  <a:off x="3147019" y="4004018"/>
                  <a:ext cx="1587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162" name="Group 502"/>
              <p:cNvGrpSpPr>
                <a:grpSpLocks/>
              </p:cNvGrpSpPr>
              <p:nvPr/>
            </p:nvGrpSpPr>
            <p:grpSpPr bwMode="auto">
              <a:xfrm>
                <a:off x="-50289" y="5228984"/>
                <a:ext cx="430360" cy="350559"/>
                <a:chOff x="2931664" y="3912603"/>
                <a:chExt cx="430450" cy="329314"/>
              </a:xfrm>
            </p:grpSpPr>
            <p:sp>
              <p:nvSpPr>
                <p:cNvPr id="506" name="Rectangle 505"/>
                <p:cNvSpPr/>
                <p:nvPr/>
              </p:nvSpPr>
              <p:spPr>
                <a:xfrm>
                  <a:off x="2935837" y="3911940"/>
                  <a:ext cx="425539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07" name="Straight Connector 506"/>
                <p:cNvCxnSpPr/>
                <p:nvPr/>
              </p:nvCxnSpPr>
              <p:spPr>
                <a:xfrm>
                  <a:off x="2931074" y="4004017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/>
                <p:cNvCxnSpPr/>
                <p:nvPr/>
              </p:nvCxnSpPr>
              <p:spPr>
                <a:xfrm>
                  <a:off x="2931074" y="4067518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/>
                <p:cNvCxnSpPr>
                  <a:stCxn id="506" idx="2"/>
                </p:cNvCxnSpPr>
                <p:nvPr/>
              </p:nvCxnSpPr>
              <p:spPr>
                <a:xfrm flipH="1" flipV="1">
                  <a:off x="3147019" y="4004017"/>
                  <a:ext cx="1587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5" name="Group 24"/>
          <p:cNvGrpSpPr/>
          <p:nvPr/>
        </p:nvGrpSpPr>
        <p:grpSpPr>
          <a:xfrm>
            <a:off x="2282487" y="3212142"/>
            <a:ext cx="4437063" cy="1906161"/>
            <a:chOff x="-4267279" y="3655204"/>
            <a:chExt cx="4437063" cy="1906161"/>
          </a:xfrm>
        </p:grpSpPr>
        <p:cxnSp>
          <p:nvCxnSpPr>
            <p:cNvPr id="111" name="Straight Arrow Connector 110"/>
            <p:cNvCxnSpPr/>
            <p:nvPr/>
          </p:nvCxnSpPr>
          <p:spPr bwMode="auto">
            <a:xfrm>
              <a:off x="-4267279" y="4046968"/>
              <a:ext cx="0" cy="422275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 bwMode="auto">
            <a:xfrm flipH="1">
              <a:off x="-2808366" y="4361550"/>
              <a:ext cx="154" cy="872164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Arrow Connector 445"/>
            <p:cNvCxnSpPr/>
            <p:nvPr/>
          </p:nvCxnSpPr>
          <p:spPr bwMode="auto">
            <a:xfrm>
              <a:off x="-2006807" y="3655204"/>
              <a:ext cx="6479" cy="1576923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Arrow Connector 474"/>
            <p:cNvCxnSpPr>
              <a:stCxn id="468" idx="0"/>
            </p:cNvCxnSpPr>
            <p:nvPr/>
          </p:nvCxnSpPr>
          <p:spPr bwMode="auto">
            <a:xfrm>
              <a:off x="-823524" y="4656511"/>
              <a:ext cx="5883" cy="904854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Arrow Connector 503"/>
            <p:cNvCxnSpPr/>
            <p:nvPr/>
          </p:nvCxnSpPr>
          <p:spPr bwMode="auto">
            <a:xfrm flipH="1">
              <a:off x="166609" y="3798581"/>
              <a:ext cx="3175" cy="1399277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687845" cy="38210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27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25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453484" y="2021024"/>
            <a:ext cx="6027737" cy="1440135"/>
            <a:chOff x="1492879" y="2061336"/>
            <a:chExt cx="6027737" cy="1440135"/>
          </a:xfrm>
        </p:grpSpPr>
        <p:sp>
          <p:nvSpPr>
            <p:cNvPr id="388" name="Rectangle 387"/>
            <p:cNvSpPr/>
            <p:nvPr/>
          </p:nvSpPr>
          <p:spPr bwMode="auto">
            <a:xfrm>
              <a:off x="1929251" y="2064703"/>
              <a:ext cx="5043488" cy="10175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96" name="Freeform 395"/>
            <p:cNvSpPr/>
            <p:nvPr/>
          </p:nvSpPr>
          <p:spPr bwMode="auto">
            <a:xfrm>
              <a:off x="1739747" y="2067585"/>
              <a:ext cx="198437" cy="1385888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98" name="Freeform 397"/>
            <p:cNvSpPr/>
            <p:nvPr/>
          </p:nvSpPr>
          <p:spPr bwMode="auto">
            <a:xfrm flipH="1">
              <a:off x="6969078" y="2061336"/>
              <a:ext cx="220427" cy="1370587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0 w 219519"/>
                <a:gd name="connsiteY0" fmla="*/ 730359 h 1370199"/>
                <a:gd name="connsiteX1" fmla="*/ 219401 w 219519"/>
                <a:gd name="connsiteY1" fmla="*/ 0 h 1370199"/>
                <a:gd name="connsiteX2" fmla="*/ 199855 w 219519"/>
                <a:gd name="connsiteY2" fmla="*/ 1012572 h 1370199"/>
                <a:gd name="connsiteX3" fmla="*/ 4471 w 219519"/>
                <a:gd name="connsiteY3" fmla="*/ 1370199 h 1370199"/>
                <a:gd name="connsiteX4" fmla="*/ 0 w 219519"/>
                <a:gd name="connsiteY4" fmla="*/ 730359 h 1370199"/>
                <a:gd name="connsiteX0" fmla="*/ 0 w 219602"/>
                <a:gd name="connsiteY0" fmla="*/ 730359 h 1370199"/>
                <a:gd name="connsiteX1" fmla="*/ 219401 w 219602"/>
                <a:gd name="connsiteY1" fmla="*/ 0 h 1370199"/>
                <a:gd name="connsiteX2" fmla="*/ 210047 w 219602"/>
                <a:gd name="connsiteY2" fmla="*/ 1007473 h 1370199"/>
                <a:gd name="connsiteX3" fmla="*/ 4471 w 219602"/>
                <a:gd name="connsiteY3" fmla="*/ 1370199 h 1370199"/>
                <a:gd name="connsiteX4" fmla="*/ 0 w 219602"/>
                <a:gd name="connsiteY4" fmla="*/ 730359 h 1370199"/>
                <a:gd name="connsiteX0" fmla="*/ 0 w 220239"/>
                <a:gd name="connsiteY0" fmla="*/ 730359 h 1370199"/>
                <a:gd name="connsiteX1" fmla="*/ 219401 w 220239"/>
                <a:gd name="connsiteY1" fmla="*/ 0 h 1370199"/>
                <a:gd name="connsiteX2" fmla="*/ 220239 w 220239"/>
                <a:gd name="connsiteY2" fmla="*/ 1007473 h 1370199"/>
                <a:gd name="connsiteX3" fmla="*/ 4471 w 220239"/>
                <a:gd name="connsiteY3" fmla="*/ 1370199 h 1370199"/>
                <a:gd name="connsiteX4" fmla="*/ 0 w 220239"/>
                <a:gd name="connsiteY4" fmla="*/ 730359 h 137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grpSp>
          <p:nvGrpSpPr>
            <p:cNvPr id="48316" name="Group 950"/>
            <p:cNvGrpSpPr>
              <a:grpSpLocks/>
            </p:cNvGrpSpPr>
            <p:nvPr/>
          </p:nvGrpSpPr>
          <p:grpSpPr bwMode="auto"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48350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51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52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53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54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55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8380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81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56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57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8378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9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58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59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60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8376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7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61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8362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8374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5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63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64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65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66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67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68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69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70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71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8372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73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8317" name="Group 950"/>
            <p:cNvGrpSpPr>
              <a:grpSpLocks/>
            </p:cNvGrpSpPr>
            <p:nvPr/>
          </p:nvGrpSpPr>
          <p:grpSpPr bwMode="auto"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48318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19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20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21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22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23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8348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9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24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25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8346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7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26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27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8328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8344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5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29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8330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8342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3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331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2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33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34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5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36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7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8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39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8340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341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8129" name="Freeform 2"/>
          <p:cNvSpPr>
            <a:spLocks/>
          </p:cNvSpPr>
          <p:nvPr/>
        </p:nvSpPr>
        <p:spPr bwMode="auto">
          <a:xfrm>
            <a:off x="2592388" y="5749925"/>
            <a:ext cx="4027487" cy="939800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8" name="Straight Connector 147"/>
          <p:cNvCxnSpPr/>
          <p:nvPr/>
        </p:nvCxnSpPr>
        <p:spPr>
          <a:xfrm flipV="1">
            <a:off x="3262941" y="5900738"/>
            <a:ext cx="1316038" cy="1317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3151816" y="6088063"/>
            <a:ext cx="2259013" cy="2984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3164516" y="6192838"/>
            <a:ext cx="714375" cy="2762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4182104" y="6386513"/>
            <a:ext cx="1247775" cy="825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4842504" y="5934075"/>
            <a:ext cx="1057275" cy="1238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4126541" y="6088063"/>
            <a:ext cx="1790700" cy="2984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5453691" y="6116638"/>
            <a:ext cx="588963" cy="26987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>
            <a:off x="4596441" y="5900738"/>
            <a:ext cx="814388" cy="40163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261" name="Group 48260"/>
          <p:cNvGrpSpPr/>
          <p:nvPr/>
        </p:nvGrpSpPr>
        <p:grpSpPr>
          <a:xfrm>
            <a:off x="1526216" y="3003498"/>
            <a:ext cx="6978041" cy="1096962"/>
            <a:chOff x="1526216" y="3003498"/>
            <a:chExt cx="6978041" cy="1096962"/>
          </a:xfrm>
        </p:grpSpPr>
        <p:sp>
          <p:nvSpPr>
            <p:cNvPr id="48156" name="TextBox 399"/>
            <p:cNvSpPr txBox="1">
              <a:spLocks noChangeArrowheads="1"/>
            </p:cNvSpPr>
            <p:nvPr/>
          </p:nvSpPr>
          <p:spPr bwMode="auto"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data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sp>
          <p:nvSpPr>
            <p:cNvPr id="48157" name="TextBox 400"/>
            <p:cNvSpPr txBox="1">
              <a:spLocks noChangeArrowheads="1"/>
            </p:cNvSpPr>
            <p:nvPr/>
          </p:nvSpPr>
          <p:spPr bwMode="auto"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control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cxnSp>
          <p:nvCxnSpPr>
            <p:cNvPr id="302" name="Straight Connector 301"/>
            <p:cNvCxnSpPr/>
            <p:nvPr/>
          </p:nvCxnSpPr>
          <p:spPr bwMode="auto">
            <a:xfrm flipV="1">
              <a:off x="1526216" y="3579342"/>
              <a:ext cx="6978041" cy="1215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2436115" y="2735108"/>
            <a:ext cx="4296530" cy="320561"/>
            <a:chOff x="2433511" y="2792111"/>
            <a:chExt cx="4296530" cy="320561"/>
          </a:xfrm>
        </p:grpSpPr>
        <p:grpSp>
          <p:nvGrpSpPr>
            <p:cNvPr id="48311" name="Group 401"/>
            <p:cNvGrpSpPr>
              <a:grpSpLocks/>
            </p:cNvGrpSpPr>
            <p:nvPr/>
          </p:nvGrpSpPr>
          <p:grpSpPr bwMode="auto">
            <a:xfrm>
              <a:off x="2433511" y="2794083"/>
              <a:ext cx="349250" cy="317387"/>
              <a:chOff x="2931664" y="3912603"/>
              <a:chExt cx="430450" cy="329314"/>
            </a:xfrm>
          </p:grpSpPr>
          <p:sp>
            <p:nvSpPr>
              <p:cNvPr id="403" name="Rectangle 402"/>
              <p:cNvSpPr/>
              <p:nvPr/>
            </p:nvSpPr>
            <p:spPr>
              <a:xfrm>
                <a:off x="2937534" y="3912858"/>
                <a:ext cx="424580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04" name="Straight Connector 403"/>
              <p:cNvCxnSpPr/>
              <p:nvPr/>
            </p:nvCxnSpPr>
            <p:spPr>
              <a:xfrm>
                <a:off x="2931664" y="4005099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/>
              <p:cNvCxnSpPr/>
              <p:nvPr/>
            </p:nvCxnSpPr>
            <p:spPr>
              <a:xfrm>
                <a:off x="2931664" y="4067691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/>
              <p:cNvCxnSpPr>
                <a:stCxn id="403" idx="2"/>
              </p:cNvCxnSpPr>
              <p:nvPr/>
            </p:nvCxnSpPr>
            <p:spPr>
              <a:xfrm flipH="1" flipV="1">
                <a:off x="3148846" y="4005099"/>
                <a:ext cx="0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2" name="Group 406"/>
            <p:cNvGrpSpPr>
              <a:grpSpLocks/>
            </p:cNvGrpSpPr>
            <p:nvPr/>
          </p:nvGrpSpPr>
          <p:grpSpPr bwMode="auto">
            <a:xfrm>
              <a:off x="3348666" y="2792111"/>
              <a:ext cx="350838" cy="317387"/>
              <a:chOff x="2931664" y="3912603"/>
              <a:chExt cx="430450" cy="329314"/>
            </a:xfrm>
          </p:grpSpPr>
          <p:sp>
            <p:nvSpPr>
              <p:cNvPr id="408" name="Rectangle 407"/>
              <p:cNvSpPr/>
              <p:nvPr/>
            </p:nvSpPr>
            <p:spPr>
              <a:xfrm>
                <a:off x="2937508" y="3912861"/>
                <a:ext cx="424606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09" name="Straight Connector 408"/>
              <p:cNvCxnSpPr/>
              <p:nvPr/>
            </p:nvCxnSpPr>
            <p:spPr>
              <a:xfrm>
                <a:off x="2931664" y="4005102"/>
                <a:ext cx="42460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/>
              <p:cNvCxnSpPr/>
              <p:nvPr/>
            </p:nvCxnSpPr>
            <p:spPr>
              <a:xfrm>
                <a:off x="2931664" y="4067694"/>
                <a:ext cx="42460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/>
              <p:cNvCxnSpPr>
                <a:stCxn id="408" idx="2"/>
              </p:cNvCxnSpPr>
              <p:nvPr/>
            </p:nvCxnSpPr>
            <p:spPr>
              <a:xfrm flipH="1" flipV="1">
                <a:off x="3147863" y="4005102"/>
                <a:ext cx="1947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3" name="Group 411"/>
            <p:cNvGrpSpPr>
              <a:grpSpLocks/>
            </p:cNvGrpSpPr>
            <p:nvPr/>
          </p:nvGrpSpPr>
          <p:grpSpPr bwMode="auto">
            <a:xfrm>
              <a:off x="4182104" y="2792111"/>
              <a:ext cx="350837" cy="317387"/>
              <a:chOff x="2931664" y="3912603"/>
              <a:chExt cx="430450" cy="329314"/>
            </a:xfrm>
          </p:grpSpPr>
          <p:sp>
            <p:nvSpPr>
              <p:cNvPr id="413" name="Rectangle 412"/>
              <p:cNvSpPr/>
              <p:nvPr/>
            </p:nvSpPr>
            <p:spPr>
              <a:xfrm>
                <a:off x="2937507" y="3912861"/>
                <a:ext cx="424607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14" name="Straight Connector 413"/>
              <p:cNvCxnSpPr/>
              <p:nvPr/>
            </p:nvCxnSpPr>
            <p:spPr>
              <a:xfrm>
                <a:off x="2931664" y="4005102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Straight Connector 414"/>
              <p:cNvCxnSpPr/>
              <p:nvPr/>
            </p:nvCxnSpPr>
            <p:spPr>
              <a:xfrm>
                <a:off x="2931664" y="4067694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Straight Connector 415"/>
              <p:cNvCxnSpPr>
                <a:stCxn id="413" idx="2"/>
              </p:cNvCxnSpPr>
              <p:nvPr/>
            </p:nvCxnSpPr>
            <p:spPr>
              <a:xfrm flipH="1" flipV="1">
                <a:off x="3147863" y="4005102"/>
                <a:ext cx="1948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4" name="Group 416"/>
            <p:cNvGrpSpPr>
              <a:grpSpLocks/>
            </p:cNvGrpSpPr>
            <p:nvPr/>
          </p:nvGrpSpPr>
          <p:grpSpPr bwMode="auto">
            <a:xfrm>
              <a:off x="5374316" y="2795285"/>
              <a:ext cx="349250" cy="317387"/>
              <a:chOff x="2931664" y="3912603"/>
              <a:chExt cx="430450" cy="329314"/>
            </a:xfrm>
          </p:grpSpPr>
          <p:sp>
            <p:nvSpPr>
              <p:cNvPr id="418" name="Rectangle 417"/>
              <p:cNvSpPr/>
              <p:nvPr/>
            </p:nvSpPr>
            <p:spPr>
              <a:xfrm>
                <a:off x="2937534" y="3912862"/>
                <a:ext cx="424580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19" name="Straight Connector 418"/>
              <p:cNvCxnSpPr/>
              <p:nvPr/>
            </p:nvCxnSpPr>
            <p:spPr>
              <a:xfrm>
                <a:off x="2931664" y="4005103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Connector 419"/>
              <p:cNvCxnSpPr/>
              <p:nvPr/>
            </p:nvCxnSpPr>
            <p:spPr>
              <a:xfrm>
                <a:off x="2931664" y="4067695"/>
                <a:ext cx="424581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/>
              <p:cNvCxnSpPr>
                <a:stCxn id="418" idx="2"/>
              </p:cNvCxnSpPr>
              <p:nvPr/>
            </p:nvCxnSpPr>
            <p:spPr>
              <a:xfrm flipH="1" flipV="1">
                <a:off x="3148846" y="4005103"/>
                <a:ext cx="0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315" name="Group 421"/>
            <p:cNvGrpSpPr>
              <a:grpSpLocks/>
            </p:cNvGrpSpPr>
            <p:nvPr/>
          </p:nvGrpSpPr>
          <p:grpSpPr bwMode="auto">
            <a:xfrm>
              <a:off x="6379204" y="2792111"/>
              <a:ext cx="350837" cy="317387"/>
              <a:chOff x="2931664" y="3912603"/>
              <a:chExt cx="430450" cy="329314"/>
            </a:xfrm>
          </p:grpSpPr>
          <p:sp>
            <p:nvSpPr>
              <p:cNvPr id="423" name="Rectangle 422"/>
              <p:cNvSpPr/>
              <p:nvPr/>
            </p:nvSpPr>
            <p:spPr>
              <a:xfrm>
                <a:off x="2937507" y="3912861"/>
                <a:ext cx="424607" cy="32943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24" name="Straight Connector 423"/>
              <p:cNvCxnSpPr/>
              <p:nvPr/>
            </p:nvCxnSpPr>
            <p:spPr>
              <a:xfrm>
                <a:off x="2931664" y="4005102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/>
              <p:cNvCxnSpPr/>
              <p:nvPr/>
            </p:nvCxnSpPr>
            <p:spPr>
              <a:xfrm>
                <a:off x="2931664" y="4067694"/>
                <a:ext cx="424607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Straight Connector 425"/>
              <p:cNvCxnSpPr>
                <a:stCxn id="423" idx="2"/>
              </p:cNvCxnSpPr>
              <p:nvPr/>
            </p:nvCxnSpPr>
            <p:spPr>
              <a:xfrm flipH="1" flipV="1">
                <a:off x="3147863" y="4005102"/>
                <a:ext cx="1948" cy="23719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8260" name="Group 48259"/>
          <p:cNvGrpSpPr/>
          <p:nvPr/>
        </p:nvGrpSpPr>
        <p:grpSpPr>
          <a:xfrm>
            <a:off x="1856416" y="3709935"/>
            <a:ext cx="5211763" cy="2739614"/>
            <a:chOff x="1856416" y="3709935"/>
            <a:chExt cx="5211763" cy="2739614"/>
          </a:xfrm>
        </p:grpSpPr>
        <p:sp>
          <p:nvSpPr>
            <p:cNvPr id="268" name="Freeform 267"/>
            <p:cNvSpPr/>
            <p:nvPr/>
          </p:nvSpPr>
          <p:spPr>
            <a:xfrm>
              <a:off x="1876731" y="5330139"/>
              <a:ext cx="1280789" cy="75908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6202668" y="5429198"/>
              <a:ext cx="865511" cy="55382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1011379"/>
                <a:gd name="connsiteY0" fmla="*/ 605727 h 758185"/>
                <a:gd name="connsiteX1" fmla="*/ 490915 w 1011379"/>
                <a:gd name="connsiteY1" fmla="*/ 13939 h 758185"/>
                <a:gd name="connsiteX2" fmla="*/ 1011379 w 1011379"/>
                <a:gd name="connsiteY2" fmla="*/ 563 h 758185"/>
                <a:gd name="connsiteX3" fmla="*/ 268780 w 1011379"/>
                <a:gd name="connsiteY3" fmla="*/ 758185 h 758185"/>
                <a:gd name="connsiteX4" fmla="*/ 0 w 1011379"/>
                <a:gd name="connsiteY4" fmla="*/ 605727 h 758185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05727"/>
                <a:gd name="connsiteX1" fmla="*/ 490915 w 1011379"/>
                <a:gd name="connsiteY1" fmla="*/ 13939 h 605727"/>
                <a:gd name="connsiteX2" fmla="*/ 1011379 w 1011379"/>
                <a:gd name="connsiteY2" fmla="*/ 563 h 605727"/>
                <a:gd name="connsiteX3" fmla="*/ 318823 w 1011379"/>
                <a:gd name="connsiteY3" fmla="*/ 553361 h 605727"/>
                <a:gd name="connsiteX4" fmla="*/ 0 w 1011379"/>
                <a:gd name="connsiteY4" fmla="*/ 605727 h 605727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5378281" y="5449835"/>
              <a:ext cx="675485" cy="89677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675040"/>
                <a:gd name="connsiteY0" fmla="*/ 894029 h 896577"/>
                <a:gd name="connsiteX1" fmla="*/ 15664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  <a:gd name="connsiteX0" fmla="*/ 0 w 675040"/>
                <a:gd name="connsiteY0" fmla="*/ 894029 h 896577"/>
                <a:gd name="connsiteX1" fmla="*/ 18662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4340854" y="5470471"/>
              <a:ext cx="514350" cy="401843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7341"/>
                <a:gd name="connsiteX1" fmla="*/ 0 w 514180"/>
                <a:gd name="connsiteY1" fmla="*/ 0 h 577341"/>
                <a:gd name="connsiteX2" fmla="*/ 514180 w 514180"/>
                <a:gd name="connsiteY2" fmla="*/ 10891 h 577341"/>
                <a:gd name="connsiteX3" fmla="*/ 404259 w 514180"/>
                <a:gd name="connsiteY3" fmla="*/ 386400 h 577341"/>
                <a:gd name="connsiteX4" fmla="*/ 135770 w 514180"/>
                <a:gd name="connsiteY4" fmla="*/ 577341 h 577341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02193 h 402193"/>
                <a:gd name="connsiteX1" fmla="*/ 0 w 514180"/>
                <a:gd name="connsiteY1" fmla="*/ 0 h 402193"/>
                <a:gd name="connsiteX2" fmla="*/ 514180 w 514180"/>
                <a:gd name="connsiteY2" fmla="*/ 10891 h 402193"/>
                <a:gd name="connsiteX3" fmla="*/ 404259 w 514180"/>
                <a:gd name="connsiteY3" fmla="*/ 386400 h 402193"/>
                <a:gd name="connsiteX4" fmla="*/ 100781 w 514180"/>
                <a:gd name="connsiteY4" fmla="*/ 402193 h 4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3561391" y="5433960"/>
              <a:ext cx="573725" cy="1015589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  <a:gd name="connsiteX0" fmla="*/ 403236 w 574100"/>
                <a:gd name="connsiteY0" fmla="*/ 1215612 h 1215612"/>
                <a:gd name="connsiteX1" fmla="*/ 0 w 574100"/>
                <a:gd name="connsiteY1" fmla="*/ 4757 h 1215612"/>
                <a:gd name="connsiteX2" fmla="*/ 502783 w 574100"/>
                <a:gd name="connsiteY2" fmla="*/ 0 h 1215612"/>
                <a:gd name="connsiteX3" fmla="*/ 574100 w 574100"/>
                <a:gd name="connsiteY3" fmla="*/ 1014877 h 1215612"/>
                <a:gd name="connsiteX4" fmla="*/ 403236 w 574100"/>
                <a:gd name="connsiteY4" fmla="*/ 1215612 h 1215612"/>
                <a:gd name="connsiteX0" fmla="*/ 333190 w 574100"/>
                <a:gd name="connsiteY0" fmla="*/ 985695 h 1015244"/>
                <a:gd name="connsiteX1" fmla="*/ 0 w 574100"/>
                <a:gd name="connsiteY1" fmla="*/ 4757 h 1015244"/>
                <a:gd name="connsiteX2" fmla="*/ 502783 w 574100"/>
                <a:gd name="connsiteY2" fmla="*/ 0 h 1015244"/>
                <a:gd name="connsiteX3" fmla="*/ 574100 w 574100"/>
                <a:gd name="connsiteY3" fmla="*/ 1014877 h 1015244"/>
                <a:gd name="connsiteX4" fmla="*/ 333190 w 574100"/>
                <a:gd name="connsiteY4" fmla="*/ 985695 h 101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1856416" y="3709935"/>
              <a:ext cx="1049338" cy="1739900"/>
              <a:chOff x="1856416" y="3709935"/>
              <a:chExt cx="1049338" cy="1739900"/>
            </a:xfrm>
          </p:grpSpPr>
          <p:sp>
            <p:nvSpPr>
              <p:cNvPr id="496" name="Rectangle 495"/>
              <p:cNvSpPr/>
              <p:nvPr/>
            </p:nvSpPr>
            <p:spPr bwMode="auto">
              <a:xfrm rot="10800000">
                <a:off x="1867529" y="3957585"/>
                <a:ext cx="1027112" cy="61109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48285" name="Group 498"/>
              <p:cNvGrpSpPr>
                <a:grpSpLocks/>
              </p:cNvGrpSpPr>
              <p:nvPr/>
            </p:nvGrpSpPr>
            <p:grpSpPr bwMode="auto">
              <a:xfrm>
                <a:off x="1858805" y="5088863"/>
                <a:ext cx="1035373" cy="360972"/>
                <a:chOff x="4128636" y="3606589"/>
                <a:chExt cx="568145" cy="338667"/>
              </a:xfrm>
            </p:grpSpPr>
            <p:sp>
              <p:nvSpPr>
                <p:cNvPr id="515" name="Oval 514"/>
                <p:cNvSpPr/>
                <p:nvPr/>
              </p:nvSpPr>
              <p:spPr>
                <a:xfrm>
                  <a:off x="4129067" y="3720356"/>
                  <a:ext cx="567968" cy="224900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6" name="Rectangle 515"/>
                <p:cNvSpPr/>
                <p:nvPr/>
              </p:nvSpPr>
              <p:spPr>
                <a:xfrm>
                  <a:off x="4129067" y="3720356"/>
                  <a:ext cx="567968" cy="111705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7" name="Oval 516"/>
                <p:cNvSpPr/>
                <p:nvPr/>
              </p:nvSpPr>
              <p:spPr>
                <a:xfrm>
                  <a:off x="4129067" y="3607161"/>
                  <a:ext cx="567968" cy="224900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18" name="Straight Connector 517"/>
                <p:cNvCxnSpPr/>
                <p:nvPr/>
              </p:nvCxnSpPr>
              <p:spPr>
                <a:xfrm>
                  <a:off x="4697035" y="3720356"/>
                  <a:ext cx="0" cy="111705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Straight Connector 518"/>
                <p:cNvCxnSpPr/>
                <p:nvPr/>
              </p:nvCxnSpPr>
              <p:spPr>
                <a:xfrm>
                  <a:off x="4129067" y="3720356"/>
                  <a:ext cx="0" cy="111705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0" name="Rectangle 499"/>
              <p:cNvSpPr/>
              <p:nvPr/>
            </p:nvSpPr>
            <p:spPr bwMode="auto">
              <a:xfrm>
                <a:off x="1877054" y="4704509"/>
                <a:ext cx="1028700" cy="52307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02" name="Straight Connector 501"/>
              <p:cNvCxnSpPr/>
              <p:nvPr/>
            </p:nvCxnSpPr>
            <p:spPr bwMode="auto">
              <a:xfrm>
                <a:off x="1861179" y="3981398"/>
                <a:ext cx="17462" cy="13017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Connector 502"/>
              <p:cNvCxnSpPr/>
              <p:nvPr/>
            </p:nvCxnSpPr>
            <p:spPr bwMode="auto">
              <a:xfrm flipH="1">
                <a:off x="2894641" y="3971873"/>
                <a:ext cx="6350" cy="127000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90" name="Group 504"/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4712" cy="399063"/>
                <a:chOff x="2183302" y="1574638"/>
                <a:chExt cx="1200154" cy="430218"/>
              </a:xfrm>
            </p:grpSpPr>
            <p:sp>
              <p:nvSpPr>
                <p:cNvPr id="506" name="Oval 505"/>
                <p:cNvSpPr/>
                <p:nvPr/>
              </p:nvSpPr>
              <p:spPr bwMode="auto">
                <a:xfrm flipV="1">
                  <a:off x="2185126" y="1689305"/>
                  <a:ext cx="1196349" cy="31490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07" name="Rectangle 506"/>
                <p:cNvSpPr/>
                <p:nvPr/>
              </p:nvSpPr>
              <p:spPr bwMode="auto">
                <a:xfrm>
                  <a:off x="2183302" y="1735513"/>
                  <a:ext cx="1198173" cy="11295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08" name="Oval 507"/>
                <p:cNvSpPr/>
                <p:nvPr/>
              </p:nvSpPr>
              <p:spPr bwMode="auto">
                <a:xfrm flipV="1">
                  <a:off x="2183302" y="1574638"/>
                  <a:ext cx="1196349" cy="31490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09" name="Freeform 508"/>
                <p:cNvSpPr/>
                <p:nvPr/>
              </p:nvSpPr>
              <p:spPr bwMode="auto">
                <a:xfrm>
                  <a:off x="2489684" y="1670478"/>
                  <a:ext cx="581762" cy="15745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0" name="Freeform 509"/>
                <p:cNvSpPr/>
                <p:nvPr/>
              </p:nvSpPr>
              <p:spPr bwMode="auto">
                <a:xfrm>
                  <a:off x="2429502" y="1629404"/>
                  <a:ext cx="703949" cy="11124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1" name="Freeform 510"/>
                <p:cNvSpPr/>
                <p:nvPr/>
              </p:nvSpPr>
              <p:spPr bwMode="auto">
                <a:xfrm>
                  <a:off x="2892723" y="1723534"/>
                  <a:ext cx="257142" cy="958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2" name="Freeform 511"/>
                <p:cNvSpPr/>
                <p:nvPr/>
              </p:nvSpPr>
              <p:spPr bwMode="auto">
                <a:xfrm>
                  <a:off x="2416736" y="1725244"/>
                  <a:ext cx="255318" cy="94130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13" name="Straight Connector 512"/>
                <p:cNvCxnSpPr>
                  <a:endCxn id="508" idx="2"/>
                </p:cNvCxnSpPr>
                <p:nvPr/>
              </p:nvCxnSpPr>
              <p:spPr bwMode="auto">
                <a:xfrm flipH="1" flipV="1">
                  <a:off x="2183302" y="1732090"/>
                  <a:ext cx="1824" cy="12151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/>
                <p:cNvCxnSpPr/>
                <p:nvPr/>
              </p:nvCxnSpPr>
              <p:spPr bwMode="auto">
                <a:xfrm flipH="1" flipV="1">
                  <a:off x="3381475" y="1728667"/>
                  <a:ext cx="1823" cy="12151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" name="Group 29"/>
            <p:cNvGrpSpPr/>
            <p:nvPr/>
          </p:nvGrpSpPr>
          <p:grpSpPr>
            <a:xfrm>
              <a:off x="3566154" y="3862335"/>
              <a:ext cx="514350" cy="1670050"/>
              <a:chOff x="3566154" y="3862335"/>
              <a:chExt cx="514350" cy="1670050"/>
            </a:xfrm>
          </p:grpSpPr>
          <p:sp>
            <p:nvSpPr>
              <p:cNvPr id="549" name="Rectangle 548"/>
              <p:cNvSpPr/>
              <p:nvPr/>
            </p:nvSpPr>
            <p:spPr bwMode="auto"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0" name="Straight Connector 549"/>
              <p:cNvCxnSpPr/>
              <p:nvPr/>
            </p:nvCxnSpPr>
            <p:spPr bwMode="auto">
              <a:xfrm flipH="1">
                <a:off x="4078916" y="4019498"/>
                <a:ext cx="1588" cy="13652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71" name="Group 552"/>
              <p:cNvGrpSpPr>
                <a:grpSpLocks/>
              </p:cNvGrpSpPr>
              <p:nvPr/>
            </p:nvGrpSpPr>
            <p:grpSpPr bwMode="auto">
              <a:xfrm>
                <a:off x="3571302" y="5310688"/>
                <a:ext cx="507588" cy="221697"/>
                <a:chOff x="4128636" y="3606589"/>
                <a:chExt cx="568145" cy="338667"/>
              </a:xfrm>
            </p:grpSpPr>
            <p:sp>
              <p:nvSpPr>
                <p:cNvPr id="562" name="Oval 561"/>
                <p:cNvSpPr/>
                <p:nvPr/>
              </p:nvSpPr>
              <p:spPr>
                <a:xfrm>
                  <a:off x="4128204" y="3719724"/>
                  <a:ext cx="568606" cy="225532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63" name="Rectangle 562"/>
                <p:cNvSpPr/>
                <p:nvPr/>
              </p:nvSpPr>
              <p:spPr>
                <a:xfrm>
                  <a:off x="4128204" y="3719724"/>
                  <a:ext cx="568606" cy="111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64" name="Oval 563"/>
                <p:cNvSpPr/>
                <p:nvPr/>
              </p:nvSpPr>
              <p:spPr>
                <a:xfrm>
                  <a:off x="4128204" y="3605744"/>
                  <a:ext cx="568606" cy="225534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65" name="Straight Connector 564"/>
                <p:cNvCxnSpPr/>
                <p:nvPr/>
              </p:nvCxnSpPr>
              <p:spPr>
                <a:xfrm>
                  <a:off x="4696810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/>
                <p:cNvCxnSpPr/>
                <p:nvPr/>
              </p:nvCxnSpPr>
              <p:spPr>
                <a:xfrm>
                  <a:off x="4128204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4" name="Rectangle 553"/>
              <p:cNvSpPr/>
              <p:nvPr/>
            </p:nvSpPr>
            <p:spPr bwMode="auto">
              <a:xfrm>
                <a:off x="3572504" y="4575123"/>
                <a:ext cx="496887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7" name="Straight Connector 556"/>
              <p:cNvCxnSpPr/>
              <p:nvPr/>
            </p:nvCxnSpPr>
            <p:spPr bwMode="auto">
              <a:xfrm flipH="1">
                <a:off x="3566154" y="4027435"/>
                <a:ext cx="3175" cy="145097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57" name="Group 538"/>
              <p:cNvGrpSpPr>
                <a:grpSpLocks/>
              </p:cNvGrpSpPr>
              <p:nvPr/>
            </p:nvGrpSpPr>
            <p:grpSpPr bwMode="auto">
              <a:xfrm>
                <a:off x="3568667" y="38623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540" name="Oval 539"/>
                <p:cNvSpPr/>
                <p:nvPr/>
              </p:nvSpPr>
              <p:spPr bwMode="auto">
                <a:xfrm flipV="1">
                  <a:off x="2188659" y="1691250"/>
                  <a:ext cx="1194966" cy="31254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41" name="Rectangle 540"/>
                <p:cNvSpPr/>
                <p:nvPr/>
              </p:nvSpPr>
              <p:spPr bwMode="auto">
                <a:xfrm>
                  <a:off x="2184879" y="1736302"/>
                  <a:ext cx="1198746" cy="112629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2" name="Oval 541"/>
                <p:cNvSpPr/>
                <p:nvPr/>
              </p:nvSpPr>
              <p:spPr bwMode="auto">
                <a:xfrm flipV="1">
                  <a:off x="2184879" y="1564542"/>
                  <a:ext cx="1194966" cy="31254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43" name="Freeform 542"/>
                <p:cNvSpPr/>
                <p:nvPr/>
              </p:nvSpPr>
              <p:spPr bwMode="auto">
                <a:xfrm>
                  <a:off x="2491182" y="1671539"/>
                  <a:ext cx="582357" cy="1548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4" name="Freeform 543"/>
                <p:cNvSpPr/>
                <p:nvPr/>
              </p:nvSpPr>
              <p:spPr bwMode="auto">
                <a:xfrm>
                  <a:off x="2430678" y="1629304"/>
                  <a:ext cx="703366" cy="109812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5" name="Freeform 544"/>
                <p:cNvSpPr/>
                <p:nvPr/>
              </p:nvSpPr>
              <p:spPr bwMode="auto">
                <a:xfrm>
                  <a:off x="2892025" y="1722222"/>
                  <a:ext cx="260927" cy="9573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46" name="Freeform 545"/>
                <p:cNvSpPr/>
                <p:nvPr/>
              </p:nvSpPr>
              <p:spPr bwMode="auto">
                <a:xfrm>
                  <a:off x="2419334" y="1725039"/>
                  <a:ext cx="253362" cy="95734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47" name="Straight Connector 546"/>
                <p:cNvCxnSpPr>
                  <a:endCxn id="542" idx="2"/>
                </p:cNvCxnSpPr>
                <p:nvPr/>
              </p:nvCxnSpPr>
              <p:spPr bwMode="auto">
                <a:xfrm flipH="1" flipV="1">
                  <a:off x="2184879" y="1722222"/>
                  <a:ext cx="3780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8" name="Straight Connector 547"/>
                <p:cNvCxnSpPr/>
                <p:nvPr/>
              </p:nvCxnSpPr>
              <p:spPr bwMode="auto">
                <a:xfrm flipH="1" flipV="1">
                  <a:off x="3379845" y="1727853"/>
                  <a:ext cx="3780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" name="Group 30"/>
            <p:cNvGrpSpPr/>
            <p:nvPr/>
          </p:nvGrpSpPr>
          <p:grpSpPr>
            <a:xfrm>
              <a:off x="4348791" y="3867098"/>
              <a:ext cx="514350" cy="1670050"/>
              <a:chOff x="4348791" y="3867098"/>
              <a:chExt cx="514350" cy="1670050"/>
            </a:xfrm>
          </p:grpSpPr>
          <p:sp>
            <p:nvSpPr>
              <p:cNvPr id="579" name="Rectangle 578"/>
              <p:cNvSpPr/>
              <p:nvPr/>
            </p:nvSpPr>
            <p:spPr bwMode="auto"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0" name="Straight Connector 579"/>
              <p:cNvCxnSpPr/>
              <p:nvPr/>
            </p:nvCxnSpPr>
            <p:spPr bwMode="auto">
              <a:xfrm flipH="1">
                <a:off x="4861554" y="4024260"/>
                <a:ext cx="1587" cy="13652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43" name="Group 580"/>
              <p:cNvGrpSpPr>
                <a:grpSpLocks/>
              </p:cNvGrpSpPr>
              <p:nvPr/>
            </p:nvGrpSpPr>
            <p:grpSpPr bwMode="auto">
              <a:xfrm>
                <a:off x="4353939" y="5315451"/>
                <a:ext cx="507588" cy="221697"/>
                <a:chOff x="4128636" y="3606589"/>
                <a:chExt cx="568145" cy="338667"/>
              </a:xfrm>
            </p:grpSpPr>
            <p:sp>
              <p:nvSpPr>
                <p:cNvPr id="589" name="Oval 588"/>
                <p:cNvSpPr/>
                <p:nvPr/>
              </p:nvSpPr>
              <p:spPr>
                <a:xfrm>
                  <a:off x="4128205" y="3719722"/>
                  <a:ext cx="568606" cy="225534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0" name="Rectangle 589"/>
                <p:cNvSpPr/>
                <p:nvPr/>
              </p:nvSpPr>
              <p:spPr>
                <a:xfrm>
                  <a:off x="4128205" y="3719722"/>
                  <a:ext cx="568606" cy="111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1" name="Oval 590"/>
                <p:cNvSpPr/>
                <p:nvPr/>
              </p:nvSpPr>
              <p:spPr>
                <a:xfrm>
                  <a:off x="4128205" y="3605744"/>
                  <a:ext cx="568606" cy="22553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92" name="Straight Connector 591"/>
                <p:cNvCxnSpPr/>
                <p:nvPr/>
              </p:nvCxnSpPr>
              <p:spPr>
                <a:xfrm>
                  <a:off x="4696811" y="3719722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592"/>
                <p:cNvCxnSpPr/>
                <p:nvPr/>
              </p:nvCxnSpPr>
              <p:spPr>
                <a:xfrm>
                  <a:off x="4128205" y="3719722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2" name="Rectangle 581"/>
              <p:cNvSpPr/>
              <p:nvPr/>
            </p:nvSpPr>
            <p:spPr bwMode="auto">
              <a:xfrm>
                <a:off x="4355141" y="4579885"/>
                <a:ext cx="496888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4" name="Straight Connector 583"/>
              <p:cNvCxnSpPr/>
              <p:nvPr/>
            </p:nvCxnSpPr>
            <p:spPr bwMode="auto">
              <a:xfrm flipH="1">
                <a:off x="4348791" y="4032198"/>
                <a:ext cx="3175" cy="145097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29" name="Group 568"/>
              <p:cNvGrpSpPr>
                <a:grpSpLocks/>
              </p:cNvGrpSpPr>
              <p:nvPr/>
            </p:nvGrpSpPr>
            <p:grpSpPr bwMode="auto">
              <a:xfrm>
                <a:off x="4351304" y="3867098"/>
                <a:ext cx="503828" cy="248249"/>
                <a:chOff x="2183302" y="1564542"/>
                <a:chExt cx="1200154" cy="440314"/>
              </a:xfrm>
            </p:grpSpPr>
            <p:sp>
              <p:nvSpPr>
                <p:cNvPr id="570" name="Oval 569"/>
                <p:cNvSpPr/>
                <p:nvPr/>
              </p:nvSpPr>
              <p:spPr bwMode="auto">
                <a:xfrm flipV="1">
                  <a:off x="2188662" y="1691248"/>
                  <a:ext cx="1194966" cy="3125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71" name="Rectangle 570"/>
                <p:cNvSpPr/>
                <p:nvPr/>
              </p:nvSpPr>
              <p:spPr bwMode="auto">
                <a:xfrm>
                  <a:off x="2184879" y="1736300"/>
                  <a:ext cx="1198749" cy="112629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2" name="Oval 571"/>
                <p:cNvSpPr/>
                <p:nvPr/>
              </p:nvSpPr>
              <p:spPr bwMode="auto">
                <a:xfrm flipV="1">
                  <a:off x="2184879" y="1564542"/>
                  <a:ext cx="1194966" cy="312543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73" name="Freeform 572"/>
                <p:cNvSpPr/>
                <p:nvPr/>
              </p:nvSpPr>
              <p:spPr bwMode="auto">
                <a:xfrm>
                  <a:off x="2491185" y="1671539"/>
                  <a:ext cx="582357" cy="15486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4" name="Freeform 573"/>
                <p:cNvSpPr/>
                <p:nvPr/>
              </p:nvSpPr>
              <p:spPr bwMode="auto">
                <a:xfrm>
                  <a:off x="2430680" y="1629303"/>
                  <a:ext cx="703366" cy="10981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5" name="Freeform 574"/>
                <p:cNvSpPr/>
                <p:nvPr/>
              </p:nvSpPr>
              <p:spPr bwMode="auto">
                <a:xfrm>
                  <a:off x="2892028" y="1722222"/>
                  <a:ext cx="260925" cy="9573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76" name="Freeform 575"/>
                <p:cNvSpPr/>
                <p:nvPr/>
              </p:nvSpPr>
              <p:spPr bwMode="auto">
                <a:xfrm>
                  <a:off x="2419334" y="1725037"/>
                  <a:ext cx="253364" cy="95734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77" name="Straight Connector 576"/>
                <p:cNvCxnSpPr>
                  <a:endCxn id="572" idx="2"/>
                </p:cNvCxnSpPr>
                <p:nvPr/>
              </p:nvCxnSpPr>
              <p:spPr bwMode="auto">
                <a:xfrm flipH="1" flipV="1">
                  <a:off x="2184879" y="1722222"/>
                  <a:ext cx="3783" cy="121075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Straight Connector 577"/>
                <p:cNvCxnSpPr/>
                <p:nvPr/>
              </p:nvCxnSpPr>
              <p:spPr bwMode="auto">
                <a:xfrm flipH="1" flipV="1">
                  <a:off x="3379845" y="1727853"/>
                  <a:ext cx="3783" cy="121075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258" name="Group 48257"/>
            <p:cNvGrpSpPr/>
            <p:nvPr/>
          </p:nvGrpSpPr>
          <p:grpSpPr>
            <a:xfrm>
              <a:off x="5552116" y="3849635"/>
              <a:ext cx="514350" cy="1670050"/>
              <a:chOff x="5552116" y="3849635"/>
              <a:chExt cx="514350" cy="1670050"/>
            </a:xfrm>
          </p:grpSpPr>
          <p:sp>
            <p:nvSpPr>
              <p:cNvPr id="606" name="Rectangle 605"/>
              <p:cNvSpPr/>
              <p:nvPr/>
            </p:nvSpPr>
            <p:spPr bwMode="auto"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07" name="Straight Connector 606"/>
              <p:cNvCxnSpPr/>
              <p:nvPr/>
            </p:nvCxnSpPr>
            <p:spPr bwMode="auto">
              <a:xfrm flipH="1">
                <a:off x="6064879" y="4006798"/>
                <a:ext cx="1587" cy="136525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15" name="Group 607"/>
              <p:cNvGrpSpPr>
                <a:grpSpLocks/>
              </p:cNvGrpSpPr>
              <p:nvPr/>
            </p:nvGrpSpPr>
            <p:grpSpPr bwMode="auto">
              <a:xfrm>
                <a:off x="5557264" y="5297988"/>
                <a:ext cx="507588" cy="221697"/>
                <a:chOff x="4128636" y="3606589"/>
                <a:chExt cx="568145" cy="338667"/>
              </a:xfrm>
            </p:grpSpPr>
            <p:sp>
              <p:nvSpPr>
                <p:cNvPr id="616" name="Oval 615"/>
                <p:cNvSpPr/>
                <p:nvPr/>
              </p:nvSpPr>
              <p:spPr>
                <a:xfrm>
                  <a:off x="4128205" y="3719724"/>
                  <a:ext cx="568606" cy="225532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17" name="Rectangle 616"/>
                <p:cNvSpPr/>
                <p:nvPr/>
              </p:nvSpPr>
              <p:spPr>
                <a:xfrm>
                  <a:off x="4128205" y="3719724"/>
                  <a:ext cx="568606" cy="111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18" name="Oval 617"/>
                <p:cNvSpPr/>
                <p:nvPr/>
              </p:nvSpPr>
              <p:spPr>
                <a:xfrm>
                  <a:off x="4128205" y="3605744"/>
                  <a:ext cx="568606" cy="225534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19" name="Straight Connector 618"/>
                <p:cNvCxnSpPr/>
                <p:nvPr/>
              </p:nvCxnSpPr>
              <p:spPr>
                <a:xfrm>
                  <a:off x="4696811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0" name="Straight Connector 619"/>
                <p:cNvCxnSpPr/>
                <p:nvPr/>
              </p:nvCxnSpPr>
              <p:spPr>
                <a:xfrm>
                  <a:off x="4128205" y="3719724"/>
                  <a:ext cx="0" cy="11155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9" name="Rectangle 608"/>
              <p:cNvSpPr/>
              <p:nvPr/>
            </p:nvSpPr>
            <p:spPr bwMode="auto">
              <a:xfrm>
                <a:off x="5558466" y="4562423"/>
                <a:ext cx="496888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11" name="Straight Connector 610"/>
              <p:cNvCxnSpPr/>
              <p:nvPr/>
            </p:nvCxnSpPr>
            <p:spPr bwMode="auto">
              <a:xfrm flipH="1">
                <a:off x="5552116" y="4014735"/>
                <a:ext cx="3175" cy="145097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201" name="Group 595"/>
              <p:cNvGrpSpPr>
                <a:grpSpLocks/>
              </p:cNvGrpSpPr>
              <p:nvPr/>
            </p:nvGrpSpPr>
            <p:grpSpPr bwMode="auto">
              <a:xfrm>
                <a:off x="5554629" y="38496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597" name="Oval 596"/>
                <p:cNvSpPr/>
                <p:nvPr/>
              </p:nvSpPr>
              <p:spPr bwMode="auto">
                <a:xfrm flipV="1">
                  <a:off x="2188662" y="1691250"/>
                  <a:ext cx="1194966" cy="31254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98" name="Rectangle 597"/>
                <p:cNvSpPr/>
                <p:nvPr/>
              </p:nvSpPr>
              <p:spPr bwMode="auto">
                <a:xfrm>
                  <a:off x="2184879" y="1736302"/>
                  <a:ext cx="1198749" cy="112629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99" name="Oval 598"/>
                <p:cNvSpPr/>
                <p:nvPr/>
              </p:nvSpPr>
              <p:spPr bwMode="auto">
                <a:xfrm flipV="1">
                  <a:off x="2184879" y="1564542"/>
                  <a:ext cx="1194966" cy="31254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00" name="Freeform 599"/>
                <p:cNvSpPr/>
                <p:nvPr/>
              </p:nvSpPr>
              <p:spPr bwMode="auto">
                <a:xfrm>
                  <a:off x="2491185" y="1671539"/>
                  <a:ext cx="582357" cy="1548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01" name="Freeform 600"/>
                <p:cNvSpPr/>
                <p:nvPr/>
              </p:nvSpPr>
              <p:spPr bwMode="auto">
                <a:xfrm>
                  <a:off x="2430680" y="1629304"/>
                  <a:ext cx="703366" cy="109812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02" name="Freeform 601"/>
                <p:cNvSpPr/>
                <p:nvPr/>
              </p:nvSpPr>
              <p:spPr bwMode="auto">
                <a:xfrm>
                  <a:off x="2892028" y="1722222"/>
                  <a:ext cx="260925" cy="9573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03" name="Freeform 602"/>
                <p:cNvSpPr/>
                <p:nvPr/>
              </p:nvSpPr>
              <p:spPr bwMode="auto">
                <a:xfrm>
                  <a:off x="2419334" y="1725039"/>
                  <a:ext cx="253364" cy="95734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04" name="Straight Connector 603"/>
                <p:cNvCxnSpPr>
                  <a:endCxn id="599" idx="2"/>
                </p:cNvCxnSpPr>
                <p:nvPr/>
              </p:nvCxnSpPr>
              <p:spPr bwMode="auto">
                <a:xfrm flipH="1" flipV="1">
                  <a:off x="2184879" y="1722222"/>
                  <a:ext cx="3783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5" name="Straight Connector 604"/>
                <p:cNvCxnSpPr/>
                <p:nvPr/>
              </p:nvCxnSpPr>
              <p:spPr bwMode="auto">
                <a:xfrm flipH="1" flipV="1">
                  <a:off x="3379845" y="1727853"/>
                  <a:ext cx="3783" cy="121077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259" name="Group 48258"/>
            <p:cNvGrpSpPr/>
            <p:nvPr/>
          </p:nvGrpSpPr>
          <p:grpSpPr>
            <a:xfrm>
              <a:off x="6547479" y="3836935"/>
              <a:ext cx="514350" cy="1671638"/>
              <a:chOff x="6547479" y="3836935"/>
              <a:chExt cx="514350" cy="1671638"/>
            </a:xfrm>
          </p:grpSpPr>
          <p:sp>
            <p:nvSpPr>
              <p:cNvPr id="633" name="Rectangle 632"/>
              <p:cNvSpPr/>
              <p:nvPr/>
            </p:nvSpPr>
            <p:spPr bwMode="auto"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34" name="Straight Connector 633"/>
              <p:cNvCxnSpPr/>
              <p:nvPr/>
            </p:nvCxnSpPr>
            <p:spPr bwMode="auto">
              <a:xfrm flipH="1">
                <a:off x="7060241" y="3994098"/>
                <a:ext cx="1588" cy="136683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187" name="Group 634"/>
              <p:cNvGrpSpPr>
                <a:grpSpLocks/>
              </p:cNvGrpSpPr>
              <p:nvPr/>
            </p:nvGrpSpPr>
            <p:grpSpPr bwMode="auto">
              <a:xfrm>
                <a:off x="6552627" y="5286665"/>
                <a:ext cx="507588" cy="221908"/>
                <a:chOff x="4128636" y="3606589"/>
                <a:chExt cx="568145" cy="338667"/>
              </a:xfrm>
            </p:grpSpPr>
            <p:sp>
              <p:nvSpPr>
                <p:cNvPr id="643" name="Oval 642"/>
                <p:cNvSpPr/>
                <p:nvPr/>
              </p:nvSpPr>
              <p:spPr>
                <a:xfrm>
                  <a:off x="4128204" y="3719937"/>
                  <a:ext cx="568606" cy="225319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44" name="Rectangle 643"/>
                <p:cNvSpPr/>
                <p:nvPr/>
              </p:nvSpPr>
              <p:spPr>
                <a:xfrm>
                  <a:off x="4128204" y="3719937"/>
                  <a:ext cx="568606" cy="111448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45" name="Oval 644"/>
                <p:cNvSpPr/>
                <p:nvPr/>
              </p:nvSpPr>
              <p:spPr>
                <a:xfrm>
                  <a:off x="4128204" y="3606067"/>
                  <a:ext cx="568606" cy="22531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46" name="Straight Connector 645"/>
                <p:cNvCxnSpPr/>
                <p:nvPr/>
              </p:nvCxnSpPr>
              <p:spPr>
                <a:xfrm>
                  <a:off x="4696810" y="3719937"/>
                  <a:ext cx="0" cy="11144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7" name="Straight Connector 646"/>
                <p:cNvCxnSpPr/>
                <p:nvPr/>
              </p:nvCxnSpPr>
              <p:spPr>
                <a:xfrm>
                  <a:off x="4128204" y="3719937"/>
                  <a:ext cx="0" cy="11144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6" name="Rectangle 635"/>
              <p:cNvSpPr/>
              <p:nvPr/>
            </p:nvSpPr>
            <p:spPr bwMode="auto">
              <a:xfrm>
                <a:off x="6553829" y="4551310"/>
                <a:ext cx="496887" cy="81280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38" name="Straight Connector 637"/>
              <p:cNvCxnSpPr/>
              <p:nvPr/>
            </p:nvCxnSpPr>
            <p:spPr bwMode="auto">
              <a:xfrm flipH="1">
                <a:off x="6547479" y="4002035"/>
                <a:ext cx="3175" cy="1452563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173" name="Group 622"/>
              <p:cNvGrpSpPr>
                <a:grpSpLocks/>
              </p:cNvGrpSpPr>
              <p:nvPr/>
            </p:nvGrpSpPr>
            <p:grpSpPr bwMode="auto">
              <a:xfrm>
                <a:off x="6549992" y="3836935"/>
                <a:ext cx="503828" cy="248485"/>
                <a:chOff x="2183302" y="1564542"/>
                <a:chExt cx="1200154" cy="440314"/>
              </a:xfrm>
            </p:grpSpPr>
            <p:sp>
              <p:nvSpPr>
                <p:cNvPr id="624" name="Oval 623"/>
                <p:cNvSpPr/>
                <p:nvPr/>
              </p:nvSpPr>
              <p:spPr bwMode="auto">
                <a:xfrm flipV="1">
                  <a:off x="2188659" y="1691130"/>
                  <a:ext cx="1194966" cy="31506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25" name="Rectangle 624"/>
                <p:cNvSpPr/>
                <p:nvPr/>
              </p:nvSpPr>
              <p:spPr bwMode="auto">
                <a:xfrm>
                  <a:off x="2184879" y="1736138"/>
                  <a:ext cx="1198746" cy="112522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26" name="Oval 625"/>
                <p:cNvSpPr/>
                <p:nvPr/>
              </p:nvSpPr>
              <p:spPr bwMode="auto">
                <a:xfrm flipV="1">
                  <a:off x="2184879" y="1564542"/>
                  <a:ext cx="1194966" cy="31506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27" name="Freeform 626"/>
                <p:cNvSpPr/>
                <p:nvPr/>
              </p:nvSpPr>
              <p:spPr bwMode="auto">
                <a:xfrm>
                  <a:off x="2491182" y="1671438"/>
                  <a:ext cx="582357" cy="15753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28" name="Freeform 627"/>
                <p:cNvSpPr/>
                <p:nvPr/>
              </p:nvSpPr>
              <p:spPr bwMode="auto">
                <a:xfrm>
                  <a:off x="2430678" y="1629243"/>
                  <a:ext cx="703366" cy="112522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29" name="Freeform 628"/>
                <p:cNvSpPr/>
                <p:nvPr/>
              </p:nvSpPr>
              <p:spPr bwMode="auto">
                <a:xfrm>
                  <a:off x="2892025" y="1724886"/>
                  <a:ext cx="260927" cy="956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630" name="Freeform 629"/>
                <p:cNvSpPr/>
                <p:nvPr/>
              </p:nvSpPr>
              <p:spPr bwMode="auto">
                <a:xfrm>
                  <a:off x="2419334" y="1727698"/>
                  <a:ext cx="253362" cy="92831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31" name="Straight Connector 630"/>
                <p:cNvCxnSpPr>
                  <a:endCxn id="626" idx="2"/>
                </p:cNvCxnSpPr>
                <p:nvPr/>
              </p:nvCxnSpPr>
              <p:spPr bwMode="auto">
                <a:xfrm flipH="1" flipV="1">
                  <a:off x="2184879" y="1722072"/>
                  <a:ext cx="3780" cy="12096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2" name="Straight Connector 631"/>
                <p:cNvCxnSpPr/>
                <p:nvPr/>
              </p:nvCxnSpPr>
              <p:spPr bwMode="auto">
                <a:xfrm flipH="1" flipV="1">
                  <a:off x="3379845" y="1730512"/>
                  <a:ext cx="3780" cy="12096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8" name="Group 27"/>
          <p:cNvGrpSpPr/>
          <p:nvPr/>
        </p:nvGrpSpPr>
        <p:grpSpPr>
          <a:xfrm>
            <a:off x="2381956" y="2475925"/>
            <a:ext cx="4415330" cy="2315048"/>
            <a:chOff x="2381956" y="2435173"/>
            <a:chExt cx="4415330" cy="2315048"/>
          </a:xfrm>
        </p:grpSpPr>
        <p:sp>
          <p:nvSpPr>
            <p:cNvPr id="391" name="Freeform 390"/>
            <p:cNvSpPr/>
            <p:nvPr/>
          </p:nvSpPr>
          <p:spPr>
            <a:xfrm>
              <a:off x="2381956" y="2439629"/>
              <a:ext cx="297540" cy="1743187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015941"/>
                <a:gd name="connsiteX1" fmla="*/ 0 w 307275"/>
                <a:gd name="connsiteY1" fmla="*/ 0 h 2015941"/>
                <a:gd name="connsiteX2" fmla="*/ 0 w 307275"/>
                <a:gd name="connsiteY2" fmla="*/ 2015941 h 2015941"/>
                <a:gd name="connsiteX0" fmla="*/ 228538 w 228538"/>
                <a:gd name="connsiteY0" fmla="*/ 0 h 2022548"/>
                <a:gd name="connsiteX1" fmla="*/ 0 w 228538"/>
                <a:gd name="connsiteY1" fmla="*/ 6607 h 2022548"/>
                <a:gd name="connsiteX2" fmla="*/ 0 w 228538"/>
                <a:gd name="connsiteY2" fmla="*/ 2022548 h 202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CC0000"/>
                </a:solidFill>
              </a:endParaRPr>
            </a:p>
          </p:txBody>
        </p:sp>
        <p:sp>
          <p:nvSpPr>
            <p:cNvPr id="392" name="Freeform 391"/>
            <p:cNvSpPr/>
            <p:nvPr/>
          </p:nvSpPr>
          <p:spPr>
            <a:xfrm flipH="1">
              <a:off x="6411524" y="2435173"/>
              <a:ext cx="385762" cy="2300562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117725"/>
                <a:gd name="connsiteX1" fmla="*/ 0 w 307275"/>
                <a:gd name="connsiteY1" fmla="*/ 0 h 2117725"/>
                <a:gd name="connsiteX2" fmla="*/ 0 w 307275"/>
                <a:gd name="connsiteY2" fmla="*/ 2117725 h 211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393" name="Straight Arrow Connector 392"/>
            <p:cNvCxnSpPr/>
            <p:nvPr/>
          </p:nvCxnSpPr>
          <p:spPr>
            <a:xfrm flipV="1">
              <a:off x="5791457" y="2687586"/>
              <a:ext cx="8309" cy="2062635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/>
            <p:cNvCxnSpPr/>
            <p:nvPr/>
          </p:nvCxnSpPr>
          <p:spPr>
            <a:xfrm flipV="1">
              <a:off x="4598735" y="2708225"/>
              <a:ext cx="18344" cy="2037167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Arrow Connector 394"/>
            <p:cNvCxnSpPr/>
            <p:nvPr/>
          </p:nvCxnSpPr>
          <p:spPr>
            <a:xfrm flipH="1" flipV="1">
              <a:off x="3807455" y="2762199"/>
              <a:ext cx="9009" cy="1983193"/>
            </a:xfrm>
            <a:prstGeom prst="straightConnector1">
              <a:avLst/>
            </a:prstGeom>
            <a:ln w="3175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78219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Recall: logically </a:t>
            </a:r>
            <a:r>
              <a:rPr lang="en-US" sz="3600" dirty="0">
                <a:solidFill>
                  <a:srgbClr val="000099"/>
                </a:solidFill>
                <a:latin typeface="Gill Sans MT" charset="0"/>
              </a:rPr>
              <a:t>centralized </a:t>
            </a:r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control plane</a:t>
            </a:r>
            <a:endParaRPr lang="en-US" sz="3600" dirty="0">
              <a:solidFill>
                <a:srgbClr val="000099"/>
              </a:solidFill>
              <a:latin typeface="Gill Sans MT" charset="0"/>
            </a:endParaRPr>
          </a:p>
        </p:txBody>
      </p:sp>
      <p:pic>
        <p:nvPicPr>
          <p:cNvPr id="48170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776288"/>
            <a:ext cx="7604777" cy="172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71" name="TextBox 335"/>
          <p:cNvSpPr txBox="1">
            <a:spLocks noChangeArrowheads="1"/>
          </p:cNvSpPr>
          <p:nvPr/>
        </p:nvSpPr>
        <p:spPr bwMode="auto">
          <a:xfrm>
            <a:off x="394448" y="1039914"/>
            <a:ext cx="84566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dirty="0" smtClean="0"/>
              <a:t>A distinct</a:t>
            </a:r>
            <a:r>
              <a:rPr lang="en-US" dirty="0"/>
              <a:t> </a:t>
            </a:r>
            <a:r>
              <a:rPr lang="en-US" dirty="0" smtClean="0"/>
              <a:t>(typically remote) controller </a:t>
            </a:r>
            <a:r>
              <a:rPr lang="en-US" dirty="0"/>
              <a:t>interacts with local control agents (</a:t>
            </a:r>
            <a:r>
              <a:rPr lang="en-US" dirty="0" smtClean="0"/>
              <a:t>CAs) in routers to compute forwarding tables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2055910" y="4687854"/>
            <a:ext cx="4956877" cy="694339"/>
            <a:chOff x="2055070" y="4690247"/>
            <a:chExt cx="4956877" cy="694339"/>
          </a:xfrm>
        </p:grpSpPr>
        <p:grpSp>
          <p:nvGrpSpPr>
            <p:cNvPr id="48273" name="Group 554"/>
            <p:cNvGrpSpPr>
              <a:grpSpLocks/>
            </p:cNvGrpSpPr>
            <p:nvPr/>
          </p:nvGrpSpPr>
          <p:grpSpPr bwMode="auto">
            <a:xfrm>
              <a:off x="3605320" y="5055434"/>
              <a:ext cx="430131" cy="329152"/>
              <a:chOff x="2931664" y="3912603"/>
              <a:chExt cx="430450" cy="329314"/>
            </a:xfrm>
          </p:grpSpPr>
          <p:sp>
            <p:nvSpPr>
              <p:cNvPr id="558" name="Rectangle 557"/>
              <p:cNvSpPr/>
              <p:nvPr/>
            </p:nvSpPr>
            <p:spPr>
              <a:xfrm>
                <a:off x="2936952" y="3913304"/>
                <a:ext cx="425766" cy="32877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59" name="Straight Connector 558"/>
              <p:cNvCxnSpPr/>
              <p:nvPr/>
            </p:nvCxnSpPr>
            <p:spPr>
              <a:xfrm>
                <a:off x="2932185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Straight Connector 559"/>
              <p:cNvCxnSpPr/>
              <p:nvPr/>
            </p:nvCxnSpPr>
            <p:spPr>
              <a:xfrm>
                <a:off x="2932185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Straight Connector 560"/>
              <p:cNvCxnSpPr>
                <a:stCxn id="558" idx="2"/>
              </p:cNvCxnSpPr>
              <p:nvPr/>
            </p:nvCxnSpPr>
            <p:spPr>
              <a:xfrm flipH="1" flipV="1">
                <a:off x="3148246" y="4005425"/>
                <a:ext cx="1589" cy="23665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245" name="Group 582"/>
            <p:cNvGrpSpPr>
              <a:grpSpLocks/>
            </p:cNvGrpSpPr>
            <p:nvPr/>
          </p:nvGrpSpPr>
          <p:grpSpPr bwMode="auto">
            <a:xfrm>
              <a:off x="4387957" y="5055368"/>
              <a:ext cx="430131" cy="329152"/>
              <a:chOff x="2931664" y="3912603"/>
              <a:chExt cx="430450" cy="329314"/>
            </a:xfrm>
          </p:grpSpPr>
          <p:sp>
            <p:nvSpPr>
              <p:cNvPr id="585" name="Rectangle 584"/>
              <p:cNvSpPr/>
              <p:nvPr/>
            </p:nvSpPr>
            <p:spPr>
              <a:xfrm>
                <a:off x="2936952" y="3913304"/>
                <a:ext cx="425766" cy="3287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86" name="Straight Connector 585"/>
              <p:cNvCxnSpPr/>
              <p:nvPr/>
            </p:nvCxnSpPr>
            <p:spPr>
              <a:xfrm>
                <a:off x="2932186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Straight Connector 586"/>
              <p:cNvCxnSpPr/>
              <p:nvPr/>
            </p:nvCxnSpPr>
            <p:spPr>
              <a:xfrm>
                <a:off x="2932186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Straight Connector 587"/>
              <p:cNvCxnSpPr>
                <a:stCxn id="585" idx="2"/>
              </p:cNvCxnSpPr>
              <p:nvPr/>
            </p:nvCxnSpPr>
            <p:spPr>
              <a:xfrm flipH="1" flipV="1">
                <a:off x="3148247" y="4005425"/>
                <a:ext cx="1588" cy="236653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217" name="Group 609"/>
            <p:cNvGrpSpPr>
              <a:grpSpLocks/>
            </p:cNvGrpSpPr>
            <p:nvPr/>
          </p:nvGrpSpPr>
          <p:grpSpPr bwMode="auto">
            <a:xfrm>
              <a:off x="5591804" y="5053093"/>
              <a:ext cx="430212" cy="328614"/>
              <a:chOff x="2932186" y="3913304"/>
              <a:chExt cx="430531" cy="328775"/>
            </a:xfrm>
          </p:grpSpPr>
          <p:sp>
            <p:nvSpPr>
              <p:cNvPr id="612" name="Rectangle 611"/>
              <p:cNvSpPr/>
              <p:nvPr/>
            </p:nvSpPr>
            <p:spPr>
              <a:xfrm>
                <a:off x="2936952" y="3913304"/>
                <a:ext cx="425765" cy="3287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13" name="Straight Connector 612"/>
              <p:cNvCxnSpPr/>
              <p:nvPr/>
            </p:nvCxnSpPr>
            <p:spPr>
              <a:xfrm>
                <a:off x="2932186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13"/>
              <p:cNvCxnSpPr/>
              <p:nvPr/>
            </p:nvCxnSpPr>
            <p:spPr>
              <a:xfrm>
                <a:off x="2932186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14"/>
              <p:cNvCxnSpPr>
                <a:stCxn id="612" idx="2"/>
              </p:cNvCxnSpPr>
              <p:nvPr/>
            </p:nvCxnSpPr>
            <p:spPr>
              <a:xfrm flipH="1" flipV="1">
                <a:off x="3148247" y="4005425"/>
                <a:ext cx="1588" cy="23665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189" name="Group 636"/>
            <p:cNvGrpSpPr>
              <a:grpSpLocks/>
            </p:cNvGrpSpPr>
            <p:nvPr/>
          </p:nvGrpSpPr>
          <p:grpSpPr bwMode="auto">
            <a:xfrm>
              <a:off x="6581816" y="5045656"/>
              <a:ext cx="430131" cy="329465"/>
              <a:chOff x="2931664" y="3912603"/>
              <a:chExt cx="430450" cy="329314"/>
            </a:xfrm>
          </p:grpSpPr>
          <p:sp>
            <p:nvSpPr>
              <p:cNvPr id="639" name="Rectangle 638"/>
              <p:cNvSpPr/>
              <p:nvPr/>
            </p:nvSpPr>
            <p:spPr>
              <a:xfrm>
                <a:off x="2936952" y="3912169"/>
                <a:ext cx="425766" cy="33004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40" name="Straight Connector 639"/>
              <p:cNvCxnSpPr/>
              <p:nvPr/>
            </p:nvCxnSpPr>
            <p:spPr>
              <a:xfrm>
                <a:off x="2932185" y="4004202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1" name="Straight Connector 640"/>
              <p:cNvCxnSpPr/>
              <p:nvPr/>
            </p:nvCxnSpPr>
            <p:spPr>
              <a:xfrm>
                <a:off x="2932185" y="4067673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Straight Connector 641"/>
              <p:cNvCxnSpPr>
                <a:stCxn id="639" idx="2"/>
              </p:cNvCxnSpPr>
              <p:nvPr/>
            </p:nvCxnSpPr>
            <p:spPr>
              <a:xfrm flipH="1" flipV="1">
                <a:off x="3148246" y="4004202"/>
                <a:ext cx="1589" cy="238016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7" name="Group 554"/>
            <p:cNvGrpSpPr>
              <a:grpSpLocks/>
            </p:cNvGrpSpPr>
            <p:nvPr/>
          </p:nvGrpSpPr>
          <p:grpSpPr bwMode="auto">
            <a:xfrm>
              <a:off x="2055070" y="4690247"/>
              <a:ext cx="675320" cy="521222"/>
              <a:chOff x="2931664" y="3912603"/>
              <a:chExt cx="430450" cy="329314"/>
            </a:xfrm>
          </p:grpSpPr>
          <p:sp>
            <p:nvSpPr>
              <p:cNvPr id="358" name="Rectangle 357"/>
              <p:cNvSpPr/>
              <p:nvPr/>
            </p:nvSpPr>
            <p:spPr>
              <a:xfrm>
                <a:off x="2936952" y="3913304"/>
                <a:ext cx="425766" cy="32877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59" name="Straight Connector 358"/>
              <p:cNvCxnSpPr/>
              <p:nvPr/>
            </p:nvCxnSpPr>
            <p:spPr>
              <a:xfrm>
                <a:off x="2932185" y="4005425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/>
              <p:cNvCxnSpPr/>
              <p:nvPr/>
            </p:nvCxnSpPr>
            <p:spPr>
              <a:xfrm>
                <a:off x="2932185" y="4068956"/>
                <a:ext cx="425766" cy="0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/>
              <p:cNvCxnSpPr>
                <a:stCxn id="358" idx="2"/>
              </p:cNvCxnSpPr>
              <p:nvPr/>
            </p:nvCxnSpPr>
            <p:spPr>
              <a:xfrm flipH="1" flipV="1">
                <a:off x="3148246" y="4005425"/>
                <a:ext cx="1589" cy="236654"/>
              </a:xfrm>
              <a:prstGeom prst="line">
                <a:avLst/>
              </a:prstGeom>
              <a:ln w="3175">
                <a:solidFill>
                  <a:srgbClr val="CC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2" name="Group 347"/>
          <p:cNvGrpSpPr>
            <a:grpSpLocks/>
          </p:cNvGrpSpPr>
          <p:nvPr/>
        </p:nvGrpSpPr>
        <p:grpSpPr bwMode="auto">
          <a:xfrm>
            <a:off x="5856401" y="5944266"/>
            <a:ext cx="588970" cy="242608"/>
            <a:chOff x="1871277" y="1576300"/>
            <a:chExt cx="1128371" cy="437861"/>
          </a:xfrm>
        </p:grpSpPr>
        <p:sp>
          <p:nvSpPr>
            <p:cNvPr id="363" name="Oval 362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4" name="Rectangle 363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5" name="Oval 364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6" name="Freeform 365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7" name="Freeform 366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8" name="Freeform 367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9" name="Freeform 368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70" name="Straight Connector 369"/>
            <p:cNvCxnSpPr>
              <a:endCxn id="365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oup 347"/>
          <p:cNvGrpSpPr>
            <a:grpSpLocks/>
          </p:cNvGrpSpPr>
          <p:nvPr/>
        </p:nvGrpSpPr>
        <p:grpSpPr bwMode="auto">
          <a:xfrm>
            <a:off x="4375328" y="5802169"/>
            <a:ext cx="588970" cy="242608"/>
            <a:chOff x="1871277" y="1576300"/>
            <a:chExt cx="1128371" cy="437861"/>
          </a:xfrm>
        </p:grpSpPr>
        <p:sp>
          <p:nvSpPr>
            <p:cNvPr id="373" name="Oval 372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4" name="Rectangle 373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5" name="Oval 374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6" name="Freeform 375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7" name="Freeform 376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8" name="Freeform 377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9" name="Freeform 378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80" name="Straight Connector 379"/>
            <p:cNvCxnSpPr>
              <a:endCxn id="375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2" name="Group 347"/>
          <p:cNvGrpSpPr>
            <a:grpSpLocks/>
          </p:cNvGrpSpPr>
          <p:nvPr/>
        </p:nvGrpSpPr>
        <p:grpSpPr bwMode="auto">
          <a:xfrm>
            <a:off x="2848241" y="5995982"/>
            <a:ext cx="588970" cy="242608"/>
            <a:chOff x="1871277" y="1576300"/>
            <a:chExt cx="1128371" cy="437861"/>
          </a:xfrm>
        </p:grpSpPr>
        <p:sp>
          <p:nvSpPr>
            <p:cNvPr id="383" name="Oval 382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84" name="Rectangle 383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5" name="Oval 384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86" name="Freeform 385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7" name="Freeform 386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0" name="Freeform 38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7" name="Freeform 396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99" name="Straight Connector 398"/>
            <p:cNvCxnSpPr>
              <a:endCxn id="385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Group 347"/>
          <p:cNvGrpSpPr>
            <a:grpSpLocks/>
          </p:cNvGrpSpPr>
          <p:nvPr/>
        </p:nvGrpSpPr>
        <p:grpSpPr bwMode="auto">
          <a:xfrm>
            <a:off x="5166757" y="6262321"/>
            <a:ext cx="588970" cy="242608"/>
            <a:chOff x="1871277" y="1576300"/>
            <a:chExt cx="1128371" cy="437861"/>
          </a:xfrm>
        </p:grpSpPr>
        <p:sp>
          <p:nvSpPr>
            <p:cNvPr id="402" name="Oval 4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07" name="Rectangle 406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12" name="Oval 411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17" name="Freeform 416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2" name="Freeform 421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7" name="Freeform 42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8" name="Freeform 42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429" name="Straight Connector 428"/>
            <p:cNvCxnSpPr>
              <a:endCxn id="412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1" name="Group 347"/>
          <p:cNvGrpSpPr>
            <a:grpSpLocks/>
          </p:cNvGrpSpPr>
          <p:nvPr/>
        </p:nvGrpSpPr>
        <p:grpSpPr bwMode="auto">
          <a:xfrm>
            <a:off x="3704088" y="6354901"/>
            <a:ext cx="588970" cy="242608"/>
            <a:chOff x="1871277" y="1576300"/>
            <a:chExt cx="1128371" cy="437861"/>
          </a:xfrm>
        </p:grpSpPr>
        <p:sp>
          <p:nvSpPr>
            <p:cNvPr id="432" name="Oval 43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3" name="Rectangle 43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4" name="Oval 43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5" name="Freeform 43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6" name="Freeform 43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7" name="Freeform 43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8" name="Freeform 43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439" name="Straight Connector 438"/>
            <p:cNvCxnSpPr>
              <a:endCxn id="43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25875" y="2220187"/>
            <a:ext cx="5095391" cy="2833288"/>
            <a:chOff x="1925876" y="2212958"/>
            <a:chExt cx="5095391" cy="2833288"/>
          </a:xfrm>
        </p:grpSpPr>
        <p:grpSp>
          <p:nvGrpSpPr>
            <p:cNvPr id="12" name="Group 11"/>
            <p:cNvGrpSpPr/>
            <p:nvPr/>
          </p:nvGrpSpPr>
          <p:grpSpPr>
            <a:xfrm>
              <a:off x="2745416" y="2212958"/>
              <a:ext cx="3597533" cy="493677"/>
              <a:chOff x="2705100" y="2011398"/>
              <a:chExt cx="3597533" cy="493677"/>
            </a:xfrm>
          </p:grpSpPr>
          <p:sp>
            <p:nvSpPr>
              <p:cNvPr id="342" name="Oval 341"/>
              <p:cNvSpPr/>
              <p:nvPr/>
            </p:nvSpPr>
            <p:spPr bwMode="auto">
              <a:xfrm>
                <a:off x="2722820" y="2011398"/>
                <a:ext cx="3579813" cy="492125"/>
              </a:xfrm>
              <a:prstGeom prst="ellipse">
                <a:avLst/>
              </a:prstGeom>
              <a:solidFill>
                <a:schemeClr val="bg1">
                  <a:alpha val="42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89" name="Oval 388"/>
              <p:cNvSpPr/>
              <p:nvPr/>
            </p:nvSpPr>
            <p:spPr bwMode="auto">
              <a:xfrm>
                <a:off x="2705100" y="2012950"/>
                <a:ext cx="3579813" cy="492125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8308" name="TextBox 389"/>
              <p:cNvSpPr txBox="1">
                <a:spLocks noChangeArrowheads="1"/>
              </p:cNvSpPr>
              <p:nvPr/>
            </p:nvSpPr>
            <p:spPr bwMode="auto">
              <a:xfrm>
                <a:off x="3452664" y="2127167"/>
                <a:ext cx="2057700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800" dirty="0">
                    <a:solidFill>
                      <a:schemeClr val="bg1"/>
                    </a:solidFill>
                  </a:rPr>
                  <a:t>Remote Controller</a:t>
                </a:r>
              </a:p>
            </p:txBody>
          </p:sp>
        </p:grpSp>
        <p:grpSp>
          <p:nvGrpSpPr>
            <p:cNvPr id="442" name="Group 441"/>
            <p:cNvGrpSpPr/>
            <p:nvPr/>
          </p:nvGrpSpPr>
          <p:grpSpPr>
            <a:xfrm>
              <a:off x="1925876" y="4223509"/>
              <a:ext cx="923540" cy="405953"/>
              <a:chOff x="2705100" y="2011398"/>
              <a:chExt cx="3597533" cy="493677"/>
            </a:xfrm>
          </p:grpSpPr>
          <p:sp>
            <p:nvSpPr>
              <p:cNvPr id="443" name="Oval 442"/>
              <p:cNvSpPr/>
              <p:nvPr/>
            </p:nvSpPr>
            <p:spPr bwMode="auto">
              <a:xfrm>
                <a:off x="2722820" y="2011398"/>
                <a:ext cx="3579813" cy="492125"/>
              </a:xfrm>
              <a:prstGeom prst="ellipse">
                <a:avLst/>
              </a:prstGeom>
              <a:solidFill>
                <a:schemeClr val="bg1">
                  <a:alpha val="42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4" name="Oval 443"/>
              <p:cNvSpPr/>
              <p:nvPr/>
            </p:nvSpPr>
            <p:spPr bwMode="auto">
              <a:xfrm>
                <a:off x="2705100" y="2012950"/>
                <a:ext cx="3579813" cy="492125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5" name="TextBox 389"/>
              <p:cNvSpPr txBox="1">
                <a:spLocks noChangeArrowheads="1"/>
              </p:cNvSpPr>
              <p:nvPr/>
            </p:nvSpPr>
            <p:spPr bwMode="auto"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800" dirty="0" smtClean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3589508" y="4760377"/>
              <a:ext cx="463568" cy="285869"/>
              <a:chOff x="3558850" y="4573304"/>
              <a:chExt cx="463568" cy="285869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47" name="Oval 446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8" name="Oval 447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49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 smtClean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1" name="Group 450"/>
            <p:cNvGrpSpPr/>
            <p:nvPr/>
          </p:nvGrpSpPr>
          <p:grpSpPr>
            <a:xfrm>
              <a:off x="4369656" y="4758258"/>
              <a:ext cx="463568" cy="285869"/>
              <a:chOff x="3558850" y="4573304"/>
              <a:chExt cx="463568" cy="285869"/>
            </a:xfrm>
          </p:grpSpPr>
          <p:grpSp>
            <p:nvGrpSpPr>
              <p:cNvPr id="452" name="Group 451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54" name="Oval 453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5" name="Oval 454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53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 smtClean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56" name="Group 455"/>
            <p:cNvGrpSpPr/>
            <p:nvPr/>
          </p:nvGrpSpPr>
          <p:grpSpPr>
            <a:xfrm>
              <a:off x="5569912" y="4756140"/>
              <a:ext cx="463568" cy="285869"/>
              <a:chOff x="3558850" y="4573304"/>
              <a:chExt cx="463568" cy="285869"/>
            </a:xfrm>
          </p:grpSpPr>
          <p:grpSp>
            <p:nvGrpSpPr>
              <p:cNvPr id="457" name="Group 456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59" name="Oval 458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0" name="Oval 459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58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 smtClean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61" name="Group 460"/>
            <p:cNvGrpSpPr/>
            <p:nvPr/>
          </p:nvGrpSpPr>
          <p:grpSpPr>
            <a:xfrm>
              <a:off x="6557699" y="4754022"/>
              <a:ext cx="463568" cy="285869"/>
              <a:chOff x="3558850" y="4573304"/>
              <a:chExt cx="463568" cy="285869"/>
            </a:xfrm>
          </p:grpSpPr>
          <p:grpSp>
            <p:nvGrpSpPr>
              <p:cNvPr id="462" name="Group 461"/>
              <p:cNvGrpSpPr/>
              <p:nvPr/>
            </p:nvGrpSpPr>
            <p:grpSpPr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464" name="Oval 463"/>
                <p:cNvSpPr/>
                <p:nvPr/>
              </p:nvSpPr>
              <p:spPr bwMode="auto">
                <a:xfrm>
                  <a:off x="3573337" y="4577634"/>
                  <a:ext cx="439424" cy="261732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5" name="Oval 464"/>
                <p:cNvSpPr/>
                <p:nvPr/>
              </p:nvSpPr>
              <p:spPr bwMode="auto">
                <a:xfrm>
                  <a:off x="3558850" y="4587291"/>
                  <a:ext cx="463568" cy="253053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463" name="TextBox 389"/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75"/>
                  </a:lnSpc>
                </a:pPr>
                <a:r>
                  <a:rPr lang="en-US" sz="1400" dirty="0" smtClean="0">
                    <a:solidFill>
                      <a:schemeClr val="bg1"/>
                    </a:solidFill>
                  </a:rPr>
                  <a:t>CA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6"/>
            <a:ext cx="687845" cy="27118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46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651760" y="3017520"/>
            <a:ext cx="3972560" cy="2032000"/>
            <a:chOff x="2651760" y="3017520"/>
            <a:chExt cx="3972560" cy="2032000"/>
          </a:xfrm>
        </p:grpSpPr>
        <p:cxnSp>
          <p:nvCxnSpPr>
            <p:cNvPr id="338" name="Straight Arrow Connector 337"/>
            <p:cNvCxnSpPr/>
            <p:nvPr/>
          </p:nvCxnSpPr>
          <p:spPr bwMode="auto">
            <a:xfrm>
              <a:off x="2651760" y="3017520"/>
              <a:ext cx="0" cy="166624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Arrow Connector 342"/>
            <p:cNvCxnSpPr/>
            <p:nvPr/>
          </p:nvCxnSpPr>
          <p:spPr bwMode="auto">
            <a:xfrm>
              <a:off x="364744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Arrow Connector 346"/>
            <p:cNvCxnSpPr/>
            <p:nvPr/>
          </p:nvCxnSpPr>
          <p:spPr bwMode="auto">
            <a:xfrm>
              <a:off x="446024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Arrow Connector 347"/>
            <p:cNvCxnSpPr/>
            <p:nvPr/>
          </p:nvCxnSpPr>
          <p:spPr bwMode="auto">
            <a:xfrm>
              <a:off x="565912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Arrow Connector 348"/>
            <p:cNvCxnSpPr/>
            <p:nvPr/>
          </p:nvCxnSpPr>
          <p:spPr bwMode="auto">
            <a:xfrm>
              <a:off x="6624320" y="3017520"/>
              <a:ext cx="0" cy="2032000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193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69218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Software defined networking (SDN)</a:t>
            </a:r>
            <a:endParaRPr lang="en-US" sz="3600" dirty="0">
              <a:solidFill>
                <a:srgbClr val="000099"/>
              </a:solidFill>
              <a:latin typeface="Gill Sans MT" charset="0"/>
            </a:endParaRPr>
          </a:p>
        </p:txBody>
      </p:sp>
      <p:pic>
        <p:nvPicPr>
          <p:cNvPr id="48170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776288"/>
            <a:ext cx="6422481" cy="208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1426" y="1282678"/>
            <a:ext cx="8148587" cy="46482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i="1" dirty="0">
                <a:solidFill>
                  <a:srgbClr val="CC0000"/>
                </a:solidFill>
              </a:rPr>
              <a:t>W</a:t>
            </a:r>
            <a:r>
              <a:rPr lang="en-US" i="1" dirty="0" smtClean="0">
                <a:solidFill>
                  <a:srgbClr val="CC0000"/>
                </a:solidFill>
              </a:rPr>
              <a:t>hy</a:t>
            </a:r>
            <a:r>
              <a:rPr lang="en-US" dirty="0" smtClean="0">
                <a:solidFill>
                  <a:srgbClr val="CC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dirty="0" smtClean="0">
                <a:solidFill>
                  <a:srgbClr val="CC0000"/>
                </a:solidFill>
              </a:rPr>
              <a:t> </a:t>
            </a:r>
            <a:r>
              <a:rPr lang="en-US" i="1" dirty="0" smtClean="0">
                <a:solidFill>
                  <a:srgbClr val="CC0000"/>
                </a:solidFill>
              </a:rPr>
              <a:t>logically centralized </a:t>
            </a:r>
            <a:r>
              <a:rPr lang="en-US" dirty="0" smtClean="0">
                <a:solidFill>
                  <a:srgbClr val="000000"/>
                </a:solidFill>
              </a:rPr>
              <a:t>control plane?</a:t>
            </a:r>
            <a:endParaRPr lang="en-US" dirty="0">
              <a:solidFill>
                <a:srgbClr val="000000"/>
              </a:solidFill>
            </a:endParaRPr>
          </a:p>
          <a:p>
            <a:pPr marL="635000" indent="-400050"/>
            <a:r>
              <a:rPr lang="en-US" dirty="0" smtClean="0"/>
              <a:t>easier network management: avoid router misconfigurations, greater flexibility of traffic flows</a:t>
            </a:r>
          </a:p>
          <a:p>
            <a:pPr marL="635000" indent="-400050"/>
            <a:r>
              <a:rPr lang="en-US" dirty="0" smtClean="0"/>
              <a:t>table-based forwarding (recall OpenFlow API) allows “programming” routers</a:t>
            </a:r>
          </a:p>
          <a:p>
            <a:pPr marL="1035050" lvl="1" indent="-400050"/>
            <a:r>
              <a:rPr lang="en-US" dirty="0" smtClean="0"/>
              <a:t>centralized “programming” easier: compute tables centrally and distribute</a:t>
            </a:r>
          </a:p>
          <a:p>
            <a:pPr marL="1035050" lvl="1" indent="-400050"/>
            <a:r>
              <a:rPr lang="en-US" dirty="0" smtClean="0"/>
              <a:t>distributed “programming: more </a:t>
            </a:r>
            <a:r>
              <a:rPr lang="en-US" dirty="0" smtClean="0"/>
              <a:t>difficult - </a:t>
            </a:r>
            <a:r>
              <a:rPr lang="en-US" dirty="0" smtClean="0"/>
              <a:t>compute tables as result of distributed algorithm (protocol) implemented in each and every router </a:t>
            </a:r>
          </a:p>
          <a:p>
            <a:pPr marL="635000" indent="-400050"/>
            <a:r>
              <a:rPr lang="en-US" dirty="0" smtClean="0"/>
              <a:t>open (non-proprietary) implementation of control plane</a:t>
            </a:r>
          </a:p>
          <a:p>
            <a:pPr marL="635000" indent="-400050"/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687845" cy="38210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53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12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42" y="773797"/>
            <a:ext cx="7595425" cy="242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152400" y="4859886"/>
            <a:ext cx="3276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+mn-lt"/>
              </a:rPr>
              <a:t>Vertically integrated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+mn-lt"/>
              </a:rPr>
              <a:t>Closed, proprietary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+mn-lt"/>
              </a:rPr>
              <a:t>Slow innovation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+mn-lt"/>
              </a:rPr>
              <a:t>Small industry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9" t="1500" r="3650" b="5499"/>
          <a:stretch>
            <a:fillRect/>
          </a:stretch>
        </p:blipFill>
        <p:spPr bwMode="auto">
          <a:xfrm>
            <a:off x="367763" y="1300457"/>
            <a:ext cx="2496173" cy="351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609600" y="2496799"/>
            <a:ext cx="1905000" cy="9652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Operating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3538199"/>
            <a:ext cx="1905000" cy="8382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Hardware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5440815" y="1480745"/>
            <a:ext cx="3048000" cy="417900"/>
            <a:chOff x="5334000" y="1371600"/>
            <a:chExt cx="3657600" cy="685800"/>
          </a:xfrm>
        </p:grpSpPr>
        <p:sp>
          <p:nvSpPr>
            <p:cNvPr id="46" name="Rounded Rectangle 45"/>
            <p:cNvSpPr/>
            <p:nvPr/>
          </p:nvSpPr>
          <p:spPr bwMode="auto">
            <a:xfrm>
              <a:off x="83820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5" name="Rounded Rectangle 44"/>
            <p:cNvSpPr/>
            <p:nvPr/>
          </p:nvSpPr>
          <p:spPr bwMode="auto">
            <a:xfrm>
              <a:off x="80772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4" name="Rounded Rectangle 43"/>
            <p:cNvSpPr/>
            <p:nvPr/>
          </p:nvSpPr>
          <p:spPr bwMode="auto">
            <a:xfrm>
              <a:off x="77724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3" name="Rounded Rectangle 42"/>
            <p:cNvSpPr/>
            <p:nvPr/>
          </p:nvSpPr>
          <p:spPr bwMode="auto">
            <a:xfrm>
              <a:off x="74676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2" name="Rounded Rectangle 41"/>
            <p:cNvSpPr/>
            <p:nvPr/>
          </p:nvSpPr>
          <p:spPr bwMode="auto">
            <a:xfrm>
              <a:off x="71628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1" name="Rounded Rectangle 40"/>
            <p:cNvSpPr/>
            <p:nvPr/>
          </p:nvSpPr>
          <p:spPr bwMode="auto">
            <a:xfrm>
              <a:off x="68580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40" name="Rounded Rectangle 39"/>
            <p:cNvSpPr/>
            <p:nvPr/>
          </p:nvSpPr>
          <p:spPr bwMode="auto">
            <a:xfrm>
              <a:off x="65532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39" name="Rounded Rectangle 38"/>
            <p:cNvSpPr/>
            <p:nvPr/>
          </p:nvSpPr>
          <p:spPr bwMode="auto">
            <a:xfrm>
              <a:off x="62484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38" name="Rounded Rectangle 37"/>
            <p:cNvSpPr/>
            <p:nvPr/>
          </p:nvSpPr>
          <p:spPr bwMode="auto">
            <a:xfrm>
              <a:off x="59436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37" name="Rounded Rectangle 36"/>
            <p:cNvSpPr/>
            <p:nvPr/>
          </p:nvSpPr>
          <p:spPr bwMode="auto">
            <a:xfrm>
              <a:off x="56388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 dirty="0">
                  <a:solidFill>
                    <a:srgbClr val="FFCC66"/>
                  </a:solidFill>
                  <a:latin typeface="Calibri"/>
                </a:rPr>
                <a:t>App</a:t>
              </a:r>
            </a:p>
          </p:txBody>
        </p:sp>
        <p:sp>
          <p:nvSpPr>
            <p:cNvPr id="31" name="Rounded Rectangle 30"/>
            <p:cNvSpPr/>
            <p:nvPr/>
          </p:nvSpPr>
          <p:spPr bwMode="auto">
            <a:xfrm>
              <a:off x="5334000" y="1371600"/>
              <a:ext cx="9144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Calibri"/>
                </a:rPr>
                <a:t>App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609600" y="1658599"/>
            <a:ext cx="1905000" cy="7366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Specialized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latin typeface="+mj-lt"/>
                <a:ea typeface="ＭＳ Ｐゴシック" charset="-128"/>
                <a:cs typeface="ＭＳ Ｐゴシック" charset="-128"/>
              </a:rPr>
              <a:t>Applications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5410200" y="4875620"/>
            <a:ext cx="3200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+mj-lt"/>
              </a:rPr>
              <a:t>Horizontal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+mj-lt"/>
              </a:rPr>
              <a:t>Open interfaces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+mj-lt"/>
              </a:rPr>
              <a:t>Rapid innovation</a:t>
            </a:r>
          </a:p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+mj-lt"/>
              </a:rPr>
              <a:t>Huge industry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733800" y="2437515"/>
            <a:ext cx="1143000" cy="762000"/>
          </a:xfrm>
          <a:prstGeom prst="rightArrow">
            <a:avLst>
              <a:gd name="adj1" fmla="val 50000"/>
              <a:gd name="adj2" fmla="val 68658"/>
            </a:avLst>
          </a:prstGeom>
          <a:solidFill>
            <a:srgbClr val="FF66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en-US" sz="2000" b="1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" name="Group 56"/>
          <p:cNvGrpSpPr>
            <a:grpSpLocks/>
          </p:cNvGrpSpPr>
          <p:nvPr/>
        </p:nvGrpSpPr>
        <p:grpSpPr bwMode="auto">
          <a:xfrm>
            <a:off x="5737719" y="3484470"/>
            <a:ext cx="2721609" cy="1396073"/>
            <a:chOff x="5105400" y="3212068"/>
            <a:chExt cx="3451510" cy="1817132"/>
          </a:xfrm>
        </p:grpSpPr>
        <p:sp>
          <p:nvSpPr>
            <p:cNvPr id="23" name="Rounded Rectangle 22"/>
            <p:cNvSpPr/>
            <p:nvPr/>
          </p:nvSpPr>
          <p:spPr bwMode="auto">
            <a:xfrm>
              <a:off x="6096000" y="3874196"/>
              <a:ext cx="2424501" cy="697803"/>
            </a:xfrm>
            <a:prstGeom prst="roundRect">
              <a:avLst/>
            </a:prstGeom>
            <a:solidFill>
              <a:srgbClr val="00009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b="1" dirty="0">
                  <a:solidFill>
                    <a:prstClr val="white"/>
                  </a:solidFill>
                  <a:latin typeface="Arial" charset="0"/>
                  <a:ea typeface="ＭＳ Ｐゴシック" charset="-128"/>
                  <a:cs typeface="ＭＳ Ｐゴシック" charset="-128"/>
                </a:rPr>
                <a:t>Microprocessor</a:t>
              </a:r>
            </a:p>
          </p:txBody>
        </p:sp>
        <p:pic>
          <p:nvPicPr>
            <p:cNvPr id="45094" name="Picture 33"/>
            <p:cNvPicPr>
              <a:picLocks noChangeAspect="1"/>
            </p:cNvPicPr>
            <p:nvPr/>
          </p:nvPicPr>
          <p:blipFill>
            <a:blip r:embed="rId5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5400" y="3951732"/>
              <a:ext cx="1202196" cy="1077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5095" name="Group 51"/>
            <p:cNvGrpSpPr>
              <a:grpSpLocks/>
            </p:cNvGrpSpPr>
            <p:nvPr/>
          </p:nvGrpSpPr>
          <p:grpSpPr bwMode="auto">
            <a:xfrm>
              <a:off x="5435270" y="3212068"/>
              <a:ext cx="3121640" cy="440663"/>
              <a:chOff x="5511470" y="3200400"/>
              <a:chExt cx="3121640" cy="440663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5511470" y="3424423"/>
                <a:ext cx="3121640" cy="450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097" name="TextBox 23"/>
              <p:cNvSpPr txBox="1">
                <a:spLocks noChangeArrowheads="1"/>
              </p:cNvSpPr>
              <p:nvPr/>
            </p:nvSpPr>
            <p:spPr bwMode="auto">
              <a:xfrm>
                <a:off x="5841339" y="3200400"/>
                <a:ext cx="2465881" cy="4406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algn="ctr"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 smtClean="0">
                    <a:solidFill>
                      <a:prstClr val="black"/>
                    </a:solidFill>
                    <a:latin typeface="Arial" charset="0"/>
                  </a:rPr>
                  <a:t>Open Interface</a:t>
                </a:r>
              </a:p>
            </p:txBody>
          </p:sp>
        </p:grpSp>
      </p:grpSp>
      <p:grpSp>
        <p:nvGrpSpPr>
          <p:cNvPr id="6" name="Group 57"/>
          <p:cNvGrpSpPr>
            <a:grpSpLocks/>
          </p:cNvGrpSpPr>
          <p:nvPr/>
        </p:nvGrpSpPr>
        <p:grpSpPr bwMode="auto">
          <a:xfrm>
            <a:off x="5183490" y="2081201"/>
            <a:ext cx="3575710" cy="1234932"/>
            <a:chOff x="5263490" y="1889268"/>
            <a:chExt cx="3575710" cy="1234932"/>
          </a:xfrm>
        </p:grpSpPr>
        <p:sp>
          <p:nvSpPr>
            <p:cNvPr id="20" name="Rounded Rectangle 19"/>
            <p:cNvSpPr/>
            <p:nvPr/>
          </p:nvSpPr>
          <p:spPr bwMode="auto">
            <a:xfrm>
              <a:off x="6934200" y="2286000"/>
              <a:ext cx="762000" cy="838200"/>
            </a:xfrm>
            <a:prstGeom prst="roundRect">
              <a:avLst/>
            </a:prstGeom>
            <a:gradFill>
              <a:gsLst>
                <a:gs pos="0">
                  <a:srgbClr val="008000"/>
                </a:gs>
                <a:gs pos="100000">
                  <a:srgbClr val="00C362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>
                  <a:solidFill>
                    <a:srgbClr val="FFFFFF"/>
                  </a:solidFill>
                  <a:latin typeface="Calibri"/>
                </a:rPr>
                <a:t>Linux</a:t>
              </a:r>
            </a:p>
          </p:txBody>
        </p:sp>
        <p:sp>
          <p:nvSpPr>
            <p:cNvPr id="22" name="Rounded Rectangle 21"/>
            <p:cNvSpPr/>
            <p:nvPr/>
          </p:nvSpPr>
          <p:spPr bwMode="auto">
            <a:xfrm>
              <a:off x="8077200" y="2286000"/>
              <a:ext cx="762000" cy="838200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1600" b="1">
                  <a:solidFill>
                    <a:srgbClr val="FFFFFF"/>
                  </a:solidFill>
                  <a:latin typeface="Calibri"/>
                </a:rPr>
                <a:t>Mac</a:t>
              </a:r>
            </a:p>
            <a:p>
              <a:pPr algn="ctr" defTabSz="914400">
                <a:defRPr/>
              </a:pPr>
              <a:r>
                <a:rPr lang="en-US" sz="1600" b="1">
                  <a:solidFill>
                    <a:srgbClr val="FFFFFF"/>
                  </a:solidFill>
                  <a:latin typeface="Calibri"/>
                </a:rPr>
                <a:t>OS</a:t>
              </a:r>
            </a:p>
          </p:txBody>
        </p:sp>
        <p:sp>
          <p:nvSpPr>
            <p:cNvPr id="24" name="Rounded Rectangle 23"/>
            <p:cNvSpPr/>
            <p:nvPr/>
          </p:nvSpPr>
          <p:spPr bwMode="auto">
            <a:xfrm>
              <a:off x="5263490" y="2286000"/>
              <a:ext cx="1289710" cy="838200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r>
                <a:rPr lang="en-US" sz="2000" b="1" dirty="0">
                  <a:solidFill>
                    <a:srgbClr val="FFFFFF"/>
                  </a:solidFill>
                  <a:latin typeface="Calibri"/>
                </a:rPr>
                <a:t>Windows</a:t>
              </a:r>
            </a:p>
            <a:p>
              <a:pPr algn="ctr" defTabSz="914400">
                <a:defRPr/>
              </a:pPr>
              <a:r>
                <a:rPr lang="en-US" sz="1800" b="1" dirty="0">
                  <a:solidFill>
                    <a:srgbClr val="FFFFFF"/>
                  </a:solidFill>
                  <a:latin typeface="Calibri"/>
                </a:rPr>
                <a:t>(OS)</a:t>
              </a:r>
            </a:p>
          </p:txBody>
        </p:sp>
        <p:sp>
          <p:nvSpPr>
            <p:cNvPr id="45086" name="TextBox 23"/>
            <p:cNvSpPr txBox="1">
              <a:spLocks noChangeArrowheads="1"/>
            </p:cNvSpPr>
            <p:nvPr/>
          </p:nvSpPr>
          <p:spPr bwMode="auto">
            <a:xfrm>
              <a:off x="6553200" y="2526268"/>
              <a:ext cx="389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mtClean="0">
                  <a:solidFill>
                    <a:prstClr val="black"/>
                  </a:solidFill>
                  <a:latin typeface="Arial" charset="0"/>
                </a:rPr>
                <a:t>or</a:t>
              </a:r>
            </a:p>
          </p:txBody>
        </p:sp>
        <p:sp>
          <p:nvSpPr>
            <p:cNvPr id="45087" name="TextBox 24"/>
            <p:cNvSpPr txBox="1">
              <a:spLocks noChangeArrowheads="1"/>
            </p:cNvSpPr>
            <p:nvPr/>
          </p:nvSpPr>
          <p:spPr bwMode="auto">
            <a:xfrm>
              <a:off x="7696200" y="2514600"/>
              <a:ext cx="389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algn="ctr"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mtClean="0">
                  <a:solidFill>
                    <a:prstClr val="black"/>
                  </a:solidFill>
                  <a:latin typeface="Arial" charset="0"/>
                </a:rPr>
                <a:t>or</a:t>
              </a:r>
            </a:p>
          </p:txBody>
        </p:sp>
        <p:grpSp>
          <p:nvGrpSpPr>
            <p:cNvPr id="45088" name="Group 52"/>
            <p:cNvGrpSpPr>
              <a:grpSpLocks/>
            </p:cNvGrpSpPr>
            <p:nvPr/>
          </p:nvGrpSpPr>
          <p:grpSpPr bwMode="auto">
            <a:xfrm>
              <a:off x="5943600" y="1889268"/>
              <a:ext cx="2590800" cy="338554"/>
              <a:chOff x="6019800" y="3260868"/>
              <a:chExt cx="2590800" cy="338554"/>
            </a:xfrm>
          </p:grpSpPr>
          <p:cxnSp>
            <p:nvCxnSpPr>
              <p:cNvPr id="54" name="Straight Connector 53"/>
              <p:cNvCxnSpPr/>
              <p:nvPr/>
            </p:nvCxnSpPr>
            <p:spPr>
              <a:xfrm>
                <a:off x="6019800" y="3427413"/>
                <a:ext cx="25908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090" name="TextBox 23"/>
              <p:cNvSpPr txBox="1">
                <a:spLocks noChangeArrowheads="1"/>
              </p:cNvSpPr>
              <p:nvPr/>
            </p:nvSpPr>
            <p:spPr bwMode="auto">
              <a:xfrm>
                <a:off x="6450385" y="3260868"/>
                <a:ext cx="1621357" cy="3385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algn="ctr"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dirty="0" smtClean="0">
                    <a:solidFill>
                      <a:prstClr val="black"/>
                    </a:solidFill>
                    <a:latin typeface="Arial" charset="0"/>
                  </a:rPr>
                  <a:t>Open Interface</a:t>
                </a:r>
              </a:p>
            </p:txBody>
          </p:sp>
        </p:grpSp>
      </p:grpSp>
      <p:sp>
        <p:nvSpPr>
          <p:cNvPr id="56" name="Right Arrow 55"/>
          <p:cNvSpPr/>
          <p:nvPr/>
        </p:nvSpPr>
        <p:spPr>
          <a:xfrm>
            <a:off x="3868480" y="5210723"/>
            <a:ext cx="1143000" cy="762000"/>
          </a:xfrm>
          <a:prstGeom prst="rightArrow">
            <a:avLst>
              <a:gd name="adj1" fmla="val 50000"/>
              <a:gd name="adj2" fmla="val 68658"/>
            </a:avLst>
          </a:prstGeom>
          <a:solidFill>
            <a:srgbClr val="FF66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en-US" sz="2000" b="1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5076" name="Title 47"/>
          <p:cNvSpPr>
            <a:spLocks noGrp="1"/>
          </p:cNvSpPr>
          <p:nvPr>
            <p:ph type="title"/>
          </p:nvPr>
        </p:nvSpPr>
        <p:spPr>
          <a:xfrm>
            <a:off x="535402" y="0"/>
            <a:ext cx="8534400" cy="1143000"/>
          </a:xfrm>
        </p:spPr>
        <p:txBody>
          <a:bodyPr/>
          <a:lstStyle/>
          <a:p>
            <a:pPr algn="l"/>
            <a:r>
              <a:rPr lang="en-US" sz="4000" dirty="0" smtClean="0">
                <a:solidFill>
                  <a:srgbClr val="000090"/>
                </a:solidFill>
                <a:latin typeface="Calibri" charset="0"/>
                <a:ea typeface="ＭＳ Ｐゴシック" charset="0"/>
                <a:cs typeface="ＭＳ Ｐゴシック" charset="0"/>
              </a:rPr>
              <a:t>Analogy: mainframe to PC evolution</a:t>
            </a:r>
            <a:r>
              <a:rPr lang="en-US" sz="2400" baseline="30000" dirty="0" smtClean="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rPr>
              <a:t>*</a:t>
            </a:r>
            <a:endParaRPr lang="en-US" sz="4000" baseline="30000" dirty="0">
              <a:solidFill>
                <a:schemeClr val="tx1"/>
              </a:solidFill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871" y="6550399"/>
            <a:ext cx="2254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* Slide  courtesy: N. McKeown</a:t>
            </a:r>
            <a:endParaRPr lang="en-US" sz="1200" dirty="0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7091"/>
            <a:ext cx="687845" cy="38210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5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6277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27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47" grpId="0" animBg="1"/>
      <p:bldP spid="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5" name="Picture 75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85" y="824211"/>
            <a:ext cx="8551394" cy="232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3" name="Rectangle 73"/>
          <p:cNvSpPr>
            <a:spLocks noGrp="1" noChangeArrowheads="1"/>
          </p:cNvSpPr>
          <p:nvPr>
            <p:ph type="title"/>
          </p:nvPr>
        </p:nvSpPr>
        <p:spPr>
          <a:xfrm>
            <a:off x="211698" y="170272"/>
            <a:ext cx="8679450" cy="796925"/>
          </a:xfrm>
        </p:spPr>
        <p:txBody>
          <a:bodyPr/>
          <a:lstStyle/>
          <a:p>
            <a:pPr>
              <a:lnSpc>
                <a:spcPct val="85000"/>
              </a:lnSpc>
              <a:defRPr/>
            </a:pPr>
            <a:r>
              <a:rPr lang="en-US" sz="3600" dirty="0" smtClean="0">
                <a:cs typeface="+mj-cs"/>
              </a:rPr>
              <a:t>Traffic engineering: difficult traditional routing</a:t>
            </a:r>
            <a:endParaRPr lang="en-US" sz="3600" dirty="0"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5390" y="4128444"/>
            <a:ext cx="840829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u="sng" dirty="0" smtClean="0">
                <a:solidFill>
                  <a:srgbClr val="000090"/>
                </a:solidFill>
              </a:rPr>
              <a:t>Q: </a:t>
            </a:r>
            <a:r>
              <a:rPr lang="en-US" sz="2400" dirty="0" smtClean="0"/>
              <a:t>what if network operator wants u-to-z traffic to flow along </a:t>
            </a:r>
            <a:r>
              <a:rPr lang="en-US" sz="2400" i="1" dirty="0" err="1" smtClean="0"/>
              <a:t>uvw</a:t>
            </a:r>
            <a:r>
              <a:rPr lang="en-US" sz="2400" dirty="0" err="1" smtClean="0"/>
              <a:t>z</a:t>
            </a:r>
            <a:r>
              <a:rPr lang="en-US" sz="2400" dirty="0" smtClean="0"/>
              <a:t>, x-to-z traffic to flow </a:t>
            </a:r>
            <a:r>
              <a:rPr lang="en-US" sz="2400" i="1" dirty="0" err="1" smtClean="0"/>
              <a:t>xwyz</a:t>
            </a:r>
            <a:r>
              <a:rPr lang="en-US" sz="2400" dirty="0" smtClean="0"/>
              <a:t>?</a:t>
            </a:r>
          </a:p>
          <a:p>
            <a:pPr algn="ctr">
              <a:spcBef>
                <a:spcPts val="1200"/>
              </a:spcBef>
            </a:pPr>
            <a:r>
              <a:rPr lang="en-US" sz="2400" i="1" u="sng" dirty="0" smtClean="0">
                <a:solidFill>
                  <a:srgbClr val="000090"/>
                </a:solidFill>
              </a:rPr>
              <a:t>A: </a:t>
            </a:r>
            <a:r>
              <a:rPr lang="en-US" sz="2400" dirty="0" smtClean="0"/>
              <a:t>need to define link weights so traffic routing algorithm computes routes accordingly </a:t>
            </a:r>
            <a:r>
              <a:rPr lang="en-US" sz="2000" dirty="0" smtClean="0"/>
              <a:t>(or need a new routing algorithm)!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9947" y="6025755"/>
            <a:ext cx="6350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>
                <a:solidFill>
                  <a:srgbClr val="CC0000"/>
                </a:solidFill>
              </a:rPr>
              <a:t>Link weights are only control “knobs”: wrong!</a:t>
            </a:r>
            <a:endParaRPr lang="en-US" sz="2400" i="1" dirty="0">
              <a:solidFill>
                <a:srgbClr val="CC0000"/>
              </a:solidFill>
            </a:endParaRPr>
          </a:p>
        </p:txBody>
      </p:sp>
      <p:sp>
        <p:nvSpPr>
          <p:cNvPr id="1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7091"/>
            <a:ext cx="687845" cy="38210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15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6277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grpSp>
        <p:nvGrpSpPr>
          <p:cNvPr id="118" name="Group 1612"/>
          <p:cNvGrpSpPr>
            <a:grpSpLocks/>
          </p:cNvGrpSpPr>
          <p:nvPr/>
        </p:nvGrpSpPr>
        <p:grpSpPr bwMode="auto">
          <a:xfrm flipH="1">
            <a:off x="943464" y="2441244"/>
            <a:ext cx="855053" cy="655887"/>
            <a:chOff x="2839" y="3501"/>
            <a:chExt cx="755" cy="803"/>
          </a:xfrm>
        </p:grpSpPr>
        <p:pic>
          <p:nvPicPr>
            <p:cNvPr id="119" name="Picture 1613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" name="Freeform 161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0840" name="Freeform 3"/>
          <p:cNvSpPr>
            <a:spLocks/>
          </p:cNvSpPr>
          <p:nvPr/>
        </p:nvSpPr>
        <p:spPr bwMode="auto">
          <a:xfrm>
            <a:off x="2059747" y="1363093"/>
            <a:ext cx="5142041" cy="2404002"/>
          </a:xfrm>
          <a:custGeom>
            <a:avLst/>
            <a:gdLst>
              <a:gd name="T0" fmla="*/ 0 w 2250"/>
              <a:gd name="T1" fmla="*/ 624 h 1409"/>
              <a:gd name="T2" fmla="*/ 219 w 2250"/>
              <a:gd name="T3" fmla="*/ 321 h 1409"/>
              <a:gd name="T4" fmla="*/ 529 w 2250"/>
              <a:gd name="T5" fmla="*/ 35 h 1409"/>
              <a:gd name="T6" fmla="*/ 1551 w 2250"/>
              <a:gd name="T7" fmla="*/ 111 h 1409"/>
              <a:gd name="T8" fmla="*/ 1968 w 2250"/>
              <a:gd name="T9" fmla="*/ 483 h 1409"/>
              <a:gd name="T10" fmla="*/ 2199 w 2250"/>
              <a:gd name="T11" fmla="*/ 906 h 1409"/>
              <a:gd name="T12" fmla="*/ 1659 w 2250"/>
              <a:gd name="T13" fmla="*/ 1314 h 1409"/>
              <a:gd name="T14" fmla="*/ 993 w 2250"/>
              <a:gd name="T15" fmla="*/ 1386 h 1409"/>
              <a:gd name="T16" fmla="*/ 465 w 2250"/>
              <a:gd name="T17" fmla="*/ 1356 h 1409"/>
              <a:gd name="T18" fmla="*/ 102 w 2250"/>
              <a:gd name="T19" fmla="*/ 1068 h 1409"/>
              <a:gd name="T20" fmla="*/ 0 w 2250"/>
              <a:gd name="T21" fmla="*/ 624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41" name="Freeform 4"/>
          <p:cNvSpPr>
            <a:spLocks/>
          </p:cNvSpPr>
          <p:nvPr/>
        </p:nvSpPr>
        <p:spPr bwMode="auto">
          <a:xfrm>
            <a:off x="2834105" y="2267385"/>
            <a:ext cx="781590" cy="31734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2" name="Freeform 35"/>
          <p:cNvSpPr>
            <a:spLocks/>
          </p:cNvSpPr>
          <p:nvPr/>
        </p:nvSpPr>
        <p:spPr bwMode="auto">
          <a:xfrm>
            <a:off x="5254292" y="2313451"/>
            <a:ext cx="2285" cy="890624"/>
          </a:xfrm>
          <a:custGeom>
            <a:avLst/>
            <a:gdLst>
              <a:gd name="T0" fmla="*/ 0 w 1"/>
              <a:gd name="T1" fmla="*/ 0 h 522"/>
              <a:gd name="T2" fmla="*/ 0 w 1"/>
              <a:gd name="T3" fmla="*/ 522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3" name="Freeform 36"/>
          <p:cNvSpPr>
            <a:spLocks/>
          </p:cNvSpPr>
          <p:nvPr/>
        </p:nvSpPr>
        <p:spPr bwMode="auto">
          <a:xfrm>
            <a:off x="3670544" y="2323688"/>
            <a:ext cx="2285" cy="916217"/>
          </a:xfrm>
          <a:custGeom>
            <a:avLst/>
            <a:gdLst>
              <a:gd name="T0" fmla="*/ 0 w 1"/>
              <a:gd name="T1" fmla="*/ 0 h 537"/>
              <a:gd name="T2" fmla="*/ 0 w 1"/>
              <a:gd name="T3" fmla="*/ 53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4" name="Freeform 37"/>
          <p:cNvSpPr>
            <a:spLocks/>
          </p:cNvSpPr>
          <p:nvPr/>
        </p:nvSpPr>
        <p:spPr bwMode="auto">
          <a:xfrm>
            <a:off x="4017205" y="2298095"/>
            <a:ext cx="1182239" cy="1038973"/>
          </a:xfrm>
          <a:custGeom>
            <a:avLst/>
            <a:gdLst>
              <a:gd name="T0" fmla="*/ 0 w 378"/>
              <a:gd name="T1" fmla="*/ 142610238 h 174"/>
              <a:gd name="T2" fmla="*/ 8951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5" name="Freeform 38"/>
          <p:cNvSpPr>
            <a:spLocks/>
          </p:cNvSpPr>
          <p:nvPr/>
        </p:nvSpPr>
        <p:spPr bwMode="auto">
          <a:xfrm>
            <a:off x="5617663" y="2891845"/>
            <a:ext cx="836439" cy="460668"/>
          </a:xfrm>
          <a:custGeom>
            <a:avLst/>
            <a:gdLst>
              <a:gd name="T0" fmla="*/ 0 w 366"/>
              <a:gd name="T1" fmla="*/ 270 h 270"/>
              <a:gd name="T2" fmla="*/ 366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6" name="Freeform 39"/>
          <p:cNvSpPr>
            <a:spLocks/>
          </p:cNvSpPr>
          <p:nvPr/>
        </p:nvSpPr>
        <p:spPr bwMode="auto">
          <a:xfrm flipV="1">
            <a:off x="4022465" y="3327268"/>
            <a:ext cx="908330" cy="45719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7" name="Freeform 40"/>
          <p:cNvSpPr>
            <a:spLocks/>
          </p:cNvSpPr>
          <p:nvPr/>
        </p:nvSpPr>
        <p:spPr bwMode="auto">
          <a:xfrm>
            <a:off x="2710696" y="2820186"/>
            <a:ext cx="630757" cy="450430"/>
          </a:xfrm>
          <a:custGeom>
            <a:avLst/>
            <a:gdLst>
              <a:gd name="T0" fmla="*/ 276 w 276"/>
              <a:gd name="T1" fmla="*/ 264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8" name="Freeform 41"/>
          <p:cNvSpPr>
            <a:spLocks/>
          </p:cNvSpPr>
          <p:nvPr/>
        </p:nvSpPr>
        <p:spPr bwMode="auto">
          <a:xfrm>
            <a:off x="4047627" y="2195725"/>
            <a:ext cx="836439" cy="1706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9" name="Freeform 42"/>
          <p:cNvSpPr>
            <a:spLocks/>
          </p:cNvSpPr>
          <p:nvPr/>
        </p:nvSpPr>
        <p:spPr bwMode="auto">
          <a:xfrm>
            <a:off x="5572253" y="2248471"/>
            <a:ext cx="922986" cy="397685"/>
          </a:xfrm>
          <a:custGeom>
            <a:avLst/>
            <a:gdLst>
              <a:gd name="T0" fmla="*/ 396 w 396"/>
              <a:gd name="T1" fmla="*/ 26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80" name="Freeform 43"/>
          <p:cNvSpPr>
            <a:spLocks/>
          </p:cNvSpPr>
          <p:nvPr/>
        </p:nvSpPr>
        <p:spPr bwMode="auto">
          <a:xfrm>
            <a:off x="2580431" y="1458657"/>
            <a:ext cx="2536740" cy="1100484"/>
          </a:xfrm>
          <a:custGeom>
            <a:avLst/>
            <a:gdLst>
              <a:gd name="T0" fmla="*/ 1110 w 1110"/>
              <a:gd name="T1" fmla="*/ 342 h 645"/>
              <a:gd name="T2" fmla="*/ 0 w 1110"/>
              <a:gd name="T3" fmla="*/ 645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87" name="Text Box 62"/>
          <p:cNvSpPr txBox="1">
            <a:spLocks noChangeArrowheads="1"/>
          </p:cNvSpPr>
          <p:nvPr/>
        </p:nvSpPr>
        <p:spPr bwMode="auto">
          <a:xfrm>
            <a:off x="2822678" y="2178663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88" name="Text Box 63"/>
          <p:cNvSpPr txBox="1">
            <a:spLocks noChangeArrowheads="1"/>
          </p:cNvSpPr>
          <p:nvPr/>
        </p:nvSpPr>
        <p:spPr bwMode="auto">
          <a:xfrm>
            <a:off x="3617981" y="2552316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89" name="Text Box 64"/>
          <p:cNvSpPr txBox="1">
            <a:spLocks noChangeArrowheads="1"/>
          </p:cNvSpPr>
          <p:nvPr/>
        </p:nvSpPr>
        <p:spPr bwMode="auto">
          <a:xfrm>
            <a:off x="2623853" y="2915732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0" name="Text Box 65"/>
          <p:cNvSpPr txBox="1">
            <a:spLocks noChangeArrowheads="1"/>
          </p:cNvSpPr>
          <p:nvPr/>
        </p:nvSpPr>
        <p:spPr bwMode="auto">
          <a:xfrm>
            <a:off x="4495556" y="2710990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3</a:t>
            </a:r>
            <a:endParaRPr lang="en-US"/>
          </a:p>
        </p:txBody>
      </p:sp>
      <p:sp>
        <p:nvSpPr>
          <p:cNvPr id="120891" name="Text Box 66"/>
          <p:cNvSpPr txBox="1">
            <a:spLocks noChangeArrowheads="1"/>
          </p:cNvSpPr>
          <p:nvPr/>
        </p:nvSpPr>
        <p:spPr bwMode="auto">
          <a:xfrm>
            <a:off x="4351579" y="3314977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2" name="Text Box 67"/>
          <p:cNvSpPr txBox="1">
            <a:spLocks noChangeArrowheads="1"/>
          </p:cNvSpPr>
          <p:nvPr/>
        </p:nvSpPr>
        <p:spPr bwMode="auto">
          <a:xfrm>
            <a:off x="5174305" y="2583027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3" name="Text Box 68"/>
          <p:cNvSpPr txBox="1">
            <a:spLocks noChangeArrowheads="1"/>
          </p:cNvSpPr>
          <p:nvPr/>
        </p:nvSpPr>
        <p:spPr bwMode="auto">
          <a:xfrm>
            <a:off x="5997032" y="3033458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94" name="Text Box 69"/>
          <p:cNvSpPr txBox="1">
            <a:spLocks noChangeArrowheads="1"/>
          </p:cNvSpPr>
          <p:nvPr/>
        </p:nvSpPr>
        <p:spPr bwMode="auto">
          <a:xfrm>
            <a:off x="5935327" y="2117241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5</a:t>
            </a:r>
            <a:endParaRPr lang="en-US"/>
          </a:p>
        </p:txBody>
      </p:sp>
      <p:sp>
        <p:nvSpPr>
          <p:cNvPr id="120895" name="Text Box 70"/>
          <p:cNvSpPr txBox="1">
            <a:spLocks noChangeArrowheads="1"/>
          </p:cNvSpPr>
          <p:nvPr/>
        </p:nvSpPr>
        <p:spPr bwMode="auto">
          <a:xfrm>
            <a:off x="4255594" y="1861315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3</a:t>
            </a:r>
            <a:endParaRPr lang="en-US"/>
          </a:p>
        </p:txBody>
      </p:sp>
      <p:sp>
        <p:nvSpPr>
          <p:cNvPr id="120896" name="Text Box 71"/>
          <p:cNvSpPr txBox="1">
            <a:spLocks noChangeArrowheads="1"/>
          </p:cNvSpPr>
          <p:nvPr/>
        </p:nvSpPr>
        <p:spPr bwMode="auto">
          <a:xfrm>
            <a:off x="3453435" y="1405766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5</a:t>
            </a:r>
            <a:endParaRPr lang="en-US"/>
          </a:p>
        </p:txBody>
      </p:sp>
      <p:grpSp>
        <p:nvGrpSpPr>
          <p:cNvPr id="121" name="Group 1507"/>
          <p:cNvGrpSpPr>
            <a:grpSpLocks/>
          </p:cNvGrpSpPr>
          <p:nvPr/>
        </p:nvGrpSpPr>
        <p:grpSpPr bwMode="auto">
          <a:xfrm>
            <a:off x="7391175" y="2426604"/>
            <a:ext cx="427480" cy="711995"/>
            <a:chOff x="4140" y="429"/>
            <a:chExt cx="1425" cy="2396"/>
          </a:xfrm>
        </p:grpSpPr>
        <p:sp>
          <p:nvSpPr>
            <p:cNvPr id="122" name="Freeform 150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Rectangle 1509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Freeform 151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51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Rectangle 1512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7" name="Group 151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2" name="AutoShape 151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" name="AutoShape 1515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Rectangle 1516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9" name="Group 151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0" name="AutoShape 1518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AutoShape 1519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0" name="Rectangle 1520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tangle 1521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2" name="Group 152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8" name="AutoShape 1523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9" name="AutoShape 152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3" name="Freeform 152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4" name="Group 152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6" name="AutoShape 152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7" name="AutoShape 1528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5" name="Rectangle 1529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Freeform 153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53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40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Oval 1532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Freeform 153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AutoShape 1534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AutoShape 1535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Oval 1536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Oval 1537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44" name="Oval 1538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Rectangle 1539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0" name="Straight Connector 9"/>
          <p:cNvCxnSpPr/>
          <p:nvPr/>
        </p:nvCxnSpPr>
        <p:spPr bwMode="auto">
          <a:xfrm>
            <a:off x="1682405" y="2744686"/>
            <a:ext cx="52677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" name="Straight Connector 162"/>
          <p:cNvCxnSpPr/>
          <p:nvPr/>
        </p:nvCxnSpPr>
        <p:spPr bwMode="auto">
          <a:xfrm>
            <a:off x="6895267" y="2779855"/>
            <a:ext cx="52677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6" name="Group 155"/>
          <p:cNvGrpSpPr/>
          <p:nvPr/>
        </p:nvGrpSpPr>
        <p:grpSpPr>
          <a:xfrm>
            <a:off x="3414626" y="1982945"/>
            <a:ext cx="687402" cy="571677"/>
            <a:chOff x="1736090" y="2893762"/>
            <a:chExt cx="565150" cy="413310"/>
          </a:xfrm>
        </p:grpSpPr>
        <p:grpSp>
          <p:nvGrpSpPr>
            <p:cNvPr id="157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61" name="Oval 160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2" name="Rectangle 161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5" name="Freeform 16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6" name="Freeform 16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7" name="Freeform 16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8" name="Freeform 16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69" name="Straight Connector 168"/>
              <p:cNvCxnSpPr>
                <a:endCxn id="16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/>
          </p:nvGrpSpPr>
          <p:grpSpPr>
            <a:xfrm>
              <a:off x="1844715" y="2907714"/>
              <a:ext cx="356365" cy="399358"/>
              <a:chOff x="741398" y="1743005"/>
              <a:chExt cx="356365" cy="399358"/>
            </a:xfrm>
          </p:grpSpPr>
          <p:sp>
            <p:nvSpPr>
              <p:cNvPr id="159" name="Oval 158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783895" y="1743005"/>
                <a:ext cx="288887" cy="399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v</a:t>
                </a:r>
                <a:endParaRPr lang="en-US" sz="2400" dirty="0"/>
              </a:p>
            </p:txBody>
          </p:sp>
        </p:grpSp>
      </p:grpSp>
      <p:grpSp>
        <p:nvGrpSpPr>
          <p:cNvPr id="173" name="Group 172"/>
          <p:cNvGrpSpPr/>
          <p:nvPr/>
        </p:nvGrpSpPr>
        <p:grpSpPr>
          <a:xfrm>
            <a:off x="4888811" y="1979830"/>
            <a:ext cx="687402" cy="480963"/>
            <a:chOff x="1736090" y="2893762"/>
            <a:chExt cx="565150" cy="347726"/>
          </a:xfrm>
        </p:grpSpPr>
        <p:grpSp>
          <p:nvGrpSpPr>
            <p:cNvPr id="174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78" name="Oval 177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9" name="Rectangle 178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0" name="Oval 179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81" name="Freeform 180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2" name="Freeform 181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3" name="Freeform 182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4" name="Freeform 183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85" name="Straight Connector 184"/>
              <p:cNvCxnSpPr>
                <a:endCxn id="18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5" name="Group 174"/>
            <p:cNvGrpSpPr/>
            <p:nvPr/>
          </p:nvGrpSpPr>
          <p:grpSpPr>
            <a:xfrm>
              <a:off x="1844715" y="2907714"/>
              <a:ext cx="378664" cy="333774"/>
              <a:chOff x="741398" y="1743005"/>
              <a:chExt cx="378664" cy="333774"/>
            </a:xfrm>
          </p:grpSpPr>
          <p:sp>
            <p:nvSpPr>
              <p:cNvPr id="176" name="Oval 175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7" name="TextBox 176"/>
              <p:cNvSpPr txBox="1"/>
              <p:nvPr/>
            </p:nvSpPr>
            <p:spPr>
              <a:xfrm>
                <a:off x="767915" y="1743005"/>
                <a:ext cx="352147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w</a:t>
                </a:r>
                <a:endParaRPr lang="en-US" sz="2400" dirty="0"/>
              </a:p>
            </p:txBody>
          </p:sp>
        </p:grpSp>
      </p:grpSp>
      <p:grpSp>
        <p:nvGrpSpPr>
          <p:cNvPr id="187" name="Group 186"/>
          <p:cNvGrpSpPr/>
          <p:nvPr/>
        </p:nvGrpSpPr>
        <p:grpSpPr>
          <a:xfrm>
            <a:off x="2206359" y="2517647"/>
            <a:ext cx="687402" cy="480963"/>
            <a:chOff x="1736090" y="2893762"/>
            <a:chExt cx="565150" cy="347726"/>
          </a:xfrm>
        </p:grpSpPr>
        <p:grpSp>
          <p:nvGrpSpPr>
            <p:cNvPr id="188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92" name="Oval 19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3" name="Rectangle 19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4" name="Oval 19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5" name="Freeform 19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6" name="Freeform 19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7" name="Freeform 19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8" name="Freeform 19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99" name="Straight Connector 198"/>
              <p:cNvCxnSpPr>
                <a:endCxn id="19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9" name="Group 188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190" name="Oval 189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>
                <a:off x="783895" y="1743005"/>
                <a:ext cx="29255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u</a:t>
                </a:r>
                <a:endParaRPr lang="en-US" sz="2400" dirty="0"/>
              </a:p>
            </p:txBody>
          </p:sp>
        </p:grpSp>
      </p:grpSp>
      <p:grpSp>
        <p:nvGrpSpPr>
          <p:cNvPr id="201" name="Group 200"/>
          <p:cNvGrpSpPr/>
          <p:nvPr/>
        </p:nvGrpSpPr>
        <p:grpSpPr>
          <a:xfrm>
            <a:off x="6285253" y="2579331"/>
            <a:ext cx="687402" cy="480963"/>
            <a:chOff x="1736090" y="2893762"/>
            <a:chExt cx="565150" cy="347726"/>
          </a:xfrm>
        </p:grpSpPr>
        <p:grpSp>
          <p:nvGrpSpPr>
            <p:cNvPr id="202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06" name="Oval 205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7" name="Rectangle 206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8" name="Oval 207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9" name="Freeform 208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0" name="Freeform 209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1" name="Freeform 210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2" name="Freeform 211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3" name="Straight Connector 212"/>
              <p:cNvCxnSpPr>
                <a:endCxn id="20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3" name="Group 202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04" name="Oval 203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z</a:t>
                </a:r>
                <a:endParaRPr lang="en-US" sz="2400" dirty="0"/>
              </a:p>
            </p:txBody>
          </p:sp>
        </p:grpSp>
      </p:grpSp>
      <p:grpSp>
        <p:nvGrpSpPr>
          <p:cNvPr id="215" name="Group 214"/>
          <p:cNvGrpSpPr/>
          <p:nvPr/>
        </p:nvGrpSpPr>
        <p:grpSpPr>
          <a:xfrm>
            <a:off x="4927962" y="3152913"/>
            <a:ext cx="687402" cy="480963"/>
            <a:chOff x="1736090" y="2893762"/>
            <a:chExt cx="565150" cy="347726"/>
          </a:xfrm>
        </p:grpSpPr>
        <p:grpSp>
          <p:nvGrpSpPr>
            <p:cNvPr id="216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20" name="Oval 219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21" name="Rectangle 220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2" name="Oval 221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23" name="Freeform 222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4" name="Freeform 223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5" name="Freeform 224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6" name="Freeform 225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27" name="Straight Connector 226"/>
              <p:cNvCxnSpPr>
                <a:endCxn id="222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7" name="Group 216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18" name="Oval 217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9" name="TextBox 218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y</a:t>
                </a:r>
                <a:endParaRPr lang="en-US" sz="2400" dirty="0"/>
              </a:p>
            </p:txBody>
          </p:sp>
        </p:grpSp>
      </p:grpSp>
      <p:grpSp>
        <p:nvGrpSpPr>
          <p:cNvPr id="229" name="Group 228"/>
          <p:cNvGrpSpPr/>
          <p:nvPr/>
        </p:nvGrpSpPr>
        <p:grpSpPr>
          <a:xfrm>
            <a:off x="3337414" y="3136841"/>
            <a:ext cx="687402" cy="480963"/>
            <a:chOff x="1736090" y="2893762"/>
            <a:chExt cx="565150" cy="347726"/>
          </a:xfrm>
        </p:grpSpPr>
        <p:grpSp>
          <p:nvGrpSpPr>
            <p:cNvPr id="230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34" name="Oval 233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35" name="Rectangle 234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6" name="Oval 235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37" name="Freeform 236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8" name="Freeform 237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9" name="Freeform 238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40" name="Freeform 239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41" name="Straight Connector 240"/>
              <p:cNvCxnSpPr>
                <a:endCxn id="23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Group 230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32" name="Oval 231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3" name="TextBox 232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x</a:t>
                </a:r>
                <a:endParaRPr lang="en-US" sz="2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708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5" name="Picture 75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7" y="847725"/>
            <a:ext cx="6263659" cy="194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3" name="Rectangle 73"/>
          <p:cNvSpPr>
            <a:spLocks noGrp="1" noChangeArrowheads="1"/>
          </p:cNvSpPr>
          <p:nvPr>
            <p:ph type="title"/>
          </p:nvPr>
        </p:nvSpPr>
        <p:spPr>
          <a:xfrm>
            <a:off x="530774" y="170272"/>
            <a:ext cx="7772400" cy="796925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cs typeface="+mj-cs"/>
              </a:rPr>
              <a:t>Traffic engineering: difficult</a:t>
            </a:r>
            <a:endParaRPr lang="en-US" dirty="0"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4898" y="4078636"/>
            <a:ext cx="7417563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u="sng" dirty="0" smtClean="0">
                <a:solidFill>
                  <a:srgbClr val="000090"/>
                </a:solidFill>
              </a:rPr>
              <a:t>Q: </a:t>
            </a:r>
            <a:r>
              <a:rPr lang="en-US" sz="2400" dirty="0" smtClean="0"/>
              <a:t>what if network operator wants to split  u-to-z traffic along </a:t>
            </a:r>
            <a:r>
              <a:rPr lang="en-US" sz="2400" dirty="0" err="1" smtClean="0"/>
              <a:t>uvwz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C0000"/>
                </a:solidFill>
              </a:rPr>
              <a:t>and</a:t>
            </a:r>
            <a:r>
              <a:rPr lang="en-US" sz="2400" dirty="0" smtClean="0"/>
              <a:t> </a:t>
            </a:r>
            <a:r>
              <a:rPr lang="en-US" sz="2400" dirty="0" err="1" smtClean="0"/>
              <a:t>uxyz</a:t>
            </a:r>
            <a:r>
              <a:rPr lang="en-US" sz="2400" dirty="0" smtClean="0"/>
              <a:t> (load balancing)?</a:t>
            </a:r>
          </a:p>
          <a:p>
            <a:pPr algn="ctr"/>
            <a:r>
              <a:rPr lang="en-US" sz="2400" i="1" u="sng" dirty="0" smtClean="0">
                <a:solidFill>
                  <a:srgbClr val="000090"/>
                </a:solidFill>
              </a:rPr>
              <a:t>A: </a:t>
            </a:r>
            <a:r>
              <a:rPr lang="en-US" sz="2400" dirty="0" smtClean="0"/>
              <a:t>can’t do it (or need a new routing algorithm)</a:t>
            </a:r>
            <a:endParaRPr lang="en-US" sz="2400" dirty="0"/>
          </a:p>
        </p:txBody>
      </p:sp>
      <p:sp>
        <p:nvSpPr>
          <p:cNvPr id="15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687845" cy="38210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15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grpSp>
        <p:nvGrpSpPr>
          <p:cNvPr id="160" name="Group 159"/>
          <p:cNvGrpSpPr/>
          <p:nvPr/>
        </p:nvGrpSpPr>
        <p:grpSpPr>
          <a:xfrm>
            <a:off x="943464" y="1363093"/>
            <a:ext cx="6875191" cy="2404002"/>
            <a:chOff x="943464" y="1363093"/>
            <a:chExt cx="6875191" cy="2404002"/>
          </a:xfrm>
        </p:grpSpPr>
        <p:grpSp>
          <p:nvGrpSpPr>
            <p:cNvPr id="161" name="Group 1612"/>
            <p:cNvGrpSpPr>
              <a:grpSpLocks/>
            </p:cNvGrpSpPr>
            <p:nvPr/>
          </p:nvGrpSpPr>
          <p:grpSpPr bwMode="auto"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id="303" name="Picture 161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4" name="Freeform 1614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62" name="Freeform 3"/>
            <p:cNvSpPr>
              <a:spLocks/>
            </p:cNvSpPr>
            <p:nvPr/>
          </p:nvSpPr>
          <p:spPr bwMode="auto">
            <a:xfrm>
              <a:off x="2059747" y="1363093"/>
              <a:ext cx="5142041" cy="2404002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" name="Freeform 4"/>
            <p:cNvSpPr>
              <a:spLocks/>
            </p:cNvSpPr>
            <p:nvPr/>
          </p:nvSpPr>
          <p:spPr bwMode="auto">
            <a:xfrm>
              <a:off x="2834105" y="2267385"/>
              <a:ext cx="781590" cy="317349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Freeform 35"/>
            <p:cNvSpPr>
              <a:spLocks/>
            </p:cNvSpPr>
            <p:nvPr/>
          </p:nvSpPr>
          <p:spPr bwMode="auto">
            <a:xfrm>
              <a:off x="5254292" y="2313451"/>
              <a:ext cx="2285" cy="890624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6" name="Freeform 36"/>
            <p:cNvSpPr>
              <a:spLocks/>
            </p:cNvSpPr>
            <p:nvPr/>
          </p:nvSpPr>
          <p:spPr bwMode="auto">
            <a:xfrm>
              <a:off x="3670544" y="2323688"/>
              <a:ext cx="2285" cy="91621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7" name="Freeform 37"/>
            <p:cNvSpPr>
              <a:spLocks/>
            </p:cNvSpPr>
            <p:nvPr/>
          </p:nvSpPr>
          <p:spPr bwMode="auto">
            <a:xfrm>
              <a:off x="4017205" y="2298095"/>
              <a:ext cx="1182239" cy="1038973"/>
            </a:xfrm>
            <a:custGeom>
              <a:avLst/>
              <a:gdLst>
                <a:gd name="T0" fmla="*/ 0 w 378"/>
                <a:gd name="T1" fmla="*/ 142610238 h 174"/>
                <a:gd name="T2" fmla="*/ 8951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" name="Freeform 38"/>
            <p:cNvSpPr>
              <a:spLocks/>
            </p:cNvSpPr>
            <p:nvPr/>
          </p:nvSpPr>
          <p:spPr bwMode="auto">
            <a:xfrm>
              <a:off x="5617663" y="2891845"/>
              <a:ext cx="836439" cy="460668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" name="Freeform 39"/>
            <p:cNvSpPr>
              <a:spLocks/>
            </p:cNvSpPr>
            <p:nvPr/>
          </p:nvSpPr>
          <p:spPr bwMode="auto">
            <a:xfrm flipV="1">
              <a:off x="4022465" y="3327268"/>
              <a:ext cx="908330" cy="45719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0" name="Freeform 40"/>
            <p:cNvSpPr>
              <a:spLocks/>
            </p:cNvSpPr>
            <p:nvPr/>
          </p:nvSpPr>
          <p:spPr bwMode="auto">
            <a:xfrm>
              <a:off x="2710696" y="2820186"/>
              <a:ext cx="630757" cy="450430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1" name="Freeform 41"/>
            <p:cNvSpPr>
              <a:spLocks/>
            </p:cNvSpPr>
            <p:nvPr/>
          </p:nvSpPr>
          <p:spPr bwMode="auto">
            <a:xfrm>
              <a:off x="4047627" y="2195725"/>
              <a:ext cx="836439" cy="1706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" name="Freeform 42"/>
            <p:cNvSpPr>
              <a:spLocks/>
            </p:cNvSpPr>
            <p:nvPr/>
          </p:nvSpPr>
          <p:spPr bwMode="auto">
            <a:xfrm>
              <a:off x="5572253" y="2248471"/>
              <a:ext cx="922986" cy="397685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" name="Freeform 43"/>
            <p:cNvSpPr>
              <a:spLocks/>
            </p:cNvSpPr>
            <p:nvPr/>
          </p:nvSpPr>
          <p:spPr bwMode="auto">
            <a:xfrm>
              <a:off x="2580431" y="1458657"/>
              <a:ext cx="2536740" cy="1100484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" name="Text Box 62"/>
            <p:cNvSpPr txBox="1">
              <a:spLocks noChangeArrowheads="1"/>
            </p:cNvSpPr>
            <p:nvPr/>
          </p:nvSpPr>
          <p:spPr bwMode="auto"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75" name="Text Box 63"/>
            <p:cNvSpPr txBox="1">
              <a:spLocks noChangeArrowheads="1"/>
            </p:cNvSpPr>
            <p:nvPr/>
          </p:nvSpPr>
          <p:spPr bwMode="auto"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76" name="Text Box 64"/>
            <p:cNvSpPr txBox="1">
              <a:spLocks noChangeArrowheads="1"/>
            </p:cNvSpPr>
            <p:nvPr/>
          </p:nvSpPr>
          <p:spPr bwMode="auto"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77" name="Text Box 65"/>
            <p:cNvSpPr txBox="1">
              <a:spLocks noChangeArrowheads="1"/>
            </p:cNvSpPr>
            <p:nvPr/>
          </p:nvSpPr>
          <p:spPr bwMode="auto"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78" name="Text Box 66"/>
            <p:cNvSpPr txBox="1">
              <a:spLocks noChangeArrowheads="1"/>
            </p:cNvSpPr>
            <p:nvPr/>
          </p:nvSpPr>
          <p:spPr bwMode="auto"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79" name="Text Box 67"/>
            <p:cNvSpPr txBox="1">
              <a:spLocks noChangeArrowheads="1"/>
            </p:cNvSpPr>
            <p:nvPr/>
          </p:nvSpPr>
          <p:spPr bwMode="auto"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80" name="Text Box 68"/>
            <p:cNvSpPr txBox="1">
              <a:spLocks noChangeArrowheads="1"/>
            </p:cNvSpPr>
            <p:nvPr/>
          </p:nvSpPr>
          <p:spPr bwMode="auto"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81" name="Text Box 69"/>
            <p:cNvSpPr txBox="1">
              <a:spLocks noChangeArrowheads="1"/>
            </p:cNvSpPr>
            <p:nvPr/>
          </p:nvSpPr>
          <p:spPr bwMode="auto"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sp>
          <p:nvSpPr>
            <p:cNvPr id="182" name="Text Box 70"/>
            <p:cNvSpPr txBox="1">
              <a:spLocks noChangeArrowheads="1"/>
            </p:cNvSpPr>
            <p:nvPr/>
          </p:nvSpPr>
          <p:spPr bwMode="auto"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83" name="Text Box 71"/>
            <p:cNvSpPr txBox="1">
              <a:spLocks noChangeArrowheads="1"/>
            </p:cNvSpPr>
            <p:nvPr/>
          </p:nvSpPr>
          <p:spPr bwMode="auto"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grpSp>
          <p:nvGrpSpPr>
            <p:cNvPr id="184" name="Group 1507"/>
            <p:cNvGrpSpPr>
              <a:grpSpLocks/>
            </p:cNvGrpSpPr>
            <p:nvPr/>
          </p:nvGrpSpPr>
          <p:grpSpPr bwMode="auto"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271" name="Freeform 150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Rectangle 1509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3" name="Freeform 151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151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Rectangle 1512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6" name="Group 151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01" name="AutoShape 1514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2" name="AutoShape 1515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7" name="Rectangle 1516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8" name="Group 151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9" name="AutoShape 1518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0" name="AutoShape 1519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9" name="Rectangle 1520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0" name="Rectangle 1521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1" name="Group 152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7" name="AutoShape 1523"/>
                <p:cNvSpPr>
                  <a:spLocks noChangeArrowheads="1"/>
                </p:cNvSpPr>
                <p:nvPr/>
              </p:nvSpPr>
              <p:spPr bwMode="auto">
                <a:xfrm>
                  <a:off x="618" y="2579"/>
                  <a:ext cx="720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8" name="AutoShape 1524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2" name="Freeform 152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83" name="Group 152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5" name="AutoShape 152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6" name="AutoShape 1528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4" name="Rectangle 1529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5" name="Freeform 153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153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40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Oval 1532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8" name="Freeform 153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AutoShape 1534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0" name="AutoShape 1535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1" name="Oval 1536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" name="Oval 1537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293" name="Oval 1538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" name="Rectangle 1539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185" name="Straight Connector 184"/>
            <p:cNvCxnSpPr/>
            <p:nvPr/>
          </p:nvCxnSpPr>
          <p:spPr bwMode="auto">
            <a:xfrm>
              <a:off x="1682405" y="2744686"/>
              <a:ext cx="52677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6" name="Straight Connector 185"/>
            <p:cNvCxnSpPr/>
            <p:nvPr/>
          </p:nvCxnSpPr>
          <p:spPr bwMode="auto">
            <a:xfrm>
              <a:off x="6895267" y="2779855"/>
              <a:ext cx="52677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87" name="Group 186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25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62" name="Oval 26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3" name="Rectangle 26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4" name="Oval 26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5" name="Freeform 26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6" name="Freeform 26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7" name="Freeform 26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8" name="Freeform 26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69" name="Straight Connector 268"/>
                <p:cNvCxnSpPr>
                  <a:endCxn id="26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260" name="Oval 259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1" name="TextBox 260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v</a:t>
                  </a:r>
                  <a:endParaRPr lang="en-US" sz="2400" dirty="0"/>
                </a:p>
              </p:txBody>
            </p:sp>
          </p:grpSp>
        </p:grpSp>
        <p:grpSp>
          <p:nvGrpSpPr>
            <p:cNvPr id="188" name="Group 187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24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49" name="Oval 24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0" name="Rectangle 24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1" name="Oval 25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2" name="Freeform 25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3" name="Freeform 25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4" name="Freeform 25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5" name="Freeform 25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56" name="Straight Connector 255"/>
                <p:cNvCxnSpPr>
                  <a:endCxn id="25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247" name="Oval 246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8" name="TextBox 247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w</a:t>
                  </a:r>
                  <a:endParaRPr lang="en-US" sz="2400" dirty="0"/>
                </a:p>
              </p:txBody>
            </p:sp>
          </p:grpSp>
        </p:grpSp>
        <p:grpSp>
          <p:nvGrpSpPr>
            <p:cNvPr id="189" name="Group 188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232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36" name="Oval 235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7" name="Rectangle 236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8" name="Oval 237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9" name="Freeform 238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0" name="Freeform 239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1" name="Freeform 240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2" name="Freeform 241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43" name="Straight Connector 242"/>
                <p:cNvCxnSpPr>
                  <a:endCxn id="23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34" name="Oval 233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5" name="TextBox 234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u</a:t>
                  </a:r>
                  <a:endParaRPr lang="en-US" sz="2400" dirty="0"/>
                </a:p>
              </p:txBody>
            </p:sp>
          </p:grpSp>
        </p:grpSp>
        <p:grpSp>
          <p:nvGrpSpPr>
            <p:cNvPr id="190" name="Group 189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219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23" name="Oval 222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4" name="Rectangle 223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5" name="Oval 224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6" name="Freeform 225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7" name="Freeform 226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8" name="Freeform 227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9" name="Freeform 228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30" name="Straight Connector 229"/>
                <p:cNvCxnSpPr>
                  <a:endCxn id="22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21" name="Oval 220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2" name="TextBox 221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z</a:t>
                  </a:r>
                  <a:endParaRPr lang="en-US" sz="2400" dirty="0"/>
                </a:p>
              </p:txBody>
            </p:sp>
          </p:grpSp>
        </p:grpSp>
        <p:grpSp>
          <p:nvGrpSpPr>
            <p:cNvPr id="191" name="Group 190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206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10" name="Oval 209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1" name="Rectangle 210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2" name="Oval 211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3" name="Freeform 212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4" name="Freeform 213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5" name="Freeform 214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6" name="Freeform 215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17" name="Straight Connector 216"/>
                <p:cNvCxnSpPr>
                  <a:endCxn id="21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08" name="Oval 207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9" name="TextBox 208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y</a:t>
                  </a:r>
                  <a:endParaRPr lang="en-US" sz="2400" dirty="0"/>
                </a:p>
              </p:txBody>
            </p:sp>
          </p:grpSp>
        </p:grpSp>
        <p:grpSp>
          <p:nvGrpSpPr>
            <p:cNvPr id="192" name="Group 191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193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97" name="Oval 196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8" name="Rectangle 197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9" name="Oval 198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00" name="Freeform 199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1" name="Freeform 200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2" name="Freeform 201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3" name="Freeform 202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04" name="Straight Connector 203"/>
                <p:cNvCxnSpPr>
                  <a:endCxn id="19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195" name="Oval 194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6" name="TextBox 19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x</a:t>
                  </a:r>
                  <a:endParaRPr lang="en-US" sz="2400" dirty="0"/>
                </a:p>
              </p:txBody>
            </p:sp>
          </p:grpSp>
        </p:grpSp>
      </p:grpSp>
      <p:grpSp>
        <p:nvGrpSpPr>
          <p:cNvPr id="157" name="Group 156"/>
          <p:cNvGrpSpPr/>
          <p:nvPr/>
        </p:nvGrpSpPr>
        <p:grpSpPr>
          <a:xfrm>
            <a:off x="1824193" y="2137617"/>
            <a:ext cx="1838752" cy="1207922"/>
            <a:chOff x="1800839" y="2199110"/>
            <a:chExt cx="1838752" cy="1207922"/>
          </a:xfrm>
        </p:grpSpPr>
        <p:sp>
          <p:nvSpPr>
            <p:cNvPr id="158" name="Freeform 157"/>
            <p:cNvSpPr/>
            <p:nvPr/>
          </p:nvSpPr>
          <p:spPr>
            <a:xfrm>
              <a:off x="1800839" y="2199110"/>
              <a:ext cx="1838752" cy="549777"/>
            </a:xfrm>
            <a:custGeom>
              <a:avLst/>
              <a:gdLst>
                <a:gd name="connsiteX0" fmla="*/ 0 w 1876665"/>
                <a:gd name="connsiteY0" fmla="*/ 739356 h 739356"/>
                <a:gd name="connsiteX1" fmla="*/ 985723 w 1876665"/>
                <a:gd name="connsiteY1" fmla="*/ 720399 h 739356"/>
                <a:gd name="connsiteX2" fmla="*/ 1876665 w 1876665"/>
                <a:gd name="connsiteY2" fmla="*/ 0 h 739356"/>
                <a:gd name="connsiteX0" fmla="*/ 0 w 1876665"/>
                <a:gd name="connsiteY0" fmla="*/ 739356 h 739356"/>
                <a:gd name="connsiteX1" fmla="*/ 818495 w 1876665"/>
                <a:gd name="connsiteY1" fmla="*/ 720399 h 739356"/>
                <a:gd name="connsiteX2" fmla="*/ 1876665 w 1876665"/>
                <a:gd name="connsiteY2" fmla="*/ 0 h 739356"/>
                <a:gd name="connsiteX0" fmla="*/ 0 w 1802341"/>
                <a:gd name="connsiteY0" fmla="*/ 630627 h 630627"/>
                <a:gd name="connsiteX1" fmla="*/ 818495 w 1802341"/>
                <a:gd name="connsiteY1" fmla="*/ 611670 h 630627"/>
                <a:gd name="connsiteX2" fmla="*/ 1802341 w 1802341"/>
                <a:gd name="connsiteY2" fmla="*/ 0 h 63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2341" h="630627">
                  <a:moveTo>
                    <a:pt x="0" y="630627"/>
                  </a:moveTo>
                  <a:lnTo>
                    <a:pt x="818495" y="611670"/>
                  </a:lnTo>
                  <a:lnTo>
                    <a:pt x="1802341" y="0"/>
                  </a:lnTo>
                </a:path>
              </a:pathLst>
            </a:custGeom>
            <a:ln w="50800" cmpd="sng">
              <a:solidFill>
                <a:srgbClr val="CC0000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Freeform 158"/>
            <p:cNvSpPr/>
            <p:nvPr/>
          </p:nvSpPr>
          <p:spPr>
            <a:xfrm flipV="1">
              <a:off x="1801588" y="2749626"/>
              <a:ext cx="1741891" cy="657406"/>
            </a:xfrm>
            <a:custGeom>
              <a:avLst/>
              <a:gdLst>
                <a:gd name="connsiteX0" fmla="*/ 0 w 1876665"/>
                <a:gd name="connsiteY0" fmla="*/ 739356 h 739356"/>
                <a:gd name="connsiteX1" fmla="*/ 985723 w 1876665"/>
                <a:gd name="connsiteY1" fmla="*/ 720399 h 739356"/>
                <a:gd name="connsiteX2" fmla="*/ 1876665 w 1876665"/>
                <a:gd name="connsiteY2" fmla="*/ 0 h 739356"/>
                <a:gd name="connsiteX0" fmla="*/ 0 w 1876665"/>
                <a:gd name="connsiteY0" fmla="*/ 739356 h 739356"/>
                <a:gd name="connsiteX1" fmla="*/ 818495 w 1876665"/>
                <a:gd name="connsiteY1" fmla="*/ 720399 h 739356"/>
                <a:gd name="connsiteX2" fmla="*/ 1876665 w 1876665"/>
                <a:gd name="connsiteY2" fmla="*/ 0 h 739356"/>
                <a:gd name="connsiteX0" fmla="*/ 0 w 1802341"/>
                <a:gd name="connsiteY0" fmla="*/ 630627 h 630627"/>
                <a:gd name="connsiteX1" fmla="*/ 818495 w 1802341"/>
                <a:gd name="connsiteY1" fmla="*/ 611670 h 630627"/>
                <a:gd name="connsiteX2" fmla="*/ 1802341 w 1802341"/>
                <a:gd name="connsiteY2" fmla="*/ 0 h 630627"/>
                <a:gd name="connsiteX0" fmla="*/ 0 w 1707398"/>
                <a:gd name="connsiteY0" fmla="*/ 754084 h 754084"/>
                <a:gd name="connsiteX1" fmla="*/ 818495 w 1707398"/>
                <a:gd name="connsiteY1" fmla="*/ 735127 h 754084"/>
                <a:gd name="connsiteX2" fmla="*/ 1707398 w 1707398"/>
                <a:gd name="connsiteY2" fmla="*/ 0 h 75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7398" h="754084">
                  <a:moveTo>
                    <a:pt x="0" y="754084"/>
                  </a:moveTo>
                  <a:lnTo>
                    <a:pt x="818495" y="735127"/>
                  </a:lnTo>
                  <a:lnTo>
                    <a:pt x="1707398" y="0"/>
                  </a:lnTo>
                </a:path>
              </a:pathLst>
            </a:custGeom>
            <a:ln w="50800" cmpd="sng">
              <a:solidFill>
                <a:srgbClr val="CC0000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247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612"/>
          <p:cNvGrpSpPr>
            <a:grpSpLocks/>
          </p:cNvGrpSpPr>
          <p:nvPr/>
        </p:nvGrpSpPr>
        <p:grpSpPr bwMode="auto">
          <a:xfrm flipH="1">
            <a:off x="943464" y="2441244"/>
            <a:ext cx="855053" cy="655887"/>
            <a:chOff x="2839" y="3501"/>
            <a:chExt cx="755" cy="803"/>
          </a:xfrm>
        </p:grpSpPr>
        <p:pic>
          <p:nvPicPr>
            <p:cNvPr id="119" name="Picture 1613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" name="Freeform 161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120835" name="Picture 75" descr="underline_base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7" y="847725"/>
            <a:ext cx="6263659" cy="194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40" name="Freeform 3"/>
          <p:cNvSpPr>
            <a:spLocks/>
          </p:cNvSpPr>
          <p:nvPr/>
        </p:nvSpPr>
        <p:spPr bwMode="auto">
          <a:xfrm>
            <a:off x="2066227" y="1330694"/>
            <a:ext cx="5142041" cy="2404002"/>
          </a:xfrm>
          <a:custGeom>
            <a:avLst/>
            <a:gdLst>
              <a:gd name="T0" fmla="*/ 0 w 2250"/>
              <a:gd name="T1" fmla="*/ 624 h 1409"/>
              <a:gd name="T2" fmla="*/ 219 w 2250"/>
              <a:gd name="T3" fmla="*/ 321 h 1409"/>
              <a:gd name="T4" fmla="*/ 529 w 2250"/>
              <a:gd name="T5" fmla="*/ 35 h 1409"/>
              <a:gd name="T6" fmla="*/ 1551 w 2250"/>
              <a:gd name="T7" fmla="*/ 111 h 1409"/>
              <a:gd name="T8" fmla="*/ 1968 w 2250"/>
              <a:gd name="T9" fmla="*/ 483 h 1409"/>
              <a:gd name="T10" fmla="*/ 2199 w 2250"/>
              <a:gd name="T11" fmla="*/ 906 h 1409"/>
              <a:gd name="T12" fmla="*/ 1659 w 2250"/>
              <a:gd name="T13" fmla="*/ 1314 h 1409"/>
              <a:gd name="T14" fmla="*/ 993 w 2250"/>
              <a:gd name="T15" fmla="*/ 1386 h 1409"/>
              <a:gd name="T16" fmla="*/ 465 w 2250"/>
              <a:gd name="T17" fmla="*/ 1356 h 1409"/>
              <a:gd name="T18" fmla="*/ 102 w 2250"/>
              <a:gd name="T19" fmla="*/ 1068 h 1409"/>
              <a:gd name="T20" fmla="*/ 0 w 2250"/>
              <a:gd name="T21" fmla="*/ 624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41" name="Freeform 4"/>
          <p:cNvSpPr>
            <a:spLocks/>
          </p:cNvSpPr>
          <p:nvPr/>
        </p:nvSpPr>
        <p:spPr bwMode="auto">
          <a:xfrm>
            <a:off x="2834105" y="2267385"/>
            <a:ext cx="781590" cy="31734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47" name="Oval 10"/>
          <p:cNvSpPr>
            <a:spLocks noChangeArrowheads="1"/>
          </p:cNvSpPr>
          <p:nvPr/>
        </p:nvSpPr>
        <p:spPr bwMode="auto">
          <a:xfrm>
            <a:off x="3323170" y="3340569"/>
            <a:ext cx="715315" cy="138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0848" name="Line 11"/>
          <p:cNvSpPr>
            <a:spLocks noChangeShapeType="1"/>
          </p:cNvSpPr>
          <p:nvPr/>
        </p:nvSpPr>
        <p:spPr bwMode="auto">
          <a:xfrm>
            <a:off x="3323170" y="3328626"/>
            <a:ext cx="0" cy="853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49" name="Line 12"/>
          <p:cNvSpPr>
            <a:spLocks noChangeShapeType="1"/>
          </p:cNvSpPr>
          <p:nvPr/>
        </p:nvSpPr>
        <p:spPr bwMode="auto">
          <a:xfrm>
            <a:off x="4038485" y="3328626"/>
            <a:ext cx="0" cy="853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50" name="Rectangle 13"/>
          <p:cNvSpPr>
            <a:spLocks noChangeArrowheads="1"/>
          </p:cNvSpPr>
          <p:nvPr/>
        </p:nvSpPr>
        <p:spPr bwMode="auto">
          <a:xfrm>
            <a:off x="3323170" y="3328626"/>
            <a:ext cx="708459" cy="8360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120851" name="Oval 14"/>
          <p:cNvSpPr>
            <a:spLocks noChangeArrowheads="1"/>
          </p:cNvSpPr>
          <p:nvPr/>
        </p:nvSpPr>
        <p:spPr bwMode="auto">
          <a:xfrm>
            <a:off x="3316314" y="3227962"/>
            <a:ext cx="715315" cy="1620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0852" name="Oval 15"/>
          <p:cNvSpPr>
            <a:spLocks noChangeArrowheads="1"/>
          </p:cNvSpPr>
          <p:nvPr/>
        </p:nvSpPr>
        <p:spPr bwMode="auto">
          <a:xfrm>
            <a:off x="3314029" y="2163308"/>
            <a:ext cx="715315" cy="138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0853" name="Line 16"/>
          <p:cNvSpPr>
            <a:spLocks noChangeShapeType="1"/>
          </p:cNvSpPr>
          <p:nvPr/>
        </p:nvSpPr>
        <p:spPr bwMode="auto">
          <a:xfrm>
            <a:off x="3314029" y="2151365"/>
            <a:ext cx="0" cy="853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54" name="Line 17"/>
          <p:cNvSpPr>
            <a:spLocks noChangeShapeType="1"/>
          </p:cNvSpPr>
          <p:nvPr/>
        </p:nvSpPr>
        <p:spPr bwMode="auto">
          <a:xfrm>
            <a:off x="4029344" y="2151365"/>
            <a:ext cx="0" cy="853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55" name="Rectangle 18"/>
          <p:cNvSpPr>
            <a:spLocks noChangeArrowheads="1"/>
          </p:cNvSpPr>
          <p:nvPr/>
        </p:nvSpPr>
        <p:spPr bwMode="auto">
          <a:xfrm>
            <a:off x="3314029" y="2151365"/>
            <a:ext cx="708459" cy="8360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120856" name="Oval 19"/>
          <p:cNvSpPr>
            <a:spLocks noChangeArrowheads="1"/>
          </p:cNvSpPr>
          <p:nvPr/>
        </p:nvSpPr>
        <p:spPr bwMode="auto">
          <a:xfrm>
            <a:off x="3307173" y="2050700"/>
            <a:ext cx="715315" cy="1620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0857" name="Oval 20"/>
          <p:cNvSpPr>
            <a:spLocks noChangeArrowheads="1"/>
          </p:cNvSpPr>
          <p:nvPr/>
        </p:nvSpPr>
        <p:spPr bwMode="auto">
          <a:xfrm>
            <a:off x="4874924" y="2156483"/>
            <a:ext cx="713030" cy="138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0858" name="Line 21"/>
          <p:cNvSpPr>
            <a:spLocks noChangeShapeType="1"/>
          </p:cNvSpPr>
          <p:nvPr/>
        </p:nvSpPr>
        <p:spPr bwMode="auto">
          <a:xfrm>
            <a:off x="4874924" y="2144540"/>
            <a:ext cx="0" cy="853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59" name="Line 22"/>
          <p:cNvSpPr>
            <a:spLocks noChangeShapeType="1"/>
          </p:cNvSpPr>
          <p:nvPr/>
        </p:nvSpPr>
        <p:spPr bwMode="auto">
          <a:xfrm>
            <a:off x="5587954" y="2144540"/>
            <a:ext cx="0" cy="853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60" name="Rectangle 23"/>
          <p:cNvSpPr>
            <a:spLocks noChangeArrowheads="1"/>
          </p:cNvSpPr>
          <p:nvPr/>
        </p:nvSpPr>
        <p:spPr bwMode="auto">
          <a:xfrm>
            <a:off x="4874924" y="2144540"/>
            <a:ext cx="706174" cy="8360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120861" name="Oval 24"/>
          <p:cNvSpPr>
            <a:spLocks noChangeArrowheads="1"/>
          </p:cNvSpPr>
          <p:nvPr/>
        </p:nvSpPr>
        <p:spPr bwMode="auto">
          <a:xfrm>
            <a:off x="4881780" y="2048994"/>
            <a:ext cx="713030" cy="1620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0862" name="Oval 25"/>
          <p:cNvSpPr>
            <a:spLocks noChangeArrowheads="1"/>
          </p:cNvSpPr>
          <p:nvPr/>
        </p:nvSpPr>
        <p:spPr bwMode="auto">
          <a:xfrm>
            <a:off x="4897778" y="3335451"/>
            <a:ext cx="715315" cy="138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0863" name="Line 26"/>
          <p:cNvSpPr>
            <a:spLocks noChangeShapeType="1"/>
          </p:cNvSpPr>
          <p:nvPr/>
        </p:nvSpPr>
        <p:spPr bwMode="auto">
          <a:xfrm>
            <a:off x="4897778" y="3323508"/>
            <a:ext cx="0" cy="853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64" name="Line 27"/>
          <p:cNvSpPr>
            <a:spLocks noChangeShapeType="1"/>
          </p:cNvSpPr>
          <p:nvPr/>
        </p:nvSpPr>
        <p:spPr bwMode="auto">
          <a:xfrm>
            <a:off x="5613093" y="3323508"/>
            <a:ext cx="0" cy="853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65" name="Rectangle 28"/>
          <p:cNvSpPr>
            <a:spLocks noChangeArrowheads="1"/>
          </p:cNvSpPr>
          <p:nvPr/>
        </p:nvSpPr>
        <p:spPr bwMode="auto">
          <a:xfrm>
            <a:off x="4897778" y="3323508"/>
            <a:ext cx="708459" cy="8360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120866" name="Oval 29"/>
          <p:cNvSpPr>
            <a:spLocks noChangeArrowheads="1"/>
          </p:cNvSpPr>
          <p:nvPr/>
        </p:nvSpPr>
        <p:spPr bwMode="auto">
          <a:xfrm>
            <a:off x="4890922" y="3222843"/>
            <a:ext cx="715315" cy="1620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0867" name="Oval 30"/>
          <p:cNvSpPr>
            <a:spLocks noChangeArrowheads="1"/>
          </p:cNvSpPr>
          <p:nvPr/>
        </p:nvSpPr>
        <p:spPr bwMode="auto">
          <a:xfrm>
            <a:off x="6189001" y="2753645"/>
            <a:ext cx="715315" cy="1382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0868" name="Line 31"/>
          <p:cNvSpPr>
            <a:spLocks noChangeShapeType="1"/>
          </p:cNvSpPr>
          <p:nvPr/>
        </p:nvSpPr>
        <p:spPr bwMode="auto">
          <a:xfrm>
            <a:off x="6189001" y="2741702"/>
            <a:ext cx="0" cy="853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69" name="Line 32"/>
          <p:cNvSpPr>
            <a:spLocks noChangeShapeType="1"/>
          </p:cNvSpPr>
          <p:nvPr/>
        </p:nvSpPr>
        <p:spPr bwMode="auto">
          <a:xfrm>
            <a:off x="6904316" y="2741702"/>
            <a:ext cx="0" cy="853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0" name="Rectangle 33"/>
          <p:cNvSpPr>
            <a:spLocks noChangeArrowheads="1"/>
          </p:cNvSpPr>
          <p:nvPr/>
        </p:nvSpPr>
        <p:spPr bwMode="auto">
          <a:xfrm>
            <a:off x="6189001" y="2741702"/>
            <a:ext cx="708459" cy="8360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120871" name="Oval 34"/>
          <p:cNvSpPr>
            <a:spLocks noChangeArrowheads="1"/>
          </p:cNvSpPr>
          <p:nvPr/>
        </p:nvSpPr>
        <p:spPr bwMode="auto">
          <a:xfrm>
            <a:off x="6182145" y="2641037"/>
            <a:ext cx="715315" cy="1620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0872" name="Freeform 35"/>
          <p:cNvSpPr>
            <a:spLocks/>
          </p:cNvSpPr>
          <p:nvPr/>
        </p:nvSpPr>
        <p:spPr bwMode="auto">
          <a:xfrm>
            <a:off x="5254292" y="2313451"/>
            <a:ext cx="2285" cy="890624"/>
          </a:xfrm>
          <a:custGeom>
            <a:avLst/>
            <a:gdLst>
              <a:gd name="T0" fmla="*/ 0 w 1"/>
              <a:gd name="T1" fmla="*/ 0 h 522"/>
              <a:gd name="T2" fmla="*/ 0 w 1"/>
              <a:gd name="T3" fmla="*/ 522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3" name="Freeform 36"/>
          <p:cNvSpPr>
            <a:spLocks/>
          </p:cNvSpPr>
          <p:nvPr/>
        </p:nvSpPr>
        <p:spPr bwMode="auto">
          <a:xfrm>
            <a:off x="3670544" y="2323688"/>
            <a:ext cx="2285" cy="916217"/>
          </a:xfrm>
          <a:custGeom>
            <a:avLst/>
            <a:gdLst>
              <a:gd name="T0" fmla="*/ 0 w 1"/>
              <a:gd name="T1" fmla="*/ 0 h 537"/>
              <a:gd name="T2" fmla="*/ 0 w 1"/>
              <a:gd name="T3" fmla="*/ 53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4" name="Freeform 37"/>
          <p:cNvSpPr>
            <a:spLocks/>
          </p:cNvSpPr>
          <p:nvPr/>
        </p:nvSpPr>
        <p:spPr bwMode="auto">
          <a:xfrm>
            <a:off x="4047627" y="2298096"/>
            <a:ext cx="1151817" cy="1023706"/>
          </a:xfrm>
          <a:custGeom>
            <a:avLst/>
            <a:gdLst>
              <a:gd name="T0" fmla="*/ 0 w 378"/>
              <a:gd name="T1" fmla="*/ 142610238 h 174"/>
              <a:gd name="T2" fmla="*/ 8951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5" name="Freeform 38"/>
          <p:cNvSpPr>
            <a:spLocks/>
          </p:cNvSpPr>
          <p:nvPr/>
        </p:nvSpPr>
        <p:spPr bwMode="auto">
          <a:xfrm>
            <a:off x="5617663" y="2891845"/>
            <a:ext cx="836439" cy="460668"/>
          </a:xfrm>
          <a:custGeom>
            <a:avLst/>
            <a:gdLst>
              <a:gd name="T0" fmla="*/ 0 w 366"/>
              <a:gd name="T1" fmla="*/ 270 h 270"/>
              <a:gd name="T2" fmla="*/ 366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6" name="Freeform 39"/>
          <p:cNvSpPr>
            <a:spLocks/>
          </p:cNvSpPr>
          <p:nvPr/>
        </p:nvSpPr>
        <p:spPr bwMode="auto">
          <a:xfrm>
            <a:off x="4061339" y="3372987"/>
            <a:ext cx="836439" cy="1706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7" name="Freeform 40"/>
          <p:cNvSpPr>
            <a:spLocks/>
          </p:cNvSpPr>
          <p:nvPr/>
        </p:nvSpPr>
        <p:spPr bwMode="auto">
          <a:xfrm>
            <a:off x="2710696" y="2820186"/>
            <a:ext cx="630757" cy="450430"/>
          </a:xfrm>
          <a:custGeom>
            <a:avLst/>
            <a:gdLst>
              <a:gd name="T0" fmla="*/ 276 w 276"/>
              <a:gd name="T1" fmla="*/ 264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8" name="Freeform 41"/>
          <p:cNvSpPr>
            <a:spLocks/>
          </p:cNvSpPr>
          <p:nvPr/>
        </p:nvSpPr>
        <p:spPr bwMode="auto">
          <a:xfrm>
            <a:off x="4047627" y="2195725"/>
            <a:ext cx="836439" cy="1706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9" name="Freeform 42"/>
          <p:cNvSpPr>
            <a:spLocks/>
          </p:cNvSpPr>
          <p:nvPr/>
        </p:nvSpPr>
        <p:spPr bwMode="auto">
          <a:xfrm>
            <a:off x="5590239" y="2190607"/>
            <a:ext cx="904999" cy="455549"/>
          </a:xfrm>
          <a:custGeom>
            <a:avLst/>
            <a:gdLst>
              <a:gd name="T0" fmla="*/ 396 w 396"/>
              <a:gd name="T1" fmla="*/ 26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80" name="Freeform 43"/>
          <p:cNvSpPr>
            <a:spLocks/>
          </p:cNvSpPr>
          <p:nvPr/>
        </p:nvSpPr>
        <p:spPr bwMode="auto">
          <a:xfrm>
            <a:off x="2580431" y="1458657"/>
            <a:ext cx="2536740" cy="1100484"/>
          </a:xfrm>
          <a:custGeom>
            <a:avLst/>
            <a:gdLst>
              <a:gd name="T0" fmla="*/ 1110 w 1110"/>
              <a:gd name="T1" fmla="*/ 342 h 645"/>
              <a:gd name="T2" fmla="*/ 0 w 1110"/>
              <a:gd name="T3" fmla="*/ 645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0882" name="Group 47"/>
          <p:cNvGrpSpPr>
            <a:grpSpLocks/>
          </p:cNvGrpSpPr>
          <p:nvPr/>
        </p:nvGrpSpPr>
        <p:grpSpPr bwMode="auto">
          <a:xfrm>
            <a:off x="5034899" y="3134122"/>
            <a:ext cx="447929" cy="426544"/>
            <a:chOff x="2958" y="2425"/>
            <a:chExt cx="199" cy="250"/>
          </a:xfrm>
        </p:grpSpPr>
        <p:sp>
          <p:nvSpPr>
            <p:cNvPr id="120905" name="Rectangle 48"/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06" name="Text Box 49"/>
            <p:cNvSpPr txBox="1">
              <a:spLocks noChangeArrowheads="1"/>
            </p:cNvSpPr>
            <p:nvPr/>
          </p:nvSpPr>
          <p:spPr bwMode="auto"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y</a:t>
              </a:r>
              <a:endParaRPr lang="en-US"/>
            </a:p>
          </p:txBody>
        </p:sp>
      </p:grpSp>
      <p:grpSp>
        <p:nvGrpSpPr>
          <p:cNvPr id="120883" name="Group 50"/>
          <p:cNvGrpSpPr>
            <a:grpSpLocks/>
          </p:cNvGrpSpPr>
          <p:nvPr/>
        </p:nvGrpSpPr>
        <p:grpSpPr bwMode="auto">
          <a:xfrm>
            <a:off x="3460291" y="3077818"/>
            <a:ext cx="484495" cy="491379"/>
            <a:chOff x="2951" y="2395"/>
            <a:chExt cx="213" cy="288"/>
          </a:xfrm>
        </p:grpSpPr>
        <p:sp>
          <p:nvSpPr>
            <p:cNvPr id="120903" name="Rectangle 51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04" name="Text Box 52"/>
            <p:cNvSpPr txBox="1">
              <a:spLocks noChangeArrowheads="1"/>
            </p:cNvSpPr>
            <p:nvPr/>
          </p:nvSpPr>
          <p:spPr bwMode="auto">
            <a:xfrm>
              <a:off x="2951" y="2395"/>
              <a:ext cx="2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x</a:t>
              </a:r>
            </a:p>
          </p:txBody>
        </p:sp>
      </p:grpSp>
      <p:grpSp>
        <p:nvGrpSpPr>
          <p:cNvPr id="120884" name="Group 53"/>
          <p:cNvGrpSpPr>
            <a:grpSpLocks/>
          </p:cNvGrpSpPr>
          <p:nvPr/>
        </p:nvGrpSpPr>
        <p:grpSpPr bwMode="auto">
          <a:xfrm>
            <a:off x="4982336" y="1956861"/>
            <a:ext cx="530202" cy="426544"/>
            <a:chOff x="2941" y="2425"/>
            <a:chExt cx="235" cy="250"/>
          </a:xfrm>
        </p:grpSpPr>
        <p:sp>
          <p:nvSpPr>
            <p:cNvPr id="120901" name="Rectangle 54"/>
            <p:cNvSpPr>
              <a:spLocks noChangeArrowheads="1"/>
            </p:cNvSpPr>
            <p:nvPr/>
          </p:nvSpPr>
          <p:spPr bwMode="auto">
            <a:xfrm>
              <a:off x="2982" y="2490"/>
              <a:ext cx="146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02" name="Text Box 55"/>
            <p:cNvSpPr txBox="1">
              <a:spLocks noChangeArrowheads="1"/>
            </p:cNvSpPr>
            <p:nvPr/>
          </p:nvSpPr>
          <p:spPr bwMode="auto">
            <a:xfrm>
              <a:off x="2941" y="2425"/>
              <a:ext cx="2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w</a:t>
              </a:r>
              <a:endParaRPr lang="en-US"/>
            </a:p>
          </p:txBody>
        </p:sp>
      </p:grpSp>
      <p:grpSp>
        <p:nvGrpSpPr>
          <p:cNvPr id="120885" name="Group 56"/>
          <p:cNvGrpSpPr>
            <a:grpSpLocks/>
          </p:cNvGrpSpPr>
          <p:nvPr/>
        </p:nvGrpSpPr>
        <p:grpSpPr bwMode="auto">
          <a:xfrm>
            <a:off x="3458006" y="1956861"/>
            <a:ext cx="447929" cy="426544"/>
            <a:chOff x="2958" y="2425"/>
            <a:chExt cx="199" cy="250"/>
          </a:xfrm>
        </p:grpSpPr>
        <p:sp>
          <p:nvSpPr>
            <p:cNvPr id="120899" name="Rectangle 57"/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900" name="Text Box 58"/>
            <p:cNvSpPr txBox="1">
              <a:spLocks noChangeArrowheads="1"/>
            </p:cNvSpPr>
            <p:nvPr/>
          </p:nvSpPr>
          <p:spPr bwMode="auto"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v</a:t>
              </a:r>
              <a:endParaRPr lang="en-US"/>
            </a:p>
          </p:txBody>
        </p:sp>
      </p:grpSp>
      <p:grpSp>
        <p:nvGrpSpPr>
          <p:cNvPr id="120886" name="Group 59"/>
          <p:cNvGrpSpPr>
            <a:grpSpLocks/>
          </p:cNvGrpSpPr>
          <p:nvPr/>
        </p:nvGrpSpPr>
        <p:grpSpPr bwMode="auto">
          <a:xfrm>
            <a:off x="6323837" y="2499425"/>
            <a:ext cx="484495" cy="491379"/>
            <a:chOff x="2949" y="2395"/>
            <a:chExt cx="214" cy="288"/>
          </a:xfrm>
        </p:grpSpPr>
        <p:sp>
          <p:nvSpPr>
            <p:cNvPr id="120897" name="Rectangle 60"/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98" name="Text Box 61"/>
            <p:cNvSpPr txBox="1">
              <a:spLocks noChangeArrowheads="1"/>
            </p:cNvSpPr>
            <p:nvPr/>
          </p:nvSpPr>
          <p:spPr bwMode="auto">
            <a:xfrm>
              <a:off x="2949" y="2395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z</a:t>
              </a:r>
            </a:p>
          </p:txBody>
        </p:sp>
      </p:grpSp>
      <p:sp>
        <p:nvSpPr>
          <p:cNvPr id="120887" name="Text Box 62"/>
          <p:cNvSpPr txBox="1">
            <a:spLocks noChangeArrowheads="1"/>
          </p:cNvSpPr>
          <p:nvPr/>
        </p:nvSpPr>
        <p:spPr bwMode="auto">
          <a:xfrm>
            <a:off x="2822678" y="2178663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88" name="Text Box 63"/>
          <p:cNvSpPr txBox="1">
            <a:spLocks noChangeArrowheads="1"/>
          </p:cNvSpPr>
          <p:nvPr/>
        </p:nvSpPr>
        <p:spPr bwMode="auto">
          <a:xfrm>
            <a:off x="3617981" y="2552316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89" name="Text Box 64"/>
          <p:cNvSpPr txBox="1">
            <a:spLocks noChangeArrowheads="1"/>
          </p:cNvSpPr>
          <p:nvPr/>
        </p:nvSpPr>
        <p:spPr bwMode="auto">
          <a:xfrm>
            <a:off x="2623853" y="2915732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0" name="Text Box 65"/>
          <p:cNvSpPr txBox="1">
            <a:spLocks noChangeArrowheads="1"/>
          </p:cNvSpPr>
          <p:nvPr/>
        </p:nvSpPr>
        <p:spPr bwMode="auto">
          <a:xfrm>
            <a:off x="4495556" y="2710990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3</a:t>
            </a:r>
            <a:endParaRPr lang="en-US"/>
          </a:p>
        </p:txBody>
      </p:sp>
      <p:sp>
        <p:nvSpPr>
          <p:cNvPr id="120891" name="Text Box 66"/>
          <p:cNvSpPr txBox="1">
            <a:spLocks noChangeArrowheads="1"/>
          </p:cNvSpPr>
          <p:nvPr/>
        </p:nvSpPr>
        <p:spPr bwMode="auto">
          <a:xfrm>
            <a:off x="4351579" y="3314977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2" name="Text Box 67"/>
          <p:cNvSpPr txBox="1">
            <a:spLocks noChangeArrowheads="1"/>
          </p:cNvSpPr>
          <p:nvPr/>
        </p:nvSpPr>
        <p:spPr bwMode="auto">
          <a:xfrm>
            <a:off x="5174305" y="2583027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3" name="Text Box 68"/>
          <p:cNvSpPr txBox="1">
            <a:spLocks noChangeArrowheads="1"/>
          </p:cNvSpPr>
          <p:nvPr/>
        </p:nvSpPr>
        <p:spPr bwMode="auto">
          <a:xfrm>
            <a:off x="5997032" y="3033458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94" name="Text Box 69"/>
          <p:cNvSpPr txBox="1">
            <a:spLocks noChangeArrowheads="1"/>
          </p:cNvSpPr>
          <p:nvPr/>
        </p:nvSpPr>
        <p:spPr bwMode="auto">
          <a:xfrm>
            <a:off x="5935327" y="2117241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5</a:t>
            </a:r>
            <a:endParaRPr lang="en-US"/>
          </a:p>
        </p:txBody>
      </p:sp>
      <p:sp>
        <p:nvSpPr>
          <p:cNvPr id="120895" name="Text Box 70"/>
          <p:cNvSpPr txBox="1">
            <a:spLocks noChangeArrowheads="1"/>
          </p:cNvSpPr>
          <p:nvPr/>
        </p:nvSpPr>
        <p:spPr bwMode="auto">
          <a:xfrm>
            <a:off x="4255594" y="1861315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3</a:t>
            </a:r>
            <a:endParaRPr lang="en-US"/>
          </a:p>
        </p:txBody>
      </p:sp>
      <p:sp>
        <p:nvSpPr>
          <p:cNvPr id="120896" name="Text Box 71"/>
          <p:cNvSpPr txBox="1">
            <a:spLocks noChangeArrowheads="1"/>
          </p:cNvSpPr>
          <p:nvPr/>
        </p:nvSpPr>
        <p:spPr bwMode="auto">
          <a:xfrm>
            <a:off x="3453435" y="1405766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5</a:t>
            </a:r>
            <a:endParaRPr lang="en-US"/>
          </a:p>
        </p:txBody>
      </p:sp>
      <p:sp>
        <p:nvSpPr>
          <p:cNvPr id="75783" name="Rectangle 73"/>
          <p:cNvSpPr>
            <a:spLocks noGrp="1" noChangeArrowheads="1"/>
          </p:cNvSpPr>
          <p:nvPr>
            <p:ph type="title"/>
          </p:nvPr>
        </p:nvSpPr>
        <p:spPr>
          <a:xfrm>
            <a:off x="530774" y="170272"/>
            <a:ext cx="7772400" cy="796925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cs typeface="+mj-cs"/>
              </a:rPr>
              <a:t>Traffic engineering: difficult</a:t>
            </a:r>
            <a:endParaRPr lang="en-US" dirty="0">
              <a:cs typeface="+mj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096464" y="2397247"/>
            <a:ext cx="978441" cy="597428"/>
            <a:chOff x="4034923" y="3926353"/>
            <a:chExt cx="978441" cy="597428"/>
          </a:xfrm>
        </p:grpSpPr>
        <p:pic>
          <p:nvPicPr>
            <p:cNvPr id="3" name="Picture 2" descr="router.png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4923" y="3926353"/>
              <a:ext cx="978441" cy="597428"/>
            </a:xfrm>
            <a:prstGeom prst="rect">
              <a:avLst/>
            </a:prstGeom>
          </p:spPr>
        </p:pic>
        <p:sp>
          <p:nvSpPr>
            <p:cNvPr id="87" name="Text Box 46"/>
            <p:cNvSpPr txBox="1">
              <a:spLocks noChangeArrowheads="1"/>
            </p:cNvSpPr>
            <p:nvPr/>
          </p:nvSpPr>
          <p:spPr bwMode="auto">
            <a:xfrm>
              <a:off x="4339956" y="4136876"/>
              <a:ext cx="3130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/>
                <a:t>u</a:t>
              </a:r>
              <a:endParaRPr lang="en-US" dirty="0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3201386" y="1897890"/>
            <a:ext cx="978441" cy="597428"/>
            <a:chOff x="4034923" y="3926353"/>
            <a:chExt cx="978441" cy="597428"/>
          </a:xfrm>
        </p:grpSpPr>
        <p:pic>
          <p:nvPicPr>
            <p:cNvPr id="103" name="Picture 102" descr="router.png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4923" y="3926353"/>
              <a:ext cx="978441" cy="597428"/>
            </a:xfrm>
            <a:prstGeom prst="rect">
              <a:avLst/>
            </a:prstGeom>
          </p:spPr>
        </p:pic>
        <p:sp>
          <p:nvSpPr>
            <p:cNvPr id="104" name="Text Box 46"/>
            <p:cNvSpPr txBox="1">
              <a:spLocks noChangeArrowheads="1"/>
            </p:cNvSpPr>
            <p:nvPr/>
          </p:nvSpPr>
          <p:spPr bwMode="auto">
            <a:xfrm>
              <a:off x="4333613" y="4136876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 smtClean="0"/>
                <a:t>v</a:t>
              </a:r>
              <a:endParaRPr lang="en-US" dirty="0"/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3228455" y="3027916"/>
            <a:ext cx="978441" cy="597428"/>
            <a:chOff x="4034923" y="3926353"/>
            <a:chExt cx="978441" cy="597428"/>
          </a:xfrm>
        </p:grpSpPr>
        <p:pic>
          <p:nvPicPr>
            <p:cNvPr id="106" name="Picture 105" descr="router.png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4923" y="3926353"/>
              <a:ext cx="978441" cy="597428"/>
            </a:xfrm>
            <a:prstGeom prst="rect">
              <a:avLst/>
            </a:prstGeom>
          </p:spPr>
        </p:pic>
        <p:sp>
          <p:nvSpPr>
            <p:cNvPr id="107" name="Text Box 46"/>
            <p:cNvSpPr txBox="1">
              <a:spLocks noChangeArrowheads="1"/>
            </p:cNvSpPr>
            <p:nvPr/>
          </p:nvSpPr>
          <p:spPr bwMode="auto">
            <a:xfrm>
              <a:off x="4346437" y="4136876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 smtClean="0"/>
                <a:t>x</a:t>
              </a:r>
              <a:endParaRPr lang="en-US" dirty="0"/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4759505" y="1885171"/>
            <a:ext cx="978441" cy="597428"/>
            <a:chOff x="4034923" y="3926353"/>
            <a:chExt cx="978441" cy="597428"/>
          </a:xfrm>
        </p:grpSpPr>
        <p:pic>
          <p:nvPicPr>
            <p:cNvPr id="109" name="Picture 108" descr="router.png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4923" y="3926353"/>
              <a:ext cx="978441" cy="597428"/>
            </a:xfrm>
            <a:prstGeom prst="rect">
              <a:avLst/>
            </a:prstGeom>
          </p:spPr>
        </p:pic>
        <p:sp>
          <p:nvSpPr>
            <p:cNvPr id="110" name="Text Box 46"/>
            <p:cNvSpPr txBox="1">
              <a:spLocks noChangeArrowheads="1"/>
            </p:cNvSpPr>
            <p:nvPr/>
          </p:nvSpPr>
          <p:spPr bwMode="auto">
            <a:xfrm>
              <a:off x="4307965" y="4136876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 smtClean="0"/>
                <a:t>w</a:t>
              </a:r>
              <a:endParaRPr lang="en-US" dirty="0"/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4786573" y="3031908"/>
            <a:ext cx="978441" cy="597428"/>
            <a:chOff x="4034923" y="3926353"/>
            <a:chExt cx="978441" cy="597428"/>
          </a:xfrm>
        </p:grpSpPr>
        <p:pic>
          <p:nvPicPr>
            <p:cNvPr id="112" name="Picture 111" descr="router.png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4923" y="3926353"/>
              <a:ext cx="978441" cy="597428"/>
            </a:xfrm>
            <a:prstGeom prst="rect">
              <a:avLst/>
            </a:prstGeom>
          </p:spPr>
        </p:pic>
        <p:sp>
          <p:nvSpPr>
            <p:cNvPr id="113" name="Text Box 46"/>
            <p:cNvSpPr txBox="1">
              <a:spLocks noChangeArrowheads="1"/>
            </p:cNvSpPr>
            <p:nvPr/>
          </p:nvSpPr>
          <p:spPr bwMode="auto">
            <a:xfrm>
              <a:off x="4340025" y="4136876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 smtClean="0"/>
                <a:t>y</a:t>
              </a:r>
              <a:endParaRPr lang="en-US" dirty="0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6058604" y="2465712"/>
            <a:ext cx="978441" cy="597428"/>
            <a:chOff x="4034923" y="3926353"/>
            <a:chExt cx="978441" cy="597428"/>
          </a:xfrm>
        </p:grpSpPr>
        <p:pic>
          <p:nvPicPr>
            <p:cNvPr id="115" name="Picture 114" descr="router.png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4923" y="3926353"/>
              <a:ext cx="978441" cy="597428"/>
            </a:xfrm>
            <a:prstGeom prst="rect">
              <a:avLst/>
            </a:prstGeom>
          </p:spPr>
        </p:pic>
        <p:sp>
          <p:nvSpPr>
            <p:cNvPr id="116" name="Text Box 46"/>
            <p:cNvSpPr txBox="1">
              <a:spLocks noChangeArrowheads="1"/>
            </p:cNvSpPr>
            <p:nvPr/>
          </p:nvSpPr>
          <p:spPr bwMode="auto">
            <a:xfrm>
              <a:off x="4346437" y="4136876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 dirty="0" smtClean="0"/>
                <a:t>z</a:t>
              </a:r>
              <a:endParaRPr lang="en-US" dirty="0"/>
            </a:p>
          </p:txBody>
        </p:sp>
      </p:grpSp>
      <p:grpSp>
        <p:nvGrpSpPr>
          <p:cNvPr id="121" name="Group 1507"/>
          <p:cNvGrpSpPr>
            <a:grpSpLocks/>
          </p:cNvGrpSpPr>
          <p:nvPr/>
        </p:nvGrpSpPr>
        <p:grpSpPr bwMode="auto">
          <a:xfrm>
            <a:off x="7391175" y="2426604"/>
            <a:ext cx="427480" cy="711995"/>
            <a:chOff x="4140" y="429"/>
            <a:chExt cx="1425" cy="2396"/>
          </a:xfrm>
        </p:grpSpPr>
        <p:sp>
          <p:nvSpPr>
            <p:cNvPr id="122" name="Freeform 150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Rectangle 1509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Freeform 151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51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Rectangle 1512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7" name="Group 151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2" name="AutoShape 151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" name="AutoShape 1515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Rectangle 1516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9" name="Group 151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0" name="AutoShape 1518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AutoShape 1519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0" name="Rectangle 1520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tangle 1521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2" name="Group 152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8" name="AutoShape 1523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9" name="AutoShape 152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3" name="Freeform 152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4" name="Group 152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6" name="AutoShape 152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7" name="AutoShape 1528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5" name="Rectangle 1529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Freeform 153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53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40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Oval 1532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Freeform 153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AutoShape 1534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AutoShape 1535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Oval 1536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Oval 1537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44" name="Oval 1538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Rectangle 1539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0" name="Straight Connector 9"/>
          <p:cNvCxnSpPr/>
          <p:nvPr/>
        </p:nvCxnSpPr>
        <p:spPr bwMode="auto">
          <a:xfrm>
            <a:off x="1682405" y="2744686"/>
            <a:ext cx="52677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" name="Straight Connector 162"/>
          <p:cNvCxnSpPr/>
          <p:nvPr/>
        </p:nvCxnSpPr>
        <p:spPr bwMode="auto">
          <a:xfrm>
            <a:off x="6895267" y="2779855"/>
            <a:ext cx="52677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717422" y="4173425"/>
            <a:ext cx="79455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 smtClean="0">
                <a:solidFill>
                  <a:srgbClr val="000090"/>
                </a:solidFill>
              </a:rPr>
              <a:t>Q: </a:t>
            </a:r>
            <a:r>
              <a:rPr lang="en-US" sz="2400" dirty="0" smtClean="0"/>
              <a:t>what if w wants to route blue and red traffic differently?</a:t>
            </a:r>
          </a:p>
          <a:p>
            <a:endParaRPr lang="en-US" sz="2400" dirty="0" smtClean="0"/>
          </a:p>
          <a:p>
            <a:r>
              <a:rPr lang="en-US" sz="2400" i="1" u="sng" dirty="0" smtClean="0">
                <a:solidFill>
                  <a:srgbClr val="000090"/>
                </a:solidFill>
              </a:rPr>
              <a:t>A: </a:t>
            </a:r>
            <a:r>
              <a:rPr lang="en-US" sz="2400" dirty="0" smtClean="0"/>
              <a:t>can’t do it (with destination based forwarding, and LS, DV routing)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7177246" y="0"/>
            <a:ext cx="1966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Networking 401</a:t>
            </a:r>
            <a:endParaRPr lang="en-US" sz="2000" dirty="0"/>
          </a:p>
        </p:txBody>
      </p:sp>
      <p:sp>
        <p:nvSpPr>
          <p:cNvPr id="2" name="Freeform 1"/>
          <p:cNvSpPr/>
          <p:nvPr/>
        </p:nvSpPr>
        <p:spPr>
          <a:xfrm>
            <a:off x="1781883" y="2123278"/>
            <a:ext cx="4644270" cy="644565"/>
          </a:xfrm>
          <a:custGeom>
            <a:avLst/>
            <a:gdLst>
              <a:gd name="connsiteX0" fmla="*/ 0 w 1876665"/>
              <a:gd name="connsiteY0" fmla="*/ 739356 h 739356"/>
              <a:gd name="connsiteX1" fmla="*/ 985723 w 1876665"/>
              <a:gd name="connsiteY1" fmla="*/ 720399 h 739356"/>
              <a:gd name="connsiteX2" fmla="*/ 1876665 w 1876665"/>
              <a:gd name="connsiteY2" fmla="*/ 0 h 739356"/>
              <a:gd name="connsiteX0" fmla="*/ 0 w 1876665"/>
              <a:gd name="connsiteY0" fmla="*/ 739356 h 739356"/>
              <a:gd name="connsiteX1" fmla="*/ 818495 w 1876665"/>
              <a:gd name="connsiteY1" fmla="*/ 720399 h 739356"/>
              <a:gd name="connsiteX2" fmla="*/ 1876665 w 1876665"/>
              <a:gd name="connsiteY2" fmla="*/ 0 h 739356"/>
              <a:gd name="connsiteX0" fmla="*/ 0 w 1802341"/>
              <a:gd name="connsiteY0" fmla="*/ 630627 h 630627"/>
              <a:gd name="connsiteX1" fmla="*/ 818495 w 1802341"/>
              <a:gd name="connsiteY1" fmla="*/ 611670 h 630627"/>
              <a:gd name="connsiteX2" fmla="*/ 1802341 w 1802341"/>
              <a:gd name="connsiteY2" fmla="*/ 0 h 630627"/>
              <a:gd name="connsiteX0" fmla="*/ 0 w 1802341"/>
              <a:gd name="connsiteY0" fmla="*/ 630627 h 630627"/>
              <a:gd name="connsiteX1" fmla="*/ 818495 w 1802341"/>
              <a:gd name="connsiteY1" fmla="*/ 611670 h 630627"/>
              <a:gd name="connsiteX2" fmla="*/ 1337821 w 1802341"/>
              <a:gd name="connsiteY2" fmla="*/ 260949 h 630627"/>
              <a:gd name="connsiteX3" fmla="*/ 1802341 w 1802341"/>
              <a:gd name="connsiteY3" fmla="*/ 0 h 630627"/>
              <a:gd name="connsiteX0" fmla="*/ 0 w 3381711"/>
              <a:gd name="connsiteY0" fmla="*/ 717610 h 717610"/>
              <a:gd name="connsiteX1" fmla="*/ 818495 w 3381711"/>
              <a:gd name="connsiteY1" fmla="*/ 698653 h 717610"/>
              <a:gd name="connsiteX2" fmla="*/ 1337821 w 3381711"/>
              <a:gd name="connsiteY2" fmla="*/ 347932 h 717610"/>
              <a:gd name="connsiteX3" fmla="*/ 3381711 w 3381711"/>
              <a:gd name="connsiteY3" fmla="*/ 0 h 717610"/>
              <a:gd name="connsiteX0" fmla="*/ 0 w 3381711"/>
              <a:gd name="connsiteY0" fmla="*/ 717611 h 717611"/>
              <a:gd name="connsiteX1" fmla="*/ 818495 w 3381711"/>
              <a:gd name="connsiteY1" fmla="*/ 698654 h 717611"/>
              <a:gd name="connsiteX2" fmla="*/ 1765180 w 3381711"/>
              <a:gd name="connsiteY2" fmla="*/ 0 h 717611"/>
              <a:gd name="connsiteX3" fmla="*/ 3381711 w 3381711"/>
              <a:gd name="connsiteY3" fmla="*/ 1 h 717611"/>
              <a:gd name="connsiteX0" fmla="*/ 0 w 3381711"/>
              <a:gd name="connsiteY0" fmla="*/ 739355 h 739355"/>
              <a:gd name="connsiteX1" fmla="*/ 818495 w 3381711"/>
              <a:gd name="connsiteY1" fmla="*/ 720398 h 739355"/>
              <a:gd name="connsiteX2" fmla="*/ 1765180 w 3381711"/>
              <a:gd name="connsiteY2" fmla="*/ 21744 h 739355"/>
              <a:gd name="connsiteX3" fmla="*/ 2935773 w 3381711"/>
              <a:gd name="connsiteY3" fmla="*/ 0 h 739355"/>
              <a:gd name="connsiteX4" fmla="*/ 3381711 w 3381711"/>
              <a:gd name="connsiteY4" fmla="*/ 21745 h 739355"/>
              <a:gd name="connsiteX0" fmla="*/ 0 w 4533723"/>
              <a:gd name="connsiteY0" fmla="*/ 739355 h 739355"/>
              <a:gd name="connsiteX1" fmla="*/ 818495 w 4533723"/>
              <a:gd name="connsiteY1" fmla="*/ 720398 h 739355"/>
              <a:gd name="connsiteX2" fmla="*/ 1765180 w 4533723"/>
              <a:gd name="connsiteY2" fmla="*/ 21744 h 739355"/>
              <a:gd name="connsiteX3" fmla="*/ 2935773 w 4533723"/>
              <a:gd name="connsiteY3" fmla="*/ 0 h 739355"/>
              <a:gd name="connsiteX4" fmla="*/ 4533723 w 4533723"/>
              <a:gd name="connsiteY4" fmla="*/ 674118 h 739355"/>
              <a:gd name="connsiteX0" fmla="*/ 0 w 4533723"/>
              <a:gd name="connsiteY0" fmla="*/ 717611 h 717611"/>
              <a:gd name="connsiteX1" fmla="*/ 818495 w 4533723"/>
              <a:gd name="connsiteY1" fmla="*/ 698654 h 717611"/>
              <a:gd name="connsiteX2" fmla="*/ 1765180 w 4533723"/>
              <a:gd name="connsiteY2" fmla="*/ 0 h 717611"/>
              <a:gd name="connsiteX3" fmla="*/ 3325971 w 4533723"/>
              <a:gd name="connsiteY3" fmla="*/ 1 h 717611"/>
              <a:gd name="connsiteX4" fmla="*/ 4533723 w 4533723"/>
              <a:gd name="connsiteY4" fmla="*/ 652374 h 717611"/>
              <a:gd name="connsiteX0" fmla="*/ 0 w 4533723"/>
              <a:gd name="connsiteY0" fmla="*/ 717610 h 717610"/>
              <a:gd name="connsiteX1" fmla="*/ 818495 w 4533723"/>
              <a:gd name="connsiteY1" fmla="*/ 698653 h 717610"/>
              <a:gd name="connsiteX2" fmla="*/ 1858085 w 4533723"/>
              <a:gd name="connsiteY2" fmla="*/ 21745 h 717610"/>
              <a:gd name="connsiteX3" fmla="*/ 3325971 w 4533723"/>
              <a:gd name="connsiteY3" fmla="*/ 0 h 717610"/>
              <a:gd name="connsiteX4" fmla="*/ 4533723 w 4533723"/>
              <a:gd name="connsiteY4" fmla="*/ 652373 h 717610"/>
              <a:gd name="connsiteX0" fmla="*/ 0 w 4533723"/>
              <a:gd name="connsiteY0" fmla="*/ 739356 h 739356"/>
              <a:gd name="connsiteX1" fmla="*/ 818495 w 4533723"/>
              <a:gd name="connsiteY1" fmla="*/ 720399 h 739356"/>
              <a:gd name="connsiteX2" fmla="*/ 1802342 w 4533723"/>
              <a:gd name="connsiteY2" fmla="*/ 0 h 739356"/>
              <a:gd name="connsiteX3" fmla="*/ 3325971 w 4533723"/>
              <a:gd name="connsiteY3" fmla="*/ 21746 h 739356"/>
              <a:gd name="connsiteX4" fmla="*/ 4533723 w 4533723"/>
              <a:gd name="connsiteY4" fmla="*/ 674119 h 739356"/>
              <a:gd name="connsiteX0" fmla="*/ 0 w 4552304"/>
              <a:gd name="connsiteY0" fmla="*/ 652373 h 720399"/>
              <a:gd name="connsiteX1" fmla="*/ 837076 w 4552304"/>
              <a:gd name="connsiteY1" fmla="*/ 720399 h 720399"/>
              <a:gd name="connsiteX2" fmla="*/ 1820923 w 4552304"/>
              <a:gd name="connsiteY2" fmla="*/ 0 h 720399"/>
              <a:gd name="connsiteX3" fmla="*/ 3344552 w 4552304"/>
              <a:gd name="connsiteY3" fmla="*/ 21746 h 720399"/>
              <a:gd name="connsiteX4" fmla="*/ 4552304 w 4552304"/>
              <a:gd name="connsiteY4" fmla="*/ 674119 h 720399"/>
              <a:gd name="connsiteX0" fmla="*/ 0 w 4552304"/>
              <a:gd name="connsiteY0" fmla="*/ 739355 h 739355"/>
              <a:gd name="connsiteX1" fmla="*/ 837076 w 4552304"/>
              <a:gd name="connsiteY1" fmla="*/ 720399 h 739355"/>
              <a:gd name="connsiteX2" fmla="*/ 1820923 w 4552304"/>
              <a:gd name="connsiteY2" fmla="*/ 0 h 739355"/>
              <a:gd name="connsiteX3" fmla="*/ 3344552 w 4552304"/>
              <a:gd name="connsiteY3" fmla="*/ 21746 h 739355"/>
              <a:gd name="connsiteX4" fmla="*/ 4552304 w 4552304"/>
              <a:gd name="connsiteY4" fmla="*/ 674119 h 7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2304" h="739355">
                <a:moveTo>
                  <a:pt x="0" y="739355"/>
                </a:moveTo>
                <a:lnTo>
                  <a:pt x="837076" y="720399"/>
                </a:lnTo>
                <a:lnTo>
                  <a:pt x="1820923" y="0"/>
                </a:lnTo>
                <a:lnTo>
                  <a:pt x="3344552" y="21746"/>
                </a:lnTo>
                <a:lnTo>
                  <a:pt x="4552304" y="674119"/>
                </a:lnTo>
              </a:path>
            </a:pathLst>
          </a:custGeom>
          <a:ln w="76200" cmpd="sng">
            <a:solidFill>
              <a:srgbClr val="CC0000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reeform 153"/>
          <p:cNvSpPr/>
          <p:nvPr/>
        </p:nvSpPr>
        <p:spPr>
          <a:xfrm flipV="1">
            <a:off x="3810198" y="2367837"/>
            <a:ext cx="2747318" cy="1595090"/>
          </a:xfrm>
          <a:custGeom>
            <a:avLst/>
            <a:gdLst>
              <a:gd name="connsiteX0" fmla="*/ 0 w 1876665"/>
              <a:gd name="connsiteY0" fmla="*/ 739356 h 739356"/>
              <a:gd name="connsiteX1" fmla="*/ 985723 w 1876665"/>
              <a:gd name="connsiteY1" fmla="*/ 720399 h 739356"/>
              <a:gd name="connsiteX2" fmla="*/ 1876665 w 1876665"/>
              <a:gd name="connsiteY2" fmla="*/ 0 h 739356"/>
              <a:gd name="connsiteX0" fmla="*/ 0 w 1876665"/>
              <a:gd name="connsiteY0" fmla="*/ 739356 h 739356"/>
              <a:gd name="connsiteX1" fmla="*/ 818495 w 1876665"/>
              <a:gd name="connsiteY1" fmla="*/ 720399 h 739356"/>
              <a:gd name="connsiteX2" fmla="*/ 1876665 w 1876665"/>
              <a:gd name="connsiteY2" fmla="*/ 0 h 739356"/>
              <a:gd name="connsiteX0" fmla="*/ 0 w 1802341"/>
              <a:gd name="connsiteY0" fmla="*/ 630627 h 630627"/>
              <a:gd name="connsiteX1" fmla="*/ 818495 w 1802341"/>
              <a:gd name="connsiteY1" fmla="*/ 611670 h 630627"/>
              <a:gd name="connsiteX2" fmla="*/ 1802341 w 1802341"/>
              <a:gd name="connsiteY2" fmla="*/ 0 h 630627"/>
              <a:gd name="connsiteX0" fmla="*/ 0 w 1707398"/>
              <a:gd name="connsiteY0" fmla="*/ 754084 h 754084"/>
              <a:gd name="connsiteX1" fmla="*/ 818495 w 1707398"/>
              <a:gd name="connsiteY1" fmla="*/ 735127 h 754084"/>
              <a:gd name="connsiteX2" fmla="*/ 1707398 w 1707398"/>
              <a:gd name="connsiteY2" fmla="*/ 0 h 754084"/>
              <a:gd name="connsiteX0" fmla="*/ 0 w 1707398"/>
              <a:gd name="connsiteY0" fmla="*/ 754084 h 754932"/>
              <a:gd name="connsiteX1" fmla="*/ 445208 w 1707398"/>
              <a:gd name="connsiteY1" fmla="*/ 754932 h 754932"/>
              <a:gd name="connsiteX2" fmla="*/ 818495 w 1707398"/>
              <a:gd name="connsiteY2" fmla="*/ 735127 h 754932"/>
              <a:gd name="connsiteX3" fmla="*/ 1707398 w 1707398"/>
              <a:gd name="connsiteY3" fmla="*/ 0 h 754932"/>
              <a:gd name="connsiteX0" fmla="*/ 0 w 1707398"/>
              <a:gd name="connsiteY0" fmla="*/ 754084 h 754932"/>
              <a:gd name="connsiteX1" fmla="*/ 445208 w 1707398"/>
              <a:gd name="connsiteY1" fmla="*/ 754932 h 754932"/>
              <a:gd name="connsiteX2" fmla="*/ 818495 w 1707398"/>
              <a:gd name="connsiteY2" fmla="*/ 735127 h 754932"/>
              <a:gd name="connsiteX3" fmla="*/ 1039794 w 1707398"/>
              <a:gd name="connsiteY3" fmla="*/ 537472 h 754932"/>
              <a:gd name="connsiteX4" fmla="*/ 1707398 w 1707398"/>
              <a:gd name="connsiteY4" fmla="*/ 0 h 754932"/>
              <a:gd name="connsiteX0" fmla="*/ 0 w 1707398"/>
              <a:gd name="connsiteY0" fmla="*/ 754084 h 754932"/>
              <a:gd name="connsiteX1" fmla="*/ 445208 w 1707398"/>
              <a:gd name="connsiteY1" fmla="*/ 754932 h 754932"/>
              <a:gd name="connsiteX2" fmla="*/ 818495 w 1707398"/>
              <a:gd name="connsiteY2" fmla="*/ 735127 h 754932"/>
              <a:gd name="connsiteX3" fmla="*/ 1039794 w 1707398"/>
              <a:gd name="connsiteY3" fmla="*/ 537472 h 754932"/>
              <a:gd name="connsiteX4" fmla="*/ 1448573 w 1707398"/>
              <a:gd name="connsiteY4" fmla="*/ 233032 h 754932"/>
              <a:gd name="connsiteX5" fmla="*/ 1707398 w 1707398"/>
              <a:gd name="connsiteY5" fmla="*/ 0 h 754932"/>
              <a:gd name="connsiteX0" fmla="*/ 0 w 1707398"/>
              <a:gd name="connsiteY0" fmla="*/ 754084 h 1233339"/>
              <a:gd name="connsiteX1" fmla="*/ 17848 w 1707398"/>
              <a:gd name="connsiteY1" fmla="*/ 1233339 h 1233339"/>
              <a:gd name="connsiteX2" fmla="*/ 818495 w 1707398"/>
              <a:gd name="connsiteY2" fmla="*/ 735127 h 1233339"/>
              <a:gd name="connsiteX3" fmla="*/ 1039794 w 1707398"/>
              <a:gd name="connsiteY3" fmla="*/ 537472 h 1233339"/>
              <a:gd name="connsiteX4" fmla="*/ 1448573 w 1707398"/>
              <a:gd name="connsiteY4" fmla="*/ 233032 h 1233339"/>
              <a:gd name="connsiteX5" fmla="*/ 1707398 w 1707398"/>
              <a:gd name="connsiteY5" fmla="*/ 0 h 1233339"/>
              <a:gd name="connsiteX0" fmla="*/ 0 w 1707398"/>
              <a:gd name="connsiteY0" fmla="*/ 754084 h 2518282"/>
              <a:gd name="connsiteX1" fmla="*/ 17848 w 1707398"/>
              <a:gd name="connsiteY1" fmla="*/ 1233339 h 2518282"/>
              <a:gd name="connsiteX2" fmla="*/ 1487404 w 1707398"/>
              <a:gd name="connsiteY2" fmla="*/ 2518282 h 2518282"/>
              <a:gd name="connsiteX3" fmla="*/ 1039794 w 1707398"/>
              <a:gd name="connsiteY3" fmla="*/ 537472 h 2518282"/>
              <a:gd name="connsiteX4" fmla="*/ 1448573 w 1707398"/>
              <a:gd name="connsiteY4" fmla="*/ 233032 h 2518282"/>
              <a:gd name="connsiteX5" fmla="*/ 1707398 w 1707398"/>
              <a:gd name="connsiteY5" fmla="*/ 0 h 2518282"/>
              <a:gd name="connsiteX0" fmla="*/ 0 w 1707398"/>
              <a:gd name="connsiteY0" fmla="*/ 754084 h 2518282"/>
              <a:gd name="connsiteX1" fmla="*/ 17848 w 1707398"/>
              <a:gd name="connsiteY1" fmla="*/ 1233339 h 2518282"/>
              <a:gd name="connsiteX2" fmla="*/ 1487404 w 1707398"/>
              <a:gd name="connsiteY2" fmla="*/ 2518282 h 2518282"/>
              <a:gd name="connsiteX3" fmla="*/ 1429991 w 1707398"/>
              <a:gd name="connsiteY3" fmla="*/ 1255084 h 2518282"/>
              <a:gd name="connsiteX4" fmla="*/ 1448573 w 1707398"/>
              <a:gd name="connsiteY4" fmla="*/ 233032 h 2518282"/>
              <a:gd name="connsiteX5" fmla="*/ 1707398 w 1707398"/>
              <a:gd name="connsiteY5" fmla="*/ 0 h 2518282"/>
              <a:gd name="connsiteX0" fmla="*/ 0 w 2766506"/>
              <a:gd name="connsiteY0" fmla="*/ 521052 h 2285250"/>
              <a:gd name="connsiteX1" fmla="*/ 17848 w 2766506"/>
              <a:gd name="connsiteY1" fmla="*/ 1000307 h 2285250"/>
              <a:gd name="connsiteX2" fmla="*/ 1487404 w 2766506"/>
              <a:gd name="connsiteY2" fmla="*/ 2285250 h 2285250"/>
              <a:gd name="connsiteX3" fmla="*/ 1429991 w 2766506"/>
              <a:gd name="connsiteY3" fmla="*/ 1022052 h 2285250"/>
              <a:gd name="connsiteX4" fmla="*/ 1448573 w 2766506"/>
              <a:gd name="connsiteY4" fmla="*/ 0 h 2285250"/>
              <a:gd name="connsiteX5" fmla="*/ 2766506 w 2766506"/>
              <a:gd name="connsiteY5" fmla="*/ 1680598 h 2285250"/>
              <a:gd name="connsiteX0" fmla="*/ 0 w 2766506"/>
              <a:gd name="connsiteY0" fmla="*/ 0 h 1764198"/>
              <a:gd name="connsiteX1" fmla="*/ 17848 w 2766506"/>
              <a:gd name="connsiteY1" fmla="*/ 479255 h 1764198"/>
              <a:gd name="connsiteX2" fmla="*/ 1487404 w 2766506"/>
              <a:gd name="connsiteY2" fmla="*/ 1764198 h 1764198"/>
              <a:gd name="connsiteX3" fmla="*/ 1429991 w 2766506"/>
              <a:gd name="connsiteY3" fmla="*/ 501000 h 1764198"/>
              <a:gd name="connsiteX4" fmla="*/ 2766506 w 2766506"/>
              <a:gd name="connsiteY4" fmla="*/ 1159546 h 1764198"/>
              <a:gd name="connsiteX0" fmla="*/ 0 w 2766506"/>
              <a:gd name="connsiteY0" fmla="*/ 0 h 1764198"/>
              <a:gd name="connsiteX1" fmla="*/ 73590 w 2766506"/>
              <a:gd name="connsiteY1" fmla="*/ 348780 h 1764198"/>
              <a:gd name="connsiteX2" fmla="*/ 1487404 w 2766506"/>
              <a:gd name="connsiteY2" fmla="*/ 1764198 h 1764198"/>
              <a:gd name="connsiteX3" fmla="*/ 1429991 w 2766506"/>
              <a:gd name="connsiteY3" fmla="*/ 501000 h 1764198"/>
              <a:gd name="connsiteX4" fmla="*/ 2766506 w 2766506"/>
              <a:gd name="connsiteY4" fmla="*/ 1159546 h 1764198"/>
              <a:gd name="connsiteX0" fmla="*/ 56475 w 2692916"/>
              <a:gd name="connsiteY0" fmla="*/ 0 h 2090384"/>
              <a:gd name="connsiteX1" fmla="*/ 0 w 2692916"/>
              <a:gd name="connsiteY1" fmla="*/ 674966 h 2090384"/>
              <a:gd name="connsiteX2" fmla="*/ 1413814 w 2692916"/>
              <a:gd name="connsiteY2" fmla="*/ 2090384 h 2090384"/>
              <a:gd name="connsiteX3" fmla="*/ 1356401 w 2692916"/>
              <a:gd name="connsiteY3" fmla="*/ 827186 h 2090384"/>
              <a:gd name="connsiteX4" fmla="*/ 2692916 w 2692916"/>
              <a:gd name="connsiteY4" fmla="*/ 1485732 h 2090384"/>
              <a:gd name="connsiteX0" fmla="*/ 19314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356401 w 2692916"/>
              <a:gd name="connsiteY3" fmla="*/ 740203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356401 w 2692916"/>
              <a:gd name="connsiteY3" fmla="*/ 740203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407793 w 2692916"/>
              <a:gd name="connsiteY3" fmla="*/ 746884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447764 w 2692916"/>
              <a:gd name="connsiteY3" fmla="*/ 593196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413503 w 2692916"/>
              <a:gd name="connsiteY3" fmla="*/ 593196 h 2003401"/>
              <a:gd name="connsiteX4" fmla="*/ 2692916 w 2692916"/>
              <a:gd name="connsiteY4" fmla="*/ 1398749 h 2003401"/>
              <a:gd name="connsiteX0" fmla="*/ 2183 w 2692916"/>
              <a:gd name="connsiteY0" fmla="*/ 0 h 1829665"/>
              <a:gd name="connsiteX1" fmla="*/ 0 w 2692916"/>
              <a:gd name="connsiteY1" fmla="*/ 587983 h 1829665"/>
              <a:gd name="connsiteX2" fmla="*/ 1408104 w 2692916"/>
              <a:gd name="connsiteY2" fmla="*/ 1829665 h 1829665"/>
              <a:gd name="connsiteX3" fmla="*/ 1413503 w 2692916"/>
              <a:gd name="connsiteY3" fmla="*/ 593196 h 1829665"/>
              <a:gd name="connsiteX4" fmla="*/ 2692916 w 2692916"/>
              <a:gd name="connsiteY4" fmla="*/ 1398749 h 1829665"/>
              <a:gd name="connsiteX0" fmla="*/ 2183 w 2692916"/>
              <a:gd name="connsiteY0" fmla="*/ 0 h 1829665"/>
              <a:gd name="connsiteX1" fmla="*/ 0 w 2692916"/>
              <a:gd name="connsiteY1" fmla="*/ 587983 h 1829665"/>
              <a:gd name="connsiteX2" fmla="*/ 1408104 w 2692916"/>
              <a:gd name="connsiteY2" fmla="*/ 1829665 h 1829665"/>
              <a:gd name="connsiteX3" fmla="*/ 1390663 w 2692916"/>
              <a:gd name="connsiteY3" fmla="*/ 599877 h 1829665"/>
              <a:gd name="connsiteX4" fmla="*/ 2692916 w 2692916"/>
              <a:gd name="connsiteY4" fmla="*/ 1398749 h 1829665"/>
              <a:gd name="connsiteX0" fmla="*/ 2183 w 2692916"/>
              <a:gd name="connsiteY0" fmla="*/ 0 h 1829665"/>
              <a:gd name="connsiteX1" fmla="*/ 0 w 2692916"/>
              <a:gd name="connsiteY1" fmla="*/ 587983 h 1829665"/>
              <a:gd name="connsiteX2" fmla="*/ 1408104 w 2692916"/>
              <a:gd name="connsiteY2" fmla="*/ 1829665 h 1829665"/>
              <a:gd name="connsiteX3" fmla="*/ 1407793 w 2692916"/>
              <a:gd name="connsiteY3" fmla="*/ 599877 h 1829665"/>
              <a:gd name="connsiteX4" fmla="*/ 2692916 w 2692916"/>
              <a:gd name="connsiteY4" fmla="*/ 1398749 h 1829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2916" h="1829665">
                <a:moveTo>
                  <a:pt x="2183" y="0"/>
                </a:moveTo>
                <a:cubicBezTo>
                  <a:pt x="1455" y="195994"/>
                  <a:pt x="728" y="391989"/>
                  <a:pt x="0" y="587983"/>
                </a:cubicBezTo>
                <a:lnTo>
                  <a:pt x="1408104" y="1829665"/>
                </a:lnTo>
                <a:cubicBezTo>
                  <a:pt x="1408000" y="1359597"/>
                  <a:pt x="1407897" y="1069945"/>
                  <a:pt x="1407793" y="599877"/>
                </a:cubicBezTo>
                <a:lnTo>
                  <a:pt x="2692916" y="1398749"/>
                </a:lnTo>
              </a:path>
            </a:pathLst>
          </a:custGeom>
          <a:ln w="76200" cmpd="sng">
            <a:solidFill>
              <a:schemeClr val="accent2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687845" cy="38210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15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13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69218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Software defined networking (SDN)</a:t>
            </a:r>
            <a:endParaRPr lang="en-US" sz="3600" dirty="0">
              <a:solidFill>
                <a:srgbClr val="000099"/>
              </a:solidFill>
              <a:latin typeface="Gill Sans MT" charset="0"/>
            </a:endParaRPr>
          </a:p>
        </p:txBody>
      </p:sp>
      <p:pic>
        <p:nvPicPr>
          <p:cNvPr id="48170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776288"/>
            <a:ext cx="6422481" cy="208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1453484" y="1872855"/>
            <a:ext cx="7050773" cy="4668701"/>
            <a:chOff x="1453484" y="1555350"/>
            <a:chExt cx="7050773" cy="4668701"/>
          </a:xfrm>
        </p:grpSpPr>
        <p:grpSp>
          <p:nvGrpSpPr>
            <p:cNvPr id="25" name="Group 24"/>
            <p:cNvGrpSpPr/>
            <p:nvPr/>
          </p:nvGrpSpPr>
          <p:grpSpPr>
            <a:xfrm>
              <a:off x="1453484" y="1555350"/>
              <a:ext cx="6027737" cy="1440135"/>
              <a:chOff x="1492879" y="2061336"/>
              <a:chExt cx="6027737" cy="1440135"/>
            </a:xfrm>
          </p:grpSpPr>
          <p:sp>
            <p:nvSpPr>
              <p:cNvPr id="388" name="Rectangle 387"/>
              <p:cNvSpPr/>
              <p:nvPr/>
            </p:nvSpPr>
            <p:spPr bwMode="auto">
              <a:xfrm>
                <a:off x="1929251" y="2064703"/>
                <a:ext cx="5043488" cy="10175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96" name="Freeform 395"/>
              <p:cNvSpPr/>
              <p:nvPr/>
            </p:nvSpPr>
            <p:spPr bwMode="auto">
              <a:xfrm>
                <a:off x="1739747" y="2067585"/>
                <a:ext cx="198437" cy="1385888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855" h="1385496">
                    <a:moveTo>
                      <a:pt x="0" y="745656"/>
                    </a:moveTo>
                    <a:lnTo>
                      <a:pt x="193920" y="0"/>
                    </a:lnTo>
                    <a:cubicBezTo>
                      <a:pt x="195898" y="342623"/>
                      <a:pt x="197877" y="685246"/>
                      <a:pt x="199855" y="1027869"/>
                    </a:cubicBezTo>
                    <a:lnTo>
                      <a:pt x="4471" y="1385496"/>
                    </a:lnTo>
                    <a:cubicBezTo>
                      <a:pt x="2981" y="1172216"/>
                      <a:pt x="1490" y="958936"/>
                      <a:pt x="0" y="74565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accent6">
                      <a:lumMod val="20000"/>
                      <a:lumOff val="80000"/>
                    </a:schemeClr>
                  </a:gs>
                </a:gsLst>
                <a:lin ang="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398" name="Freeform 397"/>
              <p:cNvSpPr/>
              <p:nvPr/>
            </p:nvSpPr>
            <p:spPr bwMode="auto">
              <a:xfrm flipH="1">
                <a:off x="6969078" y="2061336"/>
                <a:ext cx="220427" cy="1370587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  <a:gd name="connsiteX0" fmla="*/ 0 w 219519"/>
                  <a:gd name="connsiteY0" fmla="*/ 730359 h 1370199"/>
                  <a:gd name="connsiteX1" fmla="*/ 219401 w 219519"/>
                  <a:gd name="connsiteY1" fmla="*/ 0 h 1370199"/>
                  <a:gd name="connsiteX2" fmla="*/ 199855 w 219519"/>
                  <a:gd name="connsiteY2" fmla="*/ 1012572 h 1370199"/>
                  <a:gd name="connsiteX3" fmla="*/ 4471 w 219519"/>
                  <a:gd name="connsiteY3" fmla="*/ 1370199 h 1370199"/>
                  <a:gd name="connsiteX4" fmla="*/ 0 w 219519"/>
                  <a:gd name="connsiteY4" fmla="*/ 730359 h 1370199"/>
                  <a:gd name="connsiteX0" fmla="*/ 0 w 219602"/>
                  <a:gd name="connsiteY0" fmla="*/ 730359 h 1370199"/>
                  <a:gd name="connsiteX1" fmla="*/ 219401 w 219602"/>
                  <a:gd name="connsiteY1" fmla="*/ 0 h 1370199"/>
                  <a:gd name="connsiteX2" fmla="*/ 210047 w 219602"/>
                  <a:gd name="connsiteY2" fmla="*/ 1007473 h 1370199"/>
                  <a:gd name="connsiteX3" fmla="*/ 4471 w 219602"/>
                  <a:gd name="connsiteY3" fmla="*/ 1370199 h 1370199"/>
                  <a:gd name="connsiteX4" fmla="*/ 0 w 219602"/>
                  <a:gd name="connsiteY4" fmla="*/ 730359 h 1370199"/>
                  <a:gd name="connsiteX0" fmla="*/ 0 w 220239"/>
                  <a:gd name="connsiteY0" fmla="*/ 730359 h 1370199"/>
                  <a:gd name="connsiteX1" fmla="*/ 219401 w 220239"/>
                  <a:gd name="connsiteY1" fmla="*/ 0 h 1370199"/>
                  <a:gd name="connsiteX2" fmla="*/ 220239 w 220239"/>
                  <a:gd name="connsiteY2" fmla="*/ 1007473 h 1370199"/>
                  <a:gd name="connsiteX3" fmla="*/ 4471 w 220239"/>
                  <a:gd name="connsiteY3" fmla="*/ 1370199 h 1370199"/>
                  <a:gd name="connsiteX4" fmla="*/ 0 w 220239"/>
                  <a:gd name="connsiteY4" fmla="*/ 730359 h 137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239" h="1370199">
                    <a:moveTo>
                      <a:pt x="0" y="730359"/>
                    </a:moveTo>
                    <a:cubicBezTo>
                      <a:pt x="64640" y="481807"/>
                      <a:pt x="154761" y="248552"/>
                      <a:pt x="219401" y="0"/>
                    </a:cubicBezTo>
                    <a:cubicBezTo>
                      <a:pt x="221379" y="342623"/>
                      <a:pt x="218261" y="664850"/>
                      <a:pt x="220239" y="1007473"/>
                    </a:cubicBezTo>
                    <a:lnTo>
                      <a:pt x="4471" y="1370199"/>
                    </a:lnTo>
                    <a:cubicBezTo>
                      <a:pt x="2981" y="1156919"/>
                      <a:pt x="1490" y="943639"/>
                      <a:pt x="0" y="73035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</a:gsLst>
                <a:lin ang="108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grpSp>
            <p:nvGrpSpPr>
              <p:cNvPr id="48316" name="Group 950"/>
              <p:cNvGrpSpPr>
                <a:grpSpLocks/>
              </p:cNvGrpSpPr>
              <p:nvPr/>
            </p:nvGrpSpPr>
            <p:grpSpPr bwMode="auto">
              <a:xfrm>
                <a:off x="1492879" y="2820676"/>
                <a:ext cx="338137" cy="653816"/>
                <a:chOff x="4140" y="429"/>
                <a:chExt cx="1425" cy="2396"/>
              </a:xfrm>
            </p:grpSpPr>
            <p:sp>
              <p:nvSpPr>
                <p:cNvPr id="48350" name="Freeform 951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51" name="Rectangle 952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52" name="Freeform 953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53" name="Freeform 954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54" name="Rectangle 955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55" name="Group 956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8380" name="AutoShape 957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81" name="AutoShape 958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56" name="Rectangle 959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57" name="Group 960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378" name="AutoShape 961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79" name="AutoShape 962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58" name="Rectangle 963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59" name="Rectangle 964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60" name="Group 965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376" name="AutoShape 966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77" name="AutoShape 967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61" name="Freeform 968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8362" name="Group 969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374" name="AutoShape 97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75" name="AutoShape 97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63" name="Rectangle 972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64" name="Freeform 973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65" name="Freeform 974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66" name="Oval 975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67" name="Freeform 976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68" name="AutoShape 977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69" name="AutoShape 978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0" name="Oval 979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1" name="Oval 980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8372" name="Oval 981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73" name="Rectangle 982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8317" name="Group 950"/>
              <p:cNvGrpSpPr>
                <a:grpSpLocks/>
              </p:cNvGrpSpPr>
              <p:nvPr/>
            </p:nvGrpSpPr>
            <p:grpSpPr bwMode="auto">
              <a:xfrm>
                <a:off x="7182479" y="2847655"/>
                <a:ext cx="338137" cy="653816"/>
                <a:chOff x="4140" y="429"/>
                <a:chExt cx="1425" cy="2396"/>
              </a:xfrm>
            </p:grpSpPr>
            <p:sp>
              <p:nvSpPr>
                <p:cNvPr id="48318" name="Freeform 951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19" name="Rectangle 952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20" name="Freeform 953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21" name="Freeform 954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22" name="Rectangle 955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23" name="Group 956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8348" name="AutoShape 957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49" name="AutoShape 958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24" name="Rectangle 959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25" name="Group 960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346" name="AutoShape 961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47" name="AutoShape 962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26" name="Rectangle 963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27" name="Rectangle 964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8328" name="Group 965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344" name="AutoShape 966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45" name="AutoShape 967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29" name="Freeform 968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8330" name="Group 969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342" name="AutoShape 97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343" name="AutoShape 97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331" name="Rectangle 972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32" name="Freeform 973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33" name="Freeform 974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34" name="Oval 975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35" name="Freeform 976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36" name="AutoShape 977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37" name="AutoShape 978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38" name="Oval 979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39" name="Oval 980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8340" name="Oval 981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341" name="Rectangle 982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8129" name="Freeform 2"/>
            <p:cNvSpPr>
              <a:spLocks/>
            </p:cNvSpPr>
            <p:nvPr/>
          </p:nvSpPr>
          <p:spPr bwMode="auto">
            <a:xfrm>
              <a:off x="2592388" y="5284251"/>
              <a:ext cx="4027487" cy="939800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8" name="Straight Connector 147"/>
            <p:cNvCxnSpPr/>
            <p:nvPr/>
          </p:nvCxnSpPr>
          <p:spPr>
            <a:xfrm flipV="1">
              <a:off x="3262941" y="5435064"/>
              <a:ext cx="1316038" cy="13176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3151816" y="5622389"/>
              <a:ext cx="2259013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3164516" y="5727164"/>
              <a:ext cx="714375" cy="2762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 flipV="1">
              <a:off x="4182104" y="5920839"/>
              <a:ext cx="1247775" cy="825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4842504" y="5468401"/>
              <a:ext cx="1057275" cy="1238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 flipV="1">
              <a:off x="4126541" y="5622389"/>
              <a:ext cx="1790700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>
            <a:xfrm flipV="1">
              <a:off x="5453691" y="5650964"/>
              <a:ext cx="588963" cy="26987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>
              <a:off x="4596441" y="5435064"/>
              <a:ext cx="814388" cy="40163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261" name="Group 48260"/>
            <p:cNvGrpSpPr/>
            <p:nvPr/>
          </p:nvGrpSpPr>
          <p:grpSpPr>
            <a:xfrm>
              <a:off x="1526216" y="2537824"/>
              <a:ext cx="6978041" cy="1096962"/>
              <a:chOff x="1526216" y="3003498"/>
              <a:chExt cx="6978041" cy="1096962"/>
            </a:xfrm>
          </p:grpSpPr>
          <p:sp>
            <p:nvSpPr>
              <p:cNvPr id="48156" name="TextBox 399"/>
              <p:cNvSpPr txBox="1">
                <a:spLocks noChangeArrowheads="1"/>
              </p:cNvSpPr>
              <p:nvPr/>
            </p:nvSpPr>
            <p:spPr bwMode="auto">
              <a:xfrm>
                <a:off x="7714291" y="3628973"/>
                <a:ext cx="595313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63"/>
                  </a:lnSpc>
                </a:pPr>
                <a:r>
                  <a:rPr lang="en-US" sz="1400"/>
                  <a:t>data</a:t>
                </a:r>
              </a:p>
              <a:p>
                <a:pPr algn="ctr">
                  <a:lnSpc>
                    <a:spcPts val="1463"/>
                  </a:lnSpc>
                </a:pPr>
                <a:r>
                  <a:rPr lang="en-US" sz="1400"/>
                  <a:t>plane</a:t>
                </a:r>
              </a:p>
            </p:txBody>
          </p:sp>
          <p:sp>
            <p:nvSpPr>
              <p:cNvPr id="48157" name="TextBox 400"/>
              <p:cNvSpPr txBox="1">
                <a:spLocks noChangeArrowheads="1"/>
              </p:cNvSpPr>
              <p:nvPr/>
            </p:nvSpPr>
            <p:spPr bwMode="auto">
              <a:xfrm>
                <a:off x="7728579" y="3003498"/>
                <a:ext cx="709612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lnSpc>
                    <a:spcPts val="1463"/>
                  </a:lnSpc>
                </a:pPr>
                <a:r>
                  <a:rPr lang="en-US" sz="1400"/>
                  <a:t>control</a:t>
                </a:r>
              </a:p>
              <a:p>
                <a:pPr algn="ctr">
                  <a:lnSpc>
                    <a:spcPts val="1463"/>
                  </a:lnSpc>
                </a:pPr>
                <a:r>
                  <a:rPr lang="en-US" sz="1400"/>
                  <a:t>plane</a:t>
                </a:r>
              </a:p>
            </p:txBody>
          </p:sp>
          <p:cxnSp>
            <p:nvCxnSpPr>
              <p:cNvPr id="302" name="Straight Connector 301"/>
              <p:cNvCxnSpPr/>
              <p:nvPr/>
            </p:nvCxnSpPr>
            <p:spPr bwMode="auto">
              <a:xfrm flipV="1">
                <a:off x="1526216" y="3579342"/>
                <a:ext cx="6978041" cy="12155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>
            <a:xfrm>
              <a:off x="2436115" y="2269434"/>
              <a:ext cx="4296530" cy="320561"/>
              <a:chOff x="2433511" y="2792111"/>
              <a:chExt cx="4296530" cy="320561"/>
            </a:xfrm>
          </p:grpSpPr>
          <p:grpSp>
            <p:nvGrpSpPr>
              <p:cNvPr id="48311" name="Group 401"/>
              <p:cNvGrpSpPr>
                <a:grpSpLocks/>
              </p:cNvGrpSpPr>
              <p:nvPr/>
            </p:nvGrpSpPr>
            <p:grpSpPr bwMode="auto">
              <a:xfrm>
                <a:off x="2433511" y="2794083"/>
                <a:ext cx="349250" cy="317387"/>
                <a:chOff x="2931664" y="3912603"/>
                <a:chExt cx="430450" cy="329314"/>
              </a:xfrm>
            </p:grpSpPr>
            <p:sp>
              <p:nvSpPr>
                <p:cNvPr id="403" name="Rectangle 402"/>
                <p:cNvSpPr/>
                <p:nvPr/>
              </p:nvSpPr>
              <p:spPr>
                <a:xfrm>
                  <a:off x="2937534" y="3912858"/>
                  <a:ext cx="424580" cy="3294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04" name="Straight Connector 403"/>
                <p:cNvCxnSpPr/>
                <p:nvPr/>
              </p:nvCxnSpPr>
              <p:spPr>
                <a:xfrm>
                  <a:off x="2931664" y="4005099"/>
                  <a:ext cx="424581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Straight Connector 404"/>
                <p:cNvCxnSpPr/>
                <p:nvPr/>
              </p:nvCxnSpPr>
              <p:spPr>
                <a:xfrm>
                  <a:off x="2931664" y="4067691"/>
                  <a:ext cx="424581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/>
                <p:cNvCxnSpPr>
                  <a:stCxn id="403" idx="2"/>
                </p:cNvCxnSpPr>
                <p:nvPr/>
              </p:nvCxnSpPr>
              <p:spPr>
                <a:xfrm flipH="1" flipV="1">
                  <a:off x="3148846" y="4005099"/>
                  <a:ext cx="0" cy="23719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312" name="Group 406"/>
              <p:cNvGrpSpPr>
                <a:grpSpLocks/>
              </p:cNvGrpSpPr>
              <p:nvPr/>
            </p:nvGrpSpPr>
            <p:grpSpPr bwMode="auto">
              <a:xfrm>
                <a:off x="3348666" y="2792111"/>
                <a:ext cx="350838" cy="317387"/>
                <a:chOff x="2931664" y="3912603"/>
                <a:chExt cx="430450" cy="329314"/>
              </a:xfrm>
            </p:grpSpPr>
            <p:sp>
              <p:nvSpPr>
                <p:cNvPr id="408" name="Rectangle 407"/>
                <p:cNvSpPr/>
                <p:nvPr/>
              </p:nvSpPr>
              <p:spPr>
                <a:xfrm>
                  <a:off x="2937508" y="3912861"/>
                  <a:ext cx="424606" cy="3294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09" name="Straight Connector 408"/>
                <p:cNvCxnSpPr/>
                <p:nvPr/>
              </p:nvCxnSpPr>
              <p:spPr>
                <a:xfrm>
                  <a:off x="2931664" y="4005102"/>
                  <a:ext cx="42460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/>
                <p:cNvCxnSpPr/>
                <p:nvPr/>
              </p:nvCxnSpPr>
              <p:spPr>
                <a:xfrm>
                  <a:off x="2931664" y="4067694"/>
                  <a:ext cx="42460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Straight Connector 410"/>
                <p:cNvCxnSpPr>
                  <a:stCxn id="408" idx="2"/>
                </p:cNvCxnSpPr>
                <p:nvPr/>
              </p:nvCxnSpPr>
              <p:spPr>
                <a:xfrm flipH="1" flipV="1">
                  <a:off x="3147863" y="4005102"/>
                  <a:ext cx="1947" cy="23719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313" name="Group 411"/>
              <p:cNvGrpSpPr>
                <a:grpSpLocks/>
              </p:cNvGrpSpPr>
              <p:nvPr/>
            </p:nvGrpSpPr>
            <p:grpSpPr bwMode="auto">
              <a:xfrm>
                <a:off x="41821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413" name="Rectangle 412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14" name="Straight Connector 413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Straight Connector 414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Straight Connector 415"/>
                <p:cNvCxnSpPr>
                  <a:stCxn id="413" idx="2"/>
                </p:cNvCxnSpPr>
                <p:nvPr/>
              </p:nvCxnSpPr>
              <p:spPr>
                <a:xfrm flipH="1" flipV="1">
                  <a:off x="3147863" y="4005102"/>
                  <a:ext cx="1948" cy="23719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314" name="Group 416"/>
              <p:cNvGrpSpPr>
                <a:grpSpLocks/>
              </p:cNvGrpSpPr>
              <p:nvPr/>
            </p:nvGrpSpPr>
            <p:grpSpPr bwMode="auto">
              <a:xfrm>
                <a:off x="5374316" y="2795285"/>
                <a:ext cx="349250" cy="317387"/>
                <a:chOff x="2931664" y="3912603"/>
                <a:chExt cx="430450" cy="329314"/>
              </a:xfrm>
            </p:grpSpPr>
            <p:sp>
              <p:nvSpPr>
                <p:cNvPr id="418" name="Rectangle 417"/>
                <p:cNvSpPr/>
                <p:nvPr/>
              </p:nvSpPr>
              <p:spPr>
                <a:xfrm>
                  <a:off x="2937534" y="3912862"/>
                  <a:ext cx="424580" cy="3294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19" name="Straight Connector 418"/>
                <p:cNvCxnSpPr/>
                <p:nvPr/>
              </p:nvCxnSpPr>
              <p:spPr>
                <a:xfrm>
                  <a:off x="2931664" y="4005103"/>
                  <a:ext cx="424581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/>
                <p:cNvCxnSpPr/>
                <p:nvPr/>
              </p:nvCxnSpPr>
              <p:spPr>
                <a:xfrm>
                  <a:off x="2931664" y="4067695"/>
                  <a:ext cx="424581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/>
                <p:cNvCxnSpPr>
                  <a:stCxn id="418" idx="2"/>
                </p:cNvCxnSpPr>
                <p:nvPr/>
              </p:nvCxnSpPr>
              <p:spPr>
                <a:xfrm flipH="1" flipV="1">
                  <a:off x="3148846" y="4005103"/>
                  <a:ext cx="0" cy="23719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315" name="Group 421"/>
              <p:cNvGrpSpPr>
                <a:grpSpLocks/>
              </p:cNvGrpSpPr>
              <p:nvPr/>
            </p:nvGrpSpPr>
            <p:grpSpPr bwMode="auto">
              <a:xfrm>
                <a:off x="63792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423" name="Rectangle 422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24" name="Straight Connector 423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Straight Connector 425"/>
                <p:cNvCxnSpPr>
                  <a:stCxn id="423" idx="2"/>
                </p:cNvCxnSpPr>
                <p:nvPr/>
              </p:nvCxnSpPr>
              <p:spPr>
                <a:xfrm flipH="1" flipV="1">
                  <a:off x="3147863" y="4005102"/>
                  <a:ext cx="1948" cy="23719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260" name="Group 48259"/>
            <p:cNvGrpSpPr/>
            <p:nvPr/>
          </p:nvGrpSpPr>
          <p:grpSpPr>
            <a:xfrm>
              <a:off x="1856416" y="3244261"/>
              <a:ext cx="5211763" cy="2739614"/>
              <a:chOff x="1856416" y="3709935"/>
              <a:chExt cx="5211763" cy="2739614"/>
            </a:xfrm>
          </p:grpSpPr>
          <p:sp>
            <p:nvSpPr>
              <p:cNvPr id="268" name="Freeform 267"/>
              <p:cNvSpPr/>
              <p:nvPr/>
            </p:nvSpPr>
            <p:spPr>
              <a:xfrm>
                <a:off x="1876731" y="5330139"/>
                <a:ext cx="1280789" cy="759087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325315"/>
                  <a:gd name="connsiteY0" fmla="*/ 1160935 h 1160935"/>
                  <a:gd name="connsiteX1" fmla="*/ 0 w 1325315"/>
                  <a:gd name="connsiteY1" fmla="*/ 0 h 1160935"/>
                  <a:gd name="connsiteX2" fmla="*/ 1040633 w 1325315"/>
                  <a:gd name="connsiteY2" fmla="*/ 16785 h 1160935"/>
                  <a:gd name="connsiteX3" fmla="*/ 1214315 w 1325315"/>
                  <a:gd name="connsiteY3" fmla="*/ 1064597 h 1160935"/>
                  <a:gd name="connsiteX4" fmla="*/ 448507 w 1325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499" h="759828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</a:gradFill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2" name="Freeform 271"/>
              <p:cNvSpPr/>
              <p:nvPr/>
            </p:nvSpPr>
            <p:spPr>
              <a:xfrm>
                <a:off x="6202668" y="5429198"/>
                <a:ext cx="865511" cy="55382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3004 w 954755"/>
                  <a:gd name="connsiteY0" fmla="*/ 943771 h 976186"/>
                  <a:gd name="connsiteX1" fmla="*/ 455145 w 954755"/>
                  <a:gd name="connsiteY1" fmla="*/ 11688 h 976186"/>
                  <a:gd name="connsiteX2" fmla="*/ 954755 w 954755"/>
                  <a:gd name="connsiteY2" fmla="*/ 0 h 976186"/>
                  <a:gd name="connsiteX3" fmla="*/ 728484 w 954755"/>
                  <a:gd name="connsiteY3" fmla="*/ 976186 h 976186"/>
                  <a:gd name="connsiteX4" fmla="*/ 23004 w 954755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56363"/>
                  <a:gd name="connsiteY0" fmla="*/ 932083 h 954654"/>
                  <a:gd name="connsiteX1" fmla="*/ 432141 w 956363"/>
                  <a:gd name="connsiteY1" fmla="*/ 0 h 954654"/>
                  <a:gd name="connsiteX2" fmla="*/ 956363 w 956363"/>
                  <a:gd name="connsiteY2" fmla="*/ 12924 h 954654"/>
                  <a:gd name="connsiteX3" fmla="*/ 183705 w 956363"/>
                  <a:gd name="connsiteY3" fmla="*/ 954654 h 954654"/>
                  <a:gd name="connsiteX4" fmla="*/ 0 w 956363"/>
                  <a:gd name="connsiteY4" fmla="*/ 932083 h 954654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1011379"/>
                  <a:gd name="connsiteY0" fmla="*/ 605727 h 758185"/>
                  <a:gd name="connsiteX1" fmla="*/ 490915 w 1011379"/>
                  <a:gd name="connsiteY1" fmla="*/ 13939 h 758185"/>
                  <a:gd name="connsiteX2" fmla="*/ 1011379 w 1011379"/>
                  <a:gd name="connsiteY2" fmla="*/ 563 h 758185"/>
                  <a:gd name="connsiteX3" fmla="*/ 268780 w 1011379"/>
                  <a:gd name="connsiteY3" fmla="*/ 758185 h 758185"/>
                  <a:gd name="connsiteX4" fmla="*/ 0 w 1011379"/>
                  <a:gd name="connsiteY4" fmla="*/ 605727 h 758185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05727"/>
                  <a:gd name="connsiteX1" fmla="*/ 490915 w 1011379"/>
                  <a:gd name="connsiteY1" fmla="*/ 13939 h 605727"/>
                  <a:gd name="connsiteX2" fmla="*/ 1011379 w 1011379"/>
                  <a:gd name="connsiteY2" fmla="*/ 563 h 605727"/>
                  <a:gd name="connsiteX3" fmla="*/ 318823 w 1011379"/>
                  <a:gd name="connsiteY3" fmla="*/ 553361 h 605727"/>
                  <a:gd name="connsiteX4" fmla="*/ 0 w 1011379"/>
                  <a:gd name="connsiteY4" fmla="*/ 605727 h 605727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251" h="55336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</a:gradFill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3" name="Freeform 272"/>
              <p:cNvSpPr/>
              <p:nvPr/>
            </p:nvSpPr>
            <p:spPr>
              <a:xfrm>
                <a:off x="5378281" y="5449835"/>
                <a:ext cx="675485" cy="896777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7977 w 802211"/>
                  <a:gd name="connsiteY0" fmla="*/ 815791 h 976186"/>
                  <a:gd name="connsiteX1" fmla="*/ 302601 w 802211"/>
                  <a:gd name="connsiteY1" fmla="*/ 11688 h 976186"/>
                  <a:gd name="connsiteX2" fmla="*/ 802211 w 802211"/>
                  <a:gd name="connsiteY2" fmla="*/ 0 h 976186"/>
                  <a:gd name="connsiteX3" fmla="*/ 575940 w 802211"/>
                  <a:gd name="connsiteY3" fmla="*/ 976186 h 976186"/>
                  <a:gd name="connsiteX4" fmla="*/ 27977 w 802211"/>
                  <a:gd name="connsiteY4" fmla="*/ 815791 h 976186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28714 h 828714"/>
                  <a:gd name="connsiteX1" fmla="*/ 302601 w 802211"/>
                  <a:gd name="connsiteY1" fmla="*/ 0 h 828714"/>
                  <a:gd name="connsiteX2" fmla="*/ 802211 w 802211"/>
                  <a:gd name="connsiteY2" fmla="*/ 12923 h 828714"/>
                  <a:gd name="connsiteX3" fmla="*/ 236294 w 802211"/>
                  <a:gd name="connsiteY3" fmla="*/ 821751 h 828714"/>
                  <a:gd name="connsiteX4" fmla="*/ 27977 w 802211"/>
                  <a:gd name="connsiteY4" fmla="*/ 828714 h 828714"/>
                  <a:gd name="connsiteX0" fmla="*/ 56213 w 830447"/>
                  <a:gd name="connsiteY0" fmla="*/ 828714 h 828714"/>
                  <a:gd name="connsiteX1" fmla="*/ 330837 w 830447"/>
                  <a:gd name="connsiteY1" fmla="*/ 0 h 828714"/>
                  <a:gd name="connsiteX2" fmla="*/ 830447 w 830447"/>
                  <a:gd name="connsiteY2" fmla="*/ 12923 h 828714"/>
                  <a:gd name="connsiteX3" fmla="*/ 264530 w 830447"/>
                  <a:gd name="connsiteY3" fmla="*/ 821751 h 828714"/>
                  <a:gd name="connsiteX4" fmla="*/ 56213 w 830447"/>
                  <a:gd name="connsiteY4" fmla="*/ 828714 h 828714"/>
                  <a:gd name="connsiteX0" fmla="*/ 64130 w 789139"/>
                  <a:gd name="connsiteY0" fmla="*/ 794258 h 821751"/>
                  <a:gd name="connsiteX1" fmla="*/ 289529 w 789139"/>
                  <a:gd name="connsiteY1" fmla="*/ 0 h 821751"/>
                  <a:gd name="connsiteX2" fmla="*/ 789139 w 789139"/>
                  <a:gd name="connsiteY2" fmla="*/ 12923 h 821751"/>
                  <a:gd name="connsiteX3" fmla="*/ 223222 w 789139"/>
                  <a:gd name="connsiteY3" fmla="*/ 821751 h 821751"/>
                  <a:gd name="connsiteX4" fmla="*/ 64130 w 789139"/>
                  <a:gd name="connsiteY4" fmla="*/ 794258 h 821751"/>
                  <a:gd name="connsiteX0" fmla="*/ 0 w 725009"/>
                  <a:gd name="connsiteY0" fmla="*/ 794258 h 821751"/>
                  <a:gd name="connsiteX1" fmla="*/ 225399 w 725009"/>
                  <a:gd name="connsiteY1" fmla="*/ 0 h 821751"/>
                  <a:gd name="connsiteX2" fmla="*/ 725009 w 725009"/>
                  <a:gd name="connsiteY2" fmla="*/ 12923 h 821751"/>
                  <a:gd name="connsiteX3" fmla="*/ 159092 w 725009"/>
                  <a:gd name="connsiteY3" fmla="*/ 821751 h 821751"/>
                  <a:gd name="connsiteX4" fmla="*/ 0 w 725009"/>
                  <a:gd name="connsiteY4" fmla="*/ 794258 h 82175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422433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497"/>
                  <a:gd name="connsiteY0" fmla="*/ 1279028 h 1306521"/>
                  <a:gd name="connsiteX1" fmla="*/ 225399 w 725497"/>
                  <a:gd name="connsiteY1" fmla="*/ 75260 h 1306521"/>
                  <a:gd name="connsiteX2" fmla="*/ 396193 w 725497"/>
                  <a:gd name="connsiteY2" fmla="*/ 156799 h 1306521"/>
                  <a:gd name="connsiteX3" fmla="*/ 725009 w 725497"/>
                  <a:gd name="connsiteY3" fmla="*/ 205042 h 1306521"/>
                  <a:gd name="connsiteX4" fmla="*/ 159092 w 725497"/>
                  <a:gd name="connsiteY4" fmla="*/ 1306521 h 1306521"/>
                  <a:gd name="connsiteX5" fmla="*/ 0 w 725497"/>
                  <a:gd name="connsiteY5" fmla="*/ 1279028 h 1306521"/>
                  <a:gd name="connsiteX0" fmla="*/ 0 w 725239"/>
                  <a:gd name="connsiteY0" fmla="*/ 1295668 h 1323161"/>
                  <a:gd name="connsiteX1" fmla="*/ 225399 w 725239"/>
                  <a:gd name="connsiteY1" fmla="*/ 91900 h 1323161"/>
                  <a:gd name="connsiteX2" fmla="*/ 725009 w 725239"/>
                  <a:gd name="connsiteY2" fmla="*/ 221682 h 1323161"/>
                  <a:gd name="connsiteX3" fmla="*/ 159092 w 725239"/>
                  <a:gd name="connsiteY3" fmla="*/ 1323161 h 1323161"/>
                  <a:gd name="connsiteX4" fmla="*/ 0 w 725239"/>
                  <a:gd name="connsiteY4" fmla="*/ 1295668 h 1323161"/>
                  <a:gd name="connsiteX0" fmla="*/ 0 w 725221"/>
                  <a:gd name="connsiteY0" fmla="*/ 1210552 h 1238045"/>
                  <a:gd name="connsiteX1" fmla="*/ 191583 w 725221"/>
                  <a:gd name="connsiteY1" fmla="*/ 153319 h 1238045"/>
                  <a:gd name="connsiteX2" fmla="*/ 725009 w 725221"/>
                  <a:gd name="connsiteY2" fmla="*/ 136566 h 1238045"/>
                  <a:gd name="connsiteX3" fmla="*/ 159092 w 725221"/>
                  <a:gd name="connsiteY3" fmla="*/ 1238045 h 1238045"/>
                  <a:gd name="connsiteX4" fmla="*/ 0 w 725221"/>
                  <a:gd name="connsiteY4" fmla="*/ 1210552 h 1238045"/>
                  <a:gd name="connsiteX0" fmla="*/ 0 w 725305"/>
                  <a:gd name="connsiteY0" fmla="*/ 1158512 h 1186005"/>
                  <a:gd name="connsiteX1" fmla="*/ 191583 w 725305"/>
                  <a:gd name="connsiteY1" fmla="*/ 101279 h 1186005"/>
                  <a:gd name="connsiteX2" fmla="*/ 725009 w 725305"/>
                  <a:gd name="connsiteY2" fmla="*/ 84526 h 1186005"/>
                  <a:gd name="connsiteX3" fmla="*/ 159092 w 725305"/>
                  <a:gd name="connsiteY3" fmla="*/ 1186005 h 1186005"/>
                  <a:gd name="connsiteX4" fmla="*/ 0 w 725305"/>
                  <a:gd name="connsiteY4" fmla="*/ 1158512 h 1186005"/>
                  <a:gd name="connsiteX0" fmla="*/ 0 w 725009"/>
                  <a:gd name="connsiteY0" fmla="*/ 1073986 h 1101479"/>
                  <a:gd name="connsiteX1" fmla="*/ 191583 w 725009"/>
                  <a:gd name="connsiteY1" fmla="*/ 16753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675040"/>
                  <a:gd name="connsiteY0" fmla="*/ 894029 h 896577"/>
                  <a:gd name="connsiteX1" fmla="*/ 15664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  <a:gd name="connsiteX0" fmla="*/ 0 w 675040"/>
                  <a:gd name="connsiteY0" fmla="*/ 894029 h 896577"/>
                  <a:gd name="connsiteX1" fmla="*/ 18662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040" h="896577">
                    <a:moveTo>
                      <a:pt x="0" y="894029"/>
                    </a:moveTo>
                    <a:cubicBezTo>
                      <a:pt x="95638" y="409857"/>
                      <a:pt x="76811" y="618448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276172" y="749497"/>
                      <a:pt x="462801" y="344746"/>
                      <a:pt x="179079" y="886531"/>
                    </a:cubicBezTo>
                    <a:cubicBezTo>
                      <a:pt x="44794" y="857895"/>
                      <a:pt x="92525" y="908114"/>
                      <a:pt x="0" y="89402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</a:gradFill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4" name="Freeform 273"/>
              <p:cNvSpPr/>
              <p:nvPr/>
            </p:nvSpPr>
            <p:spPr>
              <a:xfrm>
                <a:off x="4340854" y="5470471"/>
                <a:ext cx="514350" cy="401843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503138"/>
                  <a:gd name="connsiteY0" fmla="*/ 961687 h 964568"/>
                  <a:gd name="connsiteX1" fmla="*/ 0 w 503138"/>
                  <a:gd name="connsiteY1" fmla="*/ 70 h 964568"/>
                  <a:gd name="connsiteX2" fmla="*/ 503138 w 503138"/>
                  <a:gd name="connsiteY2" fmla="*/ 154187 h 964568"/>
                  <a:gd name="connsiteX3" fmla="*/ 273339 w 503138"/>
                  <a:gd name="connsiteY3" fmla="*/ 964568 h 964568"/>
                  <a:gd name="connsiteX4" fmla="*/ 197928 w 503138"/>
                  <a:gd name="connsiteY4" fmla="*/ 961687 h 964568"/>
                  <a:gd name="connsiteX0" fmla="*/ 201456 w 506666"/>
                  <a:gd name="connsiteY0" fmla="*/ 807500 h 810381"/>
                  <a:gd name="connsiteX1" fmla="*/ 0 w 506666"/>
                  <a:gd name="connsiteY1" fmla="*/ 15216 h 810381"/>
                  <a:gd name="connsiteX2" fmla="*/ 506666 w 506666"/>
                  <a:gd name="connsiteY2" fmla="*/ 0 h 810381"/>
                  <a:gd name="connsiteX3" fmla="*/ 276867 w 506666"/>
                  <a:gd name="connsiteY3" fmla="*/ 810381 h 810381"/>
                  <a:gd name="connsiteX4" fmla="*/ 201456 w 506666"/>
                  <a:gd name="connsiteY4" fmla="*/ 807500 h 810381"/>
                  <a:gd name="connsiteX0" fmla="*/ 201456 w 506666"/>
                  <a:gd name="connsiteY0" fmla="*/ 807500 h 811593"/>
                  <a:gd name="connsiteX1" fmla="*/ 0 w 506666"/>
                  <a:gd name="connsiteY1" fmla="*/ 15216 h 811593"/>
                  <a:gd name="connsiteX2" fmla="*/ 506666 w 506666"/>
                  <a:gd name="connsiteY2" fmla="*/ 0 h 811593"/>
                  <a:gd name="connsiteX3" fmla="*/ 276867 w 506666"/>
                  <a:gd name="connsiteY3" fmla="*/ 810381 h 811593"/>
                  <a:gd name="connsiteX4" fmla="*/ 201456 w 506666"/>
                  <a:gd name="connsiteY4" fmla="*/ 807500 h 811593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276867 w 506666"/>
                  <a:gd name="connsiteY3" fmla="*/ 81038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45472 w 559302"/>
                  <a:gd name="connsiteY0" fmla="*/ 807500 h 807500"/>
                  <a:gd name="connsiteX1" fmla="*/ 52636 w 559302"/>
                  <a:gd name="connsiteY1" fmla="*/ 7896 h 807500"/>
                  <a:gd name="connsiteX2" fmla="*/ 559302 w 559302"/>
                  <a:gd name="connsiteY2" fmla="*/ 0 h 807500"/>
                  <a:gd name="connsiteX3" fmla="*/ 384402 w 559302"/>
                  <a:gd name="connsiteY3" fmla="*/ 803061 h 807500"/>
                  <a:gd name="connsiteX4" fmla="*/ 45472 w 559302"/>
                  <a:gd name="connsiteY4" fmla="*/ 807500 h 807500"/>
                  <a:gd name="connsiteX0" fmla="*/ 21974 w 535804"/>
                  <a:gd name="connsiteY0" fmla="*/ 807500 h 807500"/>
                  <a:gd name="connsiteX1" fmla="*/ 29138 w 535804"/>
                  <a:gd name="connsiteY1" fmla="*/ 7896 h 807500"/>
                  <a:gd name="connsiteX2" fmla="*/ 535804 w 535804"/>
                  <a:gd name="connsiteY2" fmla="*/ 0 h 807500"/>
                  <a:gd name="connsiteX3" fmla="*/ 360904 w 535804"/>
                  <a:gd name="connsiteY3" fmla="*/ 803061 h 807500"/>
                  <a:gd name="connsiteX4" fmla="*/ 21974 w 535804"/>
                  <a:gd name="connsiteY4" fmla="*/ 807500 h 807500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7341"/>
                  <a:gd name="connsiteX1" fmla="*/ 0 w 514180"/>
                  <a:gd name="connsiteY1" fmla="*/ 0 h 577341"/>
                  <a:gd name="connsiteX2" fmla="*/ 514180 w 514180"/>
                  <a:gd name="connsiteY2" fmla="*/ 10891 h 577341"/>
                  <a:gd name="connsiteX3" fmla="*/ 404259 w 514180"/>
                  <a:gd name="connsiteY3" fmla="*/ 386400 h 577341"/>
                  <a:gd name="connsiteX4" fmla="*/ 135770 w 514180"/>
                  <a:gd name="connsiteY4" fmla="*/ 577341 h 577341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02193 h 402193"/>
                  <a:gd name="connsiteX1" fmla="*/ 0 w 514180"/>
                  <a:gd name="connsiteY1" fmla="*/ 0 h 402193"/>
                  <a:gd name="connsiteX2" fmla="*/ 514180 w 514180"/>
                  <a:gd name="connsiteY2" fmla="*/ 10891 h 402193"/>
                  <a:gd name="connsiteX3" fmla="*/ 404259 w 514180"/>
                  <a:gd name="connsiteY3" fmla="*/ 386400 h 402193"/>
                  <a:gd name="connsiteX4" fmla="*/ 100781 w 514180"/>
                  <a:gd name="connsiteY4" fmla="*/ 402193 h 402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180" h="402193">
                    <a:moveTo>
                      <a:pt x="100781" y="402193"/>
                    </a:moveTo>
                    <a:cubicBezTo>
                      <a:pt x="60584" y="194221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91637" y="89943"/>
                      <a:pt x="404259" y="386400"/>
                    </a:cubicBezTo>
                    <a:cubicBezTo>
                      <a:pt x="357814" y="390704"/>
                      <a:pt x="168880" y="400727"/>
                      <a:pt x="100781" y="40219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</a:gradFill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5" name="Freeform 274"/>
              <p:cNvSpPr/>
              <p:nvPr/>
            </p:nvSpPr>
            <p:spPr>
              <a:xfrm>
                <a:off x="3561391" y="5433960"/>
                <a:ext cx="573725" cy="1015589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621064"/>
                  <a:gd name="connsiteY0" fmla="*/ 973305 h 973305"/>
                  <a:gd name="connsiteX1" fmla="*/ 0 w 621064"/>
                  <a:gd name="connsiteY1" fmla="*/ 11688 h 973305"/>
                  <a:gd name="connsiteX2" fmla="*/ 499610 w 621064"/>
                  <a:gd name="connsiteY2" fmla="*/ 0 h 973305"/>
                  <a:gd name="connsiteX3" fmla="*/ 558839 w 621064"/>
                  <a:gd name="connsiteY3" fmla="*/ 754682 h 973305"/>
                  <a:gd name="connsiteX4" fmla="*/ 197928 w 621064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1315828 h 1315828"/>
                  <a:gd name="connsiteX1" fmla="*/ 0 w 558839"/>
                  <a:gd name="connsiteY1" fmla="*/ 531414 h 1315828"/>
                  <a:gd name="connsiteX2" fmla="*/ 506930 w 558839"/>
                  <a:gd name="connsiteY2" fmla="*/ 0 h 1315828"/>
                  <a:gd name="connsiteX3" fmla="*/ 558839 w 558839"/>
                  <a:gd name="connsiteY3" fmla="*/ 1274408 h 1315828"/>
                  <a:gd name="connsiteX4" fmla="*/ 370213 w 558839"/>
                  <a:gd name="connsiteY4" fmla="*/ 1315828 h 1315828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94113"/>
                  <a:gd name="connsiteY0" fmla="*/ 1097905 h 1179971"/>
                  <a:gd name="connsiteX1" fmla="*/ 0 w 594113"/>
                  <a:gd name="connsiteY1" fmla="*/ 4757 h 1179971"/>
                  <a:gd name="connsiteX2" fmla="*/ 502783 w 594113"/>
                  <a:gd name="connsiteY2" fmla="*/ 0 h 1179971"/>
                  <a:gd name="connsiteX3" fmla="*/ 594113 w 594113"/>
                  <a:gd name="connsiteY3" fmla="*/ 1179818 h 1179971"/>
                  <a:gd name="connsiteX4" fmla="*/ 366066 w 594113"/>
                  <a:gd name="connsiteY4" fmla="*/ 1097905 h 1179971"/>
                  <a:gd name="connsiteX0" fmla="*/ 403236 w 594113"/>
                  <a:gd name="connsiteY0" fmla="*/ 1215612 h 1215612"/>
                  <a:gd name="connsiteX1" fmla="*/ 0 w 594113"/>
                  <a:gd name="connsiteY1" fmla="*/ 4757 h 1215612"/>
                  <a:gd name="connsiteX2" fmla="*/ 502783 w 594113"/>
                  <a:gd name="connsiteY2" fmla="*/ 0 h 1215612"/>
                  <a:gd name="connsiteX3" fmla="*/ 594113 w 594113"/>
                  <a:gd name="connsiteY3" fmla="*/ 1179818 h 1215612"/>
                  <a:gd name="connsiteX4" fmla="*/ 403236 w 594113"/>
                  <a:gd name="connsiteY4" fmla="*/ 1215612 h 1215612"/>
                  <a:gd name="connsiteX0" fmla="*/ 403236 w 574100"/>
                  <a:gd name="connsiteY0" fmla="*/ 1215612 h 1215612"/>
                  <a:gd name="connsiteX1" fmla="*/ 0 w 574100"/>
                  <a:gd name="connsiteY1" fmla="*/ 4757 h 1215612"/>
                  <a:gd name="connsiteX2" fmla="*/ 502783 w 574100"/>
                  <a:gd name="connsiteY2" fmla="*/ 0 h 1215612"/>
                  <a:gd name="connsiteX3" fmla="*/ 574100 w 574100"/>
                  <a:gd name="connsiteY3" fmla="*/ 1014877 h 1215612"/>
                  <a:gd name="connsiteX4" fmla="*/ 403236 w 574100"/>
                  <a:gd name="connsiteY4" fmla="*/ 1215612 h 1215612"/>
                  <a:gd name="connsiteX0" fmla="*/ 333190 w 574100"/>
                  <a:gd name="connsiteY0" fmla="*/ 985695 h 1015244"/>
                  <a:gd name="connsiteX1" fmla="*/ 0 w 574100"/>
                  <a:gd name="connsiteY1" fmla="*/ 4757 h 1015244"/>
                  <a:gd name="connsiteX2" fmla="*/ 502783 w 574100"/>
                  <a:gd name="connsiteY2" fmla="*/ 0 h 1015244"/>
                  <a:gd name="connsiteX3" fmla="*/ 574100 w 574100"/>
                  <a:gd name="connsiteY3" fmla="*/ 1014877 h 1015244"/>
                  <a:gd name="connsiteX4" fmla="*/ 333190 w 574100"/>
                  <a:gd name="connsiteY4" fmla="*/ 985695 h 101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4100" h="1015244">
                    <a:moveTo>
                      <a:pt x="333190" y="985695"/>
                    </a:moveTo>
                    <a:cubicBezTo>
                      <a:pt x="153901" y="433090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76415" y="1019182"/>
                      <a:pt x="529388" y="984229"/>
                      <a:pt x="333190" y="98569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  <a:alpha val="5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</a:gradFill>
              <a:ln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29" name="Group 28"/>
              <p:cNvGrpSpPr/>
              <p:nvPr/>
            </p:nvGrpSpPr>
            <p:grpSpPr>
              <a:xfrm>
                <a:off x="1856416" y="3709935"/>
                <a:ext cx="1049338" cy="1739900"/>
                <a:chOff x="1856416" y="3709935"/>
                <a:chExt cx="1049338" cy="1739900"/>
              </a:xfrm>
            </p:grpSpPr>
            <p:sp>
              <p:nvSpPr>
                <p:cNvPr id="496" name="Rectangle 495"/>
                <p:cNvSpPr/>
                <p:nvPr/>
              </p:nvSpPr>
              <p:spPr bwMode="auto">
                <a:xfrm rot="10800000">
                  <a:off x="1867529" y="3957585"/>
                  <a:ext cx="1027112" cy="611090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48285" name="Group 498"/>
                <p:cNvGrpSpPr>
                  <a:grpSpLocks/>
                </p:cNvGrpSpPr>
                <p:nvPr/>
              </p:nvGrpSpPr>
              <p:grpSpPr bwMode="auto">
                <a:xfrm>
                  <a:off x="1858805" y="5088863"/>
                  <a:ext cx="1035373" cy="360972"/>
                  <a:chOff x="4128636" y="3606589"/>
                  <a:chExt cx="568145" cy="338667"/>
                </a:xfrm>
              </p:grpSpPr>
              <p:sp>
                <p:nvSpPr>
                  <p:cNvPr id="515" name="Oval 514"/>
                  <p:cNvSpPr/>
                  <p:nvPr/>
                </p:nvSpPr>
                <p:spPr>
                  <a:xfrm>
                    <a:off x="4129067" y="3720356"/>
                    <a:ext cx="567968" cy="224900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16" name="Rectangle 515"/>
                  <p:cNvSpPr/>
                  <p:nvPr/>
                </p:nvSpPr>
                <p:spPr>
                  <a:xfrm>
                    <a:off x="4129067" y="3720356"/>
                    <a:ext cx="567968" cy="111705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17" name="Oval 516"/>
                  <p:cNvSpPr/>
                  <p:nvPr/>
                </p:nvSpPr>
                <p:spPr>
                  <a:xfrm>
                    <a:off x="4129067" y="3607161"/>
                    <a:ext cx="567968" cy="224900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18" name="Straight Connector 517"/>
                  <p:cNvCxnSpPr/>
                  <p:nvPr/>
                </p:nvCxnSpPr>
                <p:spPr>
                  <a:xfrm>
                    <a:off x="4697035" y="3720356"/>
                    <a:ext cx="0" cy="11170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9" name="Straight Connector 518"/>
                  <p:cNvCxnSpPr/>
                  <p:nvPr/>
                </p:nvCxnSpPr>
                <p:spPr>
                  <a:xfrm>
                    <a:off x="4129067" y="3720356"/>
                    <a:ext cx="0" cy="11170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00" name="Rectangle 499"/>
                <p:cNvSpPr/>
                <p:nvPr/>
              </p:nvSpPr>
              <p:spPr bwMode="auto">
                <a:xfrm>
                  <a:off x="1877054" y="4704509"/>
                  <a:ext cx="1028700" cy="52307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  <a:alpha val="62000"/>
                      </a:schemeClr>
                    </a:gs>
                    <a:gs pos="54000">
                      <a:schemeClr val="accent2">
                        <a:lumMod val="40000"/>
                        <a:lumOff val="6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02" name="Straight Connector 501"/>
                <p:cNvCxnSpPr/>
                <p:nvPr/>
              </p:nvCxnSpPr>
              <p:spPr bwMode="auto">
                <a:xfrm>
                  <a:off x="1861179" y="3981398"/>
                  <a:ext cx="17462" cy="130175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/>
                <p:cNvCxnSpPr/>
                <p:nvPr/>
              </p:nvCxnSpPr>
              <p:spPr bwMode="auto">
                <a:xfrm flipH="1">
                  <a:off x="2894641" y="3971873"/>
                  <a:ext cx="6350" cy="127000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90" name="Group 504"/>
                <p:cNvGrpSpPr>
                  <a:grpSpLocks/>
                </p:cNvGrpSpPr>
                <p:nvPr/>
              </p:nvGrpSpPr>
              <p:grpSpPr bwMode="auto">
                <a:xfrm>
                  <a:off x="1856416" y="3709935"/>
                  <a:ext cx="1044712" cy="399063"/>
                  <a:chOff x="2183302" y="1574638"/>
                  <a:chExt cx="1200154" cy="430218"/>
                </a:xfrm>
              </p:grpSpPr>
              <p:sp>
                <p:nvSpPr>
                  <p:cNvPr id="506" name="Oval 505"/>
                  <p:cNvSpPr/>
                  <p:nvPr/>
                </p:nvSpPr>
                <p:spPr bwMode="auto">
                  <a:xfrm flipV="1">
                    <a:off x="2185126" y="1689305"/>
                    <a:ext cx="1196349" cy="314904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31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20000"/>
                          <a:lumOff val="80000"/>
                        </a:schemeClr>
                      </a:gs>
                    </a:gsLst>
                    <a:lin ang="16200000" scaled="0"/>
                    <a:tileRect/>
                  </a:gradFill>
                  <a:ln w="6350" cmpd="sng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07" name="Rectangle 506"/>
                  <p:cNvSpPr/>
                  <p:nvPr/>
                </p:nvSpPr>
                <p:spPr bwMode="auto">
                  <a:xfrm>
                    <a:off x="2183302" y="1735513"/>
                    <a:ext cx="1198173" cy="11295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4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62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08" name="Oval 507"/>
                  <p:cNvSpPr/>
                  <p:nvPr/>
                </p:nvSpPr>
                <p:spPr bwMode="auto">
                  <a:xfrm flipV="1">
                    <a:off x="2183302" y="1574638"/>
                    <a:ext cx="1196349" cy="314904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09" name="Freeform 508"/>
                  <p:cNvSpPr/>
                  <p:nvPr/>
                </p:nvSpPr>
                <p:spPr bwMode="auto">
                  <a:xfrm>
                    <a:off x="2489684" y="1670478"/>
                    <a:ext cx="581762" cy="157452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10" name="Freeform 509"/>
                  <p:cNvSpPr/>
                  <p:nvPr/>
                </p:nvSpPr>
                <p:spPr bwMode="auto">
                  <a:xfrm>
                    <a:off x="2429502" y="1629404"/>
                    <a:ext cx="703949" cy="111244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11" name="Freeform 510"/>
                  <p:cNvSpPr/>
                  <p:nvPr/>
                </p:nvSpPr>
                <p:spPr bwMode="auto">
                  <a:xfrm>
                    <a:off x="2892723" y="1723534"/>
                    <a:ext cx="257142" cy="958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12" name="Freeform 511"/>
                  <p:cNvSpPr/>
                  <p:nvPr/>
                </p:nvSpPr>
                <p:spPr bwMode="auto">
                  <a:xfrm>
                    <a:off x="2416736" y="1725244"/>
                    <a:ext cx="255318" cy="94130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13" name="Straight Connector 512"/>
                  <p:cNvCxnSpPr>
                    <a:endCxn id="508" idx="2"/>
                  </p:cNvCxnSpPr>
                  <p:nvPr/>
                </p:nvCxnSpPr>
                <p:spPr bwMode="auto">
                  <a:xfrm flipH="1" flipV="1">
                    <a:off x="2183302" y="1732090"/>
                    <a:ext cx="1824" cy="12151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4" name="Straight Connector 513"/>
                  <p:cNvCxnSpPr/>
                  <p:nvPr/>
                </p:nvCxnSpPr>
                <p:spPr bwMode="auto">
                  <a:xfrm flipH="1" flipV="1">
                    <a:off x="3381475" y="1728667"/>
                    <a:ext cx="1823" cy="12151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0" name="Group 29"/>
              <p:cNvGrpSpPr/>
              <p:nvPr/>
            </p:nvGrpSpPr>
            <p:grpSpPr>
              <a:xfrm>
                <a:off x="3566154" y="3862335"/>
                <a:ext cx="514350" cy="1670050"/>
                <a:chOff x="3566154" y="3862335"/>
                <a:chExt cx="514350" cy="1670050"/>
              </a:xfrm>
            </p:grpSpPr>
            <p:sp>
              <p:nvSpPr>
                <p:cNvPr id="549" name="Rectangle 548"/>
                <p:cNvSpPr/>
                <p:nvPr/>
              </p:nvSpPr>
              <p:spPr bwMode="auto">
                <a:xfrm rot="10800000">
                  <a:off x="3569201" y="3946092"/>
                  <a:ext cx="498084" cy="628647"/>
                </a:xfrm>
                <a:prstGeom prst="rect">
                  <a:avLst/>
                </a:prstGeom>
                <a:gradFill>
                  <a:gsLst>
                    <a:gs pos="100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50" name="Straight Connector 549"/>
                <p:cNvCxnSpPr/>
                <p:nvPr/>
              </p:nvCxnSpPr>
              <p:spPr bwMode="auto">
                <a:xfrm flipH="1">
                  <a:off x="4078916" y="4019498"/>
                  <a:ext cx="1588" cy="136525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71" name="Group 552"/>
                <p:cNvGrpSpPr>
                  <a:grpSpLocks/>
                </p:cNvGrpSpPr>
                <p:nvPr/>
              </p:nvGrpSpPr>
              <p:grpSpPr bwMode="auto">
                <a:xfrm>
                  <a:off x="3571302" y="53106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562" name="Oval 561"/>
                  <p:cNvSpPr/>
                  <p:nvPr/>
                </p:nvSpPr>
                <p:spPr>
                  <a:xfrm>
                    <a:off x="4128204" y="3719724"/>
                    <a:ext cx="568606" cy="225532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63" name="Rectangle 562"/>
                  <p:cNvSpPr/>
                  <p:nvPr/>
                </p:nvSpPr>
                <p:spPr>
                  <a:xfrm>
                    <a:off x="4128204" y="3719724"/>
                    <a:ext cx="568606" cy="11155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64" name="Oval 563"/>
                  <p:cNvSpPr/>
                  <p:nvPr/>
                </p:nvSpPr>
                <p:spPr>
                  <a:xfrm>
                    <a:off x="4128204" y="3605744"/>
                    <a:ext cx="568606" cy="225534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  <a:alpha val="5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65" name="Straight Connector 564"/>
                  <p:cNvCxnSpPr/>
                  <p:nvPr/>
                </p:nvCxnSpPr>
                <p:spPr>
                  <a:xfrm>
                    <a:off x="4696810" y="3719724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6" name="Straight Connector 565"/>
                  <p:cNvCxnSpPr/>
                  <p:nvPr/>
                </p:nvCxnSpPr>
                <p:spPr>
                  <a:xfrm>
                    <a:off x="4128204" y="3719724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54" name="Rectangle 553"/>
                <p:cNvSpPr/>
                <p:nvPr/>
              </p:nvSpPr>
              <p:spPr bwMode="auto">
                <a:xfrm>
                  <a:off x="3572504" y="4575123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57" name="Straight Connector 556"/>
                <p:cNvCxnSpPr/>
                <p:nvPr/>
              </p:nvCxnSpPr>
              <p:spPr bwMode="auto">
                <a:xfrm flipH="1">
                  <a:off x="3566154" y="4027435"/>
                  <a:ext cx="3175" cy="1450975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57" name="Group 538"/>
                <p:cNvGrpSpPr>
                  <a:grpSpLocks/>
                </p:cNvGrpSpPr>
                <p:nvPr/>
              </p:nvGrpSpPr>
              <p:grpSpPr bwMode="auto">
                <a:xfrm>
                  <a:off x="3568667" y="38623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540" name="Oval 539"/>
                  <p:cNvSpPr/>
                  <p:nvPr/>
                </p:nvSpPr>
                <p:spPr bwMode="auto">
                  <a:xfrm flipV="1">
                    <a:off x="2188659" y="1691250"/>
                    <a:ext cx="1194966" cy="312543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31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bg1"/>
                      </a:gs>
                    </a:gsLst>
                    <a:lin ang="16200000" scaled="0"/>
                    <a:tileRect/>
                  </a:gradFill>
                  <a:ln w="6350" cmpd="sng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41" name="Rectangle 540"/>
                  <p:cNvSpPr/>
                  <p:nvPr/>
                </p:nvSpPr>
                <p:spPr bwMode="auto">
                  <a:xfrm>
                    <a:off x="2184879" y="1736302"/>
                    <a:ext cx="1198746" cy="112629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4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62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42" name="Oval 541"/>
                  <p:cNvSpPr/>
                  <p:nvPr/>
                </p:nvSpPr>
                <p:spPr bwMode="auto">
                  <a:xfrm flipV="1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43" name="Freeform 542"/>
                  <p:cNvSpPr/>
                  <p:nvPr/>
                </p:nvSpPr>
                <p:spPr bwMode="auto">
                  <a:xfrm>
                    <a:off x="2491182" y="1671539"/>
                    <a:ext cx="582357" cy="154865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44" name="Freeform 543"/>
                  <p:cNvSpPr/>
                  <p:nvPr/>
                </p:nvSpPr>
                <p:spPr bwMode="auto">
                  <a:xfrm>
                    <a:off x="2430678" y="1629304"/>
                    <a:ext cx="703366" cy="109812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45" name="Freeform 544"/>
                  <p:cNvSpPr/>
                  <p:nvPr/>
                </p:nvSpPr>
                <p:spPr bwMode="auto">
                  <a:xfrm>
                    <a:off x="2892025" y="1722222"/>
                    <a:ext cx="260927" cy="95734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46" name="Freeform 545"/>
                  <p:cNvSpPr/>
                  <p:nvPr/>
                </p:nvSpPr>
                <p:spPr bwMode="auto">
                  <a:xfrm>
                    <a:off x="2419334" y="1725039"/>
                    <a:ext cx="253362" cy="95734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47" name="Straight Connector 546"/>
                  <p:cNvCxnSpPr>
                    <a:endCxn id="542" idx="2"/>
                  </p:cNvCxnSpPr>
                  <p:nvPr/>
                </p:nvCxnSpPr>
                <p:spPr bwMode="auto">
                  <a:xfrm flipH="1" flipV="1">
                    <a:off x="2184879" y="1722222"/>
                    <a:ext cx="3780" cy="121077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8" name="Straight Connector 547"/>
                  <p:cNvCxnSpPr/>
                  <p:nvPr/>
                </p:nvCxnSpPr>
                <p:spPr bwMode="auto">
                  <a:xfrm flipH="1" flipV="1">
                    <a:off x="3379845" y="1727853"/>
                    <a:ext cx="3780" cy="121077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1" name="Group 30"/>
              <p:cNvGrpSpPr/>
              <p:nvPr/>
            </p:nvGrpSpPr>
            <p:grpSpPr>
              <a:xfrm>
                <a:off x="4348791" y="3867098"/>
                <a:ext cx="514350" cy="1670050"/>
                <a:chOff x="4348791" y="3867098"/>
                <a:chExt cx="514350" cy="1670050"/>
              </a:xfrm>
            </p:grpSpPr>
            <p:sp>
              <p:nvSpPr>
                <p:cNvPr id="579" name="Rectangle 578"/>
                <p:cNvSpPr/>
                <p:nvPr/>
              </p:nvSpPr>
              <p:spPr bwMode="auto">
                <a:xfrm rot="10800000">
                  <a:off x="4351838" y="3950855"/>
                  <a:ext cx="498084" cy="628647"/>
                </a:xfrm>
                <a:prstGeom prst="rect">
                  <a:avLst/>
                </a:prstGeom>
                <a:gradFill>
                  <a:gsLst>
                    <a:gs pos="100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80" name="Straight Connector 579"/>
                <p:cNvCxnSpPr/>
                <p:nvPr/>
              </p:nvCxnSpPr>
              <p:spPr bwMode="auto">
                <a:xfrm flipH="1">
                  <a:off x="4861554" y="4024260"/>
                  <a:ext cx="1587" cy="136525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43" name="Group 580"/>
                <p:cNvGrpSpPr>
                  <a:grpSpLocks/>
                </p:cNvGrpSpPr>
                <p:nvPr/>
              </p:nvGrpSpPr>
              <p:grpSpPr bwMode="auto">
                <a:xfrm>
                  <a:off x="4353939" y="5315451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589" name="Oval 588"/>
                  <p:cNvSpPr/>
                  <p:nvPr/>
                </p:nvSpPr>
                <p:spPr>
                  <a:xfrm>
                    <a:off x="4128205" y="3719722"/>
                    <a:ext cx="568606" cy="225534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90" name="Rectangle 589"/>
                  <p:cNvSpPr/>
                  <p:nvPr/>
                </p:nvSpPr>
                <p:spPr>
                  <a:xfrm>
                    <a:off x="4128205" y="3719722"/>
                    <a:ext cx="568606" cy="11155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91" name="Oval 590"/>
                  <p:cNvSpPr/>
                  <p:nvPr/>
                </p:nvSpPr>
                <p:spPr>
                  <a:xfrm>
                    <a:off x="4128205" y="3605744"/>
                    <a:ext cx="568606" cy="225532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  <a:alpha val="5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92" name="Straight Connector 591"/>
                  <p:cNvCxnSpPr/>
                  <p:nvPr/>
                </p:nvCxnSpPr>
                <p:spPr>
                  <a:xfrm>
                    <a:off x="4696811" y="3719722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3" name="Straight Connector 592"/>
                  <p:cNvCxnSpPr/>
                  <p:nvPr/>
                </p:nvCxnSpPr>
                <p:spPr>
                  <a:xfrm>
                    <a:off x="4128205" y="3719722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82" name="Rectangle 581"/>
                <p:cNvSpPr/>
                <p:nvPr/>
              </p:nvSpPr>
              <p:spPr bwMode="auto">
                <a:xfrm>
                  <a:off x="4355141" y="4579885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84" name="Straight Connector 583"/>
                <p:cNvCxnSpPr/>
                <p:nvPr/>
              </p:nvCxnSpPr>
              <p:spPr bwMode="auto">
                <a:xfrm flipH="1">
                  <a:off x="4348791" y="4032198"/>
                  <a:ext cx="3175" cy="1450975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29" name="Group 568"/>
                <p:cNvGrpSpPr>
                  <a:grpSpLocks/>
                </p:cNvGrpSpPr>
                <p:nvPr/>
              </p:nvGrpSpPr>
              <p:grpSpPr bwMode="auto">
                <a:xfrm>
                  <a:off x="4351304" y="3867098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570" name="Oval 569"/>
                  <p:cNvSpPr/>
                  <p:nvPr/>
                </p:nvSpPr>
                <p:spPr bwMode="auto">
                  <a:xfrm flipV="1">
                    <a:off x="2188662" y="1691248"/>
                    <a:ext cx="1194966" cy="31254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31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bg1"/>
                      </a:gs>
                    </a:gsLst>
                    <a:lin ang="16200000" scaled="0"/>
                    <a:tileRect/>
                  </a:gradFill>
                  <a:ln w="6350" cmpd="sng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71" name="Rectangle 570"/>
                  <p:cNvSpPr/>
                  <p:nvPr/>
                </p:nvSpPr>
                <p:spPr bwMode="auto">
                  <a:xfrm>
                    <a:off x="2184879" y="1736300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4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62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72" name="Oval 571"/>
                  <p:cNvSpPr/>
                  <p:nvPr/>
                </p:nvSpPr>
                <p:spPr bwMode="auto">
                  <a:xfrm flipV="1">
                    <a:off x="2184879" y="1564542"/>
                    <a:ext cx="1194966" cy="312543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73" name="Freeform 572"/>
                  <p:cNvSpPr/>
                  <p:nvPr/>
                </p:nvSpPr>
                <p:spPr bwMode="auto">
                  <a:xfrm>
                    <a:off x="2491185" y="1671539"/>
                    <a:ext cx="582357" cy="15486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74" name="Freeform 573"/>
                  <p:cNvSpPr/>
                  <p:nvPr/>
                </p:nvSpPr>
                <p:spPr bwMode="auto">
                  <a:xfrm>
                    <a:off x="2430680" y="1629303"/>
                    <a:ext cx="703366" cy="109814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75" name="Freeform 574"/>
                  <p:cNvSpPr/>
                  <p:nvPr/>
                </p:nvSpPr>
                <p:spPr bwMode="auto">
                  <a:xfrm>
                    <a:off x="2892028" y="1722222"/>
                    <a:ext cx="260925" cy="95734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76" name="Freeform 575"/>
                  <p:cNvSpPr/>
                  <p:nvPr/>
                </p:nvSpPr>
                <p:spPr bwMode="auto">
                  <a:xfrm>
                    <a:off x="2419334" y="1725037"/>
                    <a:ext cx="253364" cy="95734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577" name="Straight Connector 576"/>
                  <p:cNvCxnSpPr>
                    <a:endCxn id="572" idx="2"/>
                  </p:cNvCxnSpPr>
                  <p:nvPr/>
                </p:nvCxnSpPr>
                <p:spPr bwMode="auto">
                  <a:xfrm flipH="1" flipV="1">
                    <a:off x="2184879" y="1722222"/>
                    <a:ext cx="3783" cy="121075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8" name="Straight Connector 577"/>
                  <p:cNvCxnSpPr/>
                  <p:nvPr/>
                </p:nvCxnSpPr>
                <p:spPr bwMode="auto">
                  <a:xfrm flipH="1" flipV="1">
                    <a:off x="3379845" y="1727853"/>
                    <a:ext cx="3783" cy="121075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8258" name="Group 48257"/>
              <p:cNvGrpSpPr/>
              <p:nvPr/>
            </p:nvGrpSpPr>
            <p:grpSpPr>
              <a:xfrm>
                <a:off x="5552116" y="3849635"/>
                <a:ext cx="514350" cy="1670050"/>
                <a:chOff x="5552116" y="3849635"/>
                <a:chExt cx="514350" cy="1670050"/>
              </a:xfrm>
            </p:grpSpPr>
            <p:sp>
              <p:nvSpPr>
                <p:cNvPr id="606" name="Rectangle 605"/>
                <p:cNvSpPr/>
                <p:nvPr/>
              </p:nvSpPr>
              <p:spPr bwMode="auto">
                <a:xfrm rot="10800000">
                  <a:off x="5555163" y="3933392"/>
                  <a:ext cx="498084" cy="628647"/>
                </a:xfrm>
                <a:prstGeom prst="rect">
                  <a:avLst/>
                </a:prstGeom>
                <a:gradFill>
                  <a:gsLst>
                    <a:gs pos="100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07" name="Straight Connector 606"/>
                <p:cNvCxnSpPr/>
                <p:nvPr/>
              </p:nvCxnSpPr>
              <p:spPr bwMode="auto">
                <a:xfrm flipH="1">
                  <a:off x="6064879" y="4006798"/>
                  <a:ext cx="1587" cy="136525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15" name="Group 607"/>
                <p:cNvGrpSpPr>
                  <a:grpSpLocks/>
                </p:cNvGrpSpPr>
                <p:nvPr/>
              </p:nvGrpSpPr>
              <p:grpSpPr bwMode="auto">
                <a:xfrm>
                  <a:off x="5557264" y="52979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616" name="Oval 615"/>
                  <p:cNvSpPr/>
                  <p:nvPr/>
                </p:nvSpPr>
                <p:spPr>
                  <a:xfrm>
                    <a:off x="4128205" y="3719724"/>
                    <a:ext cx="568606" cy="225532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17" name="Rectangle 616"/>
                  <p:cNvSpPr/>
                  <p:nvPr/>
                </p:nvSpPr>
                <p:spPr>
                  <a:xfrm>
                    <a:off x="4128205" y="3719724"/>
                    <a:ext cx="568606" cy="11155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18" name="Oval 617"/>
                  <p:cNvSpPr/>
                  <p:nvPr/>
                </p:nvSpPr>
                <p:spPr>
                  <a:xfrm>
                    <a:off x="4128205" y="3605744"/>
                    <a:ext cx="568606" cy="225534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  <a:alpha val="5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619" name="Straight Connector 618"/>
                  <p:cNvCxnSpPr/>
                  <p:nvPr/>
                </p:nvCxnSpPr>
                <p:spPr>
                  <a:xfrm>
                    <a:off x="4696811" y="3719724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0" name="Straight Connector 619"/>
                  <p:cNvCxnSpPr/>
                  <p:nvPr/>
                </p:nvCxnSpPr>
                <p:spPr>
                  <a:xfrm>
                    <a:off x="4128205" y="3719724"/>
                    <a:ext cx="0" cy="11155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09" name="Rectangle 608"/>
                <p:cNvSpPr/>
                <p:nvPr/>
              </p:nvSpPr>
              <p:spPr bwMode="auto">
                <a:xfrm>
                  <a:off x="5558466" y="4562423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11" name="Straight Connector 610"/>
                <p:cNvCxnSpPr/>
                <p:nvPr/>
              </p:nvCxnSpPr>
              <p:spPr bwMode="auto">
                <a:xfrm flipH="1">
                  <a:off x="5552116" y="4014735"/>
                  <a:ext cx="3175" cy="1450975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201" name="Group 595"/>
                <p:cNvGrpSpPr>
                  <a:grpSpLocks/>
                </p:cNvGrpSpPr>
                <p:nvPr/>
              </p:nvGrpSpPr>
              <p:grpSpPr bwMode="auto">
                <a:xfrm>
                  <a:off x="5554629" y="38496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597" name="Oval 596"/>
                  <p:cNvSpPr/>
                  <p:nvPr/>
                </p:nvSpPr>
                <p:spPr bwMode="auto">
                  <a:xfrm flipV="1">
                    <a:off x="2188662" y="1691250"/>
                    <a:ext cx="1194966" cy="312543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31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bg1"/>
                      </a:gs>
                    </a:gsLst>
                    <a:lin ang="16200000" scaled="0"/>
                    <a:tileRect/>
                  </a:gradFill>
                  <a:ln w="6350" cmpd="sng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598" name="Rectangle 597"/>
                  <p:cNvSpPr/>
                  <p:nvPr/>
                </p:nvSpPr>
                <p:spPr bwMode="auto">
                  <a:xfrm>
                    <a:off x="2184879" y="1736302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4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62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599" name="Oval 598"/>
                  <p:cNvSpPr/>
                  <p:nvPr/>
                </p:nvSpPr>
                <p:spPr bwMode="auto">
                  <a:xfrm flipV="1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600" name="Freeform 599"/>
                  <p:cNvSpPr/>
                  <p:nvPr/>
                </p:nvSpPr>
                <p:spPr bwMode="auto">
                  <a:xfrm>
                    <a:off x="2491185" y="1671539"/>
                    <a:ext cx="582357" cy="154865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01" name="Freeform 600"/>
                  <p:cNvSpPr/>
                  <p:nvPr/>
                </p:nvSpPr>
                <p:spPr bwMode="auto">
                  <a:xfrm>
                    <a:off x="2430680" y="1629304"/>
                    <a:ext cx="703366" cy="109812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02" name="Freeform 601"/>
                  <p:cNvSpPr/>
                  <p:nvPr/>
                </p:nvSpPr>
                <p:spPr bwMode="auto">
                  <a:xfrm>
                    <a:off x="2892028" y="1722222"/>
                    <a:ext cx="260925" cy="95734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03" name="Freeform 602"/>
                  <p:cNvSpPr/>
                  <p:nvPr/>
                </p:nvSpPr>
                <p:spPr bwMode="auto">
                  <a:xfrm>
                    <a:off x="2419334" y="1725039"/>
                    <a:ext cx="253364" cy="95734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604" name="Straight Connector 603"/>
                  <p:cNvCxnSpPr>
                    <a:endCxn id="599" idx="2"/>
                  </p:cNvCxnSpPr>
                  <p:nvPr/>
                </p:nvCxnSpPr>
                <p:spPr bwMode="auto">
                  <a:xfrm flipH="1" flipV="1">
                    <a:off x="2184879" y="1722222"/>
                    <a:ext cx="3783" cy="121077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5" name="Straight Connector 604"/>
                  <p:cNvCxnSpPr/>
                  <p:nvPr/>
                </p:nvCxnSpPr>
                <p:spPr bwMode="auto">
                  <a:xfrm flipH="1" flipV="1">
                    <a:off x="3379845" y="1727853"/>
                    <a:ext cx="3783" cy="121077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8259" name="Group 48258"/>
              <p:cNvGrpSpPr/>
              <p:nvPr/>
            </p:nvGrpSpPr>
            <p:grpSpPr>
              <a:xfrm>
                <a:off x="6547479" y="3836935"/>
                <a:ext cx="514350" cy="1671638"/>
                <a:chOff x="6547479" y="3836935"/>
                <a:chExt cx="514350" cy="1671638"/>
              </a:xfrm>
            </p:grpSpPr>
            <p:sp>
              <p:nvSpPr>
                <p:cNvPr id="633" name="Rectangle 632"/>
                <p:cNvSpPr/>
                <p:nvPr/>
              </p:nvSpPr>
              <p:spPr bwMode="auto">
                <a:xfrm rot="10800000">
                  <a:off x="6550526" y="3920772"/>
                  <a:ext cx="498084" cy="629245"/>
                </a:xfrm>
                <a:prstGeom prst="rect">
                  <a:avLst/>
                </a:prstGeom>
                <a:gradFill>
                  <a:gsLst>
                    <a:gs pos="100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34" name="Straight Connector 633"/>
                <p:cNvCxnSpPr/>
                <p:nvPr/>
              </p:nvCxnSpPr>
              <p:spPr bwMode="auto">
                <a:xfrm flipH="1">
                  <a:off x="7060241" y="3994098"/>
                  <a:ext cx="1588" cy="136683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187" name="Group 634"/>
                <p:cNvGrpSpPr>
                  <a:grpSpLocks/>
                </p:cNvGrpSpPr>
                <p:nvPr/>
              </p:nvGrpSpPr>
              <p:grpSpPr bwMode="auto">
                <a:xfrm>
                  <a:off x="6552627" y="5286665"/>
                  <a:ext cx="507588" cy="221908"/>
                  <a:chOff x="4128636" y="3606589"/>
                  <a:chExt cx="568145" cy="338667"/>
                </a:xfrm>
              </p:grpSpPr>
              <p:sp>
                <p:nvSpPr>
                  <p:cNvPr id="643" name="Oval 642"/>
                  <p:cNvSpPr/>
                  <p:nvPr/>
                </p:nvSpPr>
                <p:spPr>
                  <a:xfrm>
                    <a:off x="4128204" y="3719937"/>
                    <a:ext cx="568606" cy="225319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44" name="Rectangle 643"/>
                  <p:cNvSpPr/>
                  <p:nvPr/>
                </p:nvSpPr>
                <p:spPr>
                  <a:xfrm>
                    <a:off x="4128204" y="3719937"/>
                    <a:ext cx="568606" cy="111448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45" name="Oval 644"/>
                  <p:cNvSpPr/>
                  <p:nvPr/>
                </p:nvSpPr>
                <p:spPr>
                  <a:xfrm>
                    <a:off x="4128204" y="3606067"/>
                    <a:ext cx="568606" cy="225318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  <a:alpha val="55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646" name="Straight Connector 645"/>
                  <p:cNvCxnSpPr/>
                  <p:nvPr/>
                </p:nvCxnSpPr>
                <p:spPr>
                  <a:xfrm>
                    <a:off x="4696810" y="3719937"/>
                    <a:ext cx="0" cy="11144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7" name="Straight Connector 646"/>
                  <p:cNvCxnSpPr/>
                  <p:nvPr/>
                </p:nvCxnSpPr>
                <p:spPr>
                  <a:xfrm>
                    <a:off x="4128204" y="3719937"/>
                    <a:ext cx="0" cy="111448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36" name="Rectangle 635"/>
                <p:cNvSpPr/>
                <p:nvPr/>
              </p:nvSpPr>
              <p:spPr bwMode="auto">
                <a:xfrm>
                  <a:off x="6553829" y="4551310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  <a:alpha val="62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638" name="Straight Connector 637"/>
                <p:cNvCxnSpPr/>
                <p:nvPr/>
              </p:nvCxnSpPr>
              <p:spPr bwMode="auto">
                <a:xfrm flipH="1">
                  <a:off x="6547479" y="4002035"/>
                  <a:ext cx="3175" cy="1452563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173" name="Group 622"/>
                <p:cNvGrpSpPr>
                  <a:grpSpLocks/>
                </p:cNvGrpSpPr>
                <p:nvPr/>
              </p:nvGrpSpPr>
              <p:grpSpPr bwMode="auto">
                <a:xfrm>
                  <a:off x="6549992" y="3836935"/>
                  <a:ext cx="503828" cy="248485"/>
                  <a:chOff x="2183302" y="1564542"/>
                  <a:chExt cx="1200154" cy="440314"/>
                </a:xfrm>
              </p:grpSpPr>
              <p:sp>
                <p:nvSpPr>
                  <p:cNvPr id="624" name="Oval 623"/>
                  <p:cNvSpPr/>
                  <p:nvPr/>
                </p:nvSpPr>
                <p:spPr bwMode="auto">
                  <a:xfrm flipV="1">
                    <a:off x="2188659" y="1691130"/>
                    <a:ext cx="1194966" cy="315061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31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bg1"/>
                      </a:gs>
                    </a:gsLst>
                    <a:lin ang="16200000" scaled="0"/>
                    <a:tileRect/>
                  </a:gradFill>
                  <a:ln w="6350" cmpd="sng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625" name="Rectangle 624"/>
                  <p:cNvSpPr/>
                  <p:nvPr/>
                </p:nvSpPr>
                <p:spPr bwMode="auto">
                  <a:xfrm>
                    <a:off x="2184879" y="1736138"/>
                    <a:ext cx="1198746" cy="112522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40000"/>
                          <a:lumOff val="60000"/>
                        </a:schemeClr>
                      </a:gs>
                      <a:gs pos="54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62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26" name="Oval 625"/>
                  <p:cNvSpPr/>
                  <p:nvPr/>
                </p:nvSpPr>
                <p:spPr bwMode="auto">
                  <a:xfrm flipV="1">
                    <a:off x="2184879" y="1564542"/>
                    <a:ext cx="1194966" cy="315061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627" name="Freeform 626"/>
                  <p:cNvSpPr/>
                  <p:nvPr/>
                </p:nvSpPr>
                <p:spPr bwMode="auto">
                  <a:xfrm>
                    <a:off x="2491182" y="1671438"/>
                    <a:ext cx="582357" cy="15753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28" name="Freeform 627"/>
                  <p:cNvSpPr/>
                  <p:nvPr/>
                </p:nvSpPr>
                <p:spPr bwMode="auto">
                  <a:xfrm>
                    <a:off x="2430678" y="1629243"/>
                    <a:ext cx="703366" cy="112522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29" name="Freeform 628"/>
                  <p:cNvSpPr/>
                  <p:nvPr/>
                </p:nvSpPr>
                <p:spPr bwMode="auto">
                  <a:xfrm>
                    <a:off x="2892025" y="1724886"/>
                    <a:ext cx="260927" cy="95643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630" name="Freeform 629"/>
                  <p:cNvSpPr/>
                  <p:nvPr/>
                </p:nvSpPr>
                <p:spPr bwMode="auto">
                  <a:xfrm>
                    <a:off x="2419334" y="1727698"/>
                    <a:ext cx="253362" cy="92831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631" name="Straight Connector 630"/>
                  <p:cNvCxnSpPr>
                    <a:endCxn id="626" idx="2"/>
                  </p:cNvCxnSpPr>
                  <p:nvPr/>
                </p:nvCxnSpPr>
                <p:spPr bwMode="auto">
                  <a:xfrm flipH="1" flipV="1">
                    <a:off x="2184879" y="1722072"/>
                    <a:ext cx="3780" cy="120962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2" name="Straight Connector 631"/>
                  <p:cNvCxnSpPr/>
                  <p:nvPr/>
                </p:nvCxnSpPr>
                <p:spPr bwMode="auto">
                  <a:xfrm flipH="1" flipV="1">
                    <a:off x="3379845" y="1730512"/>
                    <a:ext cx="3780" cy="120960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8" name="Group 27"/>
            <p:cNvGrpSpPr/>
            <p:nvPr/>
          </p:nvGrpSpPr>
          <p:grpSpPr>
            <a:xfrm>
              <a:off x="2381956" y="2010251"/>
              <a:ext cx="4415330" cy="2315048"/>
              <a:chOff x="2381956" y="2435173"/>
              <a:chExt cx="4415330" cy="2315048"/>
            </a:xfrm>
          </p:grpSpPr>
          <p:sp>
            <p:nvSpPr>
              <p:cNvPr id="391" name="Freeform 390"/>
              <p:cNvSpPr/>
              <p:nvPr/>
            </p:nvSpPr>
            <p:spPr>
              <a:xfrm>
                <a:off x="2381956" y="2439629"/>
                <a:ext cx="297540" cy="1743187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015941"/>
                  <a:gd name="connsiteX1" fmla="*/ 0 w 307275"/>
                  <a:gd name="connsiteY1" fmla="*/ 0 h 2015941"/>
                  <a:gd name="connsiteX2" fmla="*/ 0 w 307275"/>
                  <a:gd name="connsiteY2" fmla="*/ 2015941 h 2015941"/>
                  <a:gd name="connsiteX0" fmla="*/ 228538 w 228538"/>
                  <a:gd name="connsiteY0" fmla="*/ 0 h 2022548"/>
                  <a:gd name="connsiteX1" fmla="*/ 0 w 228538"/>
                  <a:gd name="connsiteY1" fmla="*/ 6607 h 2022548"/>
                  <a:gd name="connsiteX2" fmla="*/ 0 w 228538"/>
                  <a:gd name="connsiteY2" fmla="*/ 2022548 h 2022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538" h="2022548">
                    <a:moveTo>
                      <a:pt x="228538" y="0"/>
                    </a:moveTo>
                    <a:lnTo>
                      <a:pt x="0" y="6607"/>
                    </a:lnTo>
                    <a:lnTo>
                      <a:pt x="0" y="2022548"/>
                    </a:lnTo>
                  </a:path>
                </a:pathLst>
              </a:custGeom>
              <a:ln w="31750">
                <a:solidFill>
                  <a:srgbClr val="CC0000"/>
                </a:solidFill>
                <a:headEnd type="triangl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CC0000"/>
                  </a:solidFill>
                </a:endParaRPr>
              </a:p>
            </p:txBody>
          </p:sp>
          <p:sp>
            <p:nvSpPr>
              <p:cNvPr id="392" name="Freeform 391"/>
              <p:cNvSpPr/>
              <p:nvPr/>
            </p:nvSpPr>
            <p:spPr>
              <a:xfrm flipH="1">
                <a:off x="6411524" y="2435173"/>
                <a:ext cx="385762" cy="2300562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117725"/>
                  <a:gd name="connsiteX1" fmla="*/ 0 w 307275"/>
                  <a:gd name="connsiteY1" fmla="*/ 0 h 2117725"/>
                  <a:gd name="connsiteX2" fmla="*/ 0 w 307275"/>
                  <a:gd name="connsiteY2" fmla="*/ 2117725 h 21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7275" h="2117725">
                    <a:moveTo>
                      <a:pt x="307275" y="0"/>
                    </a:moveTo>
                    <a:lnTo>
                      <a:pt x="0" y="0"/>
                    </a:lnTo>
                    <a:lnTo>
                      <a:pt x="0" y="2117725"/>
                    </a:lnTo>
                  </a:path>
                </a:pathLst>
              </a:custGeom>
              <a:ln w="31750">
                <a:solidFill>
                  <a:srgbClr val="CC0000"/>
                </a:solidFill>
                <a:headEnd type="triangl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cxnSp>
            <p:nvCxnSpPr>
              <p:cNvPr id="393" name="Straight Arrow Connector 392"/>
              <p:cNvCxnSpPr/>
              <p:nvPr/>
            </p:nvCxnSpPr>
            <p:spPr>
              <a:xfrm flipV="1">
                <a:off x="5791457" y="2687586"/>
                <a:ext cx="8309" cy="2062635"/>
              </a:xfrm>
              <a:prstGeom prst="straightConnector1">
                <a:avLst/>
              </a:prstGeom>
              <a:ln w="31750">
                <a:solidFill>
                  <a:srgbClr val="CC0000"/>
                </a:solidFill>
                <a:headEnd type="triangl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Straight Arrow Connector 393"/>
              <p:cNvCxnSpPr/>
              <p:nvPr/>
            </p:nvCxnSpPr>
            <p:spPr>
              <a:xfrm flipV="1">
                <a:off x="4598735" y="2708225"/>
                <a:ext cx="18344" cy="2037167"/>
              </a:xfrm>
              <a:prstGeom prst="straightConnector1">
                <a:avLst/>
              </a:prstGeom>
              <a:ln w="31750">
                <a:solidFill>
                  <a:srgbClr val="CC0000"/>
                </a:solidFill>
                <a:headEnd type="triangl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Straight Arrow Connector 394"/>
              <p:cNvCxnSpPr/>
              <p:nvPr/>
            </p:nvCxnSpPr>
            <p:spPr>
              <a:xfrm flipH="1" flipV="1">
                <a:off x="3807455" y="2762199"/>
                <a:ext cx="9009" cy="1983193"/>
              </a:xfrm>
              <a:prstGeom prst="straightConnector1">
                <a:avLst/>
              </a:prstGeom>
              <a:ln w="31750">
                <a:solidFill>
                  <a:srgbClr val="CC0000"/>
                </a:solidFill>
                <a:headEnd type="triangle"/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2" name="Group 347"/>
            <p:cNvGrpSpPr>
              <a:grpSpLocks/>
            </p:cNvGrpSpPr>
            <p:nvPr/>
          </p:nvGrpSpPr>
          <p:grpSpPr bwMode="auto">
            <a:xfrm>
              <a:off x="5856401" y="5478592"/>
              <a:ext cx="588970" cy="242608"/>
              <a:chOff x="1871277" y="1576300"/>
              <a:chExt cx="1128371" cy="437861"/>
            </a:xfrm>
          </p:grpSpPr>
          <p:sp>
            <p:nvSpPr>
              <p:cNvPr id="363" name="Oval 36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4" name="Rectangle 36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5" name="Oval 36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6" name="Freeform 36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7" name="Freeform 36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8" name="Freeform 36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9" name="Freeform 36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70" name="Straight Connector 369"/>
              <p:cNvCxnSpPr>
                <a:endCxn id="36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Straight Connector 37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2" name="Group 347"/>
            <p:cNvGrpSpPr>
              <a:grpSpLocks/>
            </p:cNvGrpSpPr>
            <p:nvPr/>
          </p:nvGrpSpPr>
          <p:grpSpPr bwMode="auto">
            <a:xfrm>
              <a:off x="4375328" y="5336495"/>
              <a:ext cx="588970" cy="242608"/>
              <a:chOff x="1871277" y="1576300"/>
              <a:chExt cx="1128371" cy="437861"/>
            </a:xfrm>
          </p:grpSpPr>
          <p:sp>
            <p:nvSpPr>
              <p:cNvPr id="373" name="Oval 37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74" name="Rectangle 37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5" name="Oval 37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76" name="Freeform 37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7" name="Freeform 37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8" name="Freeform 37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9" name="Freeform 37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80" name="Straight Connector 379"/>
              <p:cNvCxnSpPr>
                <a:endCxn id="37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2" name="Group 347"/>
            <p:cNvGrpSpPr>
              <a:grpSpLocks/>
            </p:cNvGrpSpPr>
            <p:nvPr/>
          </p:nvGrpSpPr>
          <p:grpSpPr bwMode="auto">
            <a:xfrm>
              <a:off x="2848241" y="5530308"/>
              <a:ext cx="588970" cy="242608"/>
              <a:chOff x="1871277" y="1576300"/>
              <a:chExt cx="1128371" cy="437861"/>
            </a:xfrm>
          </p:grpSpPr>
          <p:sp>
            <p:nvSpPr>
              <p:cNvPr id="383" name="Oval 38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84" name="Rectangle 38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85" name="Oval 38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86" name="Freeform 38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87" name="Freeform 38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90" name="Freeform 389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97" name="Freeform 396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99" name="Straight Connector 398"/>
              <p:cNvCxnSpPr>
                <a:endCxn id="38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Straight Connector 39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1" name="Group 347"/>
            <p:cNvGrpSpPr>
              <a:grpSpLocks/>
            </p:cNvGrpSpPr>
            <p:nvPr/>
          </p:nvGrpSpPr>
          <p:grpSpPr bwMode="auto">
            <a:xfrm>
              <a:off x="5166757" y="5796647"/>
              <a:ext cx="588970" cy="242608"/>
              <a:chOff x="1871277" y="1576300"/>
              <a:chExt cx="1128371" cy="437861"/>
            </a:xfrm>
          </p:grpSpPr>
          <p:sp>
            <p:nvSpPr>
              <p:cNvPr id="402" name="Oval 40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07" name="Rectangle 406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12" name="Oval 411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17" name="Freeform 416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2" name="Freeform 421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7" name="Freeform 426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8" name="Freeform 427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29" name="Straight Connector 428"/>
              <p:cNvCxnSpPr>
                <a:endCxn id="412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1" name="Group 347"/>
            <p:cNvGrpSpPr>
              <a:grpSpLocks/>
            </p:cNvGrpSpPr>
            <p:nvPr/>
          </p:nvGrpSpPr>
          <p:grpSpPr bwMode="auto">
            <a:xfrm>
              <a:off x="3704088" y="5889227"/>
              <a:ext cx="588970" cy="242608"/>
              <a:chOff x="1871277" y="1576300"/>
              <a:chExt cx="1128371" cy="437861"/>
            </a:xfrm>
          </p:grpSpPr>
          <p:sp>
            <p:nvSpPr>
              <p:cNvPr id="432" name="Oval 43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33" name="Rectangle 432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4" name="Oval 433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35" name="Freeform 434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6" name="Freeform 435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7" name="Freeform 436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8" name="Freeform 437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39" name="Straight Connector 438"/>
              <p:cNvCxnSpPr>
                <a:endCxn id="43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Straight Connector 43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>
              <a:off x="1925875" y="1754513"/>
              <a:ext cx="5095391" cy="2833288"/>
              <a:chOff x="1925876" y="2212958"/>
              <a:chExt cx="5095391" cy="2833288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2745416" y="2212958"/>
                <a:ext cx="3597533" cy="493677"/>
                <a:chOff x="2705100" y="2011398"/>
                <a:chExt cx="3597533" cy="493677"/>
              </a:xfrm>
            </p:grpSpPr>
            <p:sp>
              <p:nvSpPr>
                <p:cNvPr id="342" name="Oval 341"/>
                <p:cNvSpPr/>
                <p:nvPr/>
              </p:nvSpPr>
              <p:spPr bwMode="auto"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9" name="Oval 388"/>
                <p:cNvSpPr/>
                <p:nvPr/>
              </p:nvSpPr>
              <p:spPr bwMode="auto"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308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452664" y="2127167"/>
                  <a:ext cx="2057700" cy="296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800" dirty="0">
                      <a:solidFill>
                        <a:schemeClr val="bg1"/>
                      </a:solidFill>
                    </a:rPr>
                    <a:t>Remote Controller</a:t>
                  </a:r>
                </a:p>
              </p:txBody>
            </p:sp>
          </p:grpSp>
          <p:grpSp>
            <p:nvGrpSpPr>
              <p:cNvPr id="442" name="Group 441"/>
              <p:cNvGrpSpPr/>
              <p:nvPr/>
            </p:nvGrpSpPr>
            <p:grpSpPr>
              <a:xfrm>
                <a:off x="1925876" y="4223509"/>
                <a:ext cx="923540" cy="405953"/>
                <a:chOff x="2705100" y="2011398"/>
                <a:chExt cx="3597533" cy="493677"/>
              </a:xfrm>
            </p:grpSpPr>
            <p:sp>
              <p:nvSpPr>
                <p:cNvPr id="443" name="Oval 442"/>
                <p:cNvSpPr/>
                <p:nvPr/>
              </p:nvSpPr>
              <p:spPr bwMode="auto"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chemeClr val="bg1">
                    <a:alpha val="42000"/>
                  </a:schemeClr>
                </a:solidFill>
                <a:ln w="3175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4" name="Oval 443"/>
                <p:cNvSpPr/>
                <p:nvPr/>
              </p:nvSpPr>
              <p:spPr bwMode="auto"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5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901810" y="2127167"/>
                  <a:ext cx="1159411" cy="296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800" dirty="0" smtClean="0">
                      <a:solidFill>
                        <a:schemeClr val="bg1"/>
                      </a:solidFill>
                    </a:rPr>
                    <a:t>CA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7" name="Group 16"/>
              <p:cNvGrpSpPr/>
              <p:nvPr/>
            </p:nvGrpSpPr>
            <p:grpSpPr>
              <a:xfrm>
                <a:off x="3589508" y="4760377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13" name="Group 12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47" name="Oval 446"/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chemeClr val="bg1">
                      <a:alpha val="42000"/>
                    </a:schemeClr>
                  </a:solidFill>
                  <a:ln w="317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448" name="Oval 447"/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449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400" dirty="0" smtClean="0">
                      <a:solidFill>
                        <a:schemeClr val="bg1"/>
                      </a:solidFill>
                    </a:rPr>
                    <a:t>CA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451" name="Group 450"/>
              <p:cNvGrpSpPr/>
              <p:nvPr/>
            </p:nvGrpSpPr>
            <p:grpSpPr>
              <a:xfrm>
                <a:off x="4369656" y="4758258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452" name="Group 451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54" name="Oval 453"/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chemeClr val="bg1">
                      <a:alpha val="42000"/>
                    </a:schemeClr>
                  </a:solidFill>
                  <a:ln w="317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455" name="Oval 454"/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453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400" dirty="0" smtClean="0">
                      <a:solidFill>
                        <a:schemeClr val="bg1"/>
                      </a:solidFill>
                    </a:rPr>
                    <a:t>CA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456" name="Group 455"/>
              <p:cNvGrpSpPr/>
              <p:nvPr/>
            </p:nvGrpSpPr>
            <p:grpSpPr>
              <a:xfrm>
                <a:off x="5569912" y="4756140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457" name="Group 45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59" name="Oval 458"/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chemeClr val="bg1">
                      <a:alpha val="42000"/>
                    </a:schemeClr>
                  </a:solidFill>
                  <a:ln w="317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460" name="Oval 459"/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458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400" dirty="0" smtClean="0">
                      <a:solidFill>
                        <a:schemeClr val="bg1"/>
                      </a:solidFill>
                    </a:rPr>
                    <a:t>CA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461" name="Group 460"/>
              <p:cNvGrpSpPr/>
              <p:nvPr/>
            </p:nvGrpSpPr>
            <p:grpSpPr>
              <a:xfrm>
                <a:off x="6557699" y="4754022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462" name="Group 461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64" name="Oval 463"/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chemeClr val="bg1">
                      <a:alpha val="42000"/>
                    </a:schemeClr>
                  </a:solidFill>
                  <a:ln w="3175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465" name="Oval 464"/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>
                    <a:solidFill>
                      <a:srgbClr val="CC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463" name="TextBox 389"/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>
                    <a:lnSpc>
                      <a:spcPts val="1475"/>
                    </a:lnSpc>
                  </a:pPr>
                  <a:r>
                    <a:rPr lang="en-US" sz="1400" dirty="0" smtClean="0">
                      <a:solidFill>
                        <a:schemeClr val="bg1"/>
                      </a:solidFill>
                    </a:rPr>
                    <a:t>CA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2" name="Group 1"/>
            <p:cNvGrpSpPr/>
            <p:nvPr/>
          </p:nvGrpSpPr>
          <p:grpSpPr>
            <a:xfrm>
              <a:off x="2050694" y="4240394"/>
              <a:ext cx="4962309" cy="697609"/>
              <a:chOff x="-3809141" y="1128902"/>
              <a:chExt cx="4962309" cy="697609"/>
            </a:xfrm>
          </p:grpSpPr>
          <p:grpSp>
            <p:nvGrpSpPr>
              <p:cNvPr id="48273" name="Group 554"/>
              <p:cNvGrpSpPr>
                <a:grpSpLocks/>
              </p:cNvGrpSpPr>
              <p:nvPr/>
            </p:nvGrpSpPr>
            <p:grpSpPr bwMode="auto">
              <a:xfrm>
                <a:off x="-2259184" y="1493681"/>
                <a:ext cx="426647" cy="330722"/>
                <a:chOff x="2932185" y="3913304"/>
                <a:chExt cx="426963" cy="330885"/>
              </a:xfrm>
            </p:grpSpPr>
            <p:sp>
              <p:nvSpPr>
                <p:cNvPr id="558" name="Rectangle 557"/>
                <p:cNvSpPr/>
                <p:nvPr/>
              </p:nvSpPr>
              <p:spPr>
                <a:xfrm>
                  <a:off x="2933382" y="3913304"/>
                  <a:ext cx="425766" cy="32877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59" name="Straight Connector 558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0" name="Straight Connector 559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Straight Connector 560"/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/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Straight Connector 340"/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7" name="Group 554"/>
              <p:cNvGrpSpPr>
                <a:grpSpLocks/>
              </p:cNvGrpSpPr>
              <p:nvPr/>
            </p:nvGrpSpPr>
            <p:grpSpPr bwMode="auto">
              <a:xfrm>
                <a:off x="-3809141" y="1128902"/>
                <a:ext cx="675450" cy="526527"/>
                <a:chOff x="2932185" y="3913304"/>
                <a:chExt cx="430533" cy="332666"/>
              </a:xfrm>
            </p:grpSpPr>
            <p:sp>
              <p:nvSpPr>
                <p:cNvPr id="358" name="Rectangle 357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59" name="Straight Connector 358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0" name="Straight Connector 359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/>
                <p:cNvCxnSpPr/>
                <p:nvPr/>
              </p:nvCxnSpPr>
              <p:spPr>
                <a:xfrm flipH="1" flipV="1">
                  <a:off x="3182588" y="400542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/>
                <p:cNvCxnSpPr/>
                <p:nvPr/>
              </p:nvCxnSpPr>
              <p:spPr>
                <a:xfrm flipH="1" flipV="1">
                  <a:off x="3093297" y="4009316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Straight Connector 338"/>
                <p:cNvCxnSpPr/>
                <p:nvPr/>
              </p:nvCxnSpPr>
              <p:spPr>
                <a:xfrm flipH="1" flipV="1">
                  <a:off x="3278747" y="4008109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3" name="Group 554"/>
              <p:cNvGrpSpPr>
                <a:grpSpLocks/>
              </p:cNvGrpSpPr>
              <p:nvPr/>
            </p:nvGrpSpPr>
            <p:grpSpPr bwMode="auto">
              <a:xfrm>
                <a:off x="-1475553" y="1495789"/>
                <a:ext cx="430214" cy="330722"/>
                <a:chOff x="2932185" y="3913304"/>
                <a:chExt cx="430533" cy="330885"/>
              </a:xfrm>
            </p:grpSpPr>
            <p:sp>
              <p:nvSpPr>
                <p:cNvPr id="344" name="Rectangle 343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45" name="Straight Connector 344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Straight Connector 345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Straight Connector 346"/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Straight Connector 347"/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Straight Connector 348"/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0" name="Group 554"/>
              <p:cNvGrpSpPr>
                <a:grpSpLocks/>
              </p:cNvGrpSpPr>
              <p:nvPr/>
            </p:nvGrpSpPr>
            <p:grpSpPr bwMode="auto">
              <a:xfrm>
                <a:off x="-271097" y="1490382"/>
                <a:ext cx="430214" cy="330722"/>
                <a:chOff x="2932185" y="3913304"/>
                <a:chExt cx="430533" cy="330885"/>
              </a:xfrm>
            </p:grpSpPr>
            <p:sp>
              <p:nvSpPr>
                <p:cNvPr id="351" name="Rectangle 350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52" name="Straight Connector 351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Straight Connector 352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Straight Connector 353"/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Straight Connector 354"/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Straight Connector 355"/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1" name="Group 554"/>
              <p:cNvGrpSpPr>
                <a:grpSpLocks/>
              </p:cNvGrpSpPr>
              <p:nvPr/>
            </p:nvGrpSpPr>
            <p:grpSpPr bwMode="auto">
              <a:xfrm>
                <a:off x="722954" y="1484975"/>
                <a:ext cx="430214" cy="330722"/>
                <a:chOff x="2932185" y="3913304"/>
                <a:chExt cx="430533" cy="330885"/>
              </a:xfrm>
            </p:grpSpPr>
            <p:sp>
              <p:nvSpPr>
                <p:cNvPr id="446" name="Rectangle 445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50" name="Straight Connector 449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8" name="Straight Connector 467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Straight Connector 468"/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0" name="Straight Connector 469"/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Connector 470"/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ln w="3175">
                  <a:solidFill>
                    <a:srgbClr val="CC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" name="Group 7"/>
          <p:cNvGrpSpPr/>
          <p:nvPr/>
        </p:nvGrpSpPr>
        <p:grpSpPr>
          <a:xfrm>
            <a:off x="148169" y="4974167"/>
            <a:ext cx="2561167" cy="1458683"/>
            <a:chOff x="148169" y="4974167"/>
            <a:chExt cx="2561167" cy="1458683"/>
          </a:xfrm>
        </p:grpSpPr>
        <p:sp>
          <p:nvSpPr>
            <p:cNvPr id="4" name="TextBox 3"/>
            <p:cNvSpPr txBox="1"/>
            <p:nvPr/>
          </p:nvSpPr>
          <p:spPr>
            <a:xfrm>
              <a:off x="148169" y="5588003"/>
              <a:ext cx="2561167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3363" indent="-233363">
                <a:lnSpc>
                  <a:spcPct val="90000"/>
                </a:lnSpc>
              </a:pPr>
              <a:r>
                <a:rPr lang="en-US" b="1" i="1" dirty="0" smtClean="0">
                  <a:solidFill>
                    <a:srgbClr val="000090"/>
                  </a:solidFill>
                </a:rPr>
                <a:t>1: </a:t>
              </a:r>
              <a:r>
                <a:rPr lang="en-US" i="1" dirty="0" smtClean="0"/>
                <a:t>generalized“ flow-based” forwarding (e.g., OpenFlow)</a:t>
              </a:r>
              <a:endParaRPr lang="en-US" i="1" dirty="0"/>
            </a:p>
          </p:txBody>
        </p:sp>
        <p:cxnSp>
          <p:nvCxnSpPr>
            <p:cNvPr id="6" name="Straight Connector 5"/>
            <p:cNvCxnSpPr>
              <a:stCxn id="4" idx="0"/>
            </p:cNvCxnSpPr>
            <p:nvPr/>
          </p:nvCxnSpPr>
          <p:spPr bwMode="auto">
            <a:xfrm flipV="1">
              <a:off x="1428753" y="4974167"/>
              <a:ext cx="730247" cy="61383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72" name="Group 471"/>
          <p:cNvGrpSpPr/>
          <p:nvPr/>
        </p:nvGrpSpPr>
        <p:grpSpPr>
          <a:xfrm>
            <a:off x="7590196" y="3506318"/>
            <a:ext cx="1667931" cy="1399445"/>
            <a:chOff x="69488" y="5026085"/>
            <a:chExt cx="2561167" cy="1399445"/>
          </a:xfrm>
        </p:grpSpPr>
        <p:sp>
          <p:nvSpPr>
            <p:cNvPr id="473" name="TextBox 472"/>
            <p:cNvSpPr txBox="1"/>
            <p:nvPr/>
          </p:nvSpPr>
          <p:spPr>
            <a:xfrm>
              <a:off x="69488" y="5580683"/>
              <a:ext cx="2561167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3363" indent="-233363">
                <a:lnSpc>
                  <a:spcPct val="90000"/>
                </a:lnSpc>
              </a:pPr>
              <a:r>
                <a:rPr lang="en-US" b="1" i="1" dirty="0" smtClean="0">
                  <a:solidFill>
                    <a:srgbClr val="000090"/>
                  </a:solidFill>
                </a:rPr>
                <a:t>2. </a:t>
              </a:r>
              <a:r>
                <a:rPr lang="en-US" i="1" dirty="0" smtClean="0"/>
                <a:t>control, data plane separation</a:t>
              </a:r>
              <a:endParaRPr lang="en-US" i="1" dirty="0"/>
            </a:p>
          </p:txBody>
        </p:sp>
        <p:cxnSp>
          <p:nvCxnSpPr>
            <p:cNvPr id="474" name="Straight Connector 473"/>
            <p:cNvCxnSpPr>
              <a:stCxn id="473" idx="0"/>
            </p:cNvCxnSpPr>
            <p:nvPr/>
          </p:nvCxnSpPr>
          <p:spPr bwMode="auto">
            <a:xfrm flipV="1">
              <a:off x="1350072" y="5026085"/>
              <a:ext cx="1703" cy="5545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76" name="TextBox 475"/>
          <p:cNvSpPr txBox="1"/>
          <p:nvPr/>
        </p:nvSpPr>
        <p:spPr>
          <a:xfrm>
            <a:off x="7057798" y="1089172"/>
            <a:ext cx="2086202" cy="1094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lnSpc>
                <a:spcPct val="90000"/>
              </a:lnSpc>
            </a:pPr>
            <a:r>
              <a:rPr lang="en-US" b="1" i="1" dirty="0">
                <a:solidFill>
                  <a:srgbClr val="000090"/>
                </a:solidFill>
              </a:rPr>
              <a:t>3</a:t>
            </a:r>
            <a:r>
              <a:rPr lang="en-US" b="1" i="1" dirty="0" smtClean="0">
                <a:solidFill>
                  <a:srgbClr val="000090"/>
                </a:solidFill>
              </a:rPr>
              <a:t>. </a:t>
            </a:r>
            <a:r>
              <a:rPr lang="en-US" i="1" dirty="0" smtClean="0"/>
              <a:t>control plane functions external to data-plane switches</a:t>
            </a:r>
            <a:endParaRPr lang="en-US" i="1" dirty="0"/>
          </a:p>
        </p:txBody>
      </p:sp>
      <p:cxnSp>
        <p:nvCxnSpPr>
          <p:cNvPr id="477" name="Straight Connector 476"/>
          <p:cNvCxnSpPr/>
          <p:nvPr/>
        </p:nvCxnSpPr>
        <p:spPr bwMode="auto">
          <a:xfrm flipV="1">
            <a:off x="6672036" y="1468338"/>
            <a:ext cx="618473" cy="6453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14"/>
          <p:cNvSpPr/>
          <p:nvPr/>
        </p:nvSpPr>
        <p:spPr bwMode="auto">
          <a:xfrm>
            <a:off x="2015762" y="1310125"/>
            <a:ext cx="725674" cy="342648"/>
          </a:xfrm>
          <a:prstGeom prst="ellipse">
            <a:avLst/>
          </a:prstGeom>
          <a:solidFill>
            <a:srgbClr val="008000">
              <a:alpha val="70000"/>
            </a:srgbClr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8" name="Oval 477"/>
          <p:cNvSpPr/>
          <p:nvPr/>
        </p:nvSpPr>
        <p:spPr bwMode="auto">
          <a:xfrm>
            <a:off x="3014783" y="1301278"/>
            <a:ext cx="725674" cy="342648"/>
          </a:xfrm>
          <a:prstGeom prst="ellipse">
            <a:avLst/>
          </a:prstGeom>
          <a:solidFill>
            <a:srgbClr val="008000">
              <a:alpha val="70000"/>
            </a:srgbClr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9" name="Oval 478"/>
          <p:cNvSpPr/>
          <p:nvPr/>
        </p:nvSpPr>
        <p:spPr bwMode="auto">
          <a:xfrm>
            <a:off x="5827987" y="1292433"/>
            <a:ext cx="725674" cy="342648"/>
          </a:xfrm>
          <a:prstGeom prst="ellipse">
            <a:avLst/>
          </a:prstGeom>
          <a:solidFill>
            <a:srgbClr val="008000">
              <a:alpha val="70000"/>
            </a:srgbClr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633211" y="1065530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008000"/>
                </a:solidFill>
              </a:rPr>
              <a:t>…</a:t>
            </a:r>
            <a:endParaRPr lang="en-US" sz="3200" dirty="0">
              <a:solidFill>
                <a:srgbClr val="00800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11998" y="1037741"/>
            <a:ext cx="2273067" cy="844847"/>
            <a:chOff x="111998" y="1037741"/>
            <a:chExt cx="2273067" cy="844847"/>
          </a:xfrm>
        </p:grpSpPr>
        <p:sp>
          <p:nvSpPr>
            <p:cNvPr id="481" name="TextBox 480"/>
            <p:cNvSpPr txBox="1"/>
            <p:nvPr/>
          </p:nvSpPr>
          <p:spPr>
            <a:xfrm>
              <a:off x="111998" y="1037741"/>
              <a:ext cx="2273067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3363" indent="-233363">
                <a:lnSpc>
                  <a:spcPct val="90000"/>
                </a:lnSpc>
              </a:pPr>
              <a:r>
                <a:rPr lang="en-US" b="1" i="1" dirty="0" smtClean="0">
                  <a:solidFill>
                    <a:srgbClr val="000090"/>
                  </a:solidFill>
                </a:rPr>
                <a:t>4. </a:t>
              </a:r>
              <a:r>
                <a:rPr lang="en-US" i="1" dirty="0" smtClean="0"/>
                <a:t>programmable control applications</a:t>
              </a:r>
              <a:endParaRPr lang="en-US" i="1" dirty="0"/>
            </a:p>
          </p:txBody>
        </p:sp>
        <p:cxnSp>
          <p:nvCxnSpPr>
            <p:cNvPr id="482" name="Straight Connector 481"/>
            <p:cNvCxnSpPr/>
            <p:nvPr/>
          </p:nvCxnSpPr>
          <p:spPr bwMode="auto">
            <a:xfrm flipV="1">
              <a:off x="1182107" y="1458376"/>
              <a:ext cx="652881" cy="1103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83" name="Straight Connector 482"/>
          <p:cNvCxnSpPr/>
          <p:nvPr/>
        </p:nvCxnSpPr>
        <p:spPr bwMode="auto">
          <a:xfrm flipV="1">
            <a:off x="6625009" y="1469572"/>
            <a:ext cx="663883" cy="10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/>
          <p:cNvSpPr txBox="1"/>
          <p:nvPr/>
        </p:nvSpPr>
        <p:spPr>
          <a:xfrm>
            <a:off x="2013724" y="1306405"/>
            <a:ext cx="733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routing</a:t>
            </a:r>
            <a:endParaRPr lang="en-US" sz="1400" dirty="0"/>
          </a:p>
        </p:txBody>
      </p:sp>
      <p:sp>
        <p:nvSpPr>
          <p:cNvPr id="466" name="TextBox 465"/>
          <p:cNvSpPr txBox="1"/>
          <p:nvPr/>
        </p:nvSpPr>
        <p:spPr>
          <a:xfrm>
            <a:off x="3041161" y="1268141"/>
            <a:ext cx="809667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200" dirty="0" smtClean="0"/>
              <a:t>access control</a:t>
            </a:r>
            <a:endParaRPr lang="en-US" sz="1200" dirty="0"/>
          </a:p>
        </p:txBody>
      </p:sp>
      <p:sp>
        <p:nvSpPr>
          <p:cNvPr id="467" name="TextBox 466"/>
          <p:cNvSpPr txBox="1"/>
          <p:nvPr/>
        </p:nvSpPr>
        <p:spPr>
          <a:xfrm>
            <a:off x="5784611" y="1253711"/>
            <a:ext cx="809667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smtClean="0"/>
              <a:t>load</a:t>
            </a:r>
          </a:p>
          <a:p>
            <a:pPr algn="ctr">
              <a:lnSpc>
                <a:spcPct val="85000"/>
              </a:lnSpc>
            </a:pPr>
            <a:r>
              <a:rPr lang="en-US" sz="1200" dirty="0" smtClean="0"/>
              <a:t>balance</a:t>
            </a:r>
            <a:endParaRPr lang="en-US" sz="1200" dirty="0"/>
          </a:p>
        </p:txBody>
      </p:sp>
      <p:sp>
        <p:nvSpPr>
          <p:cNvPr id="47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687845" cy="38210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48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18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71626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SDN perspective: data plane switches</a:t>
            </a:r>
            <a:endParaRPr lang="en-US" sz="3600" dirty="0">
              <a:solidFill>
                <a:srgbClr val="000099"/>
              </a:solidFill>
              <a:latin typeface="Gill Sans MT" charset="0"/>
            </a:endParaRPr>
          </a:p>
        </p:txBody>
      </p:sp>
      <p:pic>
        <p:nvPicPr>
          <p:cNvPr id="48170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776287"/>
            <a:ext cx="7078870" cy="211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94684" y="1256540"/>
            <a:ext cx="4571424" cy="5010892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>
                <a:solidFill>
                  <a:srgbClr val="CC0000"/>
                </a:solidFill>
              </a:rPr>
              <a:t>Data plane switches</a:t>
            </a:r>
          </a:p>
          <a:p>
            <a:r>
              <a:rPr lang="en-US" sz="2400" dirty="0" smtClean="0"/>
              <a:t>fast, simple, commodity switches implementing generalized data-plane forwarding (Section 4.4) in hardware</a:t>
            </a:r>
          </a:p>
          <a:p>
            <a:r>
              <a:rPr lang="en-US" sz="2400" dirty="0" smtClean="0"/>
              <a:t>switch flow table computed, installed by controller</a:t>
            </a:r>
          </a:p>
          <a:p>
            <a:r>
              <a:rPr lang="en-US" sz="2400" dirty="0" smtClean="0"/>
              <a:t>API for table-based switch control (e.g., OpenFlow)</a:t>
            </a:r>
          </a:p>
          <a:p>
            <a:pPr lvl="1"/>
            <a:r>
              <a:rPr lang="en-US" sz="2000" dirty="0" smtClean="0"/>
              <a:t>defines what is controllable and what is not</a:t>
            </a:r>
          </a:p>
          <a:p>
            <a:r>
              <a:rPr lang="en-US" sz="2400" dirty="0" smtClean="0"/>
              <a:t>protocol for communicating with controller (e.g., OpenFlow)</a:t>
            </a:r>
          </a:p>
          <a:p>
            <a:endParaRPr lang="en-US" dirty="0"/>
          </a:p>
        </p:txBody>
      </p:sp>
      <p:grpSp>
        <p:nvGrpSpPr>
          <p:cNvPr id="1053" name="Group 1052"/>
          <p:cNvGrpSpPr/>
          <p:nvPr/>
        </p:nvGrpSpPr>
        <p:grpSpPr>
          <a:xfrm>
            <a:off x="4990227" y="1414364"/>
            <a:ext cx="3846765" cy="5169840"/>
            <a:chOff x="4990227" y="910464"/>
            <a:chExt cx="3846765" cy="5169840"/>
          </a:xfrm>
        </p:grpSpPr>
        <p:sp>
          <p:nvSpPr>
            <p:cNvPr id="1054" name="TextBox 399"/>
            <p:cNvSpPr txBox="1">
              <a:spLocks noChangeArrowheads="1"/>
            </p:cNvSpPr>
            <p:nvPr/>
          </p:nvSpPr>
          <p:spPr bwMode="auto"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dirty="0"/>
                <a:t>data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 dirty="0"/>
                <a:t>plane</a:t>
              </a:r>
            </a:p>
          </p:txBody>
        </p:sp>
        <p:sp>
          <p:nvSpPr>
            <p:cNvPr id="1055" name="TextBox 400"/>
            <p:cNvSpPr txBox="1">
              <a:spLocks noChangeArrowheads="1"/>
            </p:cNvSpPr>
            <p:nvPr/>
          </p:nvSpPr>
          <p:spPr bwMode="auto"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dirty="0"/>
                <a:t>control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 dirty="0"/>
                <a:t>plane</a:t>
              </a:r>
            </a:p>
          </p:txBody>
        </p:sp>
        <p:cxnSp>
          <p:nvCxnSpPr>
            <p:cNvPr id="1056" name="Straight Connector 1055"/>
            <p:cNvCxnSpPr/>
            <p:nvPr/>
          </p:nvCxnSpPr>
          <p:spPr bwMode="auto">
            <a:xfrm flipV="1">
              <a:off x="5272718" y="4529666"/>
              <a:ext cx="2791783" cy="1432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/>
            <p:cNvCxnSpPr/>
            <p:nvPr/>
          </p:nvCxnSpPr>
          <p:spPr bwMode="auto">
            <a:xfrm flipV="1">
              <a:off x="5192283" y="2709335"/>
              <a:ext cx="3041550" cy="18563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8" name="Group 1057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1114" name="Freeform 2"/>
              <p:cNvSpPr>
                <a:spLocks/>
              </p:cNvSpPr>
              <p:nvPr/>
            </p:nvSpPr>
            <p:spPr bwMode="auto">
              <a:xfrm>
                <a:off x="2592388" y="5601756"/>
                <a:ext cx="4027487" cy="939800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1115" name="Straight Connector 1114"/>
              <p:cNvCxnSpPr/>
              <p:nvPr/>
            </p:nvCxnSpPr>
            <p:spPr>
              <a:xfrm flipV="1">
                <a:off x="3262941" y="5752569"/>
                <a:ext cx="1316038" cy="13176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6" name="Straight Connector 1115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7" name="Straight Connector 1116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8" name="Straight Connector 1117"/>
              <p:cNvCxnSpPr/>
              <p:nvPr/>
            </p:nvCxnSpPr>
            <p:spPr>
              <a:xfrm flipV="1">
                <a:off x="4182104" y="6238344"/>
                <a:ext cx="1247775" cy="825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9" name="Straight Connector 1118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0" name="Straight Connector 1119"/>
              <p:cNvCxnSpPr/>
              <p:nvPr/>
            </p:nvCxnSpPr>
            <p:spPr>
              <a:xfrm flipV="1">
                <a:off x="4126541" y="5939894"/>
                <a:ext cx="1790700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1" name="Straight Connector 1120"/>
              <p:cNvCxnSpPr/>
              <p:nvPr/>
            </p:nvCxnSpPr>
            <p:spPr>
              <a:xfrm flipV="1">
                <a:off x="5453691" y="5968469"/>
                <a:ext cx="588963" cy="2698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2" name="Straight Connector 1121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23" name="Group 347"/>
              <p:cNvGrpSpPr>
                <a:grpSpLocks/>
              </p:cNvGrpSpPr>
              <p:nvPr/>
            </p:nvGrpSpPr>
            <p:grpSpPr bwMode="auto"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1164" name="Oval 1163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65" name="Rectangle 1164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66" name="Oval 1165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67" name="Freeform 1166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68" name="Freeform 1167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69" name="Freeform 1168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70" name="Freeform 1169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71" name="Straight Connector 1170"/>
                <p:cNvCxnSpPr>
                  <a:endCxn id="1166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2" name="Straight Connector 1171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4" name="Group 347"/>
              <p:cNvGrpSpPr>
                <a:grpSpLocks/>
              </p:cNvGrpSpPr>
              <p:nvPr/>
            </p:nvGrpSpPr>
            <p:grpSpPr bwMode="auto"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1155" name="Oval 1154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56" name="Rectangle 1155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7" name="Oval 1156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58" name="Freeform 1157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9" name="Freeform 1158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60" name="Freeform 1159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61" name="Freeform 1160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62" name="Straight Connector 1161"/>
                <p:cNvCxnSpPr>
                  <a:endCxn id="1157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3" name="Straight Connector 1162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5" name="Group 347"/>
              <p:cNvGrpSpPr>
                <a:grpSpLocks/>
              </p:cNvGrpSpPr>
              <p:nvPr/>
            </p:nvGrpSpPr>
            <p:grpSpPr bwMode="auto"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1146" name="Oval 1145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47" name="Rectangle 1146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48" name="Oval 1147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49" name="Freeform 1148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0" name="Freeform 1149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1" name="Freeform 1150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2" name="Freeform 1151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53" name="Straight Connector 1152"/>
                <p:cNvCxnSpPr>
                  <a:endCxn id="1148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4" name="Straight Connector 1153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6" name="Group 347"/>
              <p:cNvGrpSpPr>
                <a:grpSpLocks/>
              </p:cNvGrpSpPr>
              <p:nvPr/>
            </p:nvGrpSpPr>
            <p:grpSpPr bwMode="auto"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1137" name="Oval 1136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38" name="Rectangle 1137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9" name="Oval 1138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40" name="Freeform 1139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41" name="Freeform 1140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42" name="Freeform 1141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43" name="Freeform 1142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44" name="Straight Connector 1143"/>
                <p:cNvCxnSpPr>
                  <a:endCxn id="1139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5" name="Straight Connector 1144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27" name="Group 347"/>
              <p:cNvGrpSpPr>
                <a:grpSpLocks/>
              </p:cNvGrpSpPr>
              <p:nvPr/>
            </p:nvGrpSpPr>
            <p:grpSpPr bwMode="auto"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1128" name="Oval 1127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29" name="Rectangle 1128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0" name="Oval 1129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31" name="Freeform 1130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2" name="Freeform 1131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3" name="Freeform 1132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4" name="Freeform 1133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35" name="Straight Connector 1134"/>
                <p:cNvCxnSpPr>
                  <a:endCxn id="1130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6" name="Straight Connector 1135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59" name="Group 1058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1078" name="Rectangle 1077"/>
              <p:cNvSpPr/>
              <p:nvPr/>
            </p:nvSpPr>
            <p:spPr bwMode="auto"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079" name="Freeform 1078"/>
              <p:cNvSpPr/>
              <p:nvPr/>
            </p:nvSpPr>
            <p:spPr bwMode="auto">
              <a:xfrm>
                <a:off x="5218221" y="2877416"/>
                <a:ext cx="213773" cy="1028160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  <a:gd name="connsiteX0" fmla="*/ 20385 w 220240"/>
                  <a:gd name="connsiteY0" fmla="*/ 745656 h 1058154"/>
                  <a:gd name="connsiteX1" fmla="*/ 214305 w 220240"/>
                  <a:gd name="connsiteY1" fmla="*/ 0 h 1058154"/>
                  <a:gd name="connsiteX2" fmla="*/ 220240 w 220240"/>
                  <a:gd name="connsiteY2" fmla="*/ 1027869 h 1058154"/>
                  <a:gd name="connsiteX3" fmla="*/ 68 w 220240"/>
                  <a:gd name="connsiteY3" fmla="*/ 986902 h 1058154"/>
                  <a:gd name="connsiteX4" fmla="*/ 20385 w 220240"/>
                  <a:gd name="connsiteY4" fmla="*/ 745656 h 1058154"/>
                  <a:gd name="connsiteX0" fmla="*/ 20385 w 220240"/>
                  <a:gd name="connsiteY0" fmla="*/ 745656 h 1068836"/>
                  <a:gd name="connsiteX1" fmla="*/ 214305 w 220240"/>
                  <a:gd name="connsiteY1" fmla="*/ 0 h 1068836"/>
                  <a:gd name="connsiteX2" fmla="*/ 220240 w 220240"/>
                  <a:gd name="connsiteY2" fmla="*/ 1027869 h 1068836"/>
                  <a:gd name="connsiteX3" fmla="*/ 68 w 220240"/>
                  <a:gd name="connsiteY3" fmla="*/ 986902 h 1068836"/>
                  <a:gd name="connsiteX4" fmla="*/ 20385 w 220240"/>
                  <a:gd name="connsiteY4" fmla="*/ 745656 h 1068836"/>
                  <a:gd name="connsiteX0" fmla="*/ 15446 w 215301"/>
                  <a:gd name="connsiteY0" fmla="*/ 745656 h 1057581"/>
                  <a:gd name="connsiteX1" fmla="*/ 209366 w 215301"/>
                  <a:gd name="connsiteY1" fmla="*/ 0 h 1057581"/>
                  <a:gd name="connsiteX2" fmla="*/ 215301 w 215301"/>
                  <a:gd name="connsiteY2" fmla="*/ 1027869 h 1057581"/>
                  <a:gd name="connsiteX3" fmla="*/ 87 w 215301"/>
                  <a:gd name="connsiteY3" fmla="*/ 888484 h 1057581"/>
                  <a:gd name="connsiteX4" fmla="*/ 15446 w 215301"/>
                  <a:gd name="connsiteY4" fmla="*/ 745656 h 1057581"/>
                  <a:gd name="connsiteX0" fmla="*/ 15446 w 215301"/>
                  <a:gd name="connsiteY0" fmla="*/ 745656 h 1063397"/>
                  <a:gd name="connsiteX1" fmla="*/ 209366 w 215301"/>
                  <a:gd name="connsiteY1" fmla="*/ 0 h 1063397"/>
                  <a:gd name="connsiteX2" fmla="*/ 215301 w 215301"/>
                  <a:gd name="connsiteY2" fmla="*/ 1027869 h 1063397"/>
                  <a:gd name="connsiteX3" fmla="*/ 87 w 215301"/>
                  <a:gd name="connsiteY3" fmla="*/ 888484 h 1063397"/>
                  <a:gd name="connsiteX4" fmla="*/ 15446 w 215301"/>
                  <a:gd name="connsiteY4" fmla="*/ 745656 h 1063397"/>
                  <a:gd name="connsiteX0" fmla="*/ 15446 w 215301"/>
                  <a:gd name="connsiteY0" fmla="*/ 745656 h 1027869"/>
                  <a:gd name="connsiteX1" fmla="*/ 209366 w 215301"/>
                  <a:gd name="connsiteY1" fmla="*/ 0 h 1027869"/>
                  <a:gd name="connsiteX2" fmla="*/ 215301 w 215301"/>
                  <a:gd name="connsiteY2" fmla="*/ 1027869 h 1027869"/>
                  <a:gd name="connsiteX3" fmla="*/ 87 w 215301"/>
                  <a:gd name="connsiteY3" fmla="*/ 888484 h 1027869"/>
                  <a:gd name="connsiteX4" fmla="*/ 15446 w 215301"/>
                  <a:gd name="connsiteY4" fmla="*/ 745656 h 1027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301" h="1027869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accent6">
                      <a:lumMod val="20000"/>
                      <a:lumOff val="80000"/>
                    </a:schemeClr>
                  </a:gs>
                </a:gsLst>
                <a:lin ang="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grpSp>
            <p:nvGrpSpPr>
              <p:cNvPr id="1080" name="Group 950"/>
              <p:cNvGrpSpPr>
                <a:grpSpLocks/>
              </p:cNvGrpSpPr>
              <p:nvPr/>
            </p:nvGrpSpPr>
            <p:grpSpPr bwMode="auto"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1082" name="Freeform 951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" name="Rectangle 952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Freeform 953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5" name="Freeform 954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6" name="Rectangle 955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87" name="Group 956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112" name="AutoShape 957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AutoShape 958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88" name="Rectangle 959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89" name="Group 960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110" name="AutoShape 961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AutoShape 962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90" name="Rectangle 963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Rectangle 964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92" name="Group 965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108" name="AutoShape 966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AutoShape 967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93" name="Freeform 968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094" name="Group 969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106" name="AutoShape 97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AutoShape 97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95" name="Rectangle 972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6" name="Freeform 973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7" name="Freeform 974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8" name="Oval 975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9" name="Freeform 976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0" name="AutoShape 977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1" name="AutoShape 978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2" name="Oval 979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3" name="Oval 980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104" name="Oval 981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5" name="Rectangle 982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81" name="TextBox 1080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smtClean="0"/>
                  <a:t>SDN Controller</a:t>
                </a:r>
              </a:p>
              <a:p>
                <a:pPr algn="ctr"/>
                <a:r>
                  <a:rPr lang="en-US" sz="1600" dirty="0" smtClean="0"/>
                  <a:t>(network operating system)</a:t>
                </a:r>
                <a:endParaRPr lang="en-US" sz="1600" dirty="0"/>
              </a:p>
            </p:txBody>
          </p:sp>
        </p:grpSp>
        <p:sp>
          <p:nvSpPr>
            <p:cNvPr id="1060" name="TextBox 1059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008000"/>
                  </a:solidFill>
                </a:rPr>
                <a:t>…</a:t>
              </a:r>
              <a:endParaRPr lang="en-US" sz="3200" dirty="0">
                <a:solidFill>
                  <a:srgbClr val="008000"/>
                </a:solidFill>
              </a:endParaRPr>
            </a:p>
          </p:txBody>
        </p:sp>
        <p:grpSp>
          <p:nvGrpSpPr>
            <p:cNvPr id="1061" name="Group 1060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1076" name="Oval 1075"/>
              <p:cNvSpPr/>
              <p:nvPr/>
            </p:nvSpPr>
            <p:spPr bwMode="auto"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>
                <a:solidFill>
                  <a:srgbClr val="008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7" name="TextBox 1076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smtClean="0"/>
                  <a:t>routing</a:t>
                </a:r>
                <a:endParaRPr lang="en-US" dirty="0"/>
              </a:p>
            </p:txBody>
          </p:sp>
        </p:grpSp>
        <p:grpSp>
          <p:nvGrpSpPr>
            <p:cNvPr id="1062" name="Group 1061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1074" name="Oval 1073"/>
              <p:cNvSpPr/>
              <p:nvPr/>
            </p:nvSpPr>
            <p:spPr bwMode="auto"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>
                <a:solidFill>
                  <a:srgbClr val="008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5" name="TextBox 1074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 smtClean="0"/>
                  <a:t>access 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dirty="0" smtClean="0"/>
                  <a:t>control</a:t>
                </a:r>
                <a:endParaRPr lang="en-US" dirty="0"/>
              </a:p>
            </p:txBody>
          </p:sp>
        </p:grpSp>
        <p:grpSp>
          <p:nvGrpSpPr>
            <p:cNvPr id="1063" name="Group 1062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1072" name="Oval 1071"/>
              <p:cNvSpPr/>
              <p:nvPr/>
            </p:nvSpPr>
            <p:spPr bwMode="auto"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>
                <a:solidFill>
                  <a:srgbClr val="008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3" name="TextBox 1072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 smtClean="0"/>
                  <a:t>load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dirty="0" smtClean="0"/>
                  <a:t>balance</a:t>
                </a:r>
                <a:endParaRPr lang="en-US" dirty="0"/>
              </a:p>
            </p:txBody>
          </p:sp>
        </p:grpSp>
        <p:cxnSp>
          <p:nvCxnSpPr>
            <p:cNvPr id="1064" name="Straight Arrow Connector 1063"/>
            <p:cNvCxnSpPr/>
            <p:nvPr/>
          </p:nvCxnSpPr>
          <p:spPr bwMode="auto">
            <a:xfrm flipV="1">
              <a:off x="8627245" y="1217948"/>
              <a:ext cx="0" cy="12488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5" name="Straight Arrow Connector 1064"/>
            <p:cNvCxnSpPr/>
            <p:nvPr/>
          </p:nvCxnSpPr>
          <p:spPr bwMode="auto"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6" name="Straight Arrow Connector 1065"/>
            <p:cNvCxnSpPr/>
            <p:nvPr/>
          </p:nvCxnSpPr>
          <p:spPr bwMode="auto"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7" name="Straight Arrow Connector 1066"/>
            <p:cNvCxnSpPr/>
            <p:nvPr/>
          </p:nvCxnSpPr>
          <p:spPr bwMode="auto">
            <a:xfrm flipV="1">
              <a:off x="8653320" y="4546025"/>
              <a:ext cx="0" cy="4148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68" name="TextBox 399"/>
            <p:cNvSpPr txBox="1">
              <a:spLocks noChangeArrowheads="1"/>
            </p:cNvSpPr>
            <p:nvPr/>
          </p:nvSpPr>
          <p:spPr bwMode="auto"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i="1" dirty="0" smtClean="0"/>
                <a:t>southbound API</a:t>
              </a:r>
              <a:endParaRPr lang="en-US" sz="1400" i="1" dirty="0"/>
            </a:p>
          </p:txBody>
        </p:sp>
        <p:sp>
          <p:nvSpPr>
            <p:cNvPr id="1069" name="TextBox 399"/>
            <p:cNvSpPr txBox="1">
              <a:spLocks noChangeArrowheads="1"/>
            </p:cNvSpPr>
            <p:nvPr/>
          </p:nvSpPr>
          <p:spPr bwMode="auto"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i="1" dirty="0" smtClean="0"/>
                <a:t>northbound API</a:t>
              </a:r>
              <a:endParaRPr lang="en-US" sz="1400" i="1" dirty="0"/>
            </a:p>
          </p:txBody>
        </p:sp>
        <p:sp>
          <p:nvSpPr>
            <p:cNvPr id="1070" name="TextBox 399"/>
            <p:cNvSpPr txBox="1">
              <a:spLocks noChangeArrowheads="1"/>
            </p:cNvSpPr>
            <p:nvPr/>
          </p:nvSpPr>
          <p:spPr bwMode="auto"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i="1" dirty="0" smtClean="0"/>
                <a:t>SDN-controlled switches</a:t>
              </a:r>
              <a:endParaRPr lang="en-US" sz="1400" i="1" dirty="0"/>
            </a:p>
          </p:txBody>
        </p:sp>
        <p:sp>
          <p:nvSpPr>
            <p:cNvPr id="1071" name="TextBox 399"/>
            <p:cNvSpPr txBox="1">
              <a:spLocks noChangeArrowheads="1"/>
            </p:cNvSpPr>
            <p:nvPr/>
          </p:nvSpPr>
          <p:spPr bwMode="auto"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 i="1" dirty="0" smtClean="0"/>
                <a:t>network-control applications</a:t>
              </a:r>
              <a:endParaRPr lang="en-US" sz="1400" i="1" dirty="0"/>
            </a:p>
          </p:txBody>
        </p:sp>
      </p:grpSp>
      <p:sp>
        <p:nvSpPr>
          <p:cNvPr id="2" name="Rectangle 1"/>
          <p:cNvSpPr/>
          <p:nvPr/>
        </p:nvSpPr>
        <p:spPr bwMode="auto">
          <a:xfrm>
            <a:off x="4785895" y="1147462"/>
            <a:ext cx="4134334" cy="3947271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26470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12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45812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79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647034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SDN perspective: SDN controller</a:t>
            </a:r>
            <a:endParaRPr lang="en-US" sz="3600" dirty="0">
              <a:solidFill>
                <a:srgbClr val="000099"/>
              </a:solidFill>
              <a:latin typeface="Gill Sans MT" charset="0"/>
            </a:endParaRPr>
          </a:p>
        </p:txBody>
      </p:sp>
      <p:pic>
        <p:nvPicPr>
          <p:cNvPr id="48170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776288"/>
            <a:ext cx="6494299" cy="211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6" name="Content Placeholder 6"/>
          <p:cNvSpPr txBox="1">
            <a:spLocks/>
          </p:cNvSpPr>
          <p:nvPr/>
        </p:nvSpPr>
        <p:spPr bwMode="auto">
          <a:xfrm>
            <a:off x="524550" y="1248707"/>
            <a:ext cx="4333436" cy="5010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i="1" dirty="0" smtClean="0">
                <a:solidFill>
                  <a:srgbClr val="CC0000"/>
                </a:solidFill>
              </a:rPr>
              <a:t>SDN controller (network OS): </a:t>
            </a:r>
          </a:p>
          <a:p>
            <a:r>
              <a:rPr lang="en-US" sz="2400" dirty="0" smtClean="0"/>
              <a:t>maintain network state information</a:t>
            </a:r>
          </a:p>
          <a:p>
            <a:r>
              <a:rPr lang="en-US" sz="2400" dirty="0" smtClean="0"/>
              <a:t>interacts with network control applications “above” via northbound API</a:t>
            </a:r>
          </a:p>
          <a:p>
            <a:r>
              <a:rPr lang="en-US" sz="2400" dirty="0" smtClean="0"/>
              <a:t>interacts with network switches “below” via southbound API</a:t>
            </a:r>
          </a:p>
          <a:p>
            <a:r>
              <a:rPr lang="en-US" sz="2400" dirty="0" smtClean="0"/>
              <a:t>implemented as distributed system for performance, scalability, fault-tolerance, robustness</a:t>
            </a:r>
          </a:p>
          <a:p>
            <a:endParaRPr lang="en-US" dirty="0" smtClean="0"/>
          </a:p>
        </p:txBody>
      </p:sp>
      <p:sp>
        <p:nvSpPr>
          <p:cNvPr id="9" name="TextBox 399"/>
          <p:cNvSpPr txBox="1">
            <a:spLocks noChangeArrowheads="1"/>
          </p:cNvSpPr>
          <p:nvPr/>
        </p:nvSpPr>
        <p:spPr bwMode="auto">
          <a:xfrm>
            <a:off x="8518490" y="5440585"/>
            <a:ext cx="28693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dirty="0"/>
              <a:t>data</a:t>
            </a:r>
          </a:p>
          <a:p>
            <a:pPr algn="ctr">
              <a:lnSpc>
                <a:spcPts val="1463"/>
              </a:lnSpc>
            </a:pPr>
            <a:r>
              <a:rPr lang="en-US" sz="1400" dirty="0"/>
              <a:t>plane</a:t>
            </a:r>
          </a:p>
        </p:txBody>
      </p:sp>
      <p:sp>
        <p:nvSpPr>
          <p:cNvPr id="10" name="TextBox 400"/>
          <p:cNvSpPr txBox="1">
            <a:spLocks noChangeArrowheads="1"/>
          </p:cNvSpPr>
          <p:nvPr/>
        </p:nvSpPr>
        <p:spPr bwMode="auto">
          <a:xfrm>
            <a:off x="8494972" y="2978227"/>
            <a:ext cx="34202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dirty="0"/>
              <a:t>control</a:t>
            </a:r>
          </a:p>
          <a:p>
            <a:pPr algn="ctr">
              <a:lnSpc>
                <a:spcPts val="1463"/>
              </a:lnSpc>
            </a:pPr>
            <a:r>
              <a:rPr lang="en-US" sz="1400" dirty="0"/>
              <a:t>plane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 flipV="1">
            <a:off x="5272718" y="5033566"/>
            <a:ext cx="2791783" cy="1432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auto">
          <a:xfrm flipV="1">
            <a:off x="5192283" y="3213235"/>
            <a:ext cx="3041550" cy="1856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5164667" y="5329900"/>
            <a:ext cx="2979208" cy="973667"/>
            <a:chOff x="2592388" y="5601756"/>
            <a:chExt cx="4027487" cy="939800"/>
          </a:xfrm>
        </p:grpSpPr>
        <p:sp>
          <p:nvSpPr>
            <p:cNvPr id="69" name="Freeform 2"/>
            <p:cNvSpPr>
              <a:spLocks/>
            </p:cNvSpPr>
            <p:nvPr/>
          </p:nvSpPr>
          <p:spPr bwMode="auto">
            <a:xfrm>
              <a:off x="2592388" y="5601756"/>
              <a:ext cx="4027487" cy="939800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0" name="Straight Connector 69"/>
            <p:cNvCxnSpPr/>
            <p:nvPr/>
          </p:nvCxnSpPr>
          <p:spPr>
            <a:xfrm flipV="1">
              <a:off x="3262941" y="5752569"/>
              <a:ext cx="1316038" cy="13176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3151816" y="5939894"/>
              <a:ext cx="2259013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3164516" y="6044669"/>
              <a:ext cx="714375" cy="2762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4182104" y="6238344"/>
              <a:ext cx="1247775" cy="825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842504" y="5785906"/>
              <a:ext cx="1057275" cy="1238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4126541" y="5939894"/>
              <a:ext cx="1790700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5453691" y="5968469"/>
              <a:ext cx="588963" cy="26987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4596441" y="5752569"/>
              <a:ext cx="814388" cy="40163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347"/>
            <p:cNvGrpSpPr>
              <a:grpSpLocks/>
            </p:cNvGrpSpPr>
            <p:nvPr/>
          </p:nvGrpSpPr>
          <p:grpSpPr bwMode="auto">
            <a:xfrm>
              <a:off x="5856401" y="5796097"/>
              <a:ext cx="588970" cy="242608"/>
              <a:chOff x="1871277" y="1576300"/>
              <a:chExt cx="1128371" cy="437861"/>
            </a:xfrm>
          </p:grpSpPr>
          <p:sp>
            <p:nvSpPr>
              <p:cNvPr id="119" name="Oval 118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0" name="Rectangle 119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1" name="Oval 120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2" name="Freeform 121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3" name="Freeform 122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4" name="Freeform 123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5" name="Freeform 124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26" name="Straight Connector 125"/>
              <p:cNvCxnSpPr>
                <a:endCxn id="121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347"/>
            <p:cNvGrpSpPr>
              <a:grpSpLocks/>
            </p:cNvGrpSpPr>
            <p:nvPr/>
          </p:nvGrpSpPr>
          <p:grpSpPr bwMode="auto">
            <a:xfrm>
              <a:off x="4375328" y="5654000"/>
              <a:ext cx="588970" cy="242608"/>
              <a:chOff x="1871277" y="1576300"/>
              <a:chExt cx="1128371" cy="437861"/>
            </a:xfrm>
          </p:grpSpPr>
          <p:sp>
            <p:nvSpPr>
              <p:cNvPr id="110" name="Oval 109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1" name="Rectangle 110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3" name="Freeform 112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4" name="Freeform 113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5" name="Freeform 114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6" name="Freeform 115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7" name="Straight Connector 116"/>
              <p:cNvCxnSpPr>
                <a:endCxn id="112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347"/>
            <p:cNvGrpSpPr>
              <a:grpSpLocks/>
            </p:cNvGrpSpPr>
            <p:nvPr/>
          </p:nvGrpSpPr>
          <p:grpSpPr bwMode="auto">
            <a:xfrm>
              <a:off x="2848241" y="5847813"/>
              <a:ext cx="588970" cy="242608"/>
              <a:chOff x="1871277" y="1576300"/>
              <a:chExt cx="1128371" cy="437861"/>
            </a:xfrm>
          </p:grpSpPr>
          <p:sp>
            <p:nvSpPr>
              <p:cNvPr id="101" name="Oval 100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2" name="Rectangle 101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3" name="Oval 102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4" name="Freeform 103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5" name="Freeform 104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6" name="Freeform 105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7" name="Freeform 106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08" name="Straight Connector 107"/>
              <p:cNvCxnSpPr>
                <a:endCxn id="103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347"/>
            <p:cNvGrpSpPr>
              <a:grpSpLocks/>
            </p:cNvGrpSpPr>
            <p:nvPr/>
          </p:nvGrpSpPr>
          <p:grpSpPr bwMode="auto">
            <a:xfrm>
              <a:off x="5166757" y="6114152"/>
              <a:ext cx="588970" cy="242608"/>
              <a:chOff x="1871277" y="1576300"/>
              <a:chExt cx="1128371" cy="437861"/>
            </a:xfrm>
          </p:grpSpPr>
          <p:sp>
            <p:nvSpPr>
              <p:cNvPr id="92" name="Oval 9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3" name="Rectangle 92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5" name="Freeform 94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6" name="Freeform 95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7" name="Freeform 96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9" name="Straight Connector 98"/>
              <p:cNvCxnSpPr>
                <a:endCxn id="9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347"/>
            <p:cNvGrpSpPr>
              <a:grpSpLocks/>
            </p:cNvGrpSpPr>
            <p:nvPr/>
          </p:nvGrpSpPr>
          <p:grpSpPr bwMode="auto">
            <a:xfrm>
              <a:off x="3704088" y="6206732"/>
              <a:ext cx="588970" cy="242608"/>
              <a:chOff x="1871277" y="1576300"/>
              <a:chExt cx="1128371" cy="437861"/>
            </a:xfrm>
          </p:grpSpPr>
          <p:sp>
            <p:nvSpPr>
              <p:cNvPr id="83" name="Oval 8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4" name="Rectangle 8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6" name="Freeform 8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7" name="Freeform 8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8" name="Freeform 8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9" name="Freeform 8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0" name="Straight Connector 89"/>
              <p:cNvCxnSpPr>
                <a:endCxn id="8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/>
          <p:cNvGrpSpPr/>
          <p:nvPr/>
        </p:nvGrpSpPr>
        <p:grpSpPr>
          <a:xfrm>
            <a:off x="4990227" y="3550652"/>
            <a:ext cx="3116606" cy="1053561"/>
            <a:chOff x="4990227" y="2877416"/>
            <a:chExt cx="3116606" cy="105356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5418665" y="2913389"/>
              <a:ext cx="2688168" cy="10175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5218221" y="2877416"/>
              <a:ext cx="213773" cy="1028160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20385 w 220240"/>
                <a:gd name="connsiteY0" fmla="*/ 745656 h 1058154"/>
                <a:gd name="connsiteX1" fmla="*/ 214305 w 220240"/>
                <a:gd name="connsiteY1" fmla="*/ 0 h 1058154"/>
                <a:gd name="connsiteX2" fmla="*/ 220240 w 220240"/>
                <a:gd name="connsiteY2" fmla="*/ 1027869 h 1058154"/>
                <a:gd name="connsiteX3" fmla="*/ 68 w 220240"/>
                <a:gd name="connsiteY3" fmla="*/ 986902 h 1058154"/>
                <a:gd name="connsiteX4" fmla="*/ 20385 w 220240"/>
                <a:gd name="connsiteY4" fmla="*/ 745656 h 1058154"/>
                <a:gd name="connsiteX0" fmla="*/ 20385 w 220240"/>
                <a:gd name="connsiteY0" fmla="*/ 745656 h 1068836"/>
                <a:gd name="connsiteX1" fmla="*/ 214305 w 220240"/>
                <a:gd name="connsiteY1" fmla="*/ 0 h 1068836"/>
                <a:gd name="connsiteX2" fmla="*/ 220240 w 220240"/>
                <a:gd name="connsiteY2" fmla="*/ 1027869 h 1068836"/>
                <a:gd name="connsiteX3" fmla="*/ 68 w 220240"/>
                <a:gd name="connsiteY3" fmla="*/ 986902 h 1068836"/>
                <a:gd name="connsiteX4" fmla="*/ 20385 w 220240"/>
                <a:gd name="connsiteY4" fmla="*/ 745656 h 1068836"/>
                <a:gd name="connsiteX0" fmla="*/ 15446 w 215301"/>
                <a:gd name="connsiteY0" fmla="*/ 745656 h 1057581"/>
                <a:gd name="connsiteX1" fmla="*/ 209366 w 215301"/>
                <a:gd name="connsiteY1" fmla="*/ 0 h 1057581"/>
                <a:gd name="connsiteX2" fmla="*/ 215301 w 215301"/>
                <a:gd name="connsiteY2" fmla="*/ 1027869 h 1057581"/>
                <a:gd name="connsiteX3" fmla="*/ 87 w 215301"/>
                <a:gd name="connsiteY3" fmla="*/ 888484 h 1057581"/>
                <a:gd name="connsiteX4" fmla="*/ 15446 w 215301"/>
                <a:gd name="connsiteY4" fmla="*/ 745656 h 1057581"/>
                <a:gd name="connsiteX0" fmla="*/ 15446 w 215301"/>
                <a:gd name="connsiteY0" fmla="*/ 745656 h 1063397"/>
                <a:gd name="connsiteX1" fmla="*/ 209366 w 215301"/>
                <a:gd name="connsiteY1" fmla="*/ 0 h 1063397"/>
                <a:gd name="connsiteX2" fmla="*/ 215301 w 215301"/>
                <a:gd name="connsiteY2" fmla="*/ 1027869 h 1063397"/>
                <a:gd name="connsiteX3" fmla="*/ 87 w 215301"/>
                <a:gd name="connsiteY3" fmla="*/ 888484 h 1063397"/>
                <a:gd name="connsiteX4" fmla="*/ 15446 w 215301"/>
                <a:gd name="connsiteY4" fmla="*/ 745656 h 1063397"/>
                <a:gd name="connsiteX0" fmla="*/ 15446 w 215301"/>
                <a:gd name="connsiteY0" fmla="*/ 745656 h 1027869"/>
                <a:gd name="connsiteX1" fmla="*/ 209366 w 215301"/>
                <a:gd name="connsiteY1" fmla="*/ 0 h 1027869"/>
                <a:gd name="connsiteX2" fmla="*/ 215301 w 215301"/>
                <a:gd name="connsiteY2" fmla="*/ 1027869 h 1027869"/>
                <a:gd name="connsiteX3" fmla="*/ 87 w 215301"/>
                <a:gd name="connsiteY3" fmla="*/ 888484 h 1027869"/>
                <a:gd name="connsiteX4" fmla="*/ 15446 w 215301"/>
                <a:gd name="connsiteY4" fmla="*/ 745656 h 102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301" h="1027869">
                  <a:moveTo>
                    <a:pt x="15446" y="745656"/>
                  </a:moveTo>
                  <a:lnTo>
                    <a:pt x="209366" y="0"/>
                  </a:lnTo>
                  <a:cubicBezTo>
                    <a:pt x="211344" y="342623"/>
                    <a:pt x="213323" y="685246"/>
                    <a:pt x="215301" y="1027869"/>
                  </a:cubicBezTo>
                  <a:cubicBezTo>
                    <a:pt x="115469" y="960083"/>
                    <a:pt x="99918" y="931665"/>
                    <a:pt x="87" y="888484"/>
                  </a:cubicBezTo>
                  <a:cubicBezTo>
                    <a:pt x="-1403" y="675204"/>
                    <a:pt x="16936" y="958936"/>
                    <a:pt x="15446" y="74565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grpSp>
          <p:nvGrpSpPr>
            <p:cNvPr id="35" name="Group 950"/>
            <p:cNvGrpSpPr>
              <a:grpSpLocks/>
            </p:cNvGrpSpPr>
            <p:nvPr/>
          </p:nvGrpSpPr>
          <p:grpSpPr bwMode="auto">
            <a:xfrm>
              <a:off x="4990227" y="3351862"/>
              <a:ext cx="251561" cy="564103"/>
              <a:chOff x="4140" y="429"/>
              <a:chExt cx="1425" cy="2396"/>
            </a:xfrm>
          </p:grpSpPr>
          <p:sp>
            <p:nvSpPr>
              <p:cNvPr id="37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2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3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4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5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7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9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0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59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5377031" y="3090332"/>
              <a:ext cx="2659202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SDN Controller</a:t>
              </a:r>
            </a:p>
            <a:p>
              <a:pPr algn="ctr"/>
              <a:r>
                <a:rPr lang="en-US" sz="1600" dirty="0" smtClean="0"/>
                <a:t>(network operating system)</a:t>
              </a:r>
              <a:endParaRPr lang="en-US" sz="1600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37708" y="1562205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008000"/>
                </a:solidFill>
              </a:rPr>
              <a:t>…</a:t>
            </a:r>
            <a:endParaRPr lang="en-US" sz="3200" dirty="0">
              <a:solidFill>
                <a:srgbClr val="008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5165914" y="1781366"/>
            <a:ext cx="1023471" cy="590176"/>
            <a:chOff x="4721412" y="1277470"/>
            <a:chExt cx="1023471" cy="590176"/>
          </a:xfrm>
        </p:grpSpPr>
        <p:sp>
          <p:nvSpPr>
            <p:cNvPr id="31" name="Oval 30"/>
            <p:cNvSpPr/>
            <p:nvPr/>
          </p:nvSpPr>
          <p:spPr bwMode="auto">
            <a:xfrm>
              <a:off x="4721412" y="1277470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92385" y="1374585"/>
              <a:ext cx="890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routing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00628" y="2302316"/>
            <a:ext cx="1023471" cy="590176"/>
            <a:chOff x="6106459" y="1967753"/>
            <a:chExt cx="1023471" cy="590176"/>
          </a:xfrm>
        </p:grpSpPr>
        <p:sp>
          <p:nvSpPr>
            <p:cNvPr id="29" name="Oval 28"/>
            <p:cNvSpPr/>
            <p:nvPr/>
          </p:nvSpPr>
          <p:spPr bwMode="auto">
            <a:xfrm>
              <a:off x="6106459" y="19677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77429" y="1997637"/>
              <a:ext cx="903087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 smtClean="0"/>
                <a:t>access 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 smtClean="0"/>
                <a:t>control</a:t>
              </a:r>
              <a:endParaRPr lang="en-US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30837" y="2260771"/>
            <a:ext cx="1023471" cy="590176"/>
            <a:chOff x="6938682" y="977153"/>
            <a:chExt cx="1023471" cy="590176"/>
          </a:xfrm>
        </p:grpSpPr>
        <p:sp>
          <p:nvSpPr>
            <p:cNvPr id="27" name="Oval 26"/>
            <p:cNvSpPr/>
            <p:nvPr/>
          </p:nvSpPr>
          <p:spPr bwMode="auto">
            <a:xfrm>
              <a:off x="6938682" y="9771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64568" y="1007037"/>
              <a:ext cx="993256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 smtClean="0"/>
                <a:t>load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 smtClean="0"/>
                <a:t>balance</a:t>
              </a:r>
              <a:endParaRPr lang="en-US" dirty="0"/>
            </a:p>
          </p:txBody>
        </p:sp>
      </p:grpSp>
      <p:cxnSp>
        <p:nvCxnSpPr>
          <p:cNvPr id="19" name="Straight Arrow Connector 18"/>
          <p:cNvCxnSpPr/>
          <p:nvPr/>
        </p:nvCxnSpPr>
        <p:spPr bwMode="auto">
          <a:xfrm flipV="1">
            <a:off x="8627245" y="1721848"/>
            <a:ext cx="0" cy="12488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8652645" y="3470081"/>
            <a:ext cx="0" cy="15244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8661016" y="5885529"/>
            <a:ext cx="0" cy="4148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/>
          <p:cNvCxnSpPr/>
          <p:nvPr/>
        </p:nvCxnSpPr>
        <p:spPr bwMode="auto">
          <a:xfrm flipV="1">
            <a:off x="8653320" y="5049925"/>
            <a:ext cx="0" cy="4148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399"/>
          <p:cNvSpPr txBox="1">
            <a:spLocks noChangeArrowheads="1"/>
          </p:cNvSpPr>
          <p:nvPr/>
        </p:nvSpPr>
        <p:spPr bwMode="auto">
          <a:xfrm>
            <a:off x="6650715" y="4739499"/>
            <a:ext cx="163588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 smtClean="0"/>
              <a:t>southbound API</a:t>
            </a:r>
            <a:endParaRPr lang="en-US" sz="1400" i="1" dirty="0"/>
          </a:p>
        </p:txBody>
      </p:sp>
      <p:sp>
        <p:nvSpPr>
          <p:cNvPr id="24" name="TextBox 399"/>
          <p:cNvSpPr txBox="1">
            <a:spLocks noChangeArrowheads="1"/>
          </p:cNvSpPr>
          <p:nvPr/>
        </p:nvSpPr>
        <p:spPr bwMode="auto">
          <a:xfrm>
            <a:off x="6646778" y="3221681"/>
            <a:ext cx="163588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 smtClean="0"/>
              <a:t>northbound API</a:t>
            </a:r>
            <a:endParaRPr lang="en-US" sz="1400" i="1" dirty="0"/>
          </a:p>
        </p:txBody>
      </p:sp>
      <p:sp>
        <p:nvSpPr>
          <p:cNvPr id="25" name="TextBox 399"/>
          <p:cNvSpPr txBox="1">
            <a:spLocks noChangeArrowheads="1"/>
          </p:cNvSpPr>
          <p:nvPr/>
        </p:nvSpPr>
        <p:spPr bwMode="auto">
          <a:xfrm>
            <a:off x="5507651" y="6299618"/>
            <a:ext cx="2302688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 smtClean="0"/>
              <a:t>SDN-controlled switches</a:t>
            </a:r>
            <a:endParaRPr lang="en-US" sz="1400" i="1" dirty="0"/>
          </a:p>
        </p:txBody>
      </p:sp>
      <p:sp>
        <p:nvSpPr>
          <p:cNvPr id="26" name="TextBox 399"/>
          <p:cNvSpPr txBox="1">
            <a:spLocks noChangeArrowheads="1"/>
          </p:cNvSpPr>
          <p:nvPr/>
        </p:nvSpPr>
        <p:spPr bwMode="auto">
          <a:xfrm>
            <a:off x="5707907" y="1414364"/>
            <a:ext cx="238165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 smtClean="0"/>
              <a:t>network-control applications</a:t>
            </a:r>
            <a:endParaRPr lang="en-US" sz="1400" i="1" dirty="0"/>
          </a:p>
        </p:txBody>
      </p:sp>
      <p:sp>
        <p:nvSpPr>
          <p:cNvPr id="128" name="Rectangle 127"/>
          <p:cNvSpPr/>
          <p:nvPr/>
        </p:nvSpPr>
        <p:spPr bwMode="auto">
          <a:xfrm>
            <a:off x="4574869" y="1147463"/>
            <a:ext cx="3794540" cy="1851240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Rectangle 128"/>
          <p:cNvSpPr/>
          <p:nvPr/>
        </p:nvSpPr>
        <p:spPr bwMode="auto">
          <a:xfrm>
            <a:off x="4558963" y="1315163"/>
            <a:ext cx="3794540" cy="185124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 129"/>
          <p:cNvSpPr/>
          <p:nvPr/>
        </p:nvSpPr>
        <p:spPr bwMode="auto">
          <a:xfrm>
            <a:off x="4587026" y="5099336"/>
            <a:ext cx="3794540" cy="1592337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26470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13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45812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19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72209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SDN perspective: control applications</a:t>
            </a:r>
            <a:endParaRPr lang="en-US" sz="3600" dirty="0">
              <a:solidFill>
                <a:srgbClr val="000099"/>
              </a:solidFill>
              <a:latin typeface="Gill Sans MT" charset="0"/>
            </a:endParaRPr>
          </a:p>
        </p:txBody>
      </p:sp>
      <p:pic>
        <p:nvPicPr>
          <p:cNvPr id="48170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776288"/>
            <a:ext cx="7159501" cy="191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6" name="Content Placeholder 6"/>
          <p:cNvSpPr txBox="1">
            <a:spLocks/>
          </p:cNvSpPr>
          <p:nvPr/>
        </p:nvSpPr>
        <p:spPr bwMode="auto">
          <a:xfrm>
            <a:off x="524550" y="1248707"/>
            <a:ext cx="4333436" cy="5010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i="1" dirty="0" smtClean="0">
                <a:solidFill>
                  <a:srgbClr val="CC0000"/>
                </a:solidFill>
              </a:rPr>
              <a:t>network-control apps:</a:t>
            </a:r>
          </a:p>
          <a:p>
            <a:r>
              <a:rPr lang="en-US" sz="2400" dirty="0" smtClean="0"/>
              <a:t>“brains” of control:  implement control functions using lower-level services, API provided by SND controller</a:t>
            </a:r>
          </a:p>
          <a:p>
            <a:r>
              <a:rPr lang="en-US" sz="2400" i="1" dirty="0" smtClean="0">
                <a:solidFill>
                  <a:srgbClr val="000000"/>
                </a:solidFill>
              </a:rPr>
              <a:t>unbundled: </a:t>
            </a:r>
            <a:r>
              <a:rPr lang="en-US" sz="2400" dirty="0" smtClean="0"/>
              <a:t>can be provided by 3</a:t>
            </a:r>
            <a:r>
              <a:rPr lang="en-US" sz="2400" baseline="30000" dirty="0" smtClean="0"/>
              <a:t>rd</a:t>
            </a:r>
            <a:r>
              <a:rPr lang="en-US" sz="2400" dirty="0" smtClean="0"/>
              <a:t> party: distinct from routing vendor, or SDN controller</a:t>
            </a:r>
          </a:p>
          <a:p>
            <a:endParaRPr lang="en-US" dirty="0" smtClean="0"/>
          </a:p>
        </p:txBody>
      </p:sp>
      <p:sp>
        <p:nvSpPr>
          <p:cNvPr id="9" name="TextBox 399"/>
          <p:cNvSpPr txBox="1">
            <a:spLocks noChangeArrowheads="1"/>
          </p:cNvSpPr>
          <p:nvPr/>
        </p:nvSpPr>
        <p:spPr bwMode="auto">
          <a:xfrm>
            <a:off x="8518490" y="5440585"/>
            <a:ext cx="28693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dirty="0"/>
              <a:t>data</a:t>
            </a:r>
          </a:p>
          <a:p>
            <a:pPr algn="ctr">
              <a:lnSpc>
                <a:spcPts val="1463"/>
              </a:lnSpc>
            </a:pPr>
            <a:r>
              <a:rPr lang="en-US" sz="1400" dirty="0"/>
              <a:t>plane</a:t>
            </a:r>
          </a:p>
        </p:txBody>
      </p:sp>
      <p:sp>
        <p:nvSpPr>
          <p:cNvPr id="10" name="TextBox 400"/>
          <p:cNvSpPr txBox="1">
            <a:spLocks noChangeArrowheads="1"/>
          </p:cNvSpPr>
          <p:nvPr/>
        </p:nvSpPr>
        <p:spPr bwMode="auto">
          <a:xfrm>
            <a:off x="8494972" y="2978227"/>
            <a:ext cx="34202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dirty="0"/>
              <a:t>control</a:t>
            </a:r>
          </a:p>
          <a:p>
            <a:pPr algn="ctr">
              <a:lnSpc>
                <a:spcPts val="1463"/>
              </a:lnSpc>
            </a:pPr>
            <a:r>
              <a:rPr lang="en-US" sz="1400" dirty="0"/>
              <a:t>plane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 flipV="1">
            <a:off x="5272718" y="5033566"/>
            <a:ext cx="2791783" cy="14329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auto">
          <a:xfrm flipV="1">
            <a:off x="5192283" y="3213235"/>
            <a:ext cx="3041550" cy="1856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5164667" y="5329900"/>
            <a:ext cx="2979208" cy="973667"/>
            <a:chOff x="2592388" y="5601756"/>
            <a:chExt cx="4027487" cy="939800"/>
          </a:xfrm>
        </p:grpSpPr>
        <p:sp>
          <p:nvSpPr>
            <p:cNvPr id="69" name="Freeform 2"/>
            <p:cNvSpPr>
              <a:spLocks/>
            </p:cNvSpPr>
            <p:nvPr/>
          </p:nvSpPr>
          <p:spPr bwMode="auto">
            <a:xfrm>
              <a:off x="2592388" y="5601756"/>
              <a:ext cx="4027487" cy="939800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0" name="Straight Connector 69"/>
            <p:cNvCxnSpPr/>
            <p:nvPr/>
          </p:nvCxnSpPr>
          <p:spPr>
            <a:xfrm flipV="1">
              <a:off x="3262941" y="5752569"/>
              <a:ext cx="1316038" cy="13176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3151816" y="5939894"/>
              <a:ext cx="2259013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3164516" y="6044669"/>
              <a:ext cx="714375" cy="2762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V="1">
              <a:off x="4182104" y="6238344"/>
              <a:ext cx="1247775" cy="825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842504" y="5785906"/>
              <a:ext cx="1057275" cy="1238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4126541" y="5939894"/>
              <a:ext cx="1790700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5453691" y="5968469"/>
              <a:ext cx="588963" cy="26987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4596441" y="5752569"/>
              <a:ext cx="814388" cy="40163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347"/>
            <p:cNvGrpSpPr>
              <a:grpSpLocks/>
            </p:cNvGrpSpPr>
            <p:nvPr/>
          </p:nvGrpSpPr>
          <p:grpSpPr bwMode="auto">
            <a:xfrm>
              <a:off x="5856401" y="5796097"/>
              <a:ext cx="588970" cy="242608"/>
              <a:chOff x="1871277" y="1576300"/>
              <a:chExt cx="1128371" cy="437861"/>
            </a:xfrm>
          </p:grpSpPr>
          <p:sp>
            <p:nvSpPr>
              <p:cNvPr id="119" name="Oval 118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0" name="Rectangle 119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1" name="Oval 120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2" name="Freeform 121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3" name="Freeform 122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4" name="Freeform 123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5" name="Freeform 124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26" name="Straight Connector 125"/>
              <p:cNvCxnSpPr>
                <a:endCxn id="121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347"/>
            <p:cNvGrpSpPr>
              <a:grpSpLocks/>
            </p:cNvGrpSpPr>
            <p:nvPr/>
          </p:nvGrpSpPr>
          <p:grpSpPr bwMode="auto">
            <a:xfrm>
              <a:off x="4375328" y="5654000"/>
              <a:ext cx="588970" cy="242608"/>
              <a:chOff x="1871277" y="1576300"/>
              <a:chExt cx="1128371" cy="437861"/>
            </a:xfrm>
          </p:grpSpPr>
          <p:sp>
            <p:nvSpPr>
              <p:cNvPr id="110" name="Oval 109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1" name="Rectangle 110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3" name="Freeform 112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4" name="Freeform 113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5" name="Freeform 114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6" name="Freeform 115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7" name="Straight Connector 116"/>
              <p:cNvCxnSpPr>
                <a:endCxn id="112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347"/>
            <p:cNvGrpSpPr>
              <a:grpSpLocks/>
            </p:cNvGrpSpPr>
            <p:nvPr/>
          </p:nvGrpSpPr>
          <p:grpSpPr bwMode="auto">
            <a:xfrm>
              <a:off x="2848241" y="5847813"/>
              <a:ext cx="588970" cy="242608"/>
              <a:chOff x="1871277" y="1576300"/>
              <a:chExt cx="1128371" cy="437861"/>
            </a:xfrm>
          </p:grpSpPr>
          <p:sp>
            <p:nvSpPr>
              <p:cNvPr id="101" name="Oval 100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2" name="Rectangle 101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3" name="Oval 102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4" name="Freeform 103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5" name="Freeform 104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6" name="Freeform 105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7" name="Freeform 106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08" name="Straight Connector 107"/>
              <p:cNvCxnSpPr>
                <a:endCxn id="103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347"/>
            <p:cNvGrpSpPr>
              <a:grpSpLocks/>
            </p:cNvGrpSpPr>
            <p:nvPr/>
          </p:nvGrpSpPr>
          <p:grpSpPr bwMode="auto">
            <a:xfrm>
              <a:off x="5166757" y="6114152"/>
              <a:ext cx="588970" cy="242608"/>
              <a:chOff x="1871277" y="1576300"/>
              <a:chExt cx="1128371" cy="437861"/>
            </a:xfrm>
          </p:grpSpPr>
          <p:sp>
            <p:nvSpPr>
              <p:cNvPr id="92" name="Oval 9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3" name="Rectangle 92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5" name="Freeform 94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6" name="Freeform 95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7" name="Freeform 96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9" name="Straight Connector 98"/>
              <p:cNvCxnSpPr>
                <a:endCxn id="9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347"/>
            <p:cNvGrpSpPr>
              <a:grpSpLocks/>
            </p:cNvGrpSpPr>
            <p:nvPr/>
          </p:nvGrpSpPr>
          <p:grpSpPr bwMode="auto">
            <a:xfrm>
              <a:off x="3704088" y="6206732"/>
              <a:ext cx="588970" cy="242608"/>
              <a:chOff x="1871277" y="1576300"/>
              <a:chExt cx="1128371" cy="437861"/>
            </a:xfrm>
          </p:grpSpPr>
          <p:sp>
            <p:nvSpPr>
              <p:cNvPr id="83" name="Oval 8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4" name="Rectangle 8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6" name="Freeform 8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7" name="Freeform 8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8" name="Freeform 8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9" name="Freeform 8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0" name="Straight Connector 89"/>
              <p:cNvCxnSpPr>
                <a:endCxn id="8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/>
          <p:cNvGrpSpPr/>
          <p:nvPr/>
        </p:nvGrpSpPr>
        <p:grpSpPr>
          <a:xfrm>
            <a:off x="4990227" y="3550652"/>
            <a:ext cx="3116606" cy="1053561"/>
            <a:chOff x="4990227" y="2877416"/>
            <a:chExt cx="3116606" cy="1053561"/>
          </a:xfrm>
        </p:grpSpPr>
        <p:sp>
          <p:nvSpPr>
            <p:cNvPr id="33" name="Rectangle 32"/>
            <p:cNvSpPr/>
            <p:nvPr/>
          </p:nvSpPr>
          <p:spPr bwMode="auto">
            <a:xfrm>
              <a:off x="5418665" y="2913389"/>
              <a:ext cx="2688168" cy="10175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5218221" y="2877416"/>
              <a:ext cx="213773" cy="1028160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20385 w 220240"/>
                <a:gd name="connsiteY0" fmla="*/ 745656 h 1058154"/>
                <a:gd name="connsiteX1" fmla="*/ 214305 w 220240"/>
                <a:gd name="connsiteY1" fmla="*/ 0 h 1058154"/>
                <a:gd name="connsiteX2" fmla="*/ 220240 w 220240"/>
                <a:gd name="connsiteY2" fmla="*/ 1027869 h 1058154"/>
                <a:gd name="connsiteX3" fmla="*/ 68 w 220240"/>
                <a:gd name="connsiteY3" fmla="*/ 986902 h 1058154"/>
                <a:gd name="connsiteX4" fmla="*/ 20385 w 220240"/>
                <a:gd name="connsiteY4" fmla="*/ 745656 h 1058154"/>
                <a:gd name="connsiteX0" fmla="*/ 20385 w 220240"/>
                <a:gd name="connsiteY0" fmla="*/ 745656 h 1068836"/>
                <a:gd name="connsiteX1" fmla="*/ 214305 w 220240"/>
                <a:gd name="connsiteY1" fmla="*/ 0 h 1068836"/>
                <a:gd name="connsiteX2" fmla="*/ 220240 w 220240"/>
                <a:gd name="connsiteY2" fmla="*/ 1027869 h 1068836"/>
                <a:gd name="connsiteX3" fmla="*/ 68 w 220240"/>
                <a:gd name="connsiteY3" fmla="*/ 986902 h 1068836"/>
                <a:gd name="connsiteX4" fmla="*/ 20385 w 220240"/>
                <a:gd name="connsiteY4" fmla="*/ 745656 h 1068836"/>
                <a:gd name="connsiteX0" fmla="*/ 15446 w 215301"/>
                <a:gd name="connsiteY0" fmla="*/ 745656 h 1057581"/>
                <a:gd name="connsiteX1" fmla="*/ 209366 w 215301"/>
                <a:gd name="connsiteY1" fmla="*/ 0 h 1057581"/>
                <a:gd name="connsiteX2" fmla="*/ 215301 w 215301"/>
                <a:gd name="connsiteY2" fmla="*/ 1027869 h 1057581"/>
                <a:gd name="connsiteX3" fmla="*/ 87 w 215301"/>
                <a:gd name="connsiteY3" fmla="*/ 888484 h 1057581"/>
                <a:gd name="connsiteX4" fmla="*/ 15446 w 215301"/>
                <a:gd name="connsiteY4" fmla="*/ 745656 h 1057581"/>
                <a:gd name="connsiteX0" fmla="*/ 15446 w 215301"/>
                <a:gd name="connsiteY0" fmla="*/ 745656 h 1063397"/>
                <a:gd name="connsiteX1" fmla="*/ 209366 w 215301"/>
                <a:gd name="connsiteY1" fmla="*/ 0 h 1063397"/>
                <a:gd name="connsiteX2" fmla="*/ 215301 w 215301"/>
                <a:gd name="connsiteY2" fmla="*/ 1027869 h 1063397"/>
                <a:gd name="connsiteX3" fmla="*/ 87 w 215301"/>
                <a:gd name="connsiteY3" fmla="*/ 888484 h 1063397"/>
                <a:gd name="connsiteX4" fmla="*/ 15446 w 215301"/>
                <a:gd name="connsiteY4" fmla="*/ 745656 h 1063397"/>
                <a:gd name="connsiteX0" fmla="*/ 15446 w 215301"/>
                <a:gd name="connsiteY0" fmla="*/ 745656 h 1027869"/>
                <a:gd name="connsiteX1" fmla="*/ 209366 w 215301"/>
                <a:gd name="connsiteY1" fmla="*/ 0 h 1027869"/>
                <a:gd name="connsiteX2" fmla="*/ 215301 w 215301"/>
                <a:gd name="connsiteY2" fmla="*/ 1027869 h 1027869"/>
                <a:gd name="connsiteX3" fmla="*/ 87 w 215301"/>
                <a:gd name="connsiteY3" fmla="*/ 888484 h 1027869"/>
                <a:gd name="connsiteX4" fmla="*/ 15446 w 215301"/>
                <a:gd name="connsiteY4" fmla="*/ 745656 h 102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301" h="1027869">
                  <a:moveTo>
                    <a:pt x="15446" y="745656"/>
                  </a:moveTo>
                  <a:lnTo>
                    <a:pt x="209366" y="0"/>
                  </a:lnTo>
                  <a:cubicBezTo>
                    <a:pt x="211344" y="342623"/>
                    <a:pt x="213323" y="685246"/>
                    <a:pt x="215301" y="1027869"/>
                  </a:cubicBezTo>
                  <a:cubicBezTo>
                    <a:pt x="115469" y="960083"/>
                    <a:pt x="99918" y="931665"/>
                    <a:pt x="87" y="888484"/>
                  </a:cubicBezTo>
                  <a:cubicBezTo>
                    <a:pt x="-1403" y="675204"/>
                    <a:pt x="16936" y="958936"/>
                    <a:pt x="15446" y="74565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grpSp>
          <p:nvGrpSpPr>
            <p:cNvPr id="35" name="Group 950"/>
            <p:cNvGrpSpPr>
              <a:grpSpLocks/>
            </p:cNvGrpSpPr>
            <p:nvPr/>
          </p:nvGrpSpPr>
          <p:grpSpPr bwMode="auto">
            <a:xfrm>
              <a:off x="4990227" y="3351862"/>
              <a:ext cx="251561" cy="564103"/>
              <a:chOff x="4140" y="429"/>
              <a:chExt cx="1425" cy="2396"/>
            </a:xfrm>
          </p:grpSpPr>
          <p:sp>
            <p:nvSpPr>
              <p:cNvPr id="37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2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3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4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5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7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8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9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0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59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5377031" y="3090332"/>
              <a:ext cx="2659202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SDN Controller</a:t>
              </a:r>
            </a:p>
            <a:p>
              <a:pPr algn="ctr"/>
              <a:r>
                <a:rPr lang="en-US" sz="1600" dirty="0" smtClean="0"/>
                <a:t>(network operating system)</a:t>
              </a:r>
              <a:endParaRPr lang="en-US" sz="1600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37708" y="1562205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008000"/>
                </a:solidFill>
              </a:rPr>
              <a:t>…</a:t>
            </a:r>
            <a:endParaRPr lang="en-US" sz="3200" dirty="0">
              <a:solidFill>
                <a:srgbClr val="008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5165914" y="1781366"/>
            <a:ext cx="1023471" cy="590176"/>
            <a:chOff x="4721412" y="1277470"/>
            <a:chExt cx="1023471" cy="590176"/>
          </a:xfrm>
        </p:grpSpPr>
        <p:sp>
          <p:nvSpPr>
            <p:cNvPr id="31" name="Oval 30"/>
            <p:cNvSpPr/>
            <p:nvPr/>
          </p:nvSpPr>
          <p:spPr bwMode="auto">
            <a:xfrm>
              <a:off x="4721412" y="1277470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92385" y="1374585"/>
              <a:ext cx="890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routing</a:t>
              </a:r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000628" y="2302316"/>
            <a:ext cx="1023471" cy="590176"/>
            <a:chOff x="6106459" y="1967753"/>
            <a:chExt cx="1023471" cy="590176"/>
          </a:xfrm>
        </p:grpSpPr>
        <p:sp>
          <p:nvSpPr>
            <p:cNvPr id="29" name="Oval 28"/>
            <p:cNvSpPr/>
            <p:nvPr/>
          </p:nvSpPr>
          <p:spPr bwMode="auto">
            <a:xfrm>
              <a:off x="6106459" y="19677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77429" y="1997637"/>
              <a:ext cx="903087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 smtClean="0"/>
                <a:t>access 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 smtClean="0"/>
                <a:t>control</a:t>
              </a:r>
              <a:endParaRPr lang="en-US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30837" y="2260771"/>
            <a:ext cx="1023471" cy="590176"/>
            <a:chOff x="6938682" y="977153"/>
            <a:chExt cx="1023471" cy="590176"/>
          </a:xfrm>
        </p:grpSpPr>
        <p:sp>
          <p:nvSpPr>
            <p:cNvPr id="27" name="Oval 26"/>
            <p:cNvSpPr/>
            <p:nvPr/>
          </p:nvSpPr>
          <p:spPr bwMode="auto">
            <a:xfrm>
              <a:off x="6938682" y="9771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64568" y="1007037"/>
              <a:ext cx="993256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 smtClean="0"/>
                <a:t>load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 smtClean="0"/>
                <a:t>balance</a:t>
              </a:r>
              <a:endParaRPr lang="en-US" dirty="0"/>
            </a:p>
          </p:txBody>
        </p:sp>
      </p:grpSp>
      <p:cxnSp>
        <p:nvCxnSpPr>
          <p:cNvPr id="19" name="Straight Arrow Connector 18"/>
          <p:cNvCxnSpPr/>
          <p:nvPr/>
        </p:nvCxnSpPr>
        <p:spPr bwMode="auto">
          <a:xfrm flipV="1">
            <a:off x="8627245" y="1721848"/>
            <a:ext cx="0" cy="12488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8652645" y="3470081"/>
            <a:ext cx="0" cy="15244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8661016" y="5885529"/>
            <a:ext cx="0" cy="4148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/>
          <p:cNvCxnSpPr/>
          <p:nvPr/>
        </p:nvCxnSpPr>
        <p:spPr bwMode="auto">
          <a:xfrm flipV="1">
            <a:off x="8653320" y="5049925"/>
            <a:ext cx="0" cy="4148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399"/>
          <p:cNvSpPr txBox="1">
            <a:spLocks noChangeArrowheads="1"/>
          </p:cNvSpPr>
          <p:nvPr/>
        </p:nvSpPr>
        <p:spPr bwMode="auto">
          <a:xfrm>
            <a:off x="6650715" y="4739499"/>
            <a:ext cx="163588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 smtClean="0"/>
              <a:t>southbound API</a:t>
            </a:r>
            <a:endParaRPr lang="en-US" sz="1400" i="1" dirty="0"/>
          </a:p>
        </p:txBody>
      </p:sp>
      <p:sp>
        <p:nvSpPr>
          <p:cNvPr id="24" name="TextBox 399"/>
          <p:cNvSpPr txBox="1">
            <a:spLocks noChangeArrowheads="1"/>
          </p:cNvSpPr>
          <p:nvPr/>
        </p:nvSpPr>
        <p:spPr bwMode="auto">
          <a:xfrm>
            <a:off x="6646778" y="3221681"/>
            <a:ext cx="163588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 smtClean="0"/>
              <a:t>northbound API</a:t>
            </a:r>
            <a:endParaRPr lang="en-US" sz="1400" i="1" dirty="0"/>
          </a:p>
        </p:txBody>
      </p:sp>
      <p:sp>
        <p:nvSpPr>
          <p:cNvPr id="25" name="TextBox 399"/>
          <p:cNvSpPr txBox="1">
            <a:spLocks noChangeArrowheads="1"/>
          </p:cNvSpPr>
          <p:nvPr/>
        </p:nvSpPr>
        <p:spPr bwMode="auto">
          <a:xfrm>
            <a:off x="5507651" y="6299618"/>
            <a:ext cx="2302688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 smtClean="0"/>
              <a:t>SDN-controlled switches</a:t>
            </a:r>
            <a:endParaRPr lang="en-US" sz="1400" i="1" dirty="0"/>
          </a:p>
        </p:txBody>
      </p:sp>
      <p:sp>
        <p:nvSpPr>
          <p:cNvPr id="26" name="TextBox 399"/>
          <p:cNvSpPr txBox="1">
            <a:spLocks noChangeArrowheads="1"/>
          </p:cNvSpPr>
          <p:nvPr/>
        </p:nvSpPr>
        <p:spPr bwMode="auto">
          <a:xfrm>
            <a:off x="5707907" y="1414364"/>
            <a:ext cx="2381659" cy="284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ts val="1463"/>
              </a:lnSpc>
            </a:pPr>
            <a:r>
              <a:rPr lang="en-US" sz="1400" i="1" dirty="0" smtClean="0"/>
              <a:t>network-control applications</a:t>
            </a:r>
            <a:endParaRPr lang="en-US" sz="1400" i="1" dirty="0"/>
          </a:p>
        </p:txBody>
      </p:sp>
      <p:sp>
        <p:nvSpPr>
          <p:cNvPr id="128" name="Rectangle 127"/>
          <p:cNvSpPr/>
          <p:nvPr/>
        </p:nvSpPr>
        <p:spPr bwMode="auto">
          <a:xfrm>
            <a:off x="4697273" y="3090498"/>
            <a:ext cx="3549731" cy="3442387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26470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13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45812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11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221"/>
          <p:cNvSpPr/>
          <p:nvPr/>
        </p:nvSpPr>
        <p:spPr bwMode="auto">
          <a:xfrm>
            <a:off x="2341231" y="2082088"/>
            <a:ext cx="5228030" cy="35686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438" name="Straight Connector 437"/>
          <p:cNvCxnSpPr>
            <a:endCxn id="217" idx="4"/>
          </p:cNvCxnSpPr>
          <p:nvPr/>
        </p:nvCxnSpPr>
        <p:spPr bwMode="auto">
          <a:xfrm flipH="1" flipV="1">
            <a:off x="5777281" y="1910774"/>
            <a:ext cx="605" cy="40773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5" name="Rounded Rectangle 374"/>
          <p:cNvSpPr/>
          <p:nvPr/>
        </p:nvSpPr>
        <p:spPr>
          <a:xfrm>
            <a:off x="2479739" y="3165861"/>
            <a:ext cx="4945030" cy="155378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0" name="Rounded Rectangle 379"/>
          <p:cNvSpPr/>
          <p:nvPr/>
        </p:nvSpPr>
        <p:spPr>
          <a:xfrm>
            <a:off x="2479739" y="4779178"/>
            <a:ext cx="4959028" cy="73797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86" name="Straight Connector 385"/>
          <p:cNvCxnSpPr/>
          <p:nvPr/>
        </p:nvCxnSpPr>
        <p:spPr bwMode="auto">
          <a:xfrm>
            <a:off x="2564746" y="5687428"/>
            <a:ext cx="486002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TextBox 388"/>
          <p:cNvSpPr txBox="1"/>
          <p:nvPr/>
        </p:nvSpPr>
        <p:spPr>
          <a:xfrm>
            <a:off x="2496429" y="3773215"/>
            <a:ext cx="5089063" cy="325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 smtClean="0">
                <a:latin typeface="Arial"/>
                <a:cs typeface="Arial"/>
              </a:rPr>
              <a:t>Network-wide distributed, robust  state management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2884907" y="5171961"/>
            <a:ext cx="4033912" cy="325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 smtClean="0">
                <a:latin typeface="Arial"/>
                <a:cs typeface="Arial"/>
              </a:rPr>
              <a:t>Communication to/from controlled devices</a:t>
            </a:r>
          </a:p>
        </p:txBody>
      </p:sp>
      <p:grpSp>
        <p:nvGrpSpPr>
          <p:cNvPr id="401" name="Group 400"/>
          <p:cNvGrpSpPr/>
          <p:nvPr/>
        </p:nvGrpSpPr>
        <p:grpSpPr>
          <a:xfrm>
            <a:off x="2798837" y="4140643"/>
            <a:ext cx="1244650" cy="459826"/>
            <a:chOff x="3128876" y="457817"/>
            <a:chExt cx="1432326" cy="459826"/>
          </a:xfrm>
        </p:grpSpPr>
        <p:sp>
          <p:nvSpPr>
            <p:cNvPr id="402" name="Rounded Rectangle 40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3198388" y="541671"/>
              <a:ext cx="130238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Link-state info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04" name="Group 403"/>
          <p:cNvGrpSpPr/>
          <p:nvPr/>
        </p:nvGrpSpPr>
        <p:grpSpPr>
          <a:xfrm>
            <a:off x="5882441" y="4140643"/>
            <a:ext cx="1022824" cy="459826"/>
            <a:chOff x="3086839" y="457817"/>
            <a:chExt cx="1525489" cy="459826"/>
          </a:xfrm>
        </p:grpSpPr>
        <p:sp>
          <p:nvSpPr>
            <p:cNvPr id="405" name="Rounded Rectangle 40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6" name="TextBox 405"/>
            <p:cNvSpPr txBox="1"/>
            <p:nvPr/>
          </p:nvSpPr>
          <p:spPr>
            <a:xfrm>
              <a:off x="3086839" y="541671"/>
              <a:ext cx="1525489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switch info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07" name="Group 406"/>
          <p:cNvGrpSpPr/>
          <p:nvPr/>
        </p:nvGrpSpPr>
        <p:grpSpPr>
          <a:xfrm>
            <a:off x="4190969" y="4140643"/>
            <a:ext cx="960359" cy="459826"/>
            <a:chOff x="3128876" y="457817"/>
            <a:chExt cx="1432326" cy="459826"/>
          </a:xfrm>
        </p:grpSpPr>
        <p:sp>
          <p:nvSpPr>
            <p:cNvPr id="408" name="Rounded Rectangle 407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host info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10" name="Group 409"/>
          <p:cNvGrpSpPr/>
          <p:nvPr/>
        </p:nvGrpSpPr>
        <p:grpSpPr>
          <a:xfrm>
            <a:off x="3647075" y="3277496"/>
            <a:ext cx="889706" cy="459826"/>
            <a:chOff x="3128876" y="457817"/>
            <a:chExt cx="1432326" cy="459826"/>
          </a:xfrm>
        </p:grpSpPr>
        <p:sp>
          <p:nvSpPr>
            <p:cNvPr id="411" name="Rounded Rectangle 41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3198565" y="541671"/>
              <a:ext cx="130204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statistics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13" name="Group 412"/>
          <p:cNvGrpSpPr/>
          <p:nvPr/>
        </p:nvGrpSpPr>
        <p:grpSpPr>
          <a:xfrm>
            <a:off x="5445049" y="3289355"/>
            <a:ext cx="1032905" cy="459826"/>
            <a:chOff x="3079326" y="457817"/>
            <a:chExt cx="1540525" cy="459826"/>
          </a:xfrm>
        </p:grpSpPr>
        <p:sp>
          <p:nvSpPr>
            <p:cNvPr id="414" name="Rounded Rectangle 413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3079326" y="541671"/>
              <a:ext cx="154052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flow tables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sp>
        <p:nvSpPr>
          <p:cNvPr id="416" name="TextBox 415"/>
          <p:cNvSpPr txBox="1"/>
          <p:nvPr/>
        </p:nvSpPr>
        <p:spPr>
          <a:xfrm>
            <a:off x="4667424" y="3073206"/>
            <a:ext cx="570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7" name="TextBox 416"/>
          <p:cNvSpPr txBox="1"/>
          <p:nvPr/>
        </p:nvSpPr>
        <p:spPr>
          <a:xfrm>
            <a:off x="5213945" y="3979419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18" name="Group 417"/>
          <p:cNvGrpSpPr/>
          <p:nvPr/>
        </p:nvGrpSpPr>
        <p:grpSpPr>
          <a:xfrm>
            <a:off x="3400736" y="4871857"/>
            <a:ext cx="1257452" cy="286824"/>
            <a:chOff x="3128876" y="457775"/>
            <a:chExt cx="1432326" cy="459868"/>
          </a:xfrm>
        </p:grpSpPr>
        <p:sp>
          <p:nvSpPr>
            <p:cNvPr id="419" name="Rounded Rectangle 41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OpenFlow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5269968" y="4876640"/>
            <a:ext cx="1244650" cy="307410"/>
            <a:chOff x="3128876" y="457817"/>
            <a:chExt cx="1432326" cy="459826"/>
          </a:xfrm>
        </p:grpSpPr>
        <p:sp>
          <p:nvSpPr>
            <p:cNvPr id="422" name="Rounded Rectangle 42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SNMP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sp>
        <p:nvSpPr>
          <p:cNvPr id="424" name="TextBox 423"/>
          <p:cNvSpPr txBox="1"/>
          <p:nvPr/>
        </p:nvSpPr>
        <p:spPr>
          <a:xfrm>
            <a:off x="4652725" y="4585147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36" name="Straight Connector 435"/>
          <p:cNvCxnSpPr>
            <a:endCxn id="211" idx="4"/>
          </p:cNvCxnSpPr>
          <p:nvPr/>
        </p:nvCxnSpPr>
        <p:spPr bwMode="auto">
          <a:xfrm flipV="1">
            <a:off x="3368749" y="1866354"/>
            <a:ext cx="4943" cy="3880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7" name="Straight Connector 436"/>
          <p:cNvCxnSpPr>
            <a:endCxn id="215" idx="2"/>
          </p:cNvCxnSpPr>
          <p:nvPr/>
        </p:nvCxnSpPr>
        <p:spPr bwMode="auto">
          <a:xfrm flipH="1" flipV="1">
            <a:off x="4598166" y="1876324"/>
            <a:ext cx="5609" cy="3023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Straight Connector 147"/>
          <p:cNvCxnSpPr/>
          <p:nvPr/>
        </p:nvCxnSpPr>
        <p:spPr bwMode="auto">
          <a:xfrm>
            <a:off x="2606437" y="2342893"/>
            <a:ext cx="481833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6" name="Rounded Rectangle 145"/>
          <p:cNvSpPr/>
          <p:nvPr/>
        </p:nvSpPr>
        <p:spPr>
          <a:xfrm>
            <a:off x="2479739" y="2182258"/>
            <a:ext cx="4951677" cy="93298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425" name="Group 424"/>
          <p:cNvGrpSpPr/>
          <p:nvPr/>
        </p:nvGrpSpPr>
        <p:grpSpPr>
          <a:xfrm>
            <a:off x="2969133" y="2550631"/>
            <a:ext cx="1033900" cy="504412"/>
            <a:chOff x="3103238" y="432317"/>
            <a:chExt cx="1461287" cy="504412"/>
          </a:xfrm>
        </p:grpSpPr>
        <p:sp>
          <p:nvSpPr>
            <p:cNvPr id="426" name="Rounded Rectangle 42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network graph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28" name="Group 427"/>
          <p:cNvGrpSpPr/>
          <p:nvPr/>
        </p:nvGrpSpPr>
        <p:grpSpPr>
          <a:xfrm>
            <a:off x="5936687" y="2596585"/>
            <a:ext cx="1033900" cy="459826"/>
            <a:chOff x="3103238" y="457817"/>
            <a:chExt cx="1461287" cy="459826"/>
          </a:xfrm>
        </p:grpSpPr>
        <p:sp>
          <p:nvSpPr>
            <p:cNvPr id="429" name="Rounded Rectangle 42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intent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31" name="Group 430"/>
          <p:cNvGrpSpPr/>
          <p:nvPr/>
        </p:nvGrpSpPr>
        <p:grpSpPr>
          <a:xfrm>
            <a:off x="4160760" y="2549087"/>
            <a:ext cx="1033900" cy="504412"/>
            <a:chOff x="3103238" y="432317"/>
            <a:chExt cx="1461287" cy="504412"/>
          </a:xfrm>
        </p:grpSpPr>
        <p:sp>
          <p:nvSpPr>
            <p:cNvPr id="432" name="Rounded Rectangle 43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err="1" smtClean="0">
                  <a:latin typeface="Arial"/>
                  <a:cs typeface="Arial"/>
                </a:rPr>
                <a:t>RESTful</a:t>
              </a:r>
              <a:endParaRPr lang="en-US" sz="1400" dirty="0" smtClean="0">
                <a:latin typeface="Arial"/>
                <a:cs typeface="Arial"/>
              </a:endParaRPr>
            </a:p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API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sp>
        <p:nvSpPr>
          <p:cNvPr id="434" name="TextBox 433"/>
          <p:cNvSpPr txBox="1"/>
          <p:nvPr/>
        </p:nvSpPr>
        <p:spPr>
          <a:xfrm>
            <a:off x="5282722" y="2399633"/>
            <a:ext cx="6279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1" name="TextBox 390"/>
          <p:cNvSpPr txBox="1"/>
          <p:nvPr/>
        </p:nvSpPr>
        <p:spPr>
          <a:xfrm>
            <a:off x="2710618" y="2216488"/>
            <a:ext cx="4914815" cy="325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 smtClean="0">
                <a:latin typeface="Arial"/>
                <a:cs typeface="Arial"/>
              </a:rPr>
              <a:t>Interface, abstractions for network control apps</a:t>
            </a:r>
          </a:p>
        </p:txBody>
      </p:sp>
      <p:cxnSp>
        <p:nvCxnSpPr>
          <p:cNvPr id="549" name="Straight Connector 548"/>
          <p:cNvCxnSpPr/>
          <p:nvPr/>
        </p:nvCxnSpPr>
        <p:spPr bwMode="auto">
          <a:xfrm>
            <a:off x="2561183" y="2010842"/>
            <a:ext cx="4753400" cy="1954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7493875" y="3521589"/>
            <a:ext cx="1462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SDN</a:t>
            </a:r>
          </a:p>
          <a:p>
            <a:pPr algn="ctr"/>
            <a:r>
              <a:rPr lang="en-US" sz="2400" dirty="0" smtClean="0"/>
              <a:t>controller</a:t>
            </a:r>
            <a:endParaRPr lang="en-US" sz="2400" dirty="0"/>
          </a:p>
        </p:txBody>
      </p:sp>
      <p:grpSp>
        <p:nvGrpSpPr>
          <p:cNvPr id="147" name="Group 146"/>
          <p:cNvGrpSpPr/>
          <p:nvPr/>
        </p:nvGrpSpPr>
        <p:grpSpPr>
          <a:xfrm>
            <a:off x="3471457" y="5780474"/>
            <a:ext cx="2979208" cy="973667"/>
            <a:chOff x="2592388" y="5601756"/>
            <a:chExt cx="4027487" cy="939800"/>
          </a:xfrm>
        </p:grpSpPr>
        <p:sp>
          <p:nvSpPr>
            <p:cNvPr id="149" name="Freeform 2"/>
            <p:cNvSpPr>
              <a:spLocks/>
            </p:cNvSpPr>
            <p:nvPr/>
          </p:nvSpPr>
          <p:spPr bwMode="auto">
            <a:xfrm>
              <a:off x="2592388" y="5601756"/>
              <a:ext cx="4027487" cy="939800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50" name="Straight Connector 149"/>
            <p:cNvCxnSpPr/>
            <p:nvPr/>
          </p:nvCxnSpPr>
          <p:spPr>
            <a:xfrm flipV="1">
              <a:off x="3262941" y="5752569"/>
              <a:ext cx="1316038" cy="131762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3151816" y="5939894"/>
              <a:ext cx="2259013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3164516" y="6044669"/>
              <a:ext cx="714375" cy="2762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 flipV="1">
              <a:off x="4182104" y="6238344"/>
              <a:ext cx="1247775" cy="825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4842504" y="5785906"/>
              <a:ext cx="1057275" cy="12382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 flipV="1">
              <a:off x="4126541" y="5939894"/>
              <a:ext cx="1790700" cy="298450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 flipV="1">
              <a:off x="5453691" y="5968469"/>
              <a:ext cx="588963" cy="269875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>
              <a:off x="4596441" y="5752569"/>
              <a:ext cx="814388" cy="40163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8" name="Group 347"/>
            <p:cNvGrpSpPr>
              <a:grpSpLocks/>
            </p:cNvGrpSpPr>
            <p:nvPr/>
          </p:nvGrpSpPr>
          <p:grpSpPr bwMode="auto">
            <a:xfrm>
              <a:off x="5856401" y="5796097"/>
              <a:ext cx="588970" cy="242608"/>
              <a:chOff x="1871277" y="1576300"/>
              <a:chExt cx="1128371" cy="437861"/>
            </a:xfrm>
          </p:grpSpPr>
          <p:sp>
            <p:nvSpPr>
              <p:cNvPr id="200" name="Oval 199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1" name="Rectangle 200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2" name="Oval 201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3" name="Freeform 202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4" name="Freeform 203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5" name="Freeform 204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6" name="Freeform 205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07" name="Straight Connector 206"/>
              <p:cNvCxnSpPr>
                <a:endCxn id="202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Group 347"/>
            <p:cNvGrpSpPr>
              <a:grpSpLocks/>
            </p:cNvGrpSpPr>
            <p:nvPr/>
          </p:nvGrpSpPr>
          <p:grpSpPr bwMode="auto">
            <a:xfrm>
              <a:off x="4375328" y="5654000"/>
              <a:ext cx="588970" cy="242608"/>
              <a:chOff x="1871277" y="1576300"/>
              <a:chExt cx="1128371" cy="437861"/>
            </a:xfrm>
          </p:grpSpPr>
          <p:sp>
            <p:nvSpPr>
              <p:cNvPr id="191" name="Oval 190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2" name="Rectangle 191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3" name="Oval 192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4" name="Freeform 193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5" name="Freeform 194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6" name="Freeform 195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7" name="Freeform 196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98" name="Straight Connector 197"/>
              <p:cNvCxnSpPr>
                <a:endCxn id="193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Group 347"/>
            <p:cNvGrpSpPr>
              <a:grpSpLocks/>
            </p:cNvGrpSpPr>
            <p:nvPr/>
          </p:nvGrpSpPr>
          <p:grpSpPr bwMode="auto">
            <a:xfrm>
              <a:off x="2848241" y="5847813"/>
              <a:ext cx="588970" cy="242608"/>
              <a:chOff x="1871277" y="1576300"/>
              <a:chExt cx="1128371" cy="437861"/>
            </a:xfrm>
          </p:grpSpPr>
          <p:sp>
            <p:nvSpPr>
              <p:cNvPr id="182" name="Oval 18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83" name="Rectangle 182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4" name="Oval 183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85" name="Freeform 184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6" name="Freeform 185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7" name="Freeform 186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8" name="Freeform 187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89" name="Straight Connector 188"/>
              <p:cNvCxnSpPr>
                <a:endCxn id="18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347"/>
            <p:cNvGrpSpPr>
              <a:grpSpLocks/>
            </p:cNvGrpSpPr>
            <p:nvPr/>
          </p:nvGrpSpPr>
          <p:grpSpPr bwMode="auto">
            <a:xfrm>
              <a:off x="5166757" y="6114152"/>
              <a:ext cx="588970" cy="242608"/>
              <a:chOff x="1871277" y="1576300"/>
              <a:chExt cx="1128371" cy="437861"/>
            </a:xfrm>
          </p:grpSpPr>
          <p:sp>
            <p:nvSpPr>
              <p:cNvPr id="172" name="Oval 171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3" name="Rectangle 172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74" name="Oval 173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5" name="Freeform 174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77" name="Freeform 17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78" name="Freeform 17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79" name="Freeform 17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80" name="Straight Connector 179"/>
              <p:cNvCxnSpPr>
                <a:endCxn id="17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347"/>
            <p:cNvGrpSpPr>
              <a:grpSpLocks/>
            </p:cNvGrpSpPr>
            <p:nvPr/>
          </p:nvGrpSpPr>
          <p:grpSpPr bwMode="auto">
            <a:xfrm>
              <a:off x="3704088" y="6206732"/>
              <a:ext cx="588970" cy="242608"/>
              <a:chOff x="1871277" y="1576300"/>
              <a:chExt cx="1128371" cy="437861"/>
            </a:xfrm>
          </p:grpSpPr>
          <p:sp>
            <p:nvSpPr>
              <p:cNvPr id="163" name="Oval 162"/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4" name="Rectangle 163"/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5" name="Oval 164"/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6" name="Freeform 165"/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7" name="Freeform 166"/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8" name="Freeform 167"/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9" name="Freeform 168"/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70" name="Straight Connector 169"/>
              <p:cNvCxnSpPr>
                <a:endCxn id="16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31" name="Rectangle 630"/>
          <p:cNvSpPr/>
          <p:nvPr/>
        </p:nvSpPr>
        <p:spPr>
          <a:xfrm>
            <a:off x="2606860" y="5724971"/>
            <a:ext cx="5334198" cy="1133029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10" name="Group 209"/>
          <p:cNvGrpSpPr/>
          <p:nvPr/>
        </p:nvGrpSpPr>
        <p:grpSpPr>
          <a:xfrm>
            <a:off x="2861956" y="1276178"/>
            <a:ext cx="1023471" cy="590176"/>
            <a:chOff x="4721412" y="1277470"/>
            <a:chExt cx="1023471" cy="590176"/>
          </a:xfrm>
        </p:grpSpPr>
        <p:sp>
          <p:nvSpPr>
            <p:cNvPr id="211" name="Oval 210"/>
            <p:cNvSpPr/>
            <p:nvPr/>
          </p:nvSpPr>
          <p:spPr bwMode="auto">
            <a:xfrm>
              <a:off x="4721412" y="1277470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4792385" y="1374585"/>
              <a:ext cx="890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routing</a:t>
              </a:r>
              <a:endParaRPr lang="en-US" dirty="0"/>
            </a:p>
          </p:txBody>
        </p:sp>
      </p:grpSp>
      <p:grpSp>
        <p:nvGrpSpPr>
          <p:cNvPr id="213" name="Group 212"/>
          <p:cNvGrpSpPr/>
          <p:nvPr/>
        </p:nvGrpSpPr>
        <p:grpSpPr>
          <a:xfrm>
            <a:off x="4075652" y="1301675"/>
            <a:ext cx="1023471" cy="590176"/>
            <a:chOff x="6106459" y="1967753"/>
            <a:chExt cx="1023471" cy="590176"/>
          </a:xfrm>
        </p:grpSpPr>
        <p:sp>
          <p:nvSpPr>
            <p:cNvPr id="214" name="Oval 213"/>
            <p:cNvSpPr/>
            <p:nvPr/>
          </p:nvSpPr>
          <p:spPr bwMode="auto">
            <a:xfrm>
              <a:off x="6106459" y="19677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6177429" y="1997637"/>
              <a:ext cx="903087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 smtClean="0"/>
                <a:t>access 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 smtClean="0"/>
                <a:t>control</a:t>
              </a:r>
              <a:endParaRPr lang="en-US" dirty="0"/>
            </a:p>
          </p:txBody>
        </p:sp>
      </p:grpSp>
      <p:grpSp>
        <p:nvGrpSpPr>
          <p:cNvPr id="216" name="Group 215"/>
          <p:cNvGrpSpPr/>
          <p:nvPr/>
        </p:nvGrpSpPr>
        <p:grpSpPr>
          <a:xfrm>
            <a:off x="5265545" y="1320598"/>
            <a:ext cx="1023471" cy="590176"/>
            <a:chOff x="6938682" y="977153"/>
            <a:chExt cx="1023471" cy="590176"/>
          </a:xfrm>
        </p:grpSpPr>
        <p:sp>
          <p:nvSpPr>
            <p:cNvPr id="217" name="Oval 216"/>
            <p:cNvSpPr/>
            <p:nvPr/>
          </p:nvSpPr>
          <p:spPr bwMode="auto">
            <a:xfrm>
              <a:off x="6938682" y="9771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>
              <a:solidFill>
                <a:srgbClr val="008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6964568" y="1007037"/>
              <a:ext cx="993256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 smtClean="0"/>
                <a:t>load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 smtClean="0"/>
                <a:t>balance</a:t>
              </a:r>
              <a:endParaRPr lang="en-US" dirty="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2243683" y="1143000"/>
            <a:ext cx="4965002" cy="783590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3" name="Freeform 222"/>
          <p:cNvSpPr/>
          <p:nvPr/>
        </p:nvSpPr>
        <p:spPr bwMode="auto">
          <a:xfrm rot="10800000">
            <a:off x="7562568" y="4626242"/>
            <a:ext cx="222179" cy="1166655"/>
          </a:xfrm>
          <a:custGeom>
            <a:avLst/>
            <a:gdLst>
              <a:gd name="connsiteX0" fmla="*/ 0 w 312616"/>
              <a:gd name="connsiteY0" fmla="*/ 644770 h 1367693"/>
              <a:gd name="connsiteX1" fmla="*/ 312616 w 312616"/>
              <a:gd name="connsiteY1" fmla="*/ 0 h 1367693"/>
              <a:gd name="connsiteX2" fmla="*/ 312616 w 312616"/>
              <a:gd name="connsiteY2" fmla="*/ 1016000 h 1367693"/>
              <a:gd name="connsiteX3" fmla="*/ 117231 w 312616"/>
              <a:gd name="connsiteY3" fmla="*/ 1367693 h 1367693"/>
              <a:gd name="connsiteX4" fmla="*/ 0 w 312616"/>
              <a:gd name="connsiteY4" fmla="*/ 644770 h 1367693"/>
              <a:gd name="connsiteX0" fmla="*/ 0 w 199855"/>
              <a:gd name="connsiteY0" fmla="*/ 733787 h 1367693"/>
              <a:gd name="connsiteX1" fmla="*/ 199855 w 199855"/>
              <a:gd name="connsiteY1" fmla="*/ 0 h 1367693"/>
              <a:gd name="connsiteX2" fmla="*/ 199855 w 199855"/>
              <a:gd name="connsiteY2" fmla="*/ 1016000 h 1367693"/>
              <a:gd name="connsiteX3" fmla="*/ 4470 w 199855"/>
              <a:gd name="connsiteY3" fmla="*/ 1367693 h 1367693"/>
              <a:gd name="connsiteX4" fmla="*/ 0 w 199855"/>
              <a:gd name="connsiteY4" fmla="*/ 733787 h 1367693"/>
              <a:gd name="connsiteX0" fmla="*/ 25203 w 225058"/>
              <a:gd name="connsiteY0" fmla="*/ 733787 h 1361758"/>
              <a:gd name="connsiteX1" fmla="*/ 225058 w 225058"/>
              <a:gd name="connsiteY1" fmla="*/ 0 h 1361758"/>
              <a:gd name="connsiteX2" fmla="*/ 225058 w 225058"/>
              <a:gd name="connsiteY2" fmla="*/ 1016000 h 1361758"/>
              <a:gd name="connsiteX3" fmla="*/ 0 w 225058"/>
              <a:gd name="connsiteY3" fmla="*/ 1361758 h 1361758"/>
              <a:gd name="connsiteX4" fmla="*/ 25203 w 225058"/>
              <a:gd name="connsiteY4" fmla="*/ 733787 h 1361758"/>
              <a:gd name="connsiteX0" fmla="*/ 25203 w 230992"/>
              <a:gd name="connsiteY0" fmla="*/ 787197 h 1415168"/>
              <a:gd name="connsiteX1" fmla="*/ 230992 w 230992"/>
              <a:gd name="connsiteY1" fmla="*/ 0 h 1415168"/>
              <a:gd name="connsiteX2" fmla="*/ 225058 w 230992"/>
              <a:gd name="connsiteY2" fmla="*/ 1069410 h 1415168"/>
              <a:gd name="connsiteX3" fmla="*/ 0 w 230992"/>
              <a:gd name="connsiteY3" fmla="*/ 1415168 h 1415168"/>
              <a:gd name="connsiteX4" fmla="*/ 25203 w 230992"/>
              <a:gd name="connsiteY4" fmla="*/ 787197 h 1415168"/>
              <a:gd name="connsiteX0" fmla="*/ 0 w 205789"/>
              <a:gd name="connsiteY0" fmla="*/ 787197 h 1427037"/>
              <a:gd name="connsiteX1" fmla="*/ 205789 w 205789"/>
              <a:gd name="connsiteY1" fmla="*/ 0 h 1427037"/>
              <a:gd name="connsiteX2" fmla="*/ 199855 w 205789"/>
              <a:gd name="connsiteY2" fmla="*/ 1069410 h 1427037"/>
              <a:gd name="connsiteX3" fmla="*/ 4471 w 205789"/>
              <a:gd name="connsiteY3" fmla="*/ 1427037 h 1427037"/>
              <a:gd name="connsiteX4" fmla="*/ 0 w 205789"/>
              <a:gd name="connsiteY4" fmla="*/ 787197 h 1427037"/>
              <a:gd name="connsiteX0" fmla="*/ 0 w 199855"/>
              <a:gd name="connsiteY0" fmla="*/ 745656 h 1385496"/>
              <a:gd name="connsiteX1" fmla="*/ 193920 w 199855"/>
              <a:gd name="connsiteY1" fmla="*/ 0 h 1385496"/>
              <a:gd name="connsiteX2" fmla="*/ 199855 w 199855"/>
              <a:gd name="connsiteY2" fmla="*/ 1027869 h 1385496"/>
              <a:gd name="connsiteX3" fmla="*/ 4471 w 199855"/>
              <a:gd name="connsiteY3" fmla="*/ 1385496 h 1385496"/>
              <a:gd name="connsiteX4" fmla="*/ 0 w 199855"/>
              <a:gd name="connsiteY4" fmla="*/ 745656 h 1385496"/>
              <a:gd name="connsiteX0" fmla="*/ 20385 w 220240"/>
              <a:gd name="connsiteY0" fmla="*/ 745656 h 1058154"/>
              <a:gd name="connsiteX1" fmla="*/ 214305 w 220240"/>
              <a:gd name="connsiteY1" fmla="*/ 0 h 1058154"/>
              <a:gd name="connsiteX2" fmla="*/ 220240 w 220240"/>
              <a:gd name="connsiteY2" fmla="*/ 1027869 h 1058154"/>
              <a:gd name="connsiteX3" fmla="*/ 68 w 220240"/>
              <a:gd name="connsiteY3" fmla="*/ 986902 h 1058154"/>
              <a:gd name="connsiteX4" fmla="*/ 20385 w 220240"/>
              <a:gd name="connsiteY4" fmla="*/ 745656 h 1058154"/>
              <a:gd name="connsiteX0" fmla="*/ 20385 w 220240"/>
              <a:gd name="connsiteY0" fmla="*/ 745656 h 1068836"/>
              <a:gd name="connsiteX1" fmla="*/ 214305 w 220240"/>
              <a:gd name="connsiteY1" fmla="*/ 0 h 1068836"/>
              <a:gd name="connsiteX2" fmla="*/ 220240 w 220240"/>
              <a:gd name="connsiteY2" fmla="*/ 1027869 h 1068836"/>
              <a:gd name="connsiteX3" fmla="*/ 68 w 220240"/>
              <a:gd name="connsiteY3" fmla="*/ 986902 h 1068836"/>
              <a:gd name="connsiteX4" fmla="*/ 20385 w 220240"/>
              <a:gd name="connsiteY4" fmla="*/ 745656 h 1068836"/>
              <a:gd name="connsiteX0" fmla="*/ 15446 w 215301"/>
              <a:gd name="connsiteY0" fmla="*/ 745656 h 1057581"/>
              <a:gd name="connsiteX1" fmla="*/ 209366 w 215301"/>
              <a:gd name="connsiteY1" fmla="*/ 0 h 1057581"/>
              <a:gd name="connsiteX2" fmla="*/ 215301 w 215301"/>
              <a:gd name="connsiteY2" fmla="*/ 1027869 h 1057581"/>
              <a:gd name="connsiteX3" fmla="*/ 87 w 215301"/>
              <a:gd name="connsiteY3" fmla="*/ 888484 h 1057581"/>
              <a:gd name="connsiteX4" fmla="*/ 15446 w 215301"/>
              <a:gd name="connsiteY4" fmla="*/ 745656 h 1057581"/>
              <a:gd name="connsiteX0" fmla="*/ 15446 w 215301"/>
              <a:gd name="connsiteY0" fmla="*/ 745656 h 1063397"/>
              <a:gd name="connsiteX1" fmla="*/ 209366 w 215301"/>
              <a:gd name="connsiteY1" fmla="*/ 0 h 1063397"/>
              <a:gd name="connsiteX2" fmla="*/ 215301 w 215301"/>
              <a:gd name="connsiteY2" fmla="*/ 1027869 h 1063397"/>
              <a:gd name="connsiteX3" fmla="*/ 87 w 215301"/>
              <a:gd name="connsiteY3" fmla="*/ 888484 h 1063397"/>
              <a:gd name="connsiteX4" fmla="*/ 15446 w 215301"/>
              <a:gd name="connsiteY4" fmla="*/ 745656 h 1063397"/>
              <a:gd name="connsiteX0" fmla="*/ 15446 w 215301"/>
              <a:gd name="connsiteY0" fmla="*/ 745656 h 1027869"/>
              <a:gd name="connsiteX1" fmla="*/ 209366 w 215301"/>
              <a:gd name="connsiteY1" fmla="*/ 0 h 1027869"/>
              <a:gd name="connsiteX2" fmla="*/ 215301 w 215301"/>
              <a:gd name="connsiteY2" fmla="*/ 1027869 h 1027869"/>
              <a:gd name="connsiteX3" fmla="*/ 87 w 215301"/>
              <a:gd name="connsiteY3" fmla="*/ 888484 h 1027869"/>
              <a:gd name="connsiteX4" fmla="*/ 15446 w 215301"/>
              <a:gd name="connsiteY4" fmla="*/ 745656 h 1027869"/>
              <a:gd name="connsiteX0" fmla="*/ 2945 w 215465"/>
              <a:gd name="connsiteY0" fmla="*/ 0 h 1166325"/>
              <a:gd name="connsiteX1" fmla="*/ 209530 w 215465"/>
              <a:gd name="connsiteY1" fmla="*/ 138456 h 1166325"/>
              <a:gd name="connsiteX2" fmla="*/ 215465 w 215465"/>
              <a:gd name="connsiteY2" fmla="*/ 1166325 h 1166325"/>
              <a:gd name="connsiteX3" fmla="*/ 251 w 215465"/>
              <a:gd name="connsiteY3" fmla="*/ 1026940 h 1166325"/>
              <a:gd name="connsiteX4" fmla="*/ 2945 w 215465"/>
              <a:gd name="connsiteY4" fmla="*/ 0 h 1166325"/>
              <a:gd name="connsiteX0" fmla="*/ 11247 w 223767"/>
              <a:gd name="connsiteY0" fmla="*/ 0 h 1166325"/>
              <a:gd name="connsiteX1" fmla="*/ 217832 w 223767"/>
              <a:gd name="connsiteY1" fmla="*/ 138456 h 1166325"/>
              <a:gd name="connsiteX2" fmla="*/ 223767 w 223767"/>
              <a:gd name="connsiteY2" fmla="*/ 1166325 h 1166325"/>
              <a:gd name="connsiteX3" fmla="*/ 110 w 223767"/>
              <a:gd name="connsiteY3" fmla="*/ 226631 h 1166325"/>
              <a:gd name="connsiteX4" fmla="*/ 11247 w 223767"/>
              <a:gd name="connsiteY4" fmla="*/ 0 h 1166325"/>
              <a:gd name="connsiteX0" fmla="*/ 11247 w 223767"/>
              <a:gd name="connsiteY0" fmla="*/ 0 h 1166325"/>
              <a:gd name="connsiteX1" fmla="*/ 217832 w 223767"/>
              <a:gd name="connsiteY1" fmla="*/ 138456 h 1166325"/>
              <a:gd name="connsiteX2" fmla="*/ 223767 w 223767"/>
              <a:gd name="connsiteY2" fmla="*/ 1166325 h 1166325"/>
              <a:gd name="connsiteX3" fmla="*/ 110 w 223767"/>
              <a:gd name="connsiteY3" fmla="*/ 226631 h 1166325"/>
              <a:gd name="connsiteX4" fmla="*/ 11247 w 223767"/>
              <a:gd name="connsiteY4" fmla="*/ 0 h 1166325"/>
              <a:gd name="connsiteX0" fmla="*/ 11247 w 223767"/>
              <a:gd name="connsiteY0" fmla="*/ 0 h 1166325"/>
              <a:gd name="connsiteX1" fmla="*/ 217832 w 223767"/>
              <a:gd name="connsiteY1" fmla="*/ 138456 h 1166325"/>
              <a:gd name="connsiteX2" fmla="*/ 223767 w 223767"/>
              <a:gd name="connsiteY2" fmla="*/ 1166325 h 1166325"/>
              <a:gd name="connsiteX3" fmla="*/ 110 w 223767"/>
              <a:gd name="connsiteY3" fmla="*/ 226631 h 1166325"/>
              <a:gd name="connsiteX4" fmla="*/ 11247 w 223767"/>
              <a:gd name="connsiteY4" fmla="*/ 0 h 116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67" h="1166325">
                <a:moveTo>
                  <a:pt x="11247" y="0"/>
                </a:moveTo>
                <a:lnTo>
                  <a:pt x="217832" y="138456"/>
                </a:lnTo>
                <a:cubicBezTo>
                  <a:pt x="219810" y="481079"/>
                  <a:pt x="221789" y="823702"/>
                  <a:pt x="223767" y="1166325"/>
                </a:cubicBezTo>
                <a:cubicBezTo>
                  <a:pt x="98607" y="641817"/>
                  <a:pt x="99941" y="672062"/>
                  <a:pt x="110" y="226631"/>
                </a:cubicBezTo>
                <a:cubicBezTo>
                  <a:pt x="-1380" y="13351"/>
                  <a:pt x="12737" y="213280"/>
                  <a:pt x="11247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224" name="Group 950"/>
          <p:cNvGrpSpPr>
            <a:grpSpLocks/>
          </p:cNvGrpSpPr>
          <p:nvPr/>
        </p:nvGrpSpPr>
        <p:grpSpPr bwMode="auto">
          <a:xfrm>
            <a:off x="7763077" y="5170004"/>
            <a:ext cx="251561" cy="564103"/>
            <a:chOff x="4140" y="429"/>
            <a:chExt cx="1425" cy="2396"/>
          </a:xfrm>
        </p:grpSpPr>
        <p:sp>
          <p:nvSpPr>
            <p:cNvPr id="226" name="Freeform 95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Rectangle 952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" name="Freeform 95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Freeform 95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Rectangle 955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1" name="Group 95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6" name="AutoShape 957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" name="AutoShape 958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2" name="Rectangle 959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3" name="Group 96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4" name="AutoShape 961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" name="AutoShape 962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4" name="Rectangle 963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" name="Rectangle 964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" name="Group 96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2" name="AutoShape 966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3" name="AutoShape 967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7" name="Freeform 96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8" name="Group 96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0" name="AutoShape 970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1" name="AutoShape 971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9" name="Rectangle 972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" name="Freeform 97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Freeform 97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Oval 975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3" name="Freeform 97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AutoShape 977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" name="AutoShape 978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" name="Oval 979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" name="Oval 980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48" name="Oval 981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" name="Rectangle 982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6" name="Text Box 167"/>
          <p:cNvSpPr txBox="1">
            <a:spLocks noChangeArrowheads="1"/>
          </p:cNvSpPr>
          <p:nvPr/>
        </p:nvSpPr>
        <p:spPr bwMode="auto">
          <a:xfrm>
            <a:off x="542925" y="236538"/>
            <a:ext cx="61689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3600" dirty="0" smtClean="0">
                <a:solidFill>
                  <a:srgbClr val="000099"/>
                </a:solidFill>
                <a:latin typeface="Gill Sans MT" charset="0"/>
              </a:rPr>
              <a:t>Components of SDN controller</a:t>
            </a:r>
            <a:endParaRPr lang="en-US" sz="3600" dirty="0">
              <a:solidFill>
                <a:srgbClr val="000099"/>
              </a:solidFill>
              <a:latin typeface="Gill Sans MT" charset="0"/>
            </a:endParaRPr>
          </a:p>
        </p:txBody>
      </p:sp>
      <p:pic>
        <p:nvPicPr>
          <p:cNvPr id="209" name="Picture 5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776288"/>
            <a:ext cx="6181825" cy="156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9508" y="4804221"/>
            <a:ext cx="1989074" cy="1343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i="1" dirty="0" smtClean="0">
                <a:solidFill>
                  <a:srgbClr val="CC0000"/>
                </a:solidFill>
                <a:latin typeface="+mn-lt"/>
              </a:rPr>
              <a:t>communication layer</a:t>
            </a:r>
            <a:r>
              <a:rPr lang="en-US" dirty="0" smtClean="0">
                <a:latin typeface="+mn-lt"/>
              </a:rPr>
              <a:t>: communicate between SDN controller and controlled switches</a:t>
            </a:r>
            <a:endParaRPr lang="en-US" dirty="0">
              <a:latin typeface="+mn-lt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213602" y="3120682"/>
            <a:ext cx="2127384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CC0000"/>
                </a:solidFill>
                <a:latin typeface="+mn-lt"/>
              </a:rPr>
              <a:t>N</a:t>
            </a:r>
            <a:r>
              <a:rPr lang="en-US" dirty="0" smtClean="0">
                <a:solidFill>
                  <a:srgbClr val="CC0000"/>
                </a:solidFill>
                <a:latin typeface="+mn-lt"/>
              </a:rPr>
              <a:t>etwork-wide state management layer</a:t>
            </a:r>
            <a:r>
              <a:rPr lang="en-US" dirty="0" smtClean="0">
                <a:latin typeface="+mn-lt"/>
              </a:rPr>
              <a:t>: state of networks links, switches, services: a </a:t>
            </a:r>
            <a:r>
              <a:rPr lang="en-US" i="1" dirty="0" smtClean="0">
                <a:solidFill>
                  <a:srgbClr val="000099"/>
                </a:solidFill>
                <a:latin typeface="+mn-lt"/>
              </a:rPr>
              <a:t>distributed database</a:t>
            </a:r>
            <a:endParaRPr lang="en-US" i="1" dirty="0">
              <a:solidFill>
                <a:srgbClr val="000099"/>
              </a:solidFill>
              <a:latin typeface="+mn-lt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267459" y="1957325"/>
            <a:ext cx="2127384" cy="1094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CC0000"/>
                </a:solidFill>
                <a:latin typeface="+mn-lt"/>
              </a:rPr>
              <a:t>Interface layer to network control apps:  </a:t>
            </a:r>
            <a:r>
              <a:rPr lang="en-US" dirty="0" smtClean="0">
                <a:latin typeface="+mn-lt"/>
              </a:rPr>
              <a:t>abstractions API</a:t>
            </a:r>
            <a:endParaRPr lang="en-US" i="1" dirty="0">
              <a:latin typeface="+mn-lt"/>
            </a:endParaRPr>
          </a:p>
        </p:txBody>
      </p:sp>
      <p:sp>
        <p:nvSpPr>
          <p:cNvPr id="2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22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7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9" grpId="0"/>
      <p:bldP spid="2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Picture 1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58" y="854421"/>
            <a:ext cx="4626765" cy="242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6916"/>
            <a:ext cx="7772400" cy="1143000"/>
          </a:xfrm>
        </p:spPr>
        <p:txBody>
          <a:bodyPr/>
          <a:lstStyle/>
          <a:p>
            <a:r>
              <a:rPr lang="en-US" dirty="0" smtClean="0"/>
              <a:t>OpenFlow protocol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350693"/>
            <a:ext cx="3810000" cy="4648200"/>
          </a:xfrm>
        </p:spPr>
        <p:txBody>
          <a:bodyPr/>
          <a:lstStyle/>
          <a:p>
            <a:r>
              <a:rPr lang="en-US" dirty="0" smtClean="0"/>
              <a:t>operates between controller, switch</a:t>
            </a:r>
          </a:p>
          <a:p>
            <a:r>
              <a:rPr lang="en-US" dirty="0" smtClean="0"/>
              <a:t>TCP used to exchange messages</a:t>
            </a:r>
          </a:p>
          <a:p>
            <a:pPr lvl="1"/>
            <a:r>
              <a:rPr lang="en-US" dirty="0" smtClean="0"/>
              <a:t>optional encryption</a:t>
            </a:r>
          </a:p>
          <a:p>
            <a:r>
              <a:rPr lang="en-US" dirty="0" smtClean="0"/>
              <a:t>three classes of  OpenFlow messages:</a:t>
            </a:r>
          </a:p>
          <a:p>
            <a:pPr lvl="1"/>
            <a:r>
              <a:rPr lang="en-US" dirty="0" smtClean="0"/>
              <a:t>controller-to-switch</a:t>
            </a:r>
          </a:p>
          <a:p>
            <a:pPr lvl="1"/>
            <a:r>
              <a:rPr lang="en-US" dirty="0" smtClean="0"/>
              <a:t>asynchronous (switch to controller)</a:t>
            </a:r>
          </a:p>
          <a:p>
            <a:pPr lvl="1"/>
            <a:r>
              <a:rPr lang="en-US" dirty="0" smtClean="0"/>
              <a:t>symmetric (</a:t>
            </a:r>
            <a:r>
              <a:rPr lang="en-US" dirty="0" err="1" smtClean="0"/>
              <a:t>misc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460628" y="1850015"/>
            <a:ext cx="3899341" cy="4512949"/>
            <a:chOff x="460628" y="1850015"/>
            <a:chExt cx="3899341" cy="4512949"/>
          </a:xfrm>
        </p:grpSpPr>
        <p:sp>
          <p:nvSpPr>
            <p:cNvPr id="9" name="Cloud 8"/>
            <p:cNvSpPr/>
            <p:nvPr/>
          </p:nvSpPr>
          <p:spPr>
            <a:xfrm>
              <a:off x="460628" y="4246149"/>
              <a:ext cx="3899341" cy="2116815"/>
            </a:xfrm>
            <a:prstGeom prst="cloud">
              <a:avLst/>
            </a:prstGeom>
            <a:noFill/>
            <a:ln>
              <a:solidFill>
                <a:srgbClr val="000090"/>
              </a:solidFill>
            </a:ln>
            <a:effectLst>
              <a:outerShdw blurRad="40000" dist="23000" dir="5400000" rotWithShape="0">
                <a:schemeClr val="accent6">
                  <a:lumMod val="40000"/>
                  <a:lumOff val="60000"/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 flipV="1">
              <a:off x="1124345" y="4538650"/>
              <a:ext cx="1203228" cy="819025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124345" y="5357675"/>
              <a:ext cx="1203228" cy="642373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133750" y="4795599"/>
              <a:ext cx="319671" cy="1027797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404480" y="4715303"/>
              <a:ext cx="1307416" cy="337246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2596747" y="5245260"/>
              <a:ext cx="1115149" cy="754789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50"/>
            <p:cNvGrpSpPr>
              <a:grpSpLocks/>
            </p:cNvGrpSpPr>
            <p:nvPr/>
          </p:nvGrpSpPr>
          <p:grpSpPr bwMode="auto">
            <a:xfrm>
              <a:off x="1839080" y="2785594"/>
              <a:ext cx="549038" cy="880838"/>
              <a:chOff x="4140" y="429"/>
              <a:chExt cx="1425" cy="2396"/>
            </a:xfrm>
          </p:grpSpPr>
          <p:sp>
            <p:nvSpPr>
              <p:cNvPr id="227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9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32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33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34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35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37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5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38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39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5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40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1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4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8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249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0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389" name="Picture 4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4880" y="2227106"/>
              <a:ext cx="1629624" cy="431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0" name="TextBox 389"/>
            <p:cNvSpPr txBox="1"/>
            <p:nvPr/>
          </p:nvSpPr>
          <p:spPr>
            <a:xfrm>
              <a:off x="994856" y="1850015"/>
              <a:ext cx="24567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CC0000"/>
                  </a:solidFill>
                </a:rPr>
                <a:t>OpenFlow Controller</a:t>
              </a:r>
              <a:endParaRPr lang="en-US" sz="2000" dirty="0">
                <a:solidFill>
                  <a:srgbClr val="CC0000"/>
                </a:solidFill>
              </a:endParaRPr>
            </a:p>
          </p:txBody>
        </p:sp>
        <p:grpSp>
          <p:nvGrpSpPr>
            <p:cNvPr id="58" name="Group 327"/>
            <p:cNvGrpSpPr>
              <a:grpSpLocks/>
            </p:cNvGrpSpPr>
            <p:nvPr/>
          </p:nvGrpSpPr>
          <p:grpSpPr bwMode="auto">
            <a:xfrm>
              <a:off x="2112211" y="5801894"/>
              <a:ext cx="736172" cy="452961"/>
              <a:chOff x="1871277" y="1576300"/>
              <a:chExt cx="1128371" cy="437861"/>
            </a:xfrm>
          </p:grpSpPr>
          <p:sp>
            <p:nvSpPr>
              <p:cNvPr id="62" name="Oval 6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3" name="Rectangle 6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64" name="Oval 6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5" name="Freeform 6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66" name="Freeform 6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67" name="Freeform 6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68" name="Freeform 6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>
                <a:endCxn id="6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327"/>
            <p:cNvGrpSpPr>
              <a:grpSpLocks/>
            </p:cNvGrpSpPr>
            <p:nvPr/>
          </p:nvGrpSpPr>
          <p:grpSpPr bwMode="auto">
            <a:xfrm>
              <a:off x="3547978" y="4938294"/>
              <a:ext cx="736172" cy="452961"/>
              <a:chOff x="1871277" y="1576300"/>
              <a:chExt cx="1128371" cy="437861"/>
            </a:xfrm>
          </p:grpSpPr>
          <p:sp>
            <p:nvSpPr>
              <p:cNvPr id="72" name="Oval 7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3" name="Rectangle 7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4" name="Oval 7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5" name="Freeform 7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6" name="Freeform 7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7" name="Freeform 7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8" name="Freeform 7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79" name="Straight Connector 78"/>
              <p:cNvCxnSpPr>
                <a:endCxn id="7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327"/>
            <p:cNvGrpSpPr>
              <a:grpSpLocks/>
            </p:cNvGrpSpPr>
            <p:nvPr/>
          </p:nvGrpSpPr>
          <p:grpSpPr bwMode="auto">
            <a:xfrm>
              <a:off x="665747" y="5144167"/>
              <a:ext cx="736172" cy="452961"/>
              <a:chOff x="1871277" y="1576300"/>
              <a:chExt cx="1128371" cy="437861"/>
            </a:xfrm>
          </p:grpSpPr>
          <p:sp>
            <p:nvSpPr>
              <p:cNvPr id="82" name="Oval 8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5" name="Freeform 8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6" name="Freeform 8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7" name="Freeform 8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8" name="Freeform 8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89" name="Straight Connector 88"/>
              <p:cNvCxnSpPr>
                <a:endCxn id="8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327"/>
            <p:cNvGrpSpPr>
              <a:grpSpLocks/>
            </p:cNvGrpSpPr>
            <p:nvPr/>
          </p:nvGrpSpPr>
          <p:grpSpPr bwMode="auto">
            <a:xfrm>
              <a:off x="1753937" y="4440989"/>
              <a:ext cx="736172" cy="452961"/>
              <a:chOff x="1871277" y="1576300"/>
              <a:chExt cx="1128371" cy="437861"/>
            </a:xfrm>
          </p:grpSpPr>
          <p:sp>
            <p:nvSpPr>
              <p:cNvPr id="92" name="Oval 9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3" name="Rectangle 9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5" name="Oval 94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6" name="Freeform 95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7" name="Freeform 96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9" name="Freeform 98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00" name="Straight Connector 99"/>
              <p:cNvCxnSpPr>
                <a:endCxn id="95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5" name="Up-Down Arrow 394"/>
            <p:cNvSpPr/>
            <p:nvPr/>
          </p:nvSpPr>
          <p:spPr>
            <a:xfrm rot="21141209">
              <a:off x="2269785" y="3718179"/>
              <a:ext cx="191874" cy="2107535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2" name="Up-Down Arrow 391"/>
            <p:cNvSpPr/>
            <p:nvPr/>
          </p:nvSpPr>
          <p:spPr>
            <a:xfrm>
              <a:off x="1974262" y="3714785"/>
              <a:ext cx="191874" cy="823865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3" name="Up-Down Arrow 392"/>
            <p:cNvSpPr/>
            <p:nvPr/>
          </p:nvSpPr>
          <p:spPr>
            <a:xfrm rot="19054398">
              <a:off x="2872397" y="3460483"/>
              <a:ext cx="196901" cy="1849334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4" name="Up-Down Arrow 393"/>
            <p:cNvSpPr/>
            <p:nvPr/>
          </p:nvSpPr>
          <p:spPr>
            <a:xfrm rot="1537304" flipH="1">
              <a:off x="1441528" y="3583584"/>
              <a:ext cx="196901" cy="1720974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10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8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772" y="16916"/>
            <a:ext cx="8220982" cy="1143000"/>
          </a:xfrm>
        </p:spPr>
        <p:txBody>
          <a:bodyPr/>
          <a:lstStyle/>
          <a:p>
            <a:r>
              <a:rPr lang="en-US" sz="4000" dirty="0" smtClean="0"/>
              <a:t>OpenFlow: </a:t>
            </a:r>
            <a:r>
              <a:rPr lang="en-US" sz="3600" dirty="0" smtClean="0"/>
              <a:t>controller-to-switch messages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929" y="1527156"/>
            <a:ext cx="5124230" cy="4648200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>
                <a:solidFill>
                  <a:srgbClr val="000090"/>
                </a:solidFill>
              </a:rPr>
              <a:t>Key controller-to-switch messages</a:t>
            </a:r>
          </a:p>
          <a:p>
            <a:r>
              <a:rPr lang="en-US" i="1" dirty="0" smtClean="0">
                <a:solidFill>
                  <a:srgbClr val="CC0000"/>
                </a:solidFill>
              </a:rPr>
              <a:t>features: </a:t>
            </a:r>
            <a:r>
              <a:rPr lang="en-US" dirty="0" smtClean="0"/>
              <a:t>controller queries switch features, switch replies</a:t>
            </a:r>
          </a:p>
          <a:p>
            <a:r>
              <a:rPr lang="en-US" i="1" dirty="0" smtClean="0">
                <a:solidFill>
                  <a:srgbClr val="CC0000"/>
                </a:solidFill>
              </a:rPr>
              <a:t>configure: </a:t>
            </a:r>
            <a:r>
              <a:rPr lang="en-US" dirty="0"/>
              <a:t>controller </a:t>
            </a:r>
            <a:r>
              <a:rPr lang="en-US" dirty="0" smtClean="0"/>
              <a:t>queries/sets </a:t>
            </a:r>
            <a:r>
              <a:rPr lang="en-US" dirty="0"/>
              <a:t>switch </a:t>
            </a:r>
            <a:r>
              <a:rPr lang="en-US" dirty="0" smtClean="0"/>
              <a:t>configuration parameters</a:t>
            </a:r>
          </a:p>
          <a:p>
            <a:r>
              <a:rPr lang="en-US" i="1" dirty="0" smtClean="0">
                <a:solidFill>
                  <a:srgbClr val="CC0000"/>
                </a:solidFill>
              </a:rPr>
              <a:t>modify-state: </a:t>
            </a:r>
            <a:r>
              <a:rPr lang="en-US" dirty="0"/>
              <a:t>add, </a:t>
            </a:r>
            <a:r>
              <a:rPr lang="en-US" dirty="0" smtClean="0"/>
              <a:t>delete, modify flow entries </a:t>
            </a:r>
            <a:r>
              <a:rPr lang="en-US" dirty="0"/>
              <a:t>in the </a:t>
            </a:r>
            <a:r>
              <a:rPr lang="en-US" dirty="0" smtClean="0"/>
              <a:t>OpenFlow tables</a:t>
            </a:r>
          </a:p>
          <a:p>
            <a:r>
              <a:rPr lang="en-US" i="1" dirty="0" smtClean="0">
                <a:solidFill>
                  <a:srgbClr val="CC0000"/>
                </a:solidFill>
              </a:rPr>
              <a:t>packet-out: </a:t>
            </a:r>
            <a:r>
              <a:rPr lang="en-US" dirty="0" smtClean="0"/>
              <a:t>controller can send this packet out of specific switch port</a:t>
            </a:r>
          </a:p>
          <a:p>
            <a:endParaRPr lang="en-US" dirty="0"/>
          </a:p>
        </p:txBody>
      </p:sp>
      <p:pic>
        <p:nvPicPr>
          <p:cNvPr id="57" name="Picture 12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58" y="854421"/>
            <a:ext cx="7651267" cy="242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5841999" y="1871579"/>
            <a:ext cx="2822601" cy="3194648"/>
            <a:chOff x="5841999" y="1871579"/>
            <a:chExt cx="2822601" cy="3194648"/>
          </a:xfrm>
        </p:grpSpPr>
        <p:sp>
          <p:nvSpPr>
            <p:cNvPr id="56" name="Oval 55"/>
            <p:cNvSpPr/>
            <p:nvPr/>
          </p:nvSpPr>
          <p:spPr>
            <a:xfrm flipH="1">
              <a:off x="6510423" y="2429821"/>
              <a:ext cx="1078571" cy="751277"/>
            </a:xfrm>
            <a:prstGeom prst="ellipse">
              <a:avLst/>
            </a:prstGeom>
            <a:ln w="22225">
              <a:solidFill>
                <a:srgbClr val="CC0000"/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2" name="Group 71"/>
            <p:cNvGrpSpPr/>
            <p:nvPr/>
          </p:nvGrpSpPr>
          <p:grpSpPr>
            <a:xfrm>
              <a:off x="5841999" y="1871579"/>
              <a:ext cx="2822601" cy="3194648"/>
              <a:chOff x="460628" y="1850015"/>
              <a:chExt cx="3899341" cy="4512949"/>
            </a:xfrm>
          </p:grpSpPr>
          <p:sp>
            <p:nvSpPr>
              <p:cNvPr id="73" name="Cloud 72"/>
              <p:cNvSpPr/>
              <p:nvPr/>
            </p:nvSpPr>
            <p:spPr>
              <a:xfrm>
                <a:off x="460628" y="4246149"/>
                <a:ext cx="3899341" cy="2116815"/>
              </a:xfrm>
              <a:prstGeom prst="cloud">
                <a:avLst/>
              </a:prstGeom>
              <a:noFill/>
              <a:ln>
                <a:solidFill>
                  <a:srgbClr val="000090"/>
                </a:solidFill>
              </a:ln>
              <a:effectLst>
                <a:outerShdw blurRad="40000" dist="23000" dir="5400000" rotWithShape="0">
                  <a:schemeClr val="accent6">
                    <a:lumMod val="40000"/>
                    <a:lumOff val="60000"/>
                    <a:alpha val="35000"/>
                  </a:scheme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>
                  <a:defRPr/>
                </a:pPr>
                <a:endParaRPr lang="en-US"/>
              </a:p>
            </p:txBody>
          </p:sp>
          <p:cxnSp>
            <p:nvCxnSpPr>
              <p:cNvPr id="74" name="Straight Connector 73"/>
              <p:cNvCxnSpPr/>
              <p:nvPr/>
            </p:nvCxnSpPr>
            <p:spPr>
              <a:xfrm flipV="1">
                <a:off x="1124345" y="4538650"/>
                <a:ext cx="1203228" cy="8190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1124345" y="5357675"/>
                <a:ext cx="1203228" cy="64237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2133750" y="4795599"/>
                <a:ext cx="319671" cy="10277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2404480" y="4715303"/>
                <a:ext cx="1307416" cy="3372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flipV="1">
                <a:off x="2596747" y="5245260"/>
                <a:ext cx="1115149" cy="7547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9" name="Group 950"/>
              <p:cNvGrpSpPr>
                <a:grpSpLocks/>
              </p:cNvGrpSpPr>
              <p:nvPr/>
            </p:nvGrpSpPr>
            <p:grpSpPr bwMode="auto">
              <a:xfrm>
                <a:off x="1839080" y="2785594"/>
                <a:ext cx="549038" cy="880838"/>
                <a:chOff x="4140" y="429"/>
                <a:chExt cx="1425" cy="2396"/>
              </a:xfrm>
            </p:grpSpPr>
            <p:sp>
              <p:nvSpPr>
                <p:cNvPr id="127" name="Freeform 951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6 w 354"/>
                    <a:gd name="T1" fmla="*/ 0 h 2742"/>
                    <a:gd name="T2" fmla="*/ 30 w 354"/>
                    <a:gd name="T3" fmla="*/ 46 h 2742"/>
                    <a:gd name="T4" fmla="*/ 30 w 354"/>
                    <a:gd name="T5" fmla="*/ 354 h 2742"/>
                    <a:gd name="T6" fmla="*/ 0 w 354"/>
                    <a:gd name="T7" fmla="*/ 371 h 2742"/>
                    <a:gd name="T8" fmla="*/ 6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Rectangle 952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9" name="Freeform 953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18 w 211"/>
                    <a:gd name="T3" fmla="*/ 30 h 2537"/>
                    <a:gd name="T4" fmla="*/ 2 w 211"/>
                    <a:gd name="T5" fmla="*/ 338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Freeform 954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8 h 226"/>
                    <a:gd name="T4" fmla="*/ 29 w 328"/>
                    <a:gd name="T5" fmla="*/ 32 h 226"/>
                    <a:gd name="T6" fmla="*/ 0 w 328"/>
                    <a:gd name="T7" fmla="*/ 13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Rectangle 955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32" name="Group 956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57" name="AutoShape 957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8" name="AutoShape 958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3" name="Rectangle 959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34" name="Group 960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55" name="AutoShape 961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6" name="AutoShape 962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5" name="Rectangle 963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6" name="Rectangle 964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37" name="Group 965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53" name="AutoShape 966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" name="AutoShape 967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8" name="Freeform 968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7 h 226"/>
                    <a:gd name="T4" fmla="*/ 29 w 328"/>
                    <a:gd name="T5" fmla="*/ 30 h 226"/>
                    <a:gd name="T6" fmla="*/ 0 w 328"/>
                    <a:gd name="T7" fmla="*/ 1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39" name="Group 969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51" name="AutoShape 97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2" name="AutoShape 97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40" name="Rectangle 972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1" name="Freeform 973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26 w 296"/>
                    <a:gd name="T3" fmla="*/ 18 h 256"/>
                    <a:gd name="T4" fmla="*/ 26 w 296"/>
                    <a:gd name="T5" fmla="*/ 34 h 256"/>
                    <a:gd name="T6" fmla="*/ 0 w 296"/>
                    <a:gd name="T7" fmla="*/ 1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Freeform 974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27 w 304"/>
                    <a:gd name="T3" fmla="*/ 23 h 288"/>
                    <a:gd name="T4" fmla="*/ 25 w 304"/>
                    <a:gd name="T5" fmla="*/ 39 h 288"/>
                    <a:gd name="T6" fmla="*/ 2 w 304"/>
                    <a:gd name="T7" fmla="*/ 17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975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4" name="Freeform 976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5 h 240"/>
                    <a:gd name="T2" fmla="*/ 2 w 306"/>
                    <a:gd name="T3" fmla="*/ 33 h 240"/>
                    <a:gd name="T4" fmla="*/ 27 w 306"/>
                    <a:gd name="T5" fmla="*/ 15 h 240"/>
                    <a:gd name="T6" fmla="*/ 26 w 306"/>
                    <a:gd name="T7" fmla="*/ 0 h 240"/>
                    <a:gd name="T8" fmla="*/ 0 w 306"/>
                    <a:gd name="T9" fmla="*/ 15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AutoShape 977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" name="AutoShape 978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7" name="Oval 979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8" name="Oval 980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 sz="18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49" name="Oval 981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0" name="Rectangle 982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80" name="Picture 4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4880" y="2227106"/>
                <a:ext cx="1629624" cy="431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1" name="TextBox 80"/>
              <p:cNvSpPr txBox="1"/>
              <p:nvPr/>
            </p:nvSpPr>
            <p:spPr>
              <a:xfrm>
                <a:off x="994856" y="1850015"/>
                <a:ext cx="24567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CC0000"/>
                    </a:solidFill>
                  </a:rPr>
                  <a:t>OpenFlow Controller</a:t>
                </a:r>
                <a:endParaRPr lang="en-US" sz="2000" dirty="0">
                  <a:solidFill>
                    <a:srgbClr val="CC0000"/>
                  </a:solidFill>
                </a:endParaRPr>
              </a:p>
            </p:txBody>
          </p:sp>
          <p:grpSp>
            <p:nvGrpSpPr>
              <p:cNvPr id="82" name="Group 327"/>
              <p:cNvGrpSpPr>
                <a:grpSpLocks/>
              </p:cNvGrpSpPr>
              <p:nvPr/>
            </p:nvGrpSpPr>
            <p:grpSpPr bwMode="auto">
              <a:xfrm>
                <a:off x="2112211" y="5801894"/>
                <a:ext cx="736172" cy="452961"/>
                <a:chOff x="1871277" y="1576300"/>
                <a:chExt cx="1128371" cy="437861"/>
              </a:xfrm>
            </p:grpSpPr>
            <p:sp>
              <p:nvSpPr>
                <p:cNvPr id="118" name="Oval 117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9" name="Rectangle 118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0" name="Oval 119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21" name="Freeform 120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2" name="Freeform 121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3" name="Freeform 122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4" name="Freeform 123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25" name="Straight Connector 124"/>
                <p:cNvCxnSpPr>
                  <a:endCxn id="12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3" name="Group 327"/>
              <p:cNvGrpSpPr>
                <a:grpSpLocks/>
              </p:cNvGrpSpPr>
              <p:nvPr/>
            </p:nvGrpSpPr>
            <p:grpSpPr bwMode="auto">
              <a:xfrm>
                <a:off x="3547978" y="4938294"/>
                <a:ext cx="736172" cy="452961"/>
                <a:chOff x="1871277" y="1576300"/>
                <a:chExt cx="1128371" cy="437861"/>
              </a:xfrm>
            </p:grpSpPr>
            <p:sp>
              <p:nvSpPr>
                <p:cNvPr id="109" name="Oval 10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0" name="Rectangle 10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1" name="Oval 11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2" name="Freeform 11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" name="Freeform 11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4" name="Freeform 11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5" name="Freeform 11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6" name="Straight Connector 115"/>
                <p:cNvCxnSpPr>
                  <a:endCxn id="11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Group 327"/>
              <p:cNvGrpSpPr>
                <a:grpSpLocks/>
              </p:cNvGrpSpPr>
              <p:nvPr/>
            </p:nvGrpSpPr>
            <p:grpSpPr bwMode="auto">
              <a:xfrm>
                <a:off x="665747" y="5144167"/>
                <a:ext cx="736172" cy="452961"/>
                <a:chOff x="1871277" y="1576300"/>
                <a:chExt cx="1128371" cy="437861"/>
              </a:xfrm>
            </p:grpSpPr>
            <p:sp>
              <p:nvSpPr>
                <p:cNvPr id="100" name="Oval 99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01" name="Rectangle 100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2" name="Oval 101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03" name="Freeform 102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4" name="Freeform 103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5" name="Freeform 104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6" name="Freeform 105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07" name="Straight Connector 106"/>
                <p:cNvCxnSpPr>
                  <a:endCxn id="10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327"/>
              <p:cNvGrpSpPr>
                <a:grpSpLocks/>
              </p:cNvGrpSpPr>
              <p:nvPr/>
            </p:nvGrpSpPr>
            <p:grpSpPr bwMode="auto">
              <a:xfrm>
                <a:off x="1753937" y="4440989"/>
                <a:ext cx="736172" cy="452961"/>
                <a:chOff x="1871277" y="1576300"/>
                <a:chExt cx="1128371" cy="437861"/>
              </a:xfrm>
            </p:grpSpPr>
            <p:sp>
              <p:nvSpPr>
                <p:cNvPr id="90" name="Oval 89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1" name="Rectangle 90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2" name="Oval 91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3" name="Freeform 92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5" name="Freeform 94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6" name="Freeform 95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7" name="Freeform 96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98" name="Straight Connector 97"/>
                <p:cNvCxnSpPr>
                  <a:endCxn id="9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6" name="Up-Down Arrow 85"/>
              <p:cNvSpPr/>
              <p:nvPr/>
            </p:nvSpPr>
            <p:spPr>
              <a:xfrm rot="21141209">
                <a:off x="2269785" y="3718179"/>
                <a:ext cx="191874" cy="2107535"/>
              </a:xfrm>
              <a:prstGeom prst="upDownArrow">
                <a:avLst/>
              </a:prstGeom>
              <a:solidFill>
                <a:srgbClr val="CC0000">
                  <a:alpha val="78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Up-Down Arrow 86"/>
              <p:cNvSpPr/>
              <p:nvPr/>
            </p:nvSpPr>
            <p:spPr>
              <a:xfrm>
                <a:off x="1974262" y="3714785"/>
                <a:ext cx="191874" cy="823865"/>
              </a:xfrm>
              <a:prstGeom prst="upDownArrow">
                <a:avLst/>
              </a:prstGeom>
              <a:solidFill>
                <a:srgbClr val="CC0000">
                  <a:alpha val="78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Up-Down Arrow 87"/>
              <p:cNvSpPr/>
              <p:nvPr/>
            </p:nvSpPr>
            <p:spPr>
              <a:xfrm rot="19054398">
                <a:off x="2872397" y="3460483"/>
                <a:ext cx="196901" cy="1849334"/>
              </a:xfrm>
              <a:prstGeom prst="upDownArrow">
                <a:avLst/>
              </a:prstGeom>
              <a:solidFill>
                <a:srgbClr val="CC0000">
                  <a:alpha val="78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Up-Down Arrow 88"/>
              <p:cNvSpPr/>
              <p:nvPr/>
            </p:nvSpPr>
            <p:spPr>
              <a:xfrm rot="1537304" flipH="1">
                <a:off x="1441528" y="3583584"/>
                <a:ext cx="196901" cy="1720974"/>
              </a:xfrm>
              <a:prstGeom prst="upDownArrow">
                <a:avLst/>
              </a:prstGeom>
              <a:solidFill>
                <a:srgbClr val="CC0000">
                  <a:alpha val="78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5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16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94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12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74" y="795640"/>
            <a:ext cx="8154854" cy="193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46" y="16916"/>
            <a:ext cx="8220982" cy="1143000"/>
          </a:xfrm>
        </p:spPr>
        <p:txBody>
          <a:bodyPr/>
          <a:lstStyle/>
          <a:p>
            <a:r>
              <a:rPr lang="en-US" sz="4000" dirty="0" smtClean="0"/>
              <a:t>OpenFlow: </a:t>
            </a:r>
            <a:r>
              <a:rPr lang="en-US" sz="3600" dirty="0" smtClean="0"/>
              <a:t>switch-to-controller messages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928" y="1299900"/>
            <a:ext cx="5732959" cy="4648200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>
                <a:solidFill>
                  <a:srgbClr val="000090"/>
                </a:solidFill>
              </a:rPr>
              <a:t>Key switch-to-controller messages</a:t>
            </a:r>
          </a:p>
          <a:p>
            <a:r>
              <a:rPr lang="en-US" i="1" dirty="0" smtClean="0">
                <a:solidFill>
                  <a:srgbClr val="CC0000"/>
                </a:solidFill>
              </a:rPr>
              <a:t>packet-in: </a:t>
            </a:r>
            <a:r>
              <a:rPr lang="en-US" dirty="0" smtClean="0"/>
              <a:t>transfer packet (and its control) to controller</a:t>
            </a:r>
            <a:r>
              <a:rPr lang="en-US" smtClean="0"/>
              <a:t>. </a:t>
            </a:r>
            <a:r>
              <a:rPr lang="en-US" smtClean="0"/>
              <a:t>See </a:t>
            </a:r>
            <a:r>
              <a:rPr lang="en-US" dirty="0" smtClean="0"/>
              <a:t>packet-out message from controller</a:t>
            </a:r>
          </a:p>
          <a:p>
            <a:r>
              <a:rPr lang="en-US" i="1" dirty="0" smtClean="0">
                <a:solidFill>
                  <a:srgbClr val="CC0000"/>
                </a:solidFill>
              </a:rPr>
              <a:t>flow-removed: </a:t>
            </a:r>
            <a:r>
              <a:rPr lang="en-US" dirty="0" smtClean="0"/>
              <a:t>flow table entry deleted at switch</a:t>
            </a:r>
          </a:p>
          <a:p>
            <a:r>
              <a:rPr lang="en-US" i="1" dirty="0" smtClean="0">
                <a:solidFill>
                  <a:srgbClr val="CC0000"/>
                </a:solidFill>
              </a:rPr>
              <a:t>port status: </a:t>
            </a:r>
            <a:r>
              <a:rPr lang="en-US" dirty="0" smtClean="0"/>
              <a:t>inform controller of a change on a port.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79538" y="5108719"/>
            <a:ext cx="7876252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90"/>
                </a:solidFill>
                <a:latin typeface="+mn-lt"/>
              </a:rPr>
              <a:t>Fortunately, network operators don’t “program” switches by creating/sending OpenFlow messages directly.  Instead use higher-level abstraction at controller</a:t>
            </a:r>
            <a:endParaRPr lang="en-US" sz="2400" dirty="0">
              <a:solidFill>
                <a:srgbClr val="000090"/>
              </a:solidFill>
              <a:latin typeface="+mn-lt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5841999" y="1644323"/>
            <a:ext cx="2822601" cy="3194648"/>
            <a:chOff x="5841999" y="1871579"/>
            <a:chExt cx="2822601" cy="3194648"/>
          </a:xfrm>
        </p:grpSpPr>
        <p:sp>
          <p:nvSpPr>
            <p:cNvPr id="59" name="Oval 58"/>
            <p:cNvSpPr/>
            <p:nvPr/>
          </p:nvSpPr>
          <p:spPr>
            <a:xfrm flipH="1">
              <a:off x="6510423" y="2429821"/>
              <a:ext cx="1078571" cy="751277"/>
            </a:xfrm>
            <a:prstGeom prst="ellipse">
              <a:avLst/>
            </a:prstGeom>
            <a:ln w="22225">
              <a:solidFill>
                <a:srgbClr val="CC0000"/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5841999" y="1871579"/>
              <a:ext cx="2822601" cy="3194648"/>
              <a:chOff x="460628" y="1850015"/>
              <a:chExt cx="3899341" cy="4512949"/>
            </a:xfrm>
          </p:grpSpPr>
          <p:sp>
            <p:nvSpPr>
              <p:cNvPr id="62" name="Cloud 61"/>
              <p:cNvSpPr/>
              <p:nvPr/>
            </p:nvSpPr>
            <p:spPr>
              <a:xfrm>
                <a:off x="460628" y="4246149"/>
                <a:ext cx="3899341" cy="2116815"/>
              </a:xfrm>
              <a:prstGeom prst="cloud">
                <a:avLst/>
              </a:prstGeom>
              <a:noFill/>
              <a:ln>
                <a:solidFill>
                  <a:srgbClr val="000090"/>
                </a:solidFill>
              </a:ln>
              <a:effectLst>
                <a:outerShdw blurRad="40000" dist="23000" dir="5400000" rotWithShape="0">
                  <a:schemeClr val="accent6">
                    <a:lumMod val="40000"/>
                    <a:lumOff val="60000"/>
                    <a:alpha val="35000"/>
                  </a:scheme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>
                  <a:defRPr/>
                </a:pPr>
                <a:endParaRPr lang="en-US"/>
              </a:p>
            </p:txBody>
          </p:sp>
          <p:cxnSp>
            <p:nvCxnSpPr>
              <p:cNvPr id="63" name="Straight Connector 62"/>
              <p:cNvCxnSpPr/>
              <p:nvPr/>
            </p:nvCxnSpPr>
            <p:spPr>
              <a:xfrm flipV="1">
                <a:off x="1124345" y="4538650"/>
                <a:ext cx="1203228" cy="8190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1124345" y="5357675"/>
                <a:ext cx="1203228" cy="64237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2133750" y="4795599"/>
                <a:ext cx="319671" cy="10277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404480" y="4715303"/>
                <a:ext cx="1307416" cy="3372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V="1">
                <a:off x="2596747" y="5245260"/>
                <a:ext cx="1115149" cy="7547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" name="Group 950"/>
              <p:cNvGrpSpPr>
                <a:grpSpLocks/>
              </p:cNvGrpSpPr>
              <p:nvPr/>
            </p:nvGrpSpPr>
            <p:grpSpPr bwMode="auto">
              <a:xfrm>
                <a:off x="1839080" y="2785594"/>
                <a:ext cx="549038" cy="880838"/>
                <a:chOff x="4140" y="429"/>
                <a:chExt cx="1425" cy="2396"/>
              </a:xfrm>
            </p:grpSpPr>
            <p:sp>
              <p:nvSpPr>
                <p:cNvPr id="116" name="Freeform 951"/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6 w 354"/>
                    <a:gd name="T1" fmla="*/ 0 h 2742"/>
                    <a:gd name="T2" fmla="*/ 30 w 354"/>
                    <a:gd name="T3" fmla="*/ 46 h 2742"/>
                    <a:gd name="T4" fmla="*/ 30 w 354"/>
                    <a:gd name="T5" fmla="*/ 354 h 2742"/>
                    <a:gd name="T6" fmla="*/ 0 w 354"/>
                    <a:gd name="T7" fmla="*/ 371 h 2742"/>
                    <a:gd name="T8" fmla="*/ 6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Rectangle 952"/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" name="Freeform 953"/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18 w 211"/>
                    <a:gd name="T3" fmla="*/ 30 h 2537"/>
                    <a:gd name="T4" fmla="*/ 2 w 211"/>
                    <a:gd name="T5" fmla="*/ 338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Freeform 954"/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8 h 226"/>
                    <a:gd name="T4" fmla="*/ 29 w 328"/>
                    <a:gd name="T5" fmla="*/ 32 h 226"/>
                    <a:gd name="T6" fmla="*/ 0 w 328"/>
                    <a:gd name="T7" fmla="*/ 13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Rectangle 955"/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21" name="Group 956"/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46" name="AutoShape 957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7" name="AutoShape 958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2" name="Rectangle 959"/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23" name="Group 960"/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44" name="AutoShape 961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5" name="AutoShape 962"/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4" name="Rectangle 963"/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" name="Rectangle 964"/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26" name="Group 965"/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42" name="AutoShape 966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" name="AutoShape 967"/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7" name="Freeform 968"/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29 w 328"/>
                    <a:gd name="T3" fmla="*/ 17 h 226"/>
                    <a:gd name="T4" fmla="*/ 29 w 328"/>
                    <a:gd name="T5" fmla="*/ 30 h 226"/>
                    <a:gd name="T6" fmla="*/ 0 w 328"/>
                    <a:gd name="T7" fmla="*/ 12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28" name="Group 969"/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40" name="AutoShape 970"/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1" name="AutoShape 971"/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9" name="Rectangle 972"/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" name="Freeform 973"/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26 w 296"/>
                    <a:gd name="T3" fmla="*/ 18 h 256"/>
                    <a:gd name="T4" fmla="*/ 26 w 296"/>
                    <a:gd name="T5" fmla="*/ 34 h 256"/>
                    <a:gd name="T6" fmla="*/ 0 w 296"/>
                    <a:gd name="T7" fmla="*/ 12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Freeform 974"/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27 w 304"/>
                    <a:gd name="T3" fmla="*/ 23 h 288"/>
                    <a:gd name="T4" fmla="*/ 25 w 304"/>
                    <a:gd name="T5" fmla="*/ 39 h 288"/>
                    <a:gd name="T6" fmla="*/ 2 w 304"/>
                    <a:gd name="T7" fmla="*/ 17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975"/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3" name="Freeform 976"/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5 h 240"/>
                    <a:gd name="T2" fmla="*/ 2 w 306"/>
                    <a:gd name="T3" fmla="*/ 33 h 240"/>
                    <a:gd name="T4" fmla="*/ 27 w 306"/>
                    <a:gd name="T5" fmla="*/ 15 h 240"/>
                    <a:gd name="T6" fmla="*/ 26 w 306"/>
                    <a:gd name="T7" fmla="*/ 0 h 240"/>
                    <a:gd name="T8" fmla="*/ 0 w 306"/>
                    <a:gd name="T9" fmla="*/ 15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AutoShape 977"/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" name="AutoShape 978"/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6" name="Oval 979"/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7" name="Oval 980"/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eaLnBrk="1" hangingPunct="1"/>
                  <a:endParaRPr lang="en-US" sz="18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38" name="Oval 981"/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" name="Rectangle 982"/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69" name="Picture 4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4880" y="2227106"/>
                <a:ext cx="1629624" cy="431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" name="TextBox 69"/>
              <p:cNvSpPr txBox="1"/>
              <p:nvPr/>
            </p:nvSpPr>
            <p:spPr>
              <a:xfrm>
                <a:off x="994856" y="1850015"/>
                <a:ext cx="24567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CC0000"/>
                    </a:solidFill>
                  </a:rPr>
                  <a:t>OpenFlow Controller</a:t>
                </a:r>
                <a:endParaRPr lang="en-US" sz="2000" dirty="0">
                  <a:solidFill>
                    <a:srgbClr val="CC0000"/>
                  </a:solidFill>
                </a:endParaRPr>
              </a:p>
            </p:txBody>
          </p:sp>
          <p:grpSp>
            <p:nvGrpSpPr>
              <p:cNvPr id="71" name="Group 327"/>
              <p:cNvGrpSpPr>
                <a:grpSpLocks/>
              </p:cNvGrpSpPr>
              <p:nvPr/>
            </p:nvGrpSpPr>
            <p:grpSpPr bwMode="auto">
              <a:xfrm>
                <a:off x="2112211" y="5801894"/>
                <a:ext cx="736172" cy="452961"/>
                <a:chOff x="1871277" y="1576300"/>
                <a:chExt cx="1128371" cy="437861"/>
              </a:xfrm>
            </p:grpSpPr>
            <p:sp>
              <p:nvSpPr>
                <p:cNvPr id="107" name="Oval 106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08" name="Rectangle 107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9" name="Oval 108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0" name="Freeform 109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1" name="Freeform 110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2" name="Freeform 111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13" name="Freeform 112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14" name="Straight Connector 113"/>
                <p:cNvCxnSpPr>
                  <a:endCxn id="10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Group 327"/>
              <p:cNvGrpSpPr>
                <a:grpSpLocks/>
              </p:cNvGrpSpPr>
              <p:nvPr/>
            </p:nvGrpSpPr>
            <p:grpSpPr bwMode="auto">
              <a:xfrm>
                <a:off x="3547978" y="4938294"/>
                <a:ext cx="736172" cy="452961"/>
                <a:chOff x="1871277" y="1576300"/>
                <a:chExt cx="1128371" cy="437861"/>
              </a:xfrm>
            </p:grpSpPr>
            <p:sp>
              <p:nvSpPr>
                <p:cNvPr id="98" name="Oval 97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9" name="Rectangle 98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0" name="Oval 99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01" name="Freeform 100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2" name="Freeform 101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3" name="Freeform 102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04" name="Freeform 103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05" name="Straight Connector 104"/>
                <p:cNvCxnSpPr>
                  <a:endCxn id="10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" name="Group 327"/>
              <p:cNvGrpSpPr>
                <a:grpSpLocks/>
              </p:cNvGrpSpPr>
              <p:nvPr/>
            </p:nvGrpSpPr>
            <p:grpSpPr bwMode="auto">
              <a:xfrm>
                <a:off x="665747" y="5144167"/>
                <a:ext cx="736172" cy="452961"/>
                <a:chOff x="1871277" y="1576300"/>
                <a:chExt cx="1128371" cy="437861"/>
              </a:xfrm>
            </p:grpSpPr>
            <p:sp>
              <p:nvSpPr>
                <p:cNvPr id="88" name="Oval 87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9" name="Rectangle 88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0" name="Oval 89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1" name="Freeform 90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2" name="Freeform 91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3" name="Freeform 92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5" name="Freeform 9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96" name="Straight Connector 95"/>
                <p:cNvCxnSpPr>
                  <a:endCxn id="9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Group 327"/>
              <p:cNvGrpSpPr>
                <a:grpSpLocks/>
              </p:cNvGrpSpPr>
              <p:nvPr/>
            </p:nvGrpSpPr>
            <p:grpSpPr bwMode="auto">
              <a:xfrm>
                <a:off x="1753937" y="4440989"/>
                <a:ext cx="736172" cy="452961"/>
                <a:chOff x="1871277" y="1576300"/>
                <a:chExt cx="1128371" cy="437861"/>
              </a:xfrm>
            </p:grpSpPr>
            <p:sp>
              <p:nvSpPr>
                <p:cNvPr id="79" name="Oval 7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0" name="Rectangle 7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1" name="Oval 8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2" name="Freeform 8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3" name="Freeform 8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4" name="Freeform 8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5" name="Freeform 8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86" name="Straight Connector 85"/>
                <p:cNvCxnSpPr>
                  <a:endCxn id="8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Up-Down Arrow 74"/>
              <p:cNvSpPr/>
              <p:nvPr/>
            </p:nvSpPr>
            <p:spPr>
              <a:xfrm rot="21141209">
                <a:off x="2269785" y="3718179"/>
                <a:ext cx="191874" cy="2107535"/>
              </a:xfrm>
              <a:prstGeom prst="upDownArrow">
                <a:avLst/>
              </a:prstGeom>
              <a:solidFill>
                <a:srgbClr val="CC0000">
                  <a:alpha val="78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Up-Down Arrow 75"/>
              <p:cNvSpPr/>
              <p:nvPr/>
            </p:nvSpPr>
            <p:spPr>
              <a:xfrm>
                <a:off x="1974262" y="3714785"/>
                <a:ext cx="191874" cy="823865"/>
              </a:xfrm>
              <a:prstGeom prst="upDownArrow">
                <a:avLst/>
              </a:prstGeom>
              <a:solidFill>
                <a:srgbClr val="CC0000">
                  <a:alpha val="78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Up-Down Arrow 76"/>
              <p:cNvSpPr/>
              <p:nvPr/>
            </p:nvSpPr>
            <p:spPr>
              <a:xfrm rot="19054398">
                <a:off x="2872397" y="3460483"/>
                <a:ext cx="196901" cy="1849334"/>
              </a:xfrm>
              <a:prstGeom prst="upDownArrow">
                <a:avLst/>
              </a:prstGeom>
              <a:solidFill>
                <a:srgbClr val="CC0000">
                  <a:alpha val="78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Up-Down Arrow 77"/>
              <p:cNvSpPr/>
              <p:nvPr/>
            </p:nvSpPr>
            <p:spPr>
              <a:xfrm rot="1537304" flipH="1">
                <a:off x="1441528" y="3583584"/>
                <a:ext cx="196901" cy="1720974"/>
              </a:xfrm>
              <a:prstGeom prst="upDownArrow">
                <a:avLst/>
              </a:prstGeom>
              <a:solidFill>
                <a:srgbClr val="CC0000">
                  <a:alpha val="78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4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18</a:t>
            </a:fld>
            <a:endParaRPr lang="en-US" sz="1200" dirty="0">
              <a:latin typeface="Tahoma" charset="0"/>
            </a:endParaRPr>
          </a:p>
        </p:txBody>
      </p:sp>
      <p:sp>
        <p:nvSpPr>
          <p:cNvPr id="14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52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ounded Rectangle 374"/>
          <p:cNvSpPr/>
          <p:nvPr/>
        </p:nvSpPr>
        <p:spPr>
          <a:xfrm>
            <a:off x="441168" y="2793983"/>
            <a:ext cx="4211052" cy="10624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0" name="Rounded Rectangle 379"/>
          <p:cNvSpPr/>
          <p:nvPr/>
        </p:nvSpPr>
        <p:spPr>
          <a:xfrm>
            <a:off x="467904" y="3990524"/>
            <a:ext cx="4184316" cy="54554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86" name="Straight Connector 385"/>
          <p:cNvCxnSpPr/>
          <p:nvPr/>
        </p:nvCxnSpPr>
        <p:spPr bwMode="auto">
          <a:xfrm>
            <a:off x="508006" y="4638847"/>
            <a:ext cx="410410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1" name="Group 400"/>
          <p:cNvGrpSpPr/>
          <p:nvPr/>
        </p:nvGrpSpPr>
        <p:grpSpPr>
          <a:xfrm>
            <a:off x="590136" y="3368823"/>
            <a:ext cx="1244650" cy="411995"/>
            <a:chOff x="3128876" y="457817"/>
            <a:chExt cx="1432326" cy="459826"/>
          </a:xfrm>
        </p:grpSpPr>
        <p:sp>
          <p:nvSpPr>
            <p:cNvPr id="402" name="Rounded Rectangle 40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Link-state info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04" name="Group 403"/>
          <p:cNvGrpSpPr/>
          <p:nvPr/>
        </p:nvGrpSpPr>
        <p:grpSpPr>
          <a:xfrm>
            <a:off x="3459852" y="3382192"/>
            <a:ext cx="1165638" cy="398626"/>
            <a:chOff x="3034354" y="534843"/>
            <a:chExt cx="1525489" cy="382800"/>
          </a:xfrm>
        </p:grpSpPr>
        <p:sp>
          <p:nvSpPr>
            <p:cNvPr id="405" name="Rounded Rectangle 404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6" name="TextBox 405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switch info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07" name="Group 406"/>
          <p:cNvGrpSpPr/>
          <p:nvPr/>
        </p:nvGrpSpPr>
        <p:grpSpPr>
          <a:xfrm>
            <a:off x="1982268" y="3368823"/>
            <a:ext cx="960359" cy="411995"/>
            <a:chOff x="3128876" y="457817"/>
            <a:chExt cx="1432326" cy="459826"/>
          </a:xfrm>
        </p:grpSpPr>
        <p:sp>
          <p:nvSpPr>
            <p:cNvPr id="408" name="Rounded Rectangle 407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host info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10" name="Group 409"/>
          <p:cNvGrpSpPr/>
          <p:nvPr/>
        </p:nvGrpSpPr>
        <p:grpSpPr>
          <a:xfrm>
            <a:off x="521932" y="2874191"/>
            <a:ext cx="889706" cy="382826"/>
            <a:chOff x="3128876" y="457817"/>
            <a:chExt cx="1432326" cy="459826"/>
          </a:xfrm>
        </p:grpSpPr>
        <p:sp>
          <p:nvSpPr>
            <p:cNvPr id="411" name="Rounded Rectangle 41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statistics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13" name="Group 412"/>
          <p:cNvGrpSpPr/>
          <p:nvPr/>
        </p:nvGrpSpPr>
        <p:grpSpPr>
          <a:xfrm>
            <a:off x="3249716" y="2860821"/>
            <a:ext cx="1032905" cy="404965"/>
            <a:chOff x="3099264" y="457817"/>
            <a:chExt cx="1540525" cy="459826"/>
          </a:xfrm>
        </p:grpSpPr>
        <p:sp>
          <p:nvSpPr>
            <p:cNvPr id="414" name="Rounded Rectangle 413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flow tables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sp>
        <p:nvSpPr>
          <p:cNvPr id="416" name="TextBox 415"/>
          <p:cNvSpPr txBox="1"/>
          <p:nvPr/>
        </p:nvSpPr>
        <p:spPr>
          <a:xfrm>
            <a:off x="2458723" y="2496236"/>
            <a:ext cx="570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7" name="TextBox 416"/>
          <p:cNvSpPr txBox="1"/>
          <p:nvPr/>
        </p:nvSpPr>
        <p:spPr>
          <a:xfrm>
            <a:off x="3005244" y="3133033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18" name="Group 417"/>
          <p:cNvGrpSpPr/>
          <p:nvPr/>
        </p:nvGrpSpPr>
        <p:grpSpPr>
          <a:xfrm>
            <a:off x="1076595" y="4121691"/>
            <a:ext cx="1257452" cy="286824"/>
            <a:chOff x="3128876" y="457775"/>
            <a:chExt cx="1432326" cy="459868"/>
          </a:xfrm>
        </p:grpSpPr>
        <p:sp>
          <p:nvSpPr>
            <p:cNvPr id="419" name="Rounded Rectangle 41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OpenFlow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2945827" y="4126474"/>
            <a:ext cx="1244650" cy="307410"/>
            <a:chOff x="3128876" y="457817"/>
            <a:chExt cx="1432326" cy="459826"/>
          </a:xfrm>
        </p:grpSpPr>
        <p:sp>
          <p:nvSpPr>
            <p:cNvPr id="422" name="Rounded Rectangle 42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SNMP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sp>
        <p:nvSpPr>
          <p:cNvPr id="424" name="TextBox 423"/>
          <p:cNvSpPr txBox="1"/>
          <p:nvPr/>
        </p:nvSpPr>
        <p:spPr>
          <a:xfrm>
            <a:off x="2328584" y="3796493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6" name="Rounded Rectangle 145"/>
          <p:cNvSpPr/>
          <p:nvPr/>
        </p:nvSpPr>
        <p:spPr>
          <a:xfrm>
            <a:off x="441167" y="2098823"/>
            <a:ext cx="4211053" cy="5747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425" name="Group 424"/>
          <p:cNvGrpSpPr/>
          <p:nvPr/>
        </p:nvGrpSpPr>
        <p:grpSpPr>
          <a:xfrm>
            <a:off x="535393" y="2131433"/>
            <a:ext cx="1033900" cy="504412"/>
            <a:chOff x="3103238" y="432317"/>
            <a:chExt cx="1461287" cy="504412"/>
          </a:xfrm>
        </p:grpSpPr>
        <p:sp>
          <p:nvSpPr>
            <p:cNvPr id="426" name="Rounded Rectangle 42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network graph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28" name="Group 427"/>
          <p:cNvGrpSpPr/>
          <p:nvPr/>
        </p:nvGrpSpPr>
        <p:grpSpPr>
          <a:xfrm>
            <a:off x="3508898" y="2156720"/>
            <a:ext cx="1033900" cy="459826"/>
            <a:chOff x="3103238" y="457817"/>
            <a:chExt cx="1461287" cy="459826"/>
          </a:xfrm>
        </p:grpSpPr>
        <p:sp>
          <p:nvSpPr>
            <p:cNvPr id="429" name="Rounded Rectangle 42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intent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31" name="Group 430"/>
          <p:cNvGrpSpPr/>
          <p:nvPr/>
        </p:nvGrpSpPr>
        <p:grpSpPr>
          <a:xfrm>
            <a:off x="1952059" y="2129889"/>
            <a:ext cx="1033900" cy="504412"/>
            <a:chOff x="3103238" y="432317"/>
            <a:chExt cx="1461287" cy="504412"/>
          </a:xfrm>
        </p:grpSpPr>
        <p:sp>
          <p:nvSpPr>
            <p:cNvPr id="432" name="Rounded Rectangle 43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err="1" smtClean="0">
                  <a:latin typeface="Arial"/>
                  <a:cs typeface="Arial"/>
                </a:rPr>
                <a:t>RESTful</a:t>
              </a:r>
              <a:endParaRPr lang="en-US" sz="1400" dirty="0" smtClean="0">
                <a:latin typeface="Arial"/>
                <a:cs typeface="Arial"/>
              </a:endParaRPr>
            </a:p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API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sp>
        <p:nvSpPr>
          <p:cNvPr id="434" name="TextBox 433"/>
          <p:cNvSpPr txBox="1"/>
          <p:nvPr/>
        </p:nvSpPr>
        <p:spPr>
          <a:xfrm>
            <a:off x="3007181" y="1957959"/>
            <a:ext cx="6279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4" name="Straight Connector 153"/>
          <p:cNvCxnSpPr/>
          <p:nvPr/>
        </p:nvCxnSpPr>
        <p:spPr bwMode="auto">
          <a:xfrm flipV="1">
            <a:off x="521378" y="1925056"/>
            <a:ext cx="4117474" cy="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7" name="Freeform 2"/>
          <p:cNvSpPr>
            <a:spLocks/>
          </p:cNvSpPr>
          <p:nvPr/>
        </p:nvSpPr>
        <p:spPr bwMode="auto">
          <a:xfrm>
            <a:off x="509074" y="5069969"/>
            <a:ext cx="4057421" cy="1393030"/>
          </a:xfrm>
          <a:custGeom>
            <a:avLst/>
            <a:gdLst>
              <a:gd name="T0" fmla="*/ 6 w 1794"/>
              <a:gd name="T1" fmla="*/ 483 h 933"/>
              <a:gd name="T2" fmla="*/ 108 w 1794"/>
              <a:gd name="T3" fmla="*/ 125 h 933"/>
              <a:gd name="T4" fmla="*/ 559 w 1794"/>
              <a:gd name="T5" fmla="*/ 100 h 933"/>
              <a:gd name="T6" fmla="*/ 1128 w 1794"/>
              <a:gd name="T7" fmla="*/ 29 h 933"/>
              <a:gd name="T8" fmla="*/ 1716 w 1794"/>
              <a:gd name="T9" fmla="*/ 275 h 933"/>
              <a:gd name="T10" fmla="*/ 1596 w 1794"/>
              <a:gd name="T11" fmla="*/ 827 h 933"/>
              <a:gd name="T12" fmla="*/ 1380 w 1794"/>
              <a:gd name="T13" fmla="*/ 911 h 933"/>
              <a:gd name="T14" fmla="*/ 840 w 1794"/>
              <a:gd name="T15" fmla="*/ 929 h 933"/>
              <a:gd name="T16" fmla="*/ 414 w 1794"/>
              <a:gd name="T17" fmla="*/ 911 h 933"/>
              <a:gd name="T18" fmla="*/ 143 w 1794"/>
              <a:gd name="T19" fmla="*/ 832 h 933"/>
              <a:gd name="T20" fmla="*/ 6 w 1794"/>
              <a:gd name="T21" fmla="*/ 483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166" name="Straight Connector 165"/>
          <p:cNvCxnSpPr/>
          <p:nvPr/>
        </p:nvCxnSpPr>
        <p:spPr bwMode="auto">
          <a:xfrm flipV="1">
            <a:off x="1592143" y="5453530"/>
            <a:ext cx="615520" cy="282224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7" name="Straight Connector 166"/>
          <p:cNvCxnSpPr/>
          <p:nvPr/>
        </p:nvCxnSpPr>
        <p:spPr bwMode="auto">
          <a:xfrm>
            <a:off x="1581927" y="5759398"/>
            <a:ext cx="1651340" cy="138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8" name="Straight Connector 167"/>
          <p:cNvCxnSpPr>
            <a:endCxn id="353" idx="1"/>
          </p:cNvCxnSpPr>
          <p:nvPr/>
        </p:nvCxnSpPr>
        <p:spPr bwMode="auto">
          <a:xfrm>
            <a:off x="1592143" y="5816064"/>
            <a:ext cx="318002" cy="3875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Straight Connector 168"/>
          <p:cNvCxnSpPr>
            <a:stCxn id="339" idx="3"/>
          </p:cNvCxnSpPr>
          <p:nvPr/>
        </p:nvCxnSpPr>
        <p:spPr bwMode="auto">
          <a:xfrm>
            <a:off x="2893995" y="5449380"/>
            <a:ext cx="333142" cy="421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Straight Connector 169"/>
          <p:cNvCxnSpPr/>
          <p:nvPr/>
        </p:nvCxnSpPr>
        <p:spPr bwMode="auto">
          <a:xfrm flipV="1">
            <a:off x="2371572" y="5956693"/>
            <a:ext cx="861695" cy="2754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4" name="Freeform 223"/>
          <p:cNvSpPr/>
          <p:nvPr/>
        </p:nvSpPr>
        <p:spPr>
          <a:xfrm>
            <a:off x="1449442" y="1774754"/>
            <a:ext cx="710887" cy="3730652"/>
          </a:xfrm>
          <a:custGeom>
            <a:avLst/>
            <a:gdLst>
              <a:gd name="connsiteX0" fmla="*/ 3902322 w 3902322"/>
              <a:gd name="connsiteY0" fmla="*/ 0 h 449814"/>
              <a:gd name="connsiteX1" fmla="*/ 3452563 w 3902322"/>
              <a:gd name="connsiteY1" fmla="*/ 449814 h 449814"/>
              <a:gd name="connsiteX2" fmla="*/ 343934 w 3902322"/>
              <a:gd name="connsiteY2" fmla="*/ 423354 h 449814"/>
              <a:gd name="connsiteX3" fmla="*/ 0 w 3902322"/>
              <a:gd name="connsiteY3" fmla="*/ 39690 h 449814"/>
              <a:gd name="connsiteX0" fmla="*/ 3902322 w 3902322"/>
              <a:gd name="connsiteY0" fmla="*/ 0 h 423354"/>
              <a:gd name="connsiteX1" fmla="*/ 3565324 w 3902322"/>
              <a:gd name="connsiteY1" fmla="*/ 402338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02322 w 3902322"/>
              <a:gd name="connsiteY0" fmla="*/ 0 h 423354"/>
              <a:gd name="connsiteX1" fmla="*/ 3600933 w 3902322"/>
              <a:gd name="connsiteY1" fmla="*/ 384535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43865 w 3943865"/>
              <a:gd name="connsiteY0" fmla="*/ 1851 h 383664"/>
              <a:gd name="connsiteX1" fmla="*/ 3600933 w 3943865"/>
              <a:gd name="connsiteY1" fmla="*/ 344845 h 383664"/>
              <a:gd name="connsiteX2" fmla="*/ 343934 w 3943865"/>
              <a:gd name="connsiteY2" fmla="*/ 383664 h 383664"/>
              <a:gd name="connsiteX3" fmla="*/ 0 w 3943865"/>
              <a:gd name="connsiteY3" fmla="*/ 0 h 383664"/>
              <a:gd name="connsiteX0" fmla="*/ 4015082 w 4015082"/>
              <a:gd name="connsiteY0" fmla="*/ 29941 h 383664"/>
              <a:gd name="connsiteX1" fmla="*/ 3600933 w 4015082"/>
              <a:gd name="connsiteY1" fmla="*/ 344845 h 383664"/>
              <a:gd name="connsiteX2" fmla="*/ 343934 w 4015082"/>
              <a:gd name="connsiteY2" fmla="*/ 383664 h 383664"/>
              <a:gd name="connsiteX3" fmla="*/ 0 w 4015082"/>
              <a:gd name="connsiteY3" fmla="*/ 0 h 383664"/>
              <a:gd name="connsiteX0" fmla="*/ 4187190 w 4187190"/>
              <a:gd name="connsiteY0" fmla="*/ 15896 h 369619"/>
              <a:gd name="connsiteX1" fmla="*/ 3773041 w 4187190"/>
              <a:gd name="connsiteY1" fmla="*/ 330800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4187190 w 4187190"/>
              <a:gd name="connsiteY0" fmla="*/ 15896 h 369619"/>
              <a:gd name="connsiteX1" fmla="*/ 3749302 w 4187190"/>
              <a:gd name="connsiteY1" fmla="*/ 349527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0 w 6265284"/>
              <a:gd name="connsiteY0" fmla="*/ 0 h 1092877"/>
              <a:gd name="connsiteX1" fmla="*/ 6265284 w 6265284"/>
              <a:gd name="connsiteY1" fmla="*/ 1072785 h 1092877"/>
              <a:gd name="connsiteX2" fmla="*/ 3032024 w 6265284"/>
              <a:gd name="connsiteY2" fmla="*/ 1092877 h 1092877"/>
              <a:gd name="connsiteX3" fmla="*/ 2515982 w 6265284"/>
              <a:gd name="connsiteY3" fmla="*/ 723258 h 1092877"/>
              <a:gd name="connsiteX0" fmla="*/ 0 w 3032024"/>
              <a:gd name="connsiteY0" fmla="*/ 1193950 h 2286827"/>
              <a:gd name="connsiteX1" fmla="*/ 1581391 w 3032024"/>
              <a:gd name="connsiteY1" fmla="*/ 0 h 2286827"/>
              <a:gd name="connsiteX2" fmla="*/ 3032024 w 3032024"/>
              <a:gd name="connsiteY2" fmla="*/ 2286827 h 2286827"/>
              <a:gd name="connsiteX3" fmla="*/ 2515982 w 3032024"/>
              <a:gd name="connsiteY3" fmla="*/ 1917208 h 2286827"/>
              <a:gd name="connsiteX0" fmla="*/ 0 w 2515982"/>
              <a:gd name="connsiteY0" fmla="*/ 1896586 h 2619844"/>
              <a:gd name="connsiteX1" fmla="*/ 1581391 w 2515982"/>
              <a:gd name="connsiteY1" fmla="*/ 702636 h 2619844"/>
              <a:gd name="connsiteX2" fmla="*/ 1241736 w 2515982"/>
              <a:gd name="connsiteY2" fmla="*/ 0 h 2619844"/>
              <a:gd name="connsiteX3" fmla="*/ 2515982 w 2515982"/>
              <a:gd name="connsiteY3" fmla="*/ 2619844 h 2619844"/>
              <a:gd name="connsiteX0" fmla="*/ 0 w 1581391"/>
              <a:gd name="connsiteY0" fmla="*/ 2890379 h 2890379"/>
              <a:gd name="connsiteX1" fmla="*/ 1581391 w 1581391"/>
              <a:gd name="connsiteY1" fmla="*/ 1696429 h 2890379"/>
              <a:gd name="connsiteX2" fmla="*/ 1241736 w 1581391"/>
              <a:gd name="connsiteY2" fmla="*/ 993793 h 2890379"/>
              <a:gd name="connsiteX3" fmla="*/ 1579203 w 1581391"/>
              <a:gd name="connsiteY3" fmla="*/ 0 h 2890379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29193 w 1581391"/>
              <a:gd name="connsiteY3" fmla="*/ 0 h 2973211"/>
              <a:gd name="connsiteX0" fmla="*/ 0 w 1581391"/>
              <a:gd name="connsiteY0" fmla="*/ 3276927 h 3276927"/>
              <a:gd name="connsiteX1" fmla="*/ 1581391 w 1581391"/>
              <a:gd name="connsiteY1" fmla="*/ 2082977 h 3276927"/>
              <a:gd name="connsiteX2" fmla="*/ 1241736 w 1581391"/>
              <a:gd name="connsiteY2" fmla="*/ 1380341 h 3276927"/>
              <a:gd name="connsiteX3" fmla="*/ 1249193 w 1581391"/>
              <a:gd name="connsiteY3" fmla="*/ 0 h 3276927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34193 w 1581391"/>
              <a:gd name="connsiteY3" fmla="*/ 0 h 2973211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241736 w 1581391"/>
              <a:gd name="connsiteY2" fmla="*/ 1112124 h 3008710"/>
              <a:gd name="connsiteX3" fmla="*/ 1239193 w 1581391"/>
              <a:gd name="connsiteY3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320792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747705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66390"/>
              <a:gd name="connsiteY0" fmla="*/ 3008710 h 3008710"/>
              <a:gd name="connsiteX1" fmla="*/ 1566390 w 1566390"/>
              <a:gd name="connsiteY1" fmla="*/ 1747705 h 3008710"/>
              <a:gd name="connsiteX2" fmla="*/ 1565798 w 1566390"/>
              <a:gd name="connsiteY2" fmla="*/ 1270181 h 3008710"/>
              <a:gd name="connsiteX3" fmla="*/ 1241736 w 1566390"/>
              <a:gd name="connsiteY3" fmla="*/ 1112124 h 3008710"/>
              <a:gd name="connsiteX4" fmla="*/ 1239193 w 1566390"/>
              <a:gd name="connsiteY4" fmla="*/ 0 h 3008710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1765803 w 1766395"/>
              <a:gd name="connsiteY2" fmla="*/ 1270181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725529"/>
              <a:gd name="connsiteY0" fmla="*/ 2874009 h 2874009"/>
              <a:gd name="connsiteX1" fmla="*/ 725529 w 725529"/>
              <a:gd name="connsiteY1" fmla="*/ 1747705 h 2874009"/>
              <a:gd name="connsiteX2" fmla="*/ 724937 w 725529"/>
              <a:gd name="connsiteY2" fmla="*/ 1270181 h 2874009"/>
              <a:gd name="connsiteX3" fmla="*/ 400875 w 725529"/>
              <a:gd name="connsiteY3" fmla="*/ 1112124 h 2874009"/>
              <a:gd name="connsiteX4" fmla="*/ 398332 w 725529"/>
              <a:gd name="connsiteY4" fmla="*/ 0 h 2874009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400875 w 725529"/>
              <a:gd name="connsiteY3" fmla="*/ 1092349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42121 w 725529"/>
              <a:gd name="connsiteY3" fmla="*/ 1079165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8699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8699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33766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0344 w 725529"/>
              <a:gd name="connsiteY3" fmla="*/ 1118716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175278 w 725529"/>
              <a:gd name="connsiteY3" fmla="*/ 1105533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75543 w 725529"/>
              <a:gd name="connsiteY3" fmla="*/ 1112125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75543 w 725529"/>
              <a:gd name="connsiteY3" fmla="*/ 1112125 h 2854234"/>
              <a:gd name="connsiteX4" fmla="*/ 264644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92254 w 725529"/>
              <a:gd name="connsiteY3" fmla="*/ 1125309 h 2854234"/>
              <a:gd name="connsiteX4" fmla="*/ 264644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2889 w 725529"/>
              <a:gd name="connsiteY3" fmla="*/ 1125309 h 2854234"/>
              <a:gd name="connsiteX4" fmla="*/ 264644 w 725529"/>
              <a:gd name="connsiteY4" fmla="*/ 0 h 2854234"/>
              <a:gd name="connsiteX0" fmla="*/ 43202 w 768731"/>
              <a:gd name="connsiteY0" fmla="*/ 2975683 h 2975683"/>
              <a:gd name="connsiteX1" fmla="*/ 768731 w 768731"/>
              <a:gd name="connsiteY1" fmla="*/ 1849379 h 2975683"/>
              <a:gd name="connsiteX2" fmla="*/ 768139 w 768731"/>
              <a:gd name="connsiteY2" fmla="*/ 1371855 h 2975683"/>
              <a:gd name="connsiteX3" fmla="*/ 66091 w 768731"/>
              <a:gd name="connsiteY3" fmla="*/ 1246758 h 2975683"/>
              <a:gd name="connsiteX4" fmla="*/ 0 w 768731"/>
              <a:gd name="connsiteY4" fmla="*/ 0 h 2975683"/>
              <a:gd name="connsiteX0" fmla="*/ 54072 w 779601"/>
              <a:gd name="connsiteY0" fmla="*/ 2975683 h 2975683"/>
              <a:gd name="connsiteX1" fmla="*/ 779601 w 779601"/>
              <a:gd name="connsiteY1" fmla="*/ 1849379 h 2975683"/>
              <a:gd name="connsiteX2" fmla="*/ 779009 w 779601"/>
              <a:gd name="connsiteY2" fmla="*/ 1371855 h 2975683"/>
              <a:gd name="connsiteX3" fmla="*/ 0 w 779601"/>
              <a:gd name="connsiteY3" fmla="*/ 1277120 h 2975683"/>
              <a:gd name="connsiteX4" fmla="*/ 10870 w 779601"/>
              <a:gd name="connsiteY4" fmla="*/ 0 h 2975683"/>
              <a:gd name="connsiteX0" fmla="*/ 62442 w 787971"/>
              <a:gd name="connsiteY0" fmla="*/ 2763147 h 2763147"/>
              <a:gd name="connsiteX1" fmla="*/ 787971 w 787971"/>
              <a:gd name="connsiteY1" fmla="*/ 1636843 h 2763147"/>
              <a:gd name="connsiteX2" fmla="*/ 787379 w 787971"/>
              <a:gd name="connsiteY2" fmla="*/ 1159319 h 2763147"/>
              <a:gd name="connsiteX3" fmla="*/ 8370 w 787971"/>
              <a:gd name="connsiteY3" fmla="*/ 1064584 h 2763147"/>
              <a:gd name="connsiteX4" fmla="*/ 0 w 787971"/>
              <a:gd name="connsiteY4" fmla="*/ 0 h 2763147"/>
              <a:gd name="connsiteX0" fmla="*/ 54072 w 779601"/>
              <a:gd name="connsiteY0" fmla="*/ 2808691 h 2808691"/>
              <a:gd name="connsiteX1" fmla="*/ 779601 w 779601"/>
              <a:gd name="connsiteY1" fmla="*/ 1682387 h 2808691"/>
              <a:gd name="connsiteX2" fmla="*/ 779009 w 779601"/>
              <a:gd name="connsiteY2" fmla="*/ 1204863 h 2808691"/>
              <a:gd name="connsiteX3" fmla="*/ 0 w 779601"/>
              <a:gd name="connsiteY3" fmla="*/ 1110128 h 2808691"/>
              <a:gd name="connsiteX4" fmla="*/ 30111 w 779601"/>
              <a:gd name="connsiteY4" fmla="*/ 0 h 2808691"/>
              <a:gd name="connsiteX0" fmla="*/ 62830 w 788359"/>
              <a:gd name="connsiteY0" fmla="*/ 2896348 h 2896348"/>
              <a:gd name="connsiteX1" fmla="*/ 788359 w 788359"/>
              <a:gd name="connsiteY1" fmla="*/ 1770044 h 2896348"/>
              <a:gd name="connsiteX2" fmla="*/ 787767 w 788359"/>
              <a:gd name="connsiteY2" fmla="*/ 1292520 h 2896348"/>
              <a:gd name="connsiteX3" fmla="*/ 8758 w 788359"/>
              <a:gd name="connsiteY3" fmla="*/ 1197785 h 2896348"/>
              <a:gd name="connsiteX4" fmla="*/ 38869 w 788359"/>
              <a:gd name="connsiteY4" fmla="*/ 87657 h 2896348"/>
              <a:gd name="connsiteX5" fmla="*/ 0 w 788359"/>
              <a:gd name="connsiteY5" fmla="*/ 69436 h 2896348"/>
              <a:gd name="connsiteX0" fmla="*/ 54072 w 818640"/>
              <a:gd name="connsiteY0" fmla="*/ 3100173 h 3100173"/>
              <a:gd name="connsiteX1" fmla="*/ 779601 w 818640"/>
              <a:gd name="connsiteY1" fmla="*/ 1973869 h 3100173"/>
              <a:gd name="connsiteX2" fmla="*/ 779009 w 818640"/>
              <a:gd name="connsiteY2" fmla="*/ 1496345 h 3100173"/>
              <a:gd name="connsiteX3" fmla="*/ 0 w 818640"/>
              <a:gd name="connsiteY3" fmla="*/ 1401610 h 3100173"/>
              <a:gd name="connsiteX4" fmla="*/ 30111 w 818640"/>
              <a:gd name="connsiteY4" fmla="*/ 291482 h 3100173"/>
              <a:gd name="connsiteX5" fmla="*/ 818579 w 818640"/>
              <a:gd name="connsiteY5" fmla="*/ 0 h 3100173"/>
              <a:gd name="connsiteX0" fmla="*/ 54072 w 818579"/>
              <a:gd name="connsiteY0" fmla="*/ 3100173 h 3100173"/>
              <a:gd name="connsiteX1" fmla="*/ 779601 w 818579"/>
              <a:gd name="connsiteY1" fmla="*/ 1973869 h 3100173"/>
              <a:gd name="connsiteX2" fmla="*/ 779009 w 818579"/>
              <a:gd name="connsiteY2" fmla="*/ 1496345 h 3100173"/>
              <a:gd name="connsiteX3" fmla="*/ 0 w 818579"/>
              <a:gd name="connsiteY3" fmla="*/ 1401610 h 3100173"/>
              <a:gd name="connsiteX4" fmla="*/ 30111 w 818579"/>
              <a:gd name="connsiteY4" fmla="*/ 291482 h 3100173"/>
              <a:gd name="connsiteX5" fmla="*/ 510732 w 818579"/>
              <a:gd name="connsiteY5" fmla="*/ 60725 h 3100173"/>
              <a:gd name="connsiteX6" fmla="*/ 818579 w 818579"/>
              <a:gd name="connsiteY6" fmla="*/ 0 h 3100173"/>
              <a:gd name="connsiteX0" fmla="*/ 54072 w 779601"/>
              <a:gd name="connsiteY0" fmla="*/ 3510065 h 3510065"/>
              <a:gd name="connsiteX1" fmla="*/ 779601 w 779601"/>
              <a:gd name="connsiteY1" fmla="*/ 2383761 h 3510065"/>
              <a:gd name="connsiteX2" fmla="*/ 779009 w 779601"/>
              <a:gd name="connsiteY2" fmla="*/ 1906237 h 3510065"/>
              <a:gd name="connsiteX3" fmla="*/ 0 w 779601"/>
              <a:gd name="connsiteY3" fmla="*/ 1811502 h 3510065"/>
              <a:gd name="connsiteX4" fmla="*/ 30111 w 779601"/>
              <a:gd name="connsiteY4" fmla="*/ 701374 h 3510065"/>
              <a:gd name="connsiteX5" fmla="*/ 510732 w 779601"/>
              <a:gd name="connsiteY5" fmla="*/ 470617 h 3510065"/>
              <a:gd name="connsiteX6" fmla="*/ 760858 w 779601"/>
              <a:gd name="connsiteY6" fmla="*/ 0 h 3510065"/>
              <a:gd name="connsiteX0" fmla="*/ 54072 w 809403"/>
              <a:gd name="connsiteY0" fmla="*/ 3510065 h 3510065"/>
              <a:gd name="connsiteX1" fmla="*/ 779601 w 809403"/>
              <a:gd name="connsiteY1" fmla="*/ 2383761 h 3510065"/>
              <a:gd name="connsiteX2" fmla="*/ 779009 w 809403"/>
              <a:gd name="connsiteY2" fmla="*/ 1906237 h 3510065"/>
              <a:gd name="connsiteX3" fmla="*/ 0 w 809403"/>
              <a:gd name="connsiteY3" fmla="*/ 1811502 h 3510065"/>
              <a:gd name="connsiteX4" fmla="*/ 30111 w 809403"/>
              <a:gd name="connsiteY4" fmla="*/ 701374 h 3510065"/>
              <a:gd name="connsiteX5" fmla="*/ 760857 w 809403"/>
              <a:gd name="connsiteY5" fmla="*/ 440254 h 3510065"/>
              <a:gd name="connsiteX6" fmla="*/ 760858 w 809403"/>
              <a:gd name="connsiteY6" fmla="*/ 0 h 3510065"/>
              <a:gd name="connsiteX0" fmla="*/ 54072 w 809403"/>
              <a:gd name="connsiteY0" fmla="*/ 3510065 h 3510065"/>
              <a:gd name="connsiteX1" fmla="*/ 779601 w 809403"/>
              <a:gd name="connsiteY1" fmla="*/ 2383761 h 3510065"/>
              <a:gd name="connsiteX2" fmla="*/ 779009 w 809403"/>
              <a:gd name="connsiteY2" fmla="*/ 1906237 h 3510065"/>
              <a:gd name="connsiteX3" fmla="*/ 0 w 809403"/>
              <a:gd name="connsiteY3" fmla="*/ 1811502 h 3510065"/>
              <a:gd name="connsiteX4" fmla="*/ 30111 w 809403"/>
              <a:gd name="connsiteY4" fmla="*/ 701374 h 3510065"/>
              <a:gd name="connsiteX5" fmla="*/ 760857 w 809403"/>
              <a:gd name="connsiteY5" fmla="*/ 440254 h 3510065"/>
              <a:gd name="connsiteX6" fmla="*/ 760858 w 809403"/>
              <a:gd name="connsiteY6" fmla="*/ 0 h 3510065"/>
              <a:gd name="connsiteX0" fmla="*/ 54072 w 779601"/>
              <a:gd name="connsiteY0" fmla="*/ 3510065 h 3510065"/>
              <a:gd name="connsiteX1" fmla="*/ 779601 w 779601"/>
              <a:gd name="connsiteY1" fmla="*/ 2383761 h 3510065"/>
              <a:gd name="connsiteX2" fmla="*/ 779009 w 779601"/>
              <a:gd name="connsiteY2" fmla="*/ 1906237 h 3510065"/>
              <a:gd name="connsiteX3" fmla="*/ 0 w 779601"/>
              <a:gd name="connsiteY3" fmla="*/ 1811502 h 3510065"/>
              <a:gd name="connsiteX4" fmla="*/ 30111 w 779601"/>
              <a:gd name="connsiteY4" fmla="*/ 701374 h 3510065"/>
              <a:gd name="connsiteX5" fmla="*/ 760857 w 779601"/>
              <a:gd name="connsiteY5" fmla="*/ 440254 h 3510065"/>
              <a:gd name="connsiteX6" fmla="*/ 760858 w 779601"/>
              <a:gd name="connsiteY6" fmla="*/ 0 h 3510065"/>
              <a:gd name="connsiteX0" fmla="*/ 54072 w 779601"/>
              <a:gd name="connsiteY0" fmla="*/ 3579994 h 3579994"/>
              <a:gd name="connsiteX1" fmla="*/ 779601 w 779601"/>
              <a:gd name="connsiteY1" fmla="*/ 2453690 h 3579994"/>
              <a:gd name="connsiteX2" fmla="*/ 779009 w 779601"/>
              <a:gd name="connsiteY2" fmla="*/ 1976166 h 3579994"/>
              <a:gd name="connsiteX3" fmla="*/ 0 w 779601"/>
              <a:gd name="connsiteY3" fmla="*/ 1881431 h 3579994"/>
              <a:gd name="connsiteX4" fmla="*/ 30111 w 779601"/>
              <a:gd name="connsiteY4" fmla="*/ 771303 h 3579994"/>
              <a:gd name="connsiteX5" fmla="*/ 760857 w 779601"/>
              <a:gd name="connsiteY5" fmla="*/ 510183 h 3579994"/>
              <a:gd name="connsiteX6" fmla="*/ 760858 w 779601"/>
              <a:gd name="connsiteY6" fmla="*/ 69929 h 3579994"/>
              <a:gd name="connsiteX0" fmla="*/ 54072 w 779601"/>
              <a:gd name="connsiteY0" fmla="*/ 3707204 h 3707204"/>
              <a:gd name="connsiteX1" fmla="*/ 779601 w 779601"/>
              <a:gd name="connsiteY1" fmla="*/ 2580900 h 3707204"/>
              <a:gd name="connsiteX2" fmla="*/ 779009 w 779601"/>
              <a:gd name="connsiteY2" fmla="*/ 2103376 h 3707204"/>
              <a:gd name="connsiteX3" fmla="*/ 0 w 779601"/>
              <a:gd name="connsiteY3" fmla="*/ 2008641 h 3707204"/>
              <a:gd name="connsiteX4" fmla="*/ 30111 w 779601"/>
              <a:gd name="connsiteY4" fmla="*/ 898513 h 3707204"/>
              <a:gd name="connsiteX5" fmla="*/ 760857 w 779601"/>
              <a:gd name="connsiteY5" fmla="*/ 637393 h 3707204"/>
              <a:gd name="connsiteX6" fmla="*/ 739550 w 779601"/>
              <a:gd name="connsiteY6" fmla="*/ 59300 h 3707204"/>
              <a:gd name="connsiteX0" fmla="*/ 54072 w 779601"/>
              <a:gd name="connsiteY0" fmla="*/ 3647904 h 3647904"/>
              <a:gd name="connsiteX1" fmla="*/ 779601 w 779601"/>
              <a:gd name="connsiteY1" fmla="*/ 2521600 h 3647904"/>
              <a:gd name="connsiteX2" fmla="*/ 779009 w 779601"/>
              <a:gd name="connsiteY2" fmla="*/ 2044076 h 3647904"/>
              <a:gd name="connsiteX3" fmla="*/ 0 w 779601"/>
              <a:gd name="connsiteY3" fmla="*/ 1949341 h 3647904"/>
              <a:gd name="connsiteX4" fmla="*/ 30111 w 779601"/>
              <a:gd name="connsiteY4" fmla="*/ 839213 h 3647904"/>
              <a:gd name="connsiteX5" fmla="*/ 760857 w 779601"/>
              <a:gd name="connsiteY5" fmla="*/ 578093 h 3647904"/>
              <a:gd name="connsiteX6" fmla="*/ 739550 w 779601"/>
              <a:gd name="connsiteY6" fmla="*/ 0 h 3647904"/>
              <a:gd name="connsiteX0" fmla="*/ 54072 w 779601"/>
              <a:gd name="connsiteY0" fmla="*/ 3557132 h 3557132"/>
              <a:gd name="connsiteX1" fmla="*/ 779601 w 779601"/>
              <a:gd name="connsiteY1" fmla="*/ 2430828 h 3557132"/>
              <a:gd name="connsiteX2" fmla="*/ 779009 w 779601"/>
              <a:gd name="connsiteY2" fmla="*/ 1953304 h 3557132"/>
              <a:gd name="connsiteX3" fmla="*/ 0 w 779601"/>
              <a:gd name="connsiteY3" fmla="*/ 1858569 h 3557132"/>
              <a:gd name="connsiteX4" fmla="*/ 30111 w 779601"/>
              <a:gd name="connsiteY4" fmla="*/ 748441 h 3557132"/>
              <a:gd name="connsiteX5" fmla="*/ 760857 w 779601"/>
              <a:gd name="connsiteY5" fmla="*/ 487321 h 3557132"/>
              <a:gd name="connsiteX6" fmla="*/ 739550 w 779601"/>
              <a:gd name="connsiteY6" fmla="*/ 0 h 3557132"/>
              <a:gd name="connsiteX0" fmla="*/ 54072 w 779601"/>
              <a:gd name="connsiteY0" fmla="*/ 3557132 h 3557132"/>
              <a:gd name="connsiteX1" fmla="*/ 779601 w 779601"/>
              <a:gd name="connsiteY1" fmla="*/ 2430828 h 3557132"/>
              <a:gd name="connsiteX2" fmla="*/ 779009 w 779601"/>
              <a:gd name="connsiteY2" fmla="*/ 1953304 h 3557132"/>
              <a:gd name="connsiteX3" fmla="*/ 0 w 779601"/>
              <a:gd name="connsiteY3" fmla="*/ 1858569 h 3557132"/>
              <a:gd name="connsiteX4" fmla="*/ 30111 w 779601"/>
              <a:gd name="connsiteY4" fmla="*/ 748441 h 3557132"/>
              <a:gd name="connsiteX5" fmla="*/ 760857 w 779601"/>
              <a:gd name="connsiteY5" fmla="*/ 487321 h 3557132"/>
              <a:gd name="connsiteX6" fmla="*/ 739550 w 779601"/>
              <a:gd name="connsiteY6" fmla="*/ 0 h 3557132"/>
              <a:gd name="connsiteX0" fmla="*/ 54072 w 779601"/>
              <a:gd name="connsiteY0" fmla="*/ 3580665 h 3580665"/>
              <a:gd name="connsiteX1" fmla="*/ 779601 w 779601"/>
              <a:gd name="connsiteY1" fmla="*/ 2454361 h 3580665"/>
              <a:gd name="connsiteX2" fmla="*/ 779009 w 779601"/>
              <a:gd name="connsiteY2" fmla="*/ 1976837 h 3580665"/>
              <a:gd name="connsiteX3" fmla="*/ 0 w 779601"/>
              <a:gd name="connsiteY3" fmla="*/ 1882102 h 3580665"/>
              <a:gd name="connsiteX4" fmla="*/ 30111 w 779601"/>
              <a:gd name="connsiteY4" fmla="*/ 771974 h 3580665"/>
              <a:gd name="connsiteX5" fmla="*/ 760857 w 779601"/>
              <a:gd name="connsiteY5" fmla="*/ 510854 h 3580665"/>
              <a:gd name="connsiteX6" fmla="*/ 735288 w 779601"/>
              <a:gd name="connsiteY6" fmla="*/ 0 h 3580665"/>
              <a:gd name="connsiteX0" fmla="*/ 54072 w 779601"/>
              <a:gd name="connsiteY0" fmla="*/ 3580665 h 3580665"/>
              <a:gd name="connsiteX1" fmla="*/ 779601 w 779601"/>
              <a:gd name="connsiteY1" fmla="*/ 2454361 h 3580665"/>
              <a:gd name="connsiteX2" fmla="*/ 779009 w 779601"/>
              <a:gd name="connsiteY2" fmla="*/ 1976837 h 3580665"/>
              <a:gd name="connsiteX3" fmla="*/ 0 w 779601"/>
              <a:gd name="connsiteY3" fmla="*/ 1882102 h 3580665"/>
              <a:gd name="connsiteX4" fmla="*/ 30111 w 779601"/>
              <a:gd name="connsiteY4" fmla="*/ 771974 h 3580665"/>
              <a:gd name="connsiteX5" fmla="*/ 760857 w 779601"/>
              <a:gd name="connsiteY5" fmla="*/ 510854 h 3580665"/>
              <a:gd name="connsiteX6" fmla="*/ 735288 w 779601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67907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12505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12505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2337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38076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38076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872488"/>
              <a:gd name="connsiteY0" fmla="*/ 3580665 h 3580665"/>
              <a:gd name="connsiteX1" fmla="*/ 775061 w 872488"/>
              <a:gd name="connsiteY1" fmla="*/ 2454361 h 3580665"/>
              <a:gd name="connsiteX2" fmla="*/ 872488 w 872488"/>
              <a:gd name="connsiteY2" fmla="*/ 2054161 h 3580665"/>
              <a:gd name="connsiteX3" fmla="*/ 38076 w 872488"/>
              <a:gd name="connsiteY3" fmla="*/ 1835036 h 3580665"/>
              <a:gd name="connsiteX4" fmla="*/ 0 w 872488"/>
              <a:gd name="connsiteY4" fmla="*/ 775336 h 3580665"/>
              <a:gd name="connsiteX5" fmla="*/ 756317 w 872488"/>
              <a:gd name="connsiteY5" fmla="*/ 510854 h 3580665"/>
              <a:gd name="connsiteX6" fmla="*/ 730748 w 872488"/>
              <a:gd name="connsiteY6" fmla="*/ 0 h 3580665"/>
              <a:gd name="connsiteX0" fmla="*/ 49532 w 873080"/>
              <a:gd name="connsiteY0" fmla="*/ 3580665 h 3580665"/>
              <a:gd name="connsiteX1" fmla="*/ 873080 w 873080"/>
              <a:gd name="connsiteY1" fmla="*/ 2414018 h 3580665"/>
              <a:gd name="connsiteX2" fmla="*/ 872488 w 873080"/>
              <a:gd name="connsiteY2" fmla="*/ 2054161 h 3580665"/>
              <a:gd name="connsiteX3" fmla="*/ 38076 w 873080"/>
              <a:gd name="connsiteY3" fmla="*/ 1835036 h 3580665"/>
              <a:gd name="connsiteX4" fmla="*/ 0 w 873080"/>
              <a:gd name="connsiteY4" fmla="*/ 775336 h 3580665"/>
              <a:gd name="connsiteX5" fmla="*/ 756317 w 873080"/>
              <a:gd name="connsiteY5" fmla="*/ 510854 h 3580665"/>
              <a:gd name="connsiteX6" fmla="*/ 730748 w 873080"/>
              <a:gd name="connsiteY6" fmla="*/ 0 h 3580665"/>
              <a:gd name="connsiteX0" fmla="*/ 49532 w 873080"/>
              <a:gd name="connsiteY0" fmla="*/ 3580665 h 3580665"/>
              <a:gd name="connsiteX1" fmla="*/ 873080 w 873080"/>
              <a:gd name="connsiteY1" fmla="*/ 2414018 h 3580665"/>
              <a:gd name="connsiteX2" fmla="*/ 872488 w 873080"/>
              <a:gd name="connsiteY2" fmla="*/ 2054161 h 3580665"/>
              <a:gd name="connsiteX3" fmla="*/ 38076 w 873080"/>
              <a:gd name="connsiteY3" fmla="*/ 1835036 h 3580665"/>
              <a:gd name="connsiteX4" fmla="*/ 0 w 873080"/>
              <a:gd name="connsiteY4" fmla="*/ 775336 h 3580665"/>
              <a:gd name="connsiteX5" fmla="*/ 730748 w 873080"/>
              <a:gd name="connsiteY5" fmla="*/ 0 h 3580665"/>
              <a:gd name="connsiteX0" fmla="*/ 12167 w 835715"/>
              <a:gd name="connsiteY0" fmla="*/ 3580665 h 3580665"/>
              <a:gd name="connsiteX1" fmla="*/ 835715 w 835715"/>
              <a:gd name="connsiteY1" fmla="*/ 2414018 h 3580665"/>
              <a:gd name="connsiteX2" fmla="*/ 835123 w 835715"/>
              <a:gd name="connsiteY2" fmla="*/ 2054161 h 3580665"/>
              <a:gd name="connsiteX3" fmla="*/ 711 w 835715"/>
              <a:gd name="connsiteY3" fmla="*/ 1835036 h 3580665"/>
              <a:gd name="connsiteX4" fmla="*/ 693383 w 835715"/>
              <a:gd name="connsiteY4" fmla="*/ 0 h 3580665"/>
              <a:gd name="connsiteX0" fmla="*/ 0 w 823548"/>
              <a:gd name="connsiteY0" fmla="*/ 3580665 h 3580665"/>
              <a:gd name="connsiteX1" fmla="*/ 823548 w 823548"/>
              <a:gd name="connsiteY1" fmla="*/ 2414018 h 3580665"/>
              <a:gd name="connsiteX2" fmla="*/ 822956 w 823548"/>
              <a:gd name="connsiteY2" fmla="*/ 2054161 h 3580665"/>
              <a:gd name="connsiteX3" fmla="*/ 287809 w 823548"/>
              <a:gd name="connsiteY3" fmla="*/ 1835036 h 3580665"/>
              <a:gd name="connsiteX4" fmla="*/ 681216 w 823548"/>
              <a:gd name="connsiteY4" fmla="*/ 0 h 3580665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20677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20677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29416 w 823548"/>
              <a:gd name="connsiteY3" fmla="*/ 1817763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78322 w 823548"/>
              <a:gd name="connsiteY3" fmla="*/ 1806247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06247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29278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29278 h 3569150"/>
              <a:gd name="connsiteX4" fmla="*/ 126482 w 823548"/>
              <a:gd name="connsiteY4" fmla="*/ 0 h 3569150"/>
              <a:gd name="connsiteX0" fmla="*/ 0 w 823548"/>
              <a:gd name="connsiteY0" fmla="*/ 3574908 h 3574908"/>
              <a:gd name="connsiteX1" fmla="*/ 823548 w 823548"/>
              <a:gd name="connsiteY1" fmla="*/ 2408261 h 3574908"/>
              <a:gd name="connsiteX2" fmla="*/ 822956 w 823548"/>
              <a:gd name="connsiteY2" fmla="*/ 2048404 h 3574908"/>
              <a:gd name="connsiteX3" fmla="*/ 149125 w 823548"/>
              <a:gd name="connsiteY3" fmla="*/ 1835036 h 3574908"/>
              <a:gd name="connsiteX4" fmla="*/ 68088 w 823548"/>
              <a:gd name="connsiteY4" fmla="*/ 0 h 3574908"/>
              <a:gd name="connsiteX0" fmla="*/ 0 w 823548"/>
              <a:gd name="connsiteY0" fmla="*/ 3574908 h 3574908"/>
              <a:gd name="connsiteX1" fmla="*/ 823548 w 823548"/>
              <a:gd name="connsiteY1" fmla="*/ 2408261 h 3574908"/>
              <a:gd name="connsiteX2" fmla="*/ 822956 w 823548"/>
              <a:gd name="connsiteY2" fmla="*/ 2048404 h 3574908"/>
              <a:gd name="connsiteX3" fmla="*/ 134526 w 823548"/>
              <a:gd name="connsiteY3" fmla="*/ 1858067 h 3574908"/>
              <a:gd name="connsiteX4" fmla="*/ 68088 w 823548"/>
              <a:gd name="connsiteY4" fmla="*/ 0 h 3574908"/>
              <a:gd name="connsiteX0" fmla="*/ 0 w 823548"/>
              <a:gd name="connsiteY0" fmla="*/ 3580665 h 3580665"/>
              <a:gd name="connsiteX1" fmla="*/ 823548 w 823548"/>
              <a:gd name="connsiteY1" fmla="*/ 2414018 h 3580665"/>
              <a:gd name="connsiteX2" fmla="*/ 822956 w 823548"/>
              <a:gd name="connsiteY2" fmla="*/ 2054161 h 3580665"/>
              <a:gd name="connsiteX3" fmla="*/ 134526 w 823548"/>
              <a:gd name="connsiteY3" fmla="*/ 1863824 h 3580665"/>
              <a:gd name="connsiteX4" fmla="*/ 104584 w 823548"/>
              <a:gd name="connsiteY4" fmla="*/ 0 h 3580665"/>
              <a:gd name="connsiteX0" fmla="*/ 29101 w 718964"/>
              <a:gd name="connsiteY0" fmla="*/ 3359195 h 3359195"/>
              <a:gd name="connsiteX1" fmla="*/ 718964 w 718964"/>
              <a:gd name="connsiteY1" fmla="*/ 2414018 h 3359195"/>
              <a:gd name="connsiteX2" fmla="*/ 718372 w 718964"/>
              <a:gd name="connsiteY2" fmla="*/ 2054161 h 3359195"/>
              <a:gd name="connsiteX3" fmla="*/ 29942 w 718964"/>
              <a:gd name="connsiteY3" fmla="*/ 1863824 h 3359195"/>
              <a:gd name="connsiteX4" fmla="*/ 0 w 718964"/>
              <a:gd name="connsiteY4" fmla="*/ 0 h 3359195"/>
              <a:gd name="connsiteX0" fmla="*/ 15733 w 705596"/>
              <a:gd name="connsiteY0" fmla="*/ 2968987 h 2968987"/>
              <a:gd name="connsiteX1" fmla="*/ 705596 w 705596"/>
              <a:gd name="connsiteY1" fmla="*/ 2023810 h 2968987"/>
              <a:gd name="connsiteX2" fmla="*/ 705004 w 705596"/>
              <a:gd name="connsiteY2" fmla="*/ 1663953 h 2968987"/>
              <a:gd name="connsiteX3" fmla="*/ 16574 w 705596"/>
              <a:gd name="connsiteY3" fmla="*/ 1473616 h 2968987"/>
              <a:gd name="connsiteX4" fmla="*/ 0 w 705596"/>
              <a:gd name="connsiteY4" fmla="*/ 0 h 2968987"/>
              <a:gd name="connsiteX0" fmla="*/ 21024 w 710887"/>
              <a:gd name="connsiteY0" fmla="*/ 3027431 h 3027431"/>
              <a:gd name="connsiteX1" fmla="*/ 710887 w 710887"/>
              <a:gd name="connsiteY1" fmla="*/ 2082254 h 3027431"/>
              <a:gd name="connsiteX2" fmla="*/ 710295 w 710887"/>
              <a:gd name="connsiteY2" fmla="*/ 1722397 h 3027431"/>
              <a:gd name="connsiteX3" fmla="*/ 21865 w 710887"/>
              <a:gd name="connsiteY3" fmla="*/ 1532060 h 3027431"/>
              <a:gd name="connsiteX4" fmla="*/ 0 w 710887"/>
              <a:gd name="connsiteY4" fmla="*/ 0 h 3027431"/>
              <a:gd name="connsiteX0" fmla="*/ 34392 w 710887"/>
              <a:gd name="connsiteY0" fmla="*/ 2943061 h 2943061"/>
              <a:gd name="connsiteX1" fmla="*/ 710887 w 710887"/>
              <a:gd name="connsiteY1" fmla="*/ 2082254 h 2943061"/>
              <a:gd name="connsiteX2" fmla="*/ 710295 w 710887"/>
              <a:gd name="connsiteY2" fmla="*/ 1722397 h 2943061"/>
              <a:gd name="connsiteX3" fmla="*/ 21865 w 710887"/>
              <a:gd name="connsiteY3" fmla="*/ 1532060 h 2943061"/>
              <a:gd name="connsiteX4" fmla="*/ 0 w 710887"/>
              <a:gd name="connsiteY4" fmla="*/ 0 h 2943061"/>
              <a:gd name="connsiteX0" fmla="*/ 34392 w 710887"/>
              <a:gd name="connsiteY0" fmla="*/ 2943061 h 2943061"/>
              <a:gd name="connsiteX1" fmla="*/ 710887 w 710887"/>
              <a:gd name="connsiteY1" fmla="*/ 2082254 h 2943061"/>
              <a:gd name="connsiteX2" fmla="*/ 710295 w 710887"/>
              <a:gd name="connsiteY2" fmla="*/ 1722397 h 2943061"/>
              <a:gd name="connsiteX3" fmla="*/ 21865 w 710887"/>
              <a:gd name="connsiteY3" fmla="*/ 1532060 h 2943061"/>
              <a:gd name="connsiteX4" fmla="*/ 0 w 710887"/>
              <a:gd name="connsiteY4" fmla="*/ 0 h 294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887" h="2943061">
                <a:moveTo>
                  <a:pt x="34392" y="2943061"/>
                </a:moveTo>
                <a:cubicBezTo>
                  <a:pt x="643118" y="2216702"/>
                  <a:pt x="436371" y="2471136"/>
                  <a:pt x="710887" y="2082254"/>
                </a:cubicBezTo>
                <a:cubicBezTo>
                  <a:pt x="710690" y="1923079"/>
                  <a:pt x="710492" y="1881572"/>
                  <a:pt x="710295" y="1722397"/>
                </a:cubicBezTo>
                <a:cubicBezTo>
                  <a:pt x="566067" y="1680698"/>
                  <a:pt x="166093" y="1573759"/>
                  <a:pt x="21865" y="1532060"/>
                </a:cubicBezTo>
                <a:cubicBezTo>
                  <a:pt x="5542" y="849989"/>
                  <a:pt x="1676" y="727768"/>
                  <a:pt x="0" y="0"/>
                </a:cubicBezTo>
              </a:path>
            </a:pathLst>
          </a:custGeom>
          <a:ln w="12700">
            <a:solidFill>
              <a:schemeClr val="tx1"/>
            </a:solidFill>
            <a:tailEnd type="triangle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5" name="Group 224"/>
          <p:cNvGrpSpPr/>
          <p:nvPr/>
        </p:nvGrpSpPr>
        <p:grpSpPr>
          <a:xfrm>
            <a:off x="1672399" y="4825035"/>
            <a:ext cx="313044" cy="369332"/>
            <a:chOff x="418816" y="1964112"/>
            <a:chExt cx="313044" cy="369332"/>
          </a:xfrm>
        </p:grpSpPr>
        <p:sp>
          <p:nvSpPr>
            <p:cNvPr id="226" name="Oval 225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1</a:t>
              </a:r>
              <a:endParaRPr lang="en-US" dirty="0">
                <a:latin typeface="Arial"/>
                <a:cs typeface="Arial"/>
              </a:endParaRPr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1765227" y="3717809"/>
            <a:ext cx="313044" cy="369332"/>
            <a:chOff x="418816" y="1964112"/>
            <a:chExt cx="313044" cy="369332"/>
          </a:xfrm>
        </p:grpSpPr>
        <p:sp>
          <p:nvSpPr>
            <p:cNvPr id="229" name="Oval 228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2</a:t>
              </a:r>
              <a:endParaRPr lang="en-US" dirty="0">
                <a:latin typeface="Arial"/>
                <a:cs typeface="Arial"/>
              </a:endParaRPr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1285507" y="2532088"/>
            <a:ext cx="313044" cy="369332"/>
            <a:chOff x="418816" y="1964112"/>
            <a:chExt cx="313044" cy="369332"/>
          </a:xfrm>
        </p:grpSpPr>
        <p:sp>
          <p:nvSpPr>
            <p:cNvPr id="232" name="Oval 231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3</a:t>
              </a:r>
              <a:endParaRPr lang="en-US" dirty="0">
                <a:latin typeface="Arial"/>
                <a:cs typeface="Arial"/>
              </a:endParaRPr>
            </a:p>
          </p:txBody>
        </p:sp>
      </p:grpSp>
      <p:cxnSp>
        <p:nvCxnSpPr>
          <p:cNvPr id="4" name="Straight Arrow Connector 3"/>
          <p:cNvCxnSpPr/>
          <p:nvPr/>
        </p:nvCxnSpPr>
        <p:spPr bwMode="auto">
          <a:xfrm>
            <a:off x="1635543" y="1382172"/>
            <a:ext cx="36856" cy="199593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35" name="Group 234"/>
          <p:cNvGrpSpPr/>
          <p:nvPr/>
        </p:nvGrpSpPr>
        <p:grpSpPr>
          <a:xfrm>
            <a:off x="1506590" y="1883932"/>
            <a:ext cx="313044" cy="369332"/>
            <a:chOff x="418816" y="1964112"/>
            <a:chExt cx="313044" cy="369332"/>
          </a:xfrm>
        </p:grpSpPr>
        <p:sp>
          <p:nvSpPr>
            <p:cNvPr id="236" name="Oval 235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4</a:t>
              </a:r>
              <a:endParaRPr lang="en-US" dirty="0">
                <a:latin typeface="Arial"/>
                <a:cs typeface="Arial"/>
              </a:endParaRPr>
            </a:p>
          </p:txBody>
        </p:sp>
      </p:grpSp>
      <p:sp>
        <p:nvSpPr>
          <p:cNvPr id="238" name="Freeform 237"/>
          <p:cNvSpPr/>
          <p:nvPr/>
        </p:nvSpPr>
        <p:spPr>
          <a:xfrm>
            <a:off x="2295799" y="1680415"/>
            <a:ext cx="1029459" cy="3309980"/>
          </a:xfrm>
          <a:custGeom>
            <a:avLst/>
            <a:gdLst>
              <a:gd name="connsiteX0" fmla="*/ 3902322 w 3902322"/>
              <a:gd name="connsiteY0" fmla="*/ 0 h 449814"/>
              <a:gd name="connsiteX1" fmla="*/ 3452563 w 3902322"/>
              <a:gd name="connsiteY1" fmla="*/ 449814 h 449814"/>
              <a:gd name="connsiteX2" fmla="*/ 343934 w 3902322"/>
              <a:gd name="connsiteY2" fmla="*/ 423354 h 449814"/>
              <a:gd name="connsiteX3" fmla="*/ 0 w 3902322"/>
              <a:gd name="connsiteY3" fmla="*/ 39690 h 449814"/>
              <a:gd name="connsiteX0" fmla="*/ 3902322 w 3902322"/>
              <a:gd name="connsiteY0" fmla="*/ 0 h 423354"/>
              <a:gd name="connsiteX1" fmla="*/ 3565324 w 3902322"/>
              <a:gd name="connsiteY1" fmla="*/ 402338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02322 w 3902322"/>
              <a:gd name="connsiteY0" fmla="*/ 0 h 423354"/>
              <a:gd name="connsiteX1" fmla="*/ 3600933 w 3902322"/>
              <a:gd name="connsiteY1" fmla="*/ 384535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43865 w 3943865"/>
              <a:gd name="connsiteY0" fmla="*/ 1851 h 383664"/>
              <a:gd name="connsiteX1" fmla="*/ 3600933 w 3943865"/>
              <a:gd name="connsiteY1" fmla="*/ 344845 h 383664"/>
              <a:gd name="connsiteX2" fmla="*/ 343934 w 3943865"/>
              <a:gd name="connsiteY2" fmla="*/ 383664 h 383664"/>
              <a:gd name="connsiteX3" fmla="*/ 0 w 3943865"/>
              <a:gd name="connsiteY3" fmla="*/ 0 h 383664"/>
              <a:gd name="connsiteX0" fmla="*/ 4015082 w 4015082"/>
              <a:gd name="connsiteY0" fmla="*/ 29941 h 383664"/>
              <a:gd name="connsiteX1" fmla="*/ 3600933 w 4015082"/>
              <a:gd name="connsiteY1" fmla="*/ 344845 h 383664"/>
              <a:gd name="connsiteX2" fmla="*/ 343934 w 4015082"/>
              <a:gd name="connsiteY2" fmla="*/ 383664 h 383664"/>
              <a:gd name="connsiteX3" fmla="*/ 0 w 4015082"/>
              <a:gd name="connsiteY3" fmla="*/ 0 h 383664"/>
              <a:gd name="connsiteX0" fmla="*/ 4187190 w 4187190"/>
              <a:gd name="connsiteY0" fmla="*/ 15896 h 369619"/>
              <a:gd name="connsiteX1" fmla="*/ 3773041 w 4187190"/>
              <a:gd name="connsiteY1" fmla="*/ 330800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4187190 w 4187190"/>
              <a:gd name="connsiteY0" fmla="*/ 15896 h 369619"/>
              <a:gd name="connsiteX1" fmla="*/ 3749302 w 4187190"/>
              <a:gd name="connsiteY1" fmla="*/ 349527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0 w 6265284"/>
              <a:gd name="connsiteY0" fmla="*/ 0 h 1092877"/>
              <a:gd name="connsiteX1" fmla="*/ 6265284 w 6265284"/>
              <a:gd name="connsiteY1" fmla="*/ 1072785 h 1092877"/>
              <a:gd name="connsiteX2" fmla="*/ 3032024 w 6265284"/>
              <a:gd name="connsiteY2" fmla="*/ 1092877 h 1092877"/>
              <a:gd name="connsiteX3" fmla="*/ 2515982 w 6265284"/>
              <a:gd name="connsiteY3" fmla="*/ 723258 h 1092877"/>
              <a:gd name="connsiteX0" fmla="*/ 0 w 3032024"/>
              <a:gd name="connsiteY0" fmla="*/ 1193950 h 2286827"/>
              <a:gd name="connsiteX1" fmla="*/ 1581391 w 3032024"/>
              <a:gd name="connsiteY1" fmla="*/ 0 h 2286827"/>
              <a:gd name="connsiteX2" fmla="*/ 3032024 w 3032024"/>
              <a:gd name="connsiteY2" fmla="*/ 2286827 h 2286827"/>
              <a:gd name="connsiteX3" fmla="*/ 2515982 w 3032024"/>
              <a:gd name="connsiteY3" fmla="*/ 1917208 h 2286827"/>
              <a:gd name="connsiteX0" fmla="*/ 0 w 2515982"/>
              <a:gd name="connsiteY0" fmla="*/ 1896586 h 2619844"/>
              <a:gd name="connsiteX1" fmla="*/ 1581391 w 2515982"/>
              <a:gd name="connsiteY1" fmla="*/ 702636 h 2619844"/>
              <a:gd name="connsiteX2" fmla="*/ 1241736 w 2515982"/>
              <a:gd name="connsiteY2" fmla="*/ 0 h 2619844"/>
              <a:gd name="connsiteX3" fmla="*/ 2515982 w 2515982"/>
              <a:gd name="connsiteY3" fmla="*/ 2619844 h 2619844"/>
              <a:gd name="connsiteX0" fmla="*/ 0 w 1581391"/>
              <a:gd name="connsiteY0" fmla="*/ 2890379 h 2890379"/>
              <a:gd name="connsiteX1" fmla="*/ 1581391 w 1581391"/>
              <a:gd name="connsiteY1" fmla="*/ 1696429 h 2890379"/>
              <a:gd name="connsiteX2" fmla="*/ 1241736 w 1581391"/>
              <a:gd name="connsiteY2" fmla="*/ 993793 h 2890379"/>
              <a:gd name="connsiteX3" fmla="*/ 1579203 w 1581391"/>
              <a:gd name="connsiteY3" fmla="*/ 0 h 2890379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29193 w 1581391"/>
              <a:gd name="connsiteY3" fmla="*/ 0 h 2973211"/>
              <a:gd name="connsiteX0" fmla="*/ 0 w 1581391"/>
              <a:gd name="connsiteY0" fmla="*/ 3276927 h 3276927"/>
              <a:gd name="connsiteX1" fmla="*/ 1581391 w 1581391"/>
              <a:gd name="connsiteY1" fmla="*/ 2082977 h 3276927"/>
              <a:gd name="connsiteX2" fmla="*/ 1241736 w 1581391"/>
              <a:gd name="connsiteY2" fmla="*/ 1380341 h 3276927"/>
              <a:gd name="connsiteX3" fmla="*/ 1249193 w 1581391"/>
              <a:gd name="connsiteY3" fmla="*/ 0 h 3276927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34193 w 1581391"/>
              <a:gd name="connsiteY3" fmla="*/ 0 h 2973211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241736 w 1581391"/>
              <a:gd name="connsiteY2" fmla="*/ 1112124 h 3008710"/>
              <a:gd name="connsiteX3" fmla="*/ 1239193 w 1581391"/>
              <a:gd name="connsiteY3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320792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747705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66390"/>
              <a:gd name="connsiteY0" fmla="*/ 3008710 h 3008710"/>
              <a:gd name="connsiteX1" fmla="*/ 1566390 w 1566390"/>
              <a:gd name="connsiteY1" fmla="*/ 1747705 h 3008710"/>
              <a:gd name="connsiteX2" fmla="*/ 1565798 w 1566390"/>
              <a:gd name="connsiteY2" fmla="*/ 1270181 h 3008710"/>
              <a:gd name="connsiteX3" fmla="*/ 1241736 w 1566390"/>
              <a:gd name="connsiteY3" fmla="*/ 1112124 h 3008710"/>
              <a:gd name="connsiteX4" fmla="*/ 1239193 w 1566390"/>
              <a:gd name="connsiteY4" fmla="*/ 0 h 3008710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1765803 w 1766395"/>
              <a:gd name="connsiteY2" fmla="*/ 1270181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579217 w 1766395"/>
              <a:gd name="connsiteY2" fmla="*/ 1319458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1442252"/>
              <a:gd name="connsiteY0" fmla="*/ 2988988 h 2988988"/>
              <a:gd name="connsiteX1" fmla="*/ 621443 w 1442252"/>
              <a:gd name="connsiteY1" fmla="*/ 1829833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21443 w 1442252"/>
              <a:gd name="connsiteY1" fmla="*/ 1829833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0807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0807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58579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585794 w 1442252"/>
              <a:gd name="connsiteY1" fmla="*/ 1714700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2035489"/>
              <a:gd name="connsiteY0" fmla="*/ 2876928 h 2876928"/>
              <a:gd name="connsiteX1" fmla="*/ 1179031 w 2035489"/>
              <a:gd name="connsiteY1" fmla="*/ 1714700 h 2876928"/>
              <a:gd name="connsiteX2" fmla="*/ 1172454 w 2035489"/>
              <a:gd name="connsiteY2" fmla="*/ 1319458 h 2876928"/>
              <a:gd name="connsiteX3" fmla="*/ 2034978 w 2035489"/>
              <a:gd name="connsiteY3" fmla="*/ 1112124 h 2876928"/>
              <a:gd name="connsiteX4" fmla="*/ 2032435 w 2035489"/>
              <a:gd name="connsiteY4" fmla="*/ 0 h 2876928"/>
              <a:gd name="connsiteX0" fmla="*/ 0 w 2095517"/>
              <a:gd name="connsiteY0" fmla="*/ 2876928 h 2876928"/>
              <a:gd name="connsiteX1" fmla="*/ 1179031 w 2095517"/>
              <a:gd name="connsiteY1" fmla="*/ 1714700 h 2876928"/>
              <a:gd name="connsiteX2" fmla="*/ 1172454 w 2095517"/>
              <a:gd name="connsiteY2" fmla="*/ 1319458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2095517"/>
              <a:gd name="connsiteY0" fmla="*/ 2876928 h 2876928"/>
              <a:gd name="connsiteX1" fmla="*/ 1179031 w 2095517"/>
              <a:gd name="connsiteY1" fmla="*/ 1714700 h 2876928"/>
              <a:gd name="connsiteX2" fmla="*/ 1757025 w 2095517"/>
              <a:gd name="connsiteY2" fmla="*/ 2019085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2095517"/>
              <a:gd name="connsiteY0" fmla="*/ 2876928 h 2876928"/>
              <a:gd name="connsiteX1" fmla="*/ 1058086 w 2095517"/>
              <a:gd name="connsiteY1" fmla="*/ 2128116 h 2876928"/>
              <a:gd name="connsiteX2" fmla="*/ 1757025 w 2095517"/>
              <a:gd name="connsiteY2" fmla="*/ 2019085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19366 w 1029264"/>
              <a:gd name="connsiteY0" fmla="*/ 2961861 h 2961861"/>
              <a:gd name="connsiteX1" fmla="*/ 0 w 1029264"/>
              <a:gd name="connsiteY1" fmla="*/ 2070128 h 2961861"/>
              <a:gd name="connsiteX2" fmla="*/ 690772 w 1029264"/>
              <a:gd name="connsiteY2" fmla="*/ 2064629 h 2961861"/>
              <a:gd name="connsiteX3" fmla="*/ 1029198 w 1029264"/>
              <a:gd name="connsiteY3" fmla="*/ 1525541 h 2961861"/>
              <a:gd name="connsiteX4" fmla="*/ 966182 w 1029264"/>
              <a:gd name="connsiteY4" fmla="*/ 0 h 2961861"/>
              <a:gd name="connsiteX0" fmla="*/ 19366 w 1029276"/>
              <a:gd name="connsiteY0" fmla="*/ 2611201 h 2611201"/>
              <a:gd name="connsiteX1" fmla="*/ 0 w 1029276"/>
              <a:gd name="connsiteY1" fmla="*/ 1719468 h 2611201"/>
              <a:gd name="connsiteX2" fmla="*/ 690772 w 1029276"/>
              <a:gd name="connsiteY2" fmla="*/ 1713969 h 2611201"/>
              <a:gd name="connsiteX3" fmla="*/ 1029198 w 1029276"/>
              <a:gd name="connsiteY3" fmla="*/ 1174881 h 2611201"/>
              <a:gd name="connsiteX4" fmla="*/ 976765 w 1029276"/>
              <a:gd name="connsiteY4" fmla="*/ 0 h 2611201"/>
              <a:gd name="connsiteX0" fmla="*/ 19366 w 1029459"/>
              <a:gd name="connsiteY0" fmla="*/ 2611201 h 2611201"/>
              <a:gd name="connsiteX1" fmla="*/ 0 w 1029459"/>
              <a:gd name="connsiteY1" fmla="*/ 1719468 h 2611201"/>
              <a:gd name="connsiteX2" fmla="*/ 690772 w 1029459"/>
              <a:gd name="connsiteY2" fmla="*/ 1713969 h 2611201"/>
              <a:gd name="connsiteX3" fmla="*/ 1029198 w 1029459"/>
              <a:gd name="connsiteY3" fmla="*/ 1174881 h 2611201"/>
              <a:gd name="connsiteX4" fmla="*/ 976765 w 1029459"/>
              <a:gd name="connsiteY4" fmla="*/ 0 h 261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9459" h="2611201">
                <a:moveTo>
                  <a:pt x="19366" y="2611201"/>
                </a:moveTo>
                <a:lnTo>
                  <a:pt x="0" y="1719468"/>
                </a:lnTo>
                <a:lnTo>
                  <a:pt x="690772" y="1713969"/>
                </a:lnTo>
                <a:cubicBezTo>
                  <a:pt x="953779" y="1301650"/>
                  <a:pt x="837892" y="1502072"/>
                  <a:pt x="1029198" y="1174881"/>
                </a:cubicBezTo>
                <a:cubicBezTo>
                  <a:pt x="1031684" y="714767"/>
                  <a:pt x="1016613" y="902614"/>
                  <a:pt x="976765" y="0"/>
                </a:cubicBezTo>
              </a:path>
            </a:pathLst>
          </a:custGeom>
          <a:ln w="12700">
            <a:solidFill>
              <a:schemeClr val="tx1"/>
            </a:solidFill>
            <a:headEnd type="triangle"/>
            <a:tailEnd type="none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Straight Arrow Connector 238"/>
          <p:cNvCxnSpPr/>
          <p:nvPr/>
        </p:nvCxnSpPr>
        <p:spPr bwMode="auto">
          <a:xfrm>
            <a:off x="2334047" y="4796373"/>
            <a:ext cx="165857" cy="4440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3" name="Straight Arrow Connector 242"/>
          <p:cNvCxnSpPr/>
          <p:nvPr/>
        </p:nvCxnSpPr>
        <p:spPr bwMode="auto">
          <a:xfrm flipH="1">
            <a:off x="1630957" y="4825035"/>
            <a:ext cx="697629" cy="7629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6" name="Group 245"/>
          <p:cNvGrpSpPr/>
          <p:nvPr/>
        </p:nvGrpSpPr>
        <p:grpSpPr>
          <a:xfrm rot="21446362">
            <a:off x="2189794" y="4667337"/>
            <a:ext cx="313044" cy="369332"/>
            <a:chOff x="418816" y="1964112"/>
            <a:chExt cx="313044" cy="369332"/>
          </a:xfrm>
        </p:grpSpPr>
        <p:sp>
          <p:nvSpPr>
            <p:cNvPr id="247" name="Oval 246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6</a:t>
              </a:r>
              <a:endParaRPr lang="en-US" dirty="0">
                <a:latin typeface="Arial"/>
                <a:cs typeface="Arial"/>
              </a:endParaRPr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3130061" y="1900424"/>
            <a:ext cx="313044" cy="369332"/>
            <a:chOff x="418816" y="1964112"/>
            <a:chExt cx="313044" cy="369332"/>
          </a:xfrm>
        </p:grpSpPr>
        <p:sp>
          <p:nvSpPr>
            <p:cNvPr id="250" name="Oval 249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5</a:t>
              </a:r>
              <a:endParaRPr lang="en-US" dirty="0">
                <a:latin typeface="Arial"/>
                <a:cs typeface="Arial"/>
              </a:endParaRPr>
            </a:p>
          </p:txBody>
        </p:sp>
      </p:grpSp>
      <p:sp>
        <p:nvSpPr>
          <p:cNvPr id="253" name="Oval 252"/>
          <p:cNvSpPr/>
          <p:nvPr/>
        </p:nvSpPr>
        <p:spPr>
          <a:xfrm rot="5400000">
            <a:off x="1970416" y="419579"/>
            <a:ext cx="631007" cy="223526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tailEnd type="arrow"/>
          </a:ln>
          <a:effectLst>
            <a:outerShdw blurRad="50800" dist="38100" dir="2700000" algn="tl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336780" y="1336100"/>
            <a:ext cx="1891162" cy="509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 dirty="0" smtClean="0">
                <a:latin typeface="Arial"/>
                <a:cs typeface="Arial"/>
              </a:rPr>
              <a:t>Dijkstra’s link-state </a:t>
            </a:r>
          </a:p>
          <a:p>
            <a:pPr algn="ctr">
              <a:lnSpc>
                <a:spcPts val="1600"/>
              </a:lnSpc>
            </a:pPr>
            <a:r>
              <a:rPr lang="en-US" sz="1600" dirty="0" smtClean="0">
                <a:latin typeface="Arial"/>
                <a:cs typeface="Arial"/>
              </a:rPr>
              <a:t>Routing</a:t>
            </a:r>
            <a:endParaRPr lang="en-US" sz="1600" dirty="0">
              <a:latin typeface="Arial"/>
              <a:cs typeface="Arial"/>
            </a:endParaRPr>
          </a:p>
        </p:txBody>
      </p:sp>
      <p:grpSp>
        <p:nvGrpSpPr>
          <p:cNvPr id="319" name="Group 318"/>
          <p:cNvGrpSpPr/>
          <p:nvPr/>
        </p:nvGrpSpPr>
        <p:grpSpPr>
          <a:xfrm>
            <a:off x="921872" y="5536490"/>
            <a:ext cx="687402" cy="470408"/>
            <a:chOff x="1736090" y="2893762"/>
            <a:chExt cx="565150" cy="340093"/>
          </a:xfrm>
        </p:grpSpPr>
        <p:grpSp>
          <p:nvGrpSpPr>
            <p:cNvPr id="320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24" name="Oval 323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25" name="Rectangle 324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6" name="Oval 325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27" name="Freeform 326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8" name="Freeform 327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9" name="Freeform 328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30" name="Freeform 329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31" name="Straight Connector 330"/>
              <p:cNvCxnSpPr>
                <a:endCxn id="32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1" name="Group 320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322" name="Oval 321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3" name="TextBox 322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s1</a:t>
                </a:r>
                <a:endParaRPr lang="en-US" sz="2000" dirty="0"/>
              </a:p>
            </p:txBody>
          </p:sp>
        </p:grpSp>
      </p:grpSp>
      <p:grpSp>
        <p:nvGrpSpPr>
          <p:cNvPr id="333" name="Group 332"/>
          <p:cNvGrpSpPr/>
          <p:nvPr/>
        </p:nvGrpSpPr>
        <p:grpSpPr>
          <a:xfrm>
            <a:off x="2206593" y="5245170"/>
            <a:ext cx="687402" cy="470406"/>
            <a:chOff x="1736090" y="2893762"/>
            <a:chExt cx="565150" cy="340091"/>
          </a:xfrm>
        </p:grpSpPr>
        <p:grpSp>
          <p:nvGrpSpPr>
            <p:cNvPr id="334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38" name="Oval 337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39" name="Rectangle 338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0" name="Oval 339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41" name="Freeform 340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2" name="Freeform 341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3" name="Freeform 342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4" name="Freeform 343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45" name="Straight Connector 344"/>
              <p:cNvCxnSpPr>
                <a:endCxn id="34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5" name="Group 33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36" name="Oval 335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7" name="TextBox 336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s2</a:t>
                </a:r>
                <a:endParaRPr lang="en-US" sz="2000" dirty="0"/>
              </a:p>
            </p:txBody>
          </p:sp>
        </p:grpSp>
      </p:grpSp>
      <p:grpSp>
        <p:nvGrpSpPr>
          <p:cNvPr id="347" name="Group 346"/>
          <p:cNvGrpSpPr/>
          <p:nvPr/>
        </p:nvGrpSpPr>
        <p:grpSpPr>
          <a:xfrm>
            <a:off x="1910145" y="5999406"/>
            <a:ext cx="687402" cy="470406"/>
            <a:chOff x="1736090" y="2893762"/>
            <a:chExt cx="565150" cy="340091"/>
          </a:xfrm>
        </p:grpSpPr>
        <p:grpSp>
          <p:nvGrpSpPr>
            <p:cNvPr id="348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52" name="Oval 35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53" name="Rectangle 35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4" name="Oval 35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55" name="Freeform 35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6" name="Freeform 35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7" name="Freeform 35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8" name="Freeform 35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59" name="Straight Connector 358"/>
              <p:cNvCxnSpPr>
                <a:endCxn id="35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9" name="Group 348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50" name="Oval 349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1" name="TextBox 350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s3</a:t>
                </a:r>
                <a:endParaRPr lang="en-US" sz="2000" dirty="0"/>
              </a:p>
            </p:txBody>
          </p:sp>
        </p:grpSp>
      </p:grpSp>
      <p:grpSp>
        <p:nvGrpSpPr>
          <p:cNvPr id="361" name="Group 360"/>
          <p:cNvGrpSpPr/>
          <p:nvPr/>
        </p:nvGrpSpPr>
        <p:grpSpPr>
          <a:xfrm>
            <a:off x="3077553" y="5718280"/>
            <a:ext cx="687402" cy="470406"/>
            <a:chOff x="1736090" y="2893762"/>
            <a:chExt cx="565150" cy="340091"/>
          </a:xfrm>
        </p:grpSpPr>
        <p:grpSp>
          <p:nvGrpSpPr>
            <p:cNvPr id="362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66" name="Oval 365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7" name="Rectangle 366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8" name="Oval 367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9" name="Freeform 368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0" name="Freeform 369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1" name="Freeform 370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2" name="Freeform 371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73" name="Straight Connector 372"/>
              <p:cNvCxnSpPr>
                <a:endCxn id="36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3" name="Group 362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64" name="Oval 363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5" name="TextBox 36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s4</a:t>
                </a:r>
                <a:endParaRPr lang="en-US" sz="2000" dirty="0"/>
              </a:p>
            </p:txBody>
          </p:sp>
        </p:grpSp>
      </p:grpSp>
      <p:cxnSp>
        <p:nvCxnSpPr>
          <p:cNvPr id="240" name="Straight Arrow Connector 239"/>
          <p:cNvCxnSpPr/>
          <p:nvPr/>
        </p:nvCxnSpPr>
        <p:spPr bwMode="auto">
          <a:xfrm>
            <a:off x="2475946" y="4898482"/>
            <a:ext cx="906274" cy="7697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76" name="Picture 12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74" y="702064"/>
            <a:ext cx="8154854" cy="193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7" name="Title 1"/>
          <p:cNvSpPr txBox="1">
            <a:spLocks/>
          </p:cNvSpPr>
          <p:nvPr/>
        </p:nvSpPr>
        <p:spPr>
          <a:xfrm>
            <a:off x="354145" y="177332"/>
            <a:ext cx="8642801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9pPr>
          </a:lstStyle>
          <a:p>
            <a:r>
              <a:rPr lang="en-US" sz="3600" dirty="0" smtClean="0"/>
              <a:t>SDN: control/data plane interaction example</a:t>
            </a:r>
            <a:endParaRPr lang="en-US" sz="36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5313965" y="1234279"/>
            <a:ext cx="3388878" cy="858751"/>
            <a:chOff x="5313965" y="1301119"/>
            <a:chExt cx="3388878" cy="858751"/>
          </a:xfrm>
        </p:grpSpPr>
        <p:sp>
          <p:nvSpPr>
            <p:cNvPr id="9" name="TextBox 8"/>
            <p:cNvSpPr txBox="1"/>
            <p:nvPr/>
          </p:nvSpPr>
          <p:spPr>
            <a:xfrm>
              <a:off x="5654651" y="1315023"/>
              <a:ext cx="3048192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 smtClean="0">
                  <a:solidFill>
                    <a:srgbClr val="000000"/>
                  </a:solidFill>
                  <a:latin typeface="+mn-lt"/>
                </a:rPr>
                <a:t>S1, experiencing link failure using OpenFlow port status message to notify controller</a:t>
              </a:r>
              <a:endParaRPr lang="en-US" dirty="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378" name="Group 377"/>
            <p:cNvGrpSpPr/>
            <p:nvPr/>
          </p:nvGrpSpPr>
          <p:grpSpPr>
            <a:xfrm>
              <a:off x="5313965" y="1301119"/>
              <a:ext cx="338263" cy="369332"/>
              <a:chOff x="418816" y="1964112"/>
              <a:chExt cx="313044" cy="369332"/>
            </a:xfrm>
          </p:grpSpPr>
          <p:sp>
            <p:nvSpPr>
              <p:cNvPr id="379" name="Oval 378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81" name="TextBox 380"/>
              <p:cNvSpPr txBox="1"/>
              <p:nvPr/>
            </p:nvSpPr>
            <p:spPr>
              <a:xfrm>
                <a:off x="418816" y="1964112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Arial"/>
                    <a:cs typeface="Arial"/>
                  </a:rPr>
                  <a:t>1</a:t>
                </a:r>
                <a:endParaRPr lang="en-US" dirty="0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382" name="Group 381"/>
          <p:cNvGrpSpPr/>
          <p:nvPr/>
        </p:nvGrpSpPr>
        <p:grpSpPr>
          <a:xfrm>
            <a:off x="5359418" y="2228890"/>
            <a:ext cx="3388878" cy="858751"/>
            <a:chOff x="5313965" y="1301119"/>
            <a:chExt cx="3388878" cy="858751"/>
          </a:xfrm>
        </p:grpSpPr>
        <p:sp>
          <p:nvSpPr>
            <p:cNvPr id="383" name="TextBox 382"/>
            <p:cNvSpPr txBox="1"/>
            <p:nvPr/>
          </p:nvSpPr>
          <p:spPr>
            <a:xfrm>
              <a:off x="5654651" y="1315023"/>
              <a:ext cx="3048192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 smtClean="0">
                  <a:solidFill>
                    <a:srgbClr val="000000"/>
                  </a:solidFill>
                  <a:latin typeface="+mn-lt"/>
                </a:rPr>
                <a:t>SDN controller receives OpenFlow message, updates link status info</a:t>
              </a:r>
              <a:endParaRPr lang="en-US" dirty="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384" name="Group 383"/>
            <p:cNvGrpSpPr/>
            <p:nvPr/>
          </p:nvGrpSpPr>
          <p:grpSpPr>
            <a:xfrm>
              <a:off x="5313965" y="1301119"/>
              <a:ext cx="313044" cy="369332"/>
              <a:chOff x="418816" y="1964112"/>
              <a:chExt cx="289705" cy="369332"/>
            </a:xfrm>
          </p:grpSpPr>
          <p:sp>
            <p:nvSpPr>
              <p:cNvPr id="385" name="Oval 38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87" name="TextBox 386"/>
              <p:cNvSpPr txBox="1"/>
              <p:nvPr/>
            </p:nvSpPr>
            <p:spPr>
              <a:xfrm>
                <a:off x="418816" y="1964112"/>
                <a:ext cx="289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Arial"/>
                    <a:cs typeface="Arial"/>
                  </a:rPr>
                  <a:t>2</a:t>
                </a:r>
                <a:endParaRPr lang="en-US" dirty="0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388" name="Group 387"/>
          <p:cNvGrpSpPr/>
          <p:nvPr/>
        </p:nvGrpSpPr>
        <p:grpSpPr>
          <a:xfrm>
            <a:off x="5364768" y="3156658"/>
            <a:ext cx="3388878" cy="1357349"/>
            <a:chOff x="5313965" y="1301119"/>
            <a:chExt cx="3388878" cy="1357349"/>
          </a:xfrm>
        </p:grpSpPr>
        <p:sp>
          <p:nvSpPr>
            <p:cNvPr id="389" name="TextBox 388"/>
            <p:cNvSpPr txBox="1"/>
            <p:nvPr/>
          </p:nvSpPr>
          <p:spPr>
            <a:xfrm>
              <a:off x="5654651" y="1315023"/>
              <a:ext cx="3048192" cy="1343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 smtClean="0">
                  <a:solidFill>
                    <a:srgbClr val="000000"/>
                  </a:solidFill>
                  <a:latin typeface="+mn-lt"/>
                </a:rPr>
                <a:t>Dijkstra’s routing algorithm application has previously registered to be called when ever link status changes.  It is called.</a:t>
              </a:r>
              <a:endParaRPr lang="en-US" dirty="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390" name="Group 389"/>
            <p:cNvGrpSpPr/>
            <p:nvPr/>
          </p:nvGrpSpPr>
          <p:grpSpPr>
            <a:xfrm>
              <a:off x="5313965" y="1301119"/>
              <a:ext cx="313044" cy="369332"/>
              <a:chOff x="418816" y="1964112"/>
              <a:chExt cx="289705" cy="369332"/>
            </a:xfrm>
          </p:grpSpPr>
          <p:sp>
            <p:nvSpPr>
              <p:cNvPr id="391" name="Oval 390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92" name="TextBox 391"/>
              <p:cNvSpPr txBox="1"/>
              <p:nvPr/>
            </p:nvSpPr>
            <p:spPr>
              <a:xfrm>
                <a:off x="418816" y="1964112"/>
                <a:ext cx="289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Arial"/>
                    <a:cs typeface="Arial"/>
                  </a:rPr>
                  <a:t>3</a:t>
                </a:r>
                <a:endParaRPr lang="en-US" dirty="0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393" name="Group 392"/>
          <p:cNvGrpSpPr/>
          <p:nvPr/>
        </p:nvGrpSpPr>
        <p:grpSpPr>
          <a:xfrm>
            <a:off x="5356749" y="4538949"/>
            <a:ext cx="3388878" cy="1108050"/>
            <a:chOff x="5313965" y="1301119"/>
            <a:chExt cx="3388878" cy="1108050"/>
          </a:xfrm>
        </p:grpSpPr>
        <p:sp>
          <p:nvSpPr>
            <p:cNvPr id="394" name="TextBox 393"/>
            <p:cNvSpPr txBox="1"/>
            <p:nvPr/>
          </p:nvSpPr>
          <p:spPr>
            <a:xfrm>
              <a:off x="5654651" y="1315023"/>
              <a:ext cx="3048192" cy="1094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 smtClean="0">
                  <a:solidFill>
                    <a:srgbClr val="000000"/>
                  </a:solidFill>
                  <a:latin typeface="+mn-lt"/>
                </a:rPr>
                <a:t>Dijkstra’s routing algorithm access network graph info, link state info in controller,  computes new routes</a:t>
              </a:r>
              <a:endParaRPr lang="en-US" dirty="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395" name="Group 394"/>
            <p:cNvGrpSpPr/>
            <p:nvPr/>
          </p:nvGrpSpPr>
          <p:grpSpPr>
            <a:xfrm>
              <a:off x="5313965" y="1301119"/>
              <a:ext cx="313044" cy="369332"/>
              <a:chOff x="418816" y="1964112"/>
              <a:chExt cx="289705" cy="369332"/>
            </a:xfrm>
          </p:grpSpPr>
          <p:sp>
            <p:nvSpPr>
              <p:cNvPr id="396" name="Oval 3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418816" y="1964112"/>
                <a:ext cx="289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Arial"/>
                    <a:cs typeface="Arial"/>
                  </a:rPr>
                  <a:t>4</a:t>
                </a:r>
                <a:endParaRPr lang="en-US" dirty="0">
                  <a:latin typeface="Arial"/>
                  <a:cs typeface="Arial"/>
                </a:endParaRPr>
              </a:p>
            </p:txBody>
          </p:sp>
        </p:grpSp>
      </p:grpSp>
      <p:sp>
        <p:nvSpPr>
          <p:cNvPr id="39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19</a:t>
            </a:fld>
            <a:endParaRPr lang="en-US" sz="1200" dirty="0">
              <a:latin typeface="Tahoma" charset="0"/>
            </a:endParaRPr>
          </a:p>
        </p:txBody>
      </p:sp>
      <p:sp>
        <p:nvSpPr>
          <p:cNvPr id="39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07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ounded Rectangle 374"/>
          <p:cNvSpPr/>
          <p:nvPr/>
        </p:nvSpPr>
        <p:spPr>
          <a:xfrm>
            <a:off x="441168" y="2793983"/>
            <a:ext cx="4211052" cy="106245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0" name="Rounded Rectangle 379"/>
          <p:cNvSpPr/>
          <p:nvPr/>
        </p:nvSpPr>
        <p:spPr>
          <a:xfrm>
            <a:off x="467904" y="3990524"/>
            <a:ext cx="4184316" cy="54554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86" name="Straight Connector 385"/>
          <p:cNvCxnSpPr/>
          <p:nvPr/>
        </p:nvCxnSpPr>
        <p:spPr bwMode="auto">
          <a:xfrm>
            <a:off x="508006" y="4638847"/>
            <a:ext cx="410410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1" name="Group 400"/>
          <p:cNvGrpSpPr/>
          <p:nvPr/>
        </p:nvGrpSpPr>
        <p:grpSpPr>
          <a:xfrm>
            <a:off x="590136" y="3368823"/>
            <a:ext cx="1244650" cy="411995"/>
            <a:chOff x="3128876" y="457817"/>
            <a:chExt cx="1432326" cy="459826"/>
          </a:xfrm>
        </p:grpSpPr>
        <p:sp>
          <p:nvSpPr>
            <p:cNvPr id="402" name="Rounded Rectangle 40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Link-state info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04" name="Group 403"/>
          <p:cNvGrpSpPr/>
          <p:nvPr/>
        </p:nvGrpSpPr>
        <p:grpSpPr>
          <a:xfrm>
            <a:off x="3459852" y="3382192"/>
            <a:ext cx="1165638" cy="398626"/>
            <a:chOff x="3034354" y="534843"/>
            <a:chExt cx="1525489" cy="382800"/>
          </a:xfrm>
        </p:grpSpPr>
        <p:sp>
          <p:nvSpPr>
            <p:cNvPr id="405" name="Rounded Rectangle 404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6" name="TextBox 405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switch info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07" name="Group 406"/>
          <p:cNvGrpSpPr/>
          <p:nvPr/>
        </p:nvGrpSpPr>
        <p:grpSpPr>
          <a:xfrm>
            <a:off x="1982268" y="3368823"/>
            <a:ext cx="960359" cy="411995"/>
            <a:chOff x="3128876" y="457817"/>
            <a:chExt cx="1432326" cy="459826"/>
          </a:xfrm>
        </p:grpSpPr>
        <p:sp>
          <p:nvSpPr>
            <p:cNvPr id="408" name="Rounded Rectangle 407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host info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10" name="Group 409"/>
          <p:cNvGrpSpPr/>
          <p:nvPr/>
        </p:nvGrpSpPr>
        <p:grpSpPr>
          <a:xfrm>
            <a:off x="521932" y="2874191"/>
            <a:ext cx="889706" cy="382826"/>
            <a:chOff x="3128876" y="457817"/>
            <a:chExt cx="1432326" cy="459826"/>
          </a:xfrm>
        </p:grpSpPr>
        <p:sp>
          <p:nvSpPr>
            <p:cNvPr id="411" name="Rounded Rectangle 41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statistics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13" name="Group 412"/>
          <p:cNvGrpSpPr/>
          <p:nvPr/>
        </p:nvGrpSpPr>
        <p:grpSpPr>
          <a:xfrm>
            <a:off x="3249716" y="2860821"/>
            <a:ext cx="1032905" cy="404965"/>
            <a:chOff x="3099264" y="457817"/>
            <a:chExt cx="1540525" cy="459826"/>
          </a:xfrm>
        </p:grpSpPr>
        <p:sp>
          <p:nvSpPr>
            <p:cNvPr id="414" name="Rounded Rectangle 413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flow tables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sp>
        <p:nvSpPr>
          <p:cNvPr id="416" name="TextBox 415"/>
          <p:cNvSpPr txBox="1"/>
          <p:nvPr/>
        </p:nvSpPr>
        <p:spPr>
          <a:xfrm>
            <a:off x="2458723" y="2496236"/>
            <a:ext cx="570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7" name="TextBox 416"/>
          <p:cNvSpPr txBox="1"/>
          <p:nvPr/>
        </p:nvSpPr>
        <p:spPr>
          <a:xfrm>
            <a:off x="3005244" y="3133033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18" name="Group 417"/>
          <p:cNvGrpSpPr/>
          <p:nvPr/>
        </p:nvGrpSpPr>
        <p:grpSpPr>
          <a:xfrm>
            <a:off x="1076595" y="4121691"/>
            <a:ext cx="1257452" cy="286824"/>
            <a:chOff x="3128876" y="457775"/>
            <a:chExt cx="1432326" cy="459868"/>
          </a:xfrm>
        </p:grpSpPr>
        <p:sp>
          <p:nvSpPr>
            <p:cNvPr id="419" name="Rounded Rectangle 41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OpenFlow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21" name="Group 420"/>
          <p:cNvGrpSpPr/>
          <p:nvPr/>
        </p:nvGrpSpPr>
        <p:grpSpPr>
          <a:xfrm>
            <a:off x="2945827" y="4126474"/>
            <a:ext cx="1244650" cy="307410"/>
            <a:chOff x="3128876" y="457817"/>
            <a:chExt cx="1432326" cy="459826"/>
          </a:xfrm>
        </p:grpSpPr>
        <p:sp>
          <p:nvSpPr>
            <p:cNvPr id="422" name="Rounded Rectangle 42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SNMP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sp>
        <p:nvSpPr>
          <p:cNvPr id="424" name="TextBox 423"/>
          <p:cNvSpPr txBox="1"/>
          <p:nvPr/>
        </p:nvSpPr>
        <p:spPr>
          <a:xfrm>
            <a:off x="2328584" y="3796493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6" name="Rounded Rectangle 145"/>
          <p:cNvSpPr/>
          <p:nvPr/>
        </p:nvSpPr>
        <p:spPr>
          <a:xfrm>
            <a:off x="441167" y="2098823"/>
            <a:ext cx="4211053" cy="5747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425" name="Group 424"/>
          <p:cNvGrpSpPr/>
          <p:nvPr/>
        </p:nvGrpSpPr>
        <p:grpSpPr>
          <a:xfrm>
            <a:off x="535393" y="2131433"/>
            <a:ext cx="1033900" cy="504412"/>
            <a:chOff x="3103238" y="432317"/>
            <a:chExt cx="1461287" cy="504412"/>
          </a:xfrm>
        </p:grpSpPr>
        <p:sp>
          <p:nvSpPr>
            <p:cNvPr id="426" name="Rounded Rectangle 42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network graph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28" name="Group 427"/>
          <p:cNvGrpSpPr/>
          <p:nvPr/>
        </p:nvGrpSpPr>
        <p:grpSpPr>
          <a:xfrm>
            <a:off x="3508898" y="2156720"/>
            <a:ext cx="1033900" cy="459826"/>
            <a:chOff x="3103238" y="457817"/>
            <a:chExt cx="1461287" cy="459826"/>
          </a:xfrm>
        </p:grpSpPr>
        <p:sp>
          <p:nvSpPr>
            <p:cNvPr id="429" name="Rounded Rectangle 42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intent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431" name="Group 430"/>
          <p:cNvGrpSpPr/>
          <p:nvPr/>
        </p:nvGrpSpPr>
        <p:grpSpPr>
          <a:xfrm>
            <a:off x="1952059" y="2129889"/>
            <a:ext cx="1033900" cy="504412"/>
            <a:chOff x="3103238" y="432317"/>
            <a:chExt cx="1461287" cy="504412"/>
          </a:xfrm>
        </p:grpSpPr>
        <p:sp>
          <p:nvSpPr>
            <p:cNvPr id="432" name="Rounded Rectangle 43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400" dirty="0" err="1" smtClean="0">
                  <a:latin typeface="Arial"/>
                  <a:cs typeface="Arial"/>
                </a:rPr>
                <a:t>RESTful</a:t>
              </a:r>
              <a:endParaRPr lang="en-US" sz="1400" dirty="0" smtClean="0">
                <a:latin typeface="Arial"/>
                <a:cs typeface="Arial"/>
              </a:endParaRPr>
            </a:p>
            <a:p>
              <a:pPr algn="ctr">
                <a:lnSpc>
                  <a:spcPts val="16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API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sp>
        <p:nvSpPr>
          <p:cNvPr id="434" name="TextBox 433"/>
          <p:cNvSpPr txBox="1"/>
          <p:nvPr/>
        </p:nvSpPr>
        <p:spPr>
          <a:xfrm>
            <a:off x="3007181" y="1957959"/>
            <a:ext cx="6279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4" name="Straight Connector 153"/>
          <p:cNvCxnSpPr/>
          <p:nvPr/>
        </p:nvCxnSpPr>
        <p:spPr bwMode="auto">
          <a:xfrm flipV="1">
            <a:off x="521378" y="1925056"/>
            <a:ext cx="4117474" cy="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7" name="Freeform 2"/>
          <p:cNvSpPr>
            <a:spLocks/>
          </p:cNvSpPr>
          <p:nvPr/>
        </p:nvSpPr>
        <p:spPr bwMode="auto">
          <a:xfrm>
            <a:off x="509074" y="5069969"/>
            <a:ext cx="4057421" cy="1393030"/>
          </a:xfrm>
          <a:custGeom>
            <a:avLst/>
            <a:gdLst>
              <a:gd name="T0" fmla="*/ 6 w 1794"/>
              <a:gd name="T1" fmla="*/ 483 h 933"/>
              <a:gd name="T2" fmla="*/ 108 w 1794"/>
              <a:gd name="T3" fmla="*/ 125 h 933"/>
              <a:gd name="T4" fmla="*/ 559 w 1794"/>
              <a:gd name="T5" fmla="*/ 100 h 933"/>
              <a:gd name="T6" fmla="*/ 1128 w 1794"/>
              <a:gd name="T7" fmla="*/ 29 h 933"/>
              <a:gd name="T8" fmla="*/ 1716 w 1794"/>
              <a:gd name="T9" fmla="*/ 275 h 933"/>
              <a:gd name="T10" fmla="*/ 1596 w 1794"/>
              <a:gd name="T11" fmla="*/ 827 h 933"/>
              <a:gd name="T12" fmla="*/ 1380 w 1794"/>
              <a:gd name="T13" fmla="*/ 911 h 933"/>
              <a:gd name="T14" fmla="*/ 840 w 1794"/>
              <a:gd name="T15" fmla="*/ 929 h 933"/>
              <a:gd name="T16" fmla="*/ 414 w 1794"/>
              <a:gd name="T17" fmla="*/ 911 h 933"/>
              <a:gd name="T18" fmla="*/ 143 w 1794"/>
              <a:gd name="T19" fmla="*/ 832 h 933"/>
              <a:gd name="T20" fmla="*/ 6 w 1794"/>
              <a:gd name="T21" fmla="*/ 483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166" name="Straight Connector 165"/>
          <p:cNvCxnSpPr/>
          <p:nvPr/>
        </p:nvCxnSpPr>
        <p:spPr bwMode="auto">
          <a:xfrm flipV="1">
            <a:off x="1592143" y="5453530"/>
            <a:ext cx="615520" cy="282224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7" name="Straight Connector 166"/>
          <p:cNvCxnSpPr/>
          <p:nvPr/>
        </p:nvCxnSpPr>
        <p:spPr bwMode="auto">
          <a:xfrm>
            <a:off x="1581927" y="5759398"/>
            <a:ext cx="1651340" cy="138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8" name="Straight Connector 167"/>
          <p:cNvCxnSpPr>
            <a:endCxn id="353" idx="1"/>
          </p:cNvCxnSpPr>
          <p:nvPr/>
        </p:nvCxnSpPr>
        <p:spPr bwMode="auto">
          <a:xfrm>
            <a:off x="1592143" y="5816064"/>
            <a:ext cx="318002" cy="3875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Straight Connector 168"/>
          <p:cNvCxnSpPr>
            <a:stCxn id="339" idx="3"/>
          </p:cNvCxnSpPr>
          <p:nvPr/>
        </p:nvCxnSpPr>
        <p:spPr bwMode="auto">
          <a:xfrm>
            <a:off x="2893995" y="5449380"/>
            <a:ext cx="333142" cy="421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Straight Connector 169"/>
          <p:cNvCxnSpPr/>
          <p:nvPr/>
        </p:nvCxnSpPr>
        <p:spPr bwMode="auto">
          <a:xfrm flipV="1">
            <a:off x="2371572" y="5956693"/>
            <a:ext cx="861695" cy="2754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4" name="Freeform 223"/>
          <p:cNvSpPr/>
          <p:nvPr/>
        </p:nvSpPr>
        <p:spPr>
          <a:xfrm>
            <a:off x="1449442" y="1774754"/>
            <a:ext cx="710887" cy="3730652"/>
          </a:xfrm>
          <a:custGeom>
            <a:avLst/>
            <a:gdLst>
              <a:gd name="connsiteX0" fmla="*/ 3902322 w 3902322"/>
              <a:gd name="connsiteY0" fmla="*/ 0 h 449814"/>
              <a:gd name="connsiteX1" fmla="*/ 3452563 w 3902322"/>
              <a:gd name="connsiteY1" fmla="*/ 449814 h 449814"/>
              <a:gd name="connsiteX2" fmla="*/ 343934 w 3902322"/>
              <a:gd name="connsiteY2" fmla="*/ 423354 h 449814"/>
              <a:gd name="connsiteX3" fmla="*/ 0 w 3902322"/>
              <a:gd name="connsiteY3" fmla="*/ 39690 h 449814"/>
              <a:gd name="connsiteX0" fmla="*/ 3902322 w 3902322"/>
              <a:gd name="connsiteY0" fmla="*/ 0 h 423354"/>
              <a:gd name="connsiteX1" fmla="*/ 3565324 w 3902322"/>
              <a:gd name="connsiteY1" fmla="*/ 402338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02322 w 3902322"/>
              <a:gd name="connsiteY0" fmla="*/ 0 h 423354"/>
              <a:gd name="connsiteX1" fmla="*/ 3600933 w 3902322"/>
              <a:gd name="connsiteY1" fmla="*/ 384535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43865 w 3943865"/>
              <a:gd name="connsiteY0" fmla="*/ 1851 h 383664"/>
              <a:gd name="connsiteX1" fmla="*/ 3600933 w 3943865"/>
              <a:gd name="connsiteY1" fmla="*/ 344845 h 383664"/>
              <a:gd name="connsiteX2" fmla="*/ 343934 w 3943865"/>
              <a:gd name="connsiteY2" fmla="*/ 383664 h 383664"/>
              <a:gd name="connsiteX3" fmla="*/ 0 w 3943865"/>
              <a:gd name="connsiteY3" fmla="*/ 0 h 383664"/>
              <a:gd name="connsiteX0" fmla="*/ 4015082 w 4015082"/>
              <a:gd name="connsiteY0" fmla="*/ 29941 h 383664"/>
              <a:gd name="connsiteX1" fmla="*/ 3600933 w 4015082"/>
              <a:gd name="connsiteY1" fmla="*/ 344845 h 383664"/>
              <a:gd name="connsiteX2" fmla="*/ 343934 w 4015082"/>
              <a:gd name="connsiteY2" fmla="*/ 383664 h 383664"/>
              <a:gd name="connsiteX3" fmla="*/ 0 w 4015082"/>
              <a:gd name="connsiteY3" fmla="*/ 0 h 383664"/>
              <a:gd name="connsiteX0" fmla="*/ 4187190 w 4187190"/>
              <a:gd name="connsiteY0" fmla="*/ 15896 h 369619"/>
              <a:gd name="connsiteX1" fmla="*/ 3773041 w 4187190"/>
              <a:gd name="connsiteY1" fmla="*/ 330800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4187190 w 4187190"/>
              <a:gd name="connsiteY0" fmla="*/ 15896 h 369619"/>
              <a:gd name="connsiteX1" fmla="*/ 3749302 w 4187190"/>
              <a:gd name="connsiteY1" fmla="*/ 349527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0 w 6265284"/>
              <a:gd name="connsiteY0" fmla="*/ 0 h 1092877"/>
              <a:gd name="connsiteX1" fmla="*/ 6265284 w 6265284"/>
              <a:gd name="connsiteY1" fmla="*/ 1072785 h 1092877"/>
              <a:gd name="connsiteX2" fmla="*/ 3032024 w 6265284"/>
              <a:gd name="connsiteY2" fmla="*/ 1092877 h 1092877"/>
              <a:gd name="connsiteX3" fmla="*/ 2515982 w 6265284"/>
              <a:gd name="connsiteY3" fmla="*/ 723258 h 1092877"/>
              <a:gd name="connsiteX0" fmla="*/ 0 w 3032024"/>
              <a:gd name="connsiteY0" fmla="*/ 1193950 h 2286827"/>
              <a:gd name="connsiteX1" fmla="*/ 1581391 w 3032024"/>
              <a:gd name="connsiteY1" fmla="*/ 0 h 2286827"/>
              <a:gd name="connsiteX2" fmla="*/ 3032024 w 3032024"/>
              <a:gd name="connsiteY2" fmla="*/ 2286827 h 2286827"/>
              <a:gd name="connsiteX3" fmla="*/ 2515982 w 3032024"/>
              <a:gd name="connsiteY3" fmla="*/ 1917208 h 2286827"/>
              <a:gd name="connsiteX0" fmla="*/ 0 w 2515982"/>
              <a:gd name="connsiteY0" fmla="*/ 1896586 h 2619844"/>
              <a:gd name="connsiteX1" fmla="*/ 1581391 w 2515982"/>
              <a:gd name="connsiteY1" fmla="*/ 702636 h 2619844"/>
              <a:gd name="connsiteX2" fmla="*/ 1241736 w 2515982"/>
              <a:gd name="connsiteY2" fmla="*/ 0 h 2619844"/>
              <a:gd name="connsiteX3" fmla="*/ 2515982 w 2515982"/>
              <a:gd name="connsiteY3" fmla="*/ 2619844 h 2619844"/>
              <a:gd name="connsiteX0" fmla="*/ 0 w 1581391"/>
              <a:gd name="connsiteY0" fmla="*/ 2890379 h 2890379"/>
              <a:gd name="connsiteX1" fmla="*/ 1581391 w 1581391"/>
              <a:gd name="connsiteY1" fmla="*/ 1696429 h 2890379"/>
              <a:gd name="connsiteX2" fmla="*/ 1241736 w 1581391"/>
              <a:gd name="connsiteY2" fmla="*/ 993793 h 2890379"/>
              <a:gd name="connsiteX3" fmla="*/ 1579203 w 1581391"/>
              <a:gd name="connsiteY3" fmla="*/ 0 h 2890379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29193 w 1581391"/>
              <a:gd name="connsiteY3" fmla="*/ 0 h 2973211"/>
              <a:gd name="connsiteX0" fmla="*/ 0 w 1581391"/>
              <a:gd name="connsiteY0" fmla="*/ 3276927 h 3276927"/>
              <a:gd name="connsiteX1" fmla="*/ 1581391 w 1581391"/>
              <a:gd name="connsiteY1" fmla="*/ 2082977 h 3276927"/>
              <a:gd name="connsiteX2" fmla="*/ 1241736 w 1581391"/>
              <a:gd name="connsiteY2" fmla="*/ 1380341 h 3276927"/>
              <a:gd name="connsiteX3" fmla="*/ 1249193 w 1581391"/>
              <a:gd name="connsiteY3" fmla="*/ 0 h 3276927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34193 w 1581391"/>
              <a:gd name="connsiteY3" fmla="*/ 0 h 2973211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241736 w 1581391"/>
              <a:gd name="connsiteY2" fmla="*/ 1112124 h 3008710"/>
              <a:gd name="connsiteX3" fmla="*/ 1239193 w 1581391"/>
              <a:gd name="connsiteY3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320792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747705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66390"/>
              <a:gd name="connsiteY0" fmla="*/ 3008710 h 3008710"/>
              <a:gd name="connsiteX1" fmla="*/ 1566390 w 1566390"/>
              <a:gd name="connsiteY1" fmla="*/ 1747705 h 3008710"/>
              <a:gd name="connsiteX2" fmla="*/ 1565798 w 1566390"/>
              <a:gd name="connsiteY2" fmla="*/ 1270181 h 3008710"/>
              <a:gd name="connsiteX3" fmla="*/ 1241736 w 1566390"/>
              <a:gd name="connsiteY3" fmla="*/ 1112124 h 3008710"/>
              <a:gd name="connsiteX4" fmla="*/ 1239193 w 1566390"/>
              <a:gd name="connsiteY4" fmla="*/ 0 h 3008710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1765803 w 1766395"/>
              <a:gd name="connsiteY2" fmla="*/ 1270181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725529"/>
              <a:gd name="connsiteY0" fmla="*/ 2874009 h 2874009"/>
              <a:gd name="connsiteX1" fmla="*/ 725529 w 725529"/>
              <a:gd name="connsiteY1" fmla="*/ 1747705 h 2874009"/>
              <a:gd name="connsiteX2" fmla="*/ 724937 w 725529"/>
              <a:gd name="connsiteY2" fmla="*/ 1270181 h 2874009"/>
              <a:gd name="connsiteX3" fmla="*/ 400875 w 725529"/>
              <a:gd name="connsiteY3" fmla="*/ 1112124 h 2874009"/>
              <a:gd name="connsiteX4" fmla="*/ 398332 w 725529"/>
              <a:gd name="connsiteY4" fmla="*/ 0 h 2874009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400875 w 725529"/>
              <a:gd name="connsiteY3" fmla="*/ 1092349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42121 w 725529"/>
              <a:gd name="connsiteY3" fmla="*/ 1079165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8699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8699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33766 w 725529"/>
              <a:gd name="connsiteY3" fmla="*/ 1105532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00344 w 725529"/>
              <a:gd name="connsiteY3" fmla="*/ 1118716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175278 w 725529"/>
              <a:gd name="connsiteY3" fmla="*/ 1105533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75543 w 725529"/>
              <a:gd name="connsiteY3" fmla="*/ 1112125 h 2854234"/>
              <a:gd name="connsiteX4" fmla="*/ 181090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75543 w 725529"/>
              <a:gd name="connsiteY3" fmla="*/ 1112125 h 2854234"/>
              <a:gd name="connsiteX4" fmla="*/ 264644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92254 w 725529"/>
              <a:gd name="connsiteY3" fmla="*/ 1125309 h 2854234"/>
              <a:gd name="connsiteX4" fmla="*/ 264644 w 725529"/>
              <a:gd name="connsiteY4" fmla="*/ 0 h 2854234"/>
              <a:gd name="connsiteX0" fmla="*/ 0 w 725529"/>
              <a:gd name="connsiteY0" fmla="*/ 2854234 h 2854234"/>
              <a:gd name="connsiteX1" fmla="*/ 725529 w 725529"/>
              <a:gd name="connsiteY1" fmla="*/ 1727930 h 2854234"/>
              <a:gd name="connsiteX2" fmla="*/ 724937 w 725529"/>
              <a:gd name="connsiteY2" fmla="*/ 1250406 h 2854234"/>
              <a:gd name="connsiteX3" fmla="*/ 22889 w 725529"/>
              <a:gd name="connsiteY3" fmla="*/ 1125309 h 2854234"/>
              <a:gd name="connsiteX4" fmla="*/ 264644 w 725529"/>
              <a:gd name="connsiteY4" fmla="*/ 0 h 2854234"/>
              <a:gd name="connsiteX0" fmla="*/ 43202 w 768731"/>
              <a:gd name="connsiteY0" fmla="*/ 2975683 h 2975683"/>
              <a:gd name="connsiteX1" fmla="*/ 768731 w 768731"/>
              <a:gd name="connsiteY1" fmla="*/ 1849379 h 2975683"/>
              <a:gd name="connsiteX2" fmla="*/ 768139 w 768731"/>
              <a:gd name="connsiteY2" fmla="*/ 1371855 h 2975683"/>
              <a:gd name="connsiteX3" fmla="*/ 66091 w 768731"/>
              <a:gd name="connsiteY3" fmla="*/ 1246758 h 2975683"/>
              <a:gd name="connsiteX4" fmla="*/ 0 w 768731"/>
              <a:gd name="connsiteY4" fmla="*/ 0 h 2975683"/>
              <a:gd name="connsiteX0" fmla="*/ 54072 w 779601"/>
              <a:gd name="connsiteY0" fmla="*/ 2975683 h 2975683"/>
              <a:gd name="connsiteX1" fmla="*/ 779601 w 779601"/>
              <a:gd name="connsiteY1" fmla="*/ 1849379 h 2975683"/>
              <a:gd name="connsiteX2" fmla="*/ 779009 w 779601"/>
              <a:gd name="connsiteY2" fmla="*/ 1371855 h 2975683"/>
              <a:gd name="connsiteX3" fmla="*/ 0 w 779601"/>
              <a:gd name="connsiteY3" fmla="*/ 1277120 h 2975683"/>
              <a:gd name="connsiteX4" fmla="*/ 10870 w 779601"/>
              <a:gd name="connsiteY4" fmla="*/ 0 h 2975683"/>
              <a:gd name="connsiteX0" fmla="*/ 62442 w 787971"/>
              <a:gd name="connsiteY0" fmla="*/ 2763147 h 2763147"/>
              <a:gd name="connsiteX1" fmla="*/ 787971 w 787971"/>
              <a:gd name="connsiteY1" fmla="*/ 1636843 h 2763147"/>
              <a:gd name="connsiteX2" fmla="*/ 787379 w 787971"/>
              <a:gd name="connsiteY2" fmla="*/ 1159319 h 2763147"/>
              <a:gd name="connsiteX3" fmla="*/ 8370 w 787971"/>
              <a:gd name="connsiteY3" fmla="*/ 1064584 h 2763147"/>
              <a:gd name="connsiteX4" fmla="*/ 0 w 787971"/>
              <a:gd name="connsiteY4" fmla="*/ 0 h 2763147"/>
              <a:gd name="connsiteX0" fmla="*/ 54072 w 779601"/>
              <a:gd name="connsiteY0" fmla="*/ 2808691 h 2808691"/>
              <a:gd name="connsiteX1" fmla="*/ 779601 w 779601"/>
              <a:gd name="connsiteY1" fmla="*/ 1682387 h 2808691"/>
              <a:gd name="connsiteX2" fmla="*/ 779009 w 779601"/>
              <a:gd name="connsiteY2" fmla="*/ 1204863 h 2808691"/>
              <a:gd name="connsiteX3" fmla="*/ 0 w 779601"/>
              <a:gd name="connsiteY3" fmla="*/ 1110128 h 2808691"/>
              <a:gd name="connsiteX4" fmla="*/ 30111 w 779601"/>
              <a:gd name="connsiteY4" fmla="*/ 0 h 2808691"/>
              <a:gd name="connsiteX0" fmla="*/ 62830 w 788359"/>
              <a:gd name="connsiteY0" fmla="*/ 2896348 h 2896348"/>
              <a:gd name="connsiteX1" fmla="*/ 788359 w 788359"/>
              <a:gd name="connsiteY1" fmla="*/ 1770044 h 2896348"/>
              <a:gd name="connsiteX2" fmla="*/ 787767 w 788359"/>
              <a:gd name="connsiteY2" fmla="*/ 1292520 h 2896348"/>
              <a:gd name="connsiteX3" fmla="*/ 8758 w 788359"/>
              <a:gd name="connsiteY3" fmla="*/ 1197785 h 2896348"/>
              <a:gd name="connsiteX4" fmla="*/ 38869 w 788359"/>
              <a:gd name="connsiteY4" fmla="*/ 87657 h 2896348"/>
              <a:gd name="connsiteX5" fmla="*/ 0 w 788359"/>
              <a:gd name="connsiteY5" fmla="*/ 69436 h 2896348"/>
              <a:gd name="connsiteX0" fmla="*/ 54072 w 818640"/>
              <a:gd name="connsiteY0" fmla="*/ 3100173 h 3100173"/>
              <a:gd name="connsiteX1" fmla="*/ 779601 w 818640"/>
              <a:gd name="connsiteY1" fmla="*/ 1973869 h 3100173"/>
              <a:gd name="connsiteX2" fmla="*/ 779009 w 818640"/>
              <a:gd name="connsiteY2" fmla="*/ 1496345 h 3100173"/>
              <a:gd name="connsiteX3" fmla="*/ 0 w 818640"/>
              <a:gd name="connsiteY3" fmla="*/ 1401610 h 3100173"/>
              <a:gd name="connsiteX4" fmla="*/ 30111 w 818640"/>
              <a:gd name="connsiteY4" fmla="*/ 291482 h 3100173"/>
              <a:gd name="connsiteX5" fmla="*/ 818579 w 818640"/>
              <a:gd name="connsiteY5" fmla="*/ 0 h 3100173"/>
              <a:gd name="connsiteX0" fmla="*/ 54072 w 818579"/>
              <a:gd name="connsiteY0" fmla="*/ 3100173 h 3100173"/>
              <a:gd name="connsiteX1" fmla="*/ 779601 w 818579"/>
              <a:gd name="connsiteY1" fmla="*/ 1973869 h 3100173"/>
              <a:gd name="connsiteX2" fmla="*/ 779009 w 818579"/>
              <a:gd name="connsiteY2" fmla="*/ 1496345 h 3100173"/>
              <a:gd name="connsiteX3" fmla="*/ 0 w 818579"/>
              <a:gd name="connsiteY3" fmla="*/ 1401610 h 3100173"/>
              <a:gd name="connsiteX4" fmla="*/ 30111 w 818579"/>
              <a:gd name="connsiteY4" fmla="*/ 291482 h 3100173"/>
              <a:gd name="connsiteX5" fmla="*/ 510732 w 818579"/>
              <a:gd name="connsiteY5" fmla="*/ 60725 h 3100173"/>
              <a:gd name="connsiteX6" fmla="*/ 818579 w 818579"/>
              <a:gd name="connsiteY6" fmla="*/ 0 h 3100173"/>
              <a:gd name="connsiteX0" fmla="*/ 54072 w 779601"/>
              <a:gd name="connsiteY0" fmla="*/ 3510065 h 3510065"/>
              <a:gd name="connsiteX1" fmla="*/ 779601 w 779601"/>
              <a:gd name="connsiteY1" fmla="*/ 2383761 h 3510065"/>
              <a:gd name="connsiteX2" fmla="*/ 779009 w 779601"/>
              <a:gd name="connsiteY2" fmla="*/ 1906237 h 3510065"/>
              <a:gd name="connsiteX3" fmla="*/ 0 w 779601"/>
              <a:gd name="connsiteY3" fmla="*/ 1811502 h 3510065"/>
              <a:gd name="connsiteX4" fmla="*/ 30111 w 779601"/>
              <a:gd name="connsiteY4" fmla="*/ 701374 h 3510065"/>
              <a:gd name="connsiteX5" fmla="*/ 510732 w 779601"/>
              <a:gd name="connsiteY5" fmla="*/ 470617 h 3510065"/>
              <a:gd name="connsiteX6" fmla="*/ 760858 w 779601"/>
              <a:gd name="connsiteY6" fmla="*/ 0 h 3510065"/>
              <a:gd name="connsiteX0" fmla="*/ 54072 w 809403"/>
              <a:gd name="connsiteY0" fmla="*/ 3510065 h 3510065"/>
              <a:gd name="connsiteX1" fmla="*/ 779601 w 809403"/>
              <a:gd name="connsiteY1" fmla="*/ 2383761 h 3510065"/>
              <a:gd name="connsiteX2" fmla="*/ 779009 w 809403"/>
              <a:gd name="connsiteY2" fmla="*/ 1906237 h 3510065"/>
              <a:gd name="connsiteX3" fmla="*/ 0 w 809403"/>
              <a:gd name="connsiteY3" fmla="*/ 1811502 h 3510065"/>
              <a:gd name="connsiteX4" fmla="*/ 30111 w 809403"/>
              <a:gd name="connsiteY4" fmla="*/ 701374 h 3510065"/>
              <a:gd name="connsiteX5" fmla="*/ 760857 w 809403"/>
              <a:gd name="connsiteY5" fmla="*/ 440254 h 3510065"/>
              <a:gd name="connsiteX6" fmla="*/ 760858 w 809403"/>
              <a:gd name="connsiteY6" fmla="*/ 0 h 3510065"/>
              <a:gd name="connsiteX0" fmla="*/ 54072 w 809403"/>
              <a:gd name="connsiteY0" fmla="*/ 3510065 h 3510065"/>
              <a:gd name="connsiteX1" fmla="*/ 779601 w 809403"/>
              <a:gd name="connsiteY1" fmla="*/ 2383761 h 3510065"/>
              <a:gd name="connsiteX2" fmla="*/ 779009 w 809403"/>
              <a:gd name="connsiteY2" fmla="*/ 1906237 h 3510065"/>
              <a:gd name="connsiteX3" fmla="*/ 0 w 809403"/>
              <a:gd name="connsiteY3" fmla="*/ 1811502 h 3510065"/>
              <a:gd name="connsiteX4" fmla="*/ 30111 w 809403"/>
              <a:gd name="connsiteY4" fmla="*/ 701374 h 3510065"/>
              <a:gd name="connsiteX5" fmla="*/ 760857 w 809403"/>
              <a:gd name="connsiteY5" fmla="*/ 440254 h 3510065"/>
              <a:gd name="connsiteX6" fmla="*/ 760858 w 809403"/>
              <a:gd name="connsiteY6" fmla="*/ 0 h 3510065"/>
              <a:gd name="connsiteX0" fmla="*/ 54072 w 779601"/>
              <a:gd name="connsiteY0" fmla="*/ 3510065 h 3510065"/>
              <a:gd name="connsiteX1" fmla="*/ 779601 w 779601"/>
              <a:gd name="connsiteY1" fmla="*/ 2383761 h 3510065"/>
              <a:gd name="connsiteX2" fmla="*/ 779009 w 779601"/>
              <a:gd name="connsiteY2" fmla="*/ 1906237 h 3510065"/>
              <a:gd name="connsiteX3" fmla="*/ 0 w 779601"/>
              <a:gd name="connsiteY3" fmla="*/ 1811502 h 3510065"/>
              <a:gd name="connsiteX4" fmla="*/ 30111 w 779601"/>
              <a:gd name="connsiteY4" fmla="*/ 701374 h 3510065"/>
              <a:gd name="connsiteX5" fmla="*/ 760857 w 779601"/>
              <a:gd name="connsiteY5" fmla="*/ 440254 h 3510065"/>
              <a:gd name="connsiteX6" fmla="*/ 760858 w 779601"/>
              <a:gd name="connsiteY6" fmla="*/ 0 h 3510065"/>
              <a:gd name="connsiteX0" fmla="*/ 54072 w 779601"/>
              <a:gd name="connsiteY0" fmla="*/ 3579994 h 3579994"/>
              <a:gd name="connsiteX1" fmla="*/ 779601 w 779601"/>
              <a:gd name="connsiteY1" fmla="*/ 2453690 h 3579994"/>
              <a:gd name="connsiteX2" fmla="*/ 779009 w 779601"/>
              <a:gd name="connsiteY2" fmla="*/ 1976166 h 3579994"/>
              <a:gd name="connsiteX3" fmla="*/ 0 w 779601"/>
              <a:gd name="connsiteY3" fmla="*/ 1881431 h 3579994"/>
              <a:gd name="connsiteX4" fmla="*/ 30111 w 779601"/>
              <a:gd name="connsiteY4" fmla="*/ 771303 h 3579994"/>
              <a:gd name="connsiteX5" fmla="*/ 760857 w 779601"/>
              <a:gd name="connsiteY5" fmla="*/ 510183 h 3579994"/>
              <a:gd name="connsiteX6" fmla="*/ 760858 w 779601"/>
              <a:gd name="connsiteY6" fmla="*/ 69929 h 3579994"/>
              <a:gd name="connsiteX0" fmla="*/ 54072 w 779601"/>
              <a:gd name="connsiteY0" fmla="*/ 3707204 h 3707204"/>
              <a:gd name="connsiteX1" fmla="*/ 779601 w 779601"/>
              <a:gd name="connsiteY1" fmla="*/ 2580900 h 3707204"/>
              <a:gd name="connsiteX2" fmla="*/ 779009 w 779601"/>
              <a:gd name="connsiteY2" fmla="*/ 2103376 h 3707204"/>
              <a:gd name="connsiteX3" fmla="*/ 0 w 779601"/>
              <a:gd name="connsiteY3" fmla="*/ 2008641 h 3707204"/>
              <a:gd name="connsiteX4" fmla="*/ 30111 w 779601"/>
              <a:gd name="connsiteY4" fmla="*/ 898513 h 3707204"/>
              <a:gd name="connsiteX5" fmla="*/ 760857 w 779601"/>
              <a:gd name="connsiteY5" fmla="*/ 637393 h 3707204"/>
              <a:gd name="connsiteX6" fmla="*/ 739550 w 779601"/>
              <a:gd name="connsiteY6" fmla="*/ 59300 h 3707204"/>
              <a:gd name="connsiteX0" fmla="*/ 54072 w 779601"/>
              <a:gd name="connsiteY0" fmla="*/ 3647904 h 3647904"/>
              <a:gd name="connsiteX1" fmla="*/ 779601 w 779601"/>
              <a:gd name="connsiteY1" fmla="*/ 2521600 h 3647904"/>
              <a:gd name="connsiteX2" fmla="*/ 779009 w 779601"/>
              <a:gd name="connsiteY2" fmla="*/ 2044076 h 3647904"/>
              <a:gd name="connsiteX3" fmla="*/ 0 w 779601"/>
              <a:gd name="connsiteY3" fmla="*/ 1949341 h 3647904"/>
              <a:gd name="connsiteX4" fmla="*/ 30111 w 779601"/>
              <a:gd name="connsiteY4" fmla="*/ 839213 h 3647904"/>
              <a:gd name="connsiteX5" fmla="*/ 760857 w 779601"/>
              <a:gd name="connsiteY5" fmla="*/ 578093 h 3647904"/>
              <a:gd name="connsiteX6" fmla="*/ 739550 w 779601"/>
              <a:gd name="connsiteY6" fmla="*/ 0 h 3647904"/>
              <a:gd name="connsiteX0" fmla="*/ 54072 w 779601"/>
              <a:gd name="connsiteY0" fmla="*/ 3557132 h 3557132"/>
              <a:gd name="connsiteX1" fmla="*/ 779601 w 779601"/>
              <a:gd name="connsiteY1" fmla="*/ 2430828 h 3557132"/>
              <a:gd name="connsiteX2" fmla="*/ 779009 w 779601"/>
              <a:gd name="connsiteY2" fmla="*/ 1953304 h 3557132"/>
              <a:gd name="connsiteX3" fmla="*/ 0 w 779601"/>
              <a:gd name="connsiteY3" fmla="*/ 1858569 h 3557132"/>
              <a:gd name="connsiteX4" fmla="*/ 30111 w 779601"/>
              <a:gd name="connsiteY4" fmla="*/ 748441 h 3557132"/>
              <a:gd name="connsiteX5" fmla="*/ 760857 w 779601"/>
              <a:gd name="connsiteY5" fmla="*/ 487321 h 3557132"/>
              <a:gd name="connsiteX6" fmla="*/ 739550 w 779601"/>
              <a:gd name="connsiteY6" fmla="*/ 0 h 3557132"/>
              <a:gd name="connsiteX0" fmla="*/ 54072 w 779601"/>
              <a:gd name="connsiteY0" fmla="*/ 3557132 h 3557132"/>
              <a:gd name="connsiteX1" fmla="*/ 779601 w 779601"/>
              <a:gd name="connsiteY1" fmla="*/ 2430828 h 3557132"/>
              <a:gd name="connsiteX2" fmla="*/ 779009 w 779601"/>
              <a:gd name="connsiteY2" fmla="*/ 1953304 h 3557132"/>
              <a:gd name="connsiteX3" fmla="*/ 0 w 779601"/>
              <a:gd name="connsiteY3" fmla="*/ 1858569 h 3557132"/>
              <a:gd name="connsiteX4" fmla="*/ 30111 w 779601"/>
              <a:gd name="connsiteY4" fmla="*/ 748441 h 3557132"/>
              <a:gd name="connsiteX5" fmla="*/ 760857 w 779601"/>
              <a:gd name="connsiteY5" fmla="*/ 487321 h 3557132"/>
              <a:gd name="connsiteX6" fmla="*/ 739550 w 779601"/>
              <a:gd name="connsiteY6" fmla="*/ 0 h 3557132"/>
              <a:gd name="connsiteX0" fmla="*/ 54072 w 779601"/>
              <a:gd name="connsiteY0" fmla="*/ 3580665 h 3580665"/>
              <a:gd name="connsiteX1" fmla="*/ 779601 w 779601"/>
              <a:gd name="connsiteY1" fmla="*/ 2454361 h 3580665"/>
              <a:gd name="connsiteX2" fmla="*/ 779009 w 779601"/>
              <a:gd name="connsiteY2" fmla="*/ 1976837 h 3580665"/>
              <a:gd name="connsiteX3" fmla="*/ 0 w 779601"/>
              <a:gd name="connsiteY3" fmla="*/ 1882102 h 3580665"/>
              <a:gd name="connsiteX4" fmla="*/ 30111 w 779601"/>
              <a:gd name="connsiteY4" fmla="*/ 771974 h 3580665"/>
              <a:gd name="connsiteX5" fmla="*/ 760857 w 779601"/>
              <a:gd name="connsiteY5" fmla="*/ 510854 h 3580665"/>
              <a:gd name="connsiteX6" fmla="*/ 735288 w 779601"/>
              <a:gd name="connsiteY6" fmla="*/ 0 h 3580665"/>
              <a:gd name="connsiteX0" fmla="*/ 54072 w 779601"/>
              <a:gd name="connsiteY0" fmla="*/ 3580665 h 3580665"/>
              <a:gd name="connsiteX1" fmla="*/ 779601 w 779601"/>
              <a:gd name="connsiteY1" fmla="*/ 2454361 h 3580665"/>
              <a:gd name="connsiteX2" fmla="*/ 779009 w 779601"/>
              <a:gd name="connsiteY2" fmla="*/ 1976837 h 3580665"/>
              <a:gd name="connsiteX3" fmla="*/ 0 w 779601"/>
              <a:gd name="connsiteY3" fmla="*/ 1882102 h 3580665"/>
              <a:gd name="connsiteX4" fmla="*/ 30111 w 779601"/>
              <a:gd name="connsiteY4" fmla="*/ 771974 h 3580665"/>
              <a:gd name="connsiteX5" fmla="*/ 760857 w 779601"/>
              <a:gd name="connsiteY5" fmla="*/ 510854 h 3580665"/>
              <a:gd name="connsiteX6" fmla="*/ 735288 w 779601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6599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67907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12505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12505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23961 w 749490"/>
              <a:gd name="connsiteY0" fmla="*/ 3580665 h 3580665"/>
              <a:gd name="connsiteX1" fmla="*/ 749490 w 749490"/>
              <a:gd name="connsiteY1" fmla="*/ 2454361 h 3580665"/>
              <a:gd name="connsiteX2" fmla="*/ 748898 w 749490"/>
              <a:gd name="connsiteY2" fmla="*/ 1976837 h 3580665"/>
              <a:gd name="connsiteX3" fmla="*/ 42337 w 749490"/>
              <a:gd name="connsiteY3" fmla="*/ 1835036 h 3580665"/>
              <a:gd name="connsiteX4" fmla="*/ 0 w 749490"/>
              <a:gd name="connsiteY4" fmla="*/ 771974 h 3580665"/>
              <a:gd name="connsiteX5" fmla="*/ 730746 w 749490"/>
              <a:gd name="connsiteY5" fmla="*/ 510854 h 3580665"/>
              <a:gd name="connsiteX6" fmla="*/ 705177 w 749490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67908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38076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775061"/>
              <a:gd name="connsiteY0" fmla="*/ 3580665 h 3580665"/>
              <a:gd name="connsiteX1" fmla="*/ 775061 w 775061"/>
              <a:gd name="connsiteY1" fmla="*/ 2454361 h 3580665"/>
              <a:gd name="connsiteX2" fmla="*/ 774469 w 775061"/>
              <a:gd name="connsiteY2" fmla="*/ 1976837 h 3580665"/>
              <a:gd name="connsiteX3" fmla="*/ 38076 w 775061"/>
              <a:gd name="connsiteY3" fmla="*/ 1835036 h 3580665"/>
              <a:gd name="connsiteX4" fmla="*/ 0 w 775061"/>
              <a:gd name="connsiteY4" fmla="*/ 775336 h 3580665"/>
              <a:gd name="connsiteX5" fmla="*/ 756317 w 775061"/>
              <a:gd name="connsiteY5" fmla="*/ 510854 h 3580665"/>
              <a:gd name="connsiteX6" fmla="*/ 730748 w 775061"/>
              <a:gd name="connsiteY6" fmla="*/ 0 h 3580665"/>
              <a:gd name="connsiteX0" fmla="*/ 49532 w 872488"/>
              <a:gd name="connsiteY0" fmla="*/ 3580665 h 3580665"/>
              <a:gd name="connsiteX1" fmla="*/ 775061 w 872488"/>
              <a:gd name="connsiteY1" fmla="*/ 2454361 h 3580665"/>
              <a:gd name="connsiteX2" fmla="*/ 872488 w 872488"/>
              <a:gd name="connsiteY2" fmla="*/ 2054161 h 3580665"/>
              <a:gd name="connsiteX3" fmla="*/ 38076 w 872488"/>
              <a:gd name="connsiteY3" fmla="*/ 1835036 h 3580665"/>
              <a:gd name="connsiteX4" fmla="*/ 0 w 872488"/>
              <a:gd name="connsiteY4" fmla="*/ 775336 h 3580665"/>
              <a:gd name="connsiteX5" fmla="*/ 756317 w 872488"/>
              <a:gd name="connsiteY5" fmla="*/ 510854 h 3580665"/>
              <a:gd name="connsiteX6" fmla="*/ 730748 w 872488"/>
              <a:gd name="connsiteY6" fmla="*/ 0 h 3580665"/>
              <a:gd name="connsiteX0" fmla="*/ 49532 w 873080"/>
              <a:gd name="connsiteY0" fmla="*/ 3580665 h 3580665"/>
              <a:gd name="connsiteX1" fmla="*/ 873080 w 873080"/>
              <a:gd name="connsiteY1" fmla="*/ 2414018 h 3580665"/>
              <a:gd name="connsiteX2" fmla="*/ 872488 w 873080"/>
              <a:gd name="connsiteY2" fmla="*/ 2054161 h 3580665"/>
              <a:gd name="connsiteX3" fmla="*/ 38076 w 873080"/>
              <a:gd name="connsiteY3" fmla="*/ 1835036 h 3580665"/>
              <a:gd name="connsiteX4" fmla="*/ 0 w 873080"/>
              <a:gd name="connsiteY4" fmla="*/ 775336 h 3580665"/>
              <a:gd name="connsiteX5" fmla="*/ 756317 w 873080"/>
              <a:gd name="connsiteY5" fmla="*/ 510854 h 3580665"/>
              <a:gd name="connsiteX6" fmla="*/ 730748 w 873080"/>
              <a:gd name="connsiteY6" fmla="*/ 0 h 3580665"/>
              <a:gd name="connsiteX0" fmla="*/ 49532 w 873080"/>
              <a:gd name="connsiteY0" fmla="*/ 3580665 h 3580665"/>
              <a:gd name="connsiteX1" fmla="*/ 873080 w 873080"/>
              <a:gd name="connsiteY1" fmla="*/ 2414018 h 3580665"/>
              <a:gd name="connsiteX2" fmla="*/ 872488 w 873080"/>
              <a:gd name="connsiteY2" fmla="*/ 2054161 h 3580665"/>
              <a:gd name="connsiteX3" fmla="*/ 38076 w 873080"/>
              <a:gd name="connsiteY3" fmla="*/ 1835036 h 3580665"/>
              <a:gd name="connsiteX4" fmla="*/ 0 w 873080"/>
              <a:gd name="connsiteY4" fmla="*/ 775336 h 3580665"/>
              <a:gd name="connsiteX5" fmla="*/ 730748 w 873080"/>
              <a:gd name="connsiteY5" fmla="*/ 0 h 3580665"/>
              <a:gd name="connsiteX0" fmla="*/ 12167 w 835715"/>
              <a:gd name="connsiteY0" fmla="*/ 3580665 h 3580665"/>
              <a:gd name="connsiteX1" fmla="*/ 835715 w 835715"/>
              <a:gd name="connsiteY1" fmla="*/ 2414018 h 3580665"/>
              <a:gd name="connsiteX2" fmla="*/ 835123 w 835715"/>
              <a:gd name="connsiteY2" fmla="*/ 2054161 h 3580665"/>
              <a:gd name="connsiteX3" fmla="*/ 711 w 835715"/>
              <a:gd name="connsiteY3" fmla="*/ 1835036 h 3580665"/>
              <a:gd name="connsiteX4" fmla="*/ 693383 w 835715"/>
              <a:gd name="connsiteY4" fmla="*/ 0 h 3580665"/>
              <a:gd name="connsiteX0" fmla="*/ 0 w 823548"/>
              <a:gd name="connsiteY0" fmla="*/ 3580665 h 3580665"/>
              <a:gd name="connsiteX1" fmla="*/ 823548 w 823548"/>
              <a:gd name="connsiteY1" fmla="*/ 2414018 h 3580665"/>
              <a:gd name="connsiteX2" fmla="*/ 822956 w 823548"/>
              <a:gd name="connsiteY2" fmla="*/ 2054161 h 3580665"/>
              <a:gd name="connsiteX3" fmla="*/ 287809 w 823548"/>
              <a:gd name="connsiteY3" fmla="*/ 1835036 h 3580665"/>
              <a:gd name="connsiteX4" fmla="*/ 681216 w 823548"/>
              <a:gd name="connsiteY4" fmla="*/ 0 h 3580665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20677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20677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87809 w 823548"/>
              <a:gd name="connsiteY3" fmla="*/ 1823521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229416 w 823548"/>
              <a:gd name="connsiteY3" fmla="*/ 1817763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78322 w 823548"/>
              <a:gd name="connsiteY3" fmla="*/ 1806247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06247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29278 h 3569150"/>
              <a:gd name="connsiteX4" fmla="*/ 126482 w 823548"/>
              <a:gd name="connsiteY4" fmla="*/ 0 h 3569150"/>
              <a:gd name="connsiteX0" fmla="*/ 0 w 823548"/>
              <a:gd name="connsiteY0" fmla="*/ 3569150 h 3569150"/>
              <a:gd name="connsiteX1" fmla="*/ 823548 w 823548"/>
              <a:gd name="connsiteY1" fmla="*/ 2402503 h 3569150"/>
              <a:gd name="connsiteX2" fmla="*/ 822956 w 823548"/>
              <a:gd name="connsiteY2" fmla="*/ 2042646 h 3569150"/>
              <a:gd name="connsiteX3" fmla="*/ 149125 w 823548"/>
              <a:gd name="connsiteY3" fmla="*/ 1829278 h 3569150"/>
              <a:gd name="connsiteX4" fmla="*/ 126482 w 823548"/>
              <a:gd name="connsiteY4" fmla="*/ 0 h 3569150"/>
              <a:gd name="connsiteX0" fmla="*/ 0 w 823548"/>
              <a:gd name="connsiteY0" fmla="*/ 3574908 h 3574908"/>
              <a:gd name="connsiteX1" fmla="*/ 823548 w 823548"/>
              <a:gd name="connsiteY1" fmla="*/ 2408261 h 3574908"/>
              <a:gd name="connsiteX2" fmla="*/ 822956 w 823548"/>
              <a:gd name="connsiteY2" fmla="*/ 2048404 h 3574908"/>
              <a:gd name="connsiteX3" fmla="*/ 149125 w 823548"/>
              <a:gd name="connsiteY3" fmla="*/ 1835036 h 3574908"/>
              <a:gd name="connsiteX4" fmla="*/ 68088 w 823548"/>
              <a:gd name="connsiteY4" fmla="*/ 0 h 3574908"/>
              <a:gd name="connsiteX0" fmla="*/ 0 w 823548"/>
              <a:gd name="connsiteY0" fmla="*/ 3574908 h 3574908"/>
              <a:gd name="connsiteX1" fmla="*/ 823548 w 823548"/>
              <a:gd name="connsiteY1" fmla="*/ 2408261 h 3574908"/>
              <a:gd name="connsiteX2" fmla="*/ 822956 w 823548"/>
              <a:gd name="connsiteY2" fmla="*/ 2048404 h 3574908"/>
              <a:gd name="connsiteX3" fmla="*/ 134526 w 823548"/>
              <a:gd name="connsiteY3" fmla="*/ 1858067 h 3574908"/>
              <a:gd name="connsiteX4" fmla="*/ 68088 w 823548"/>
              <a:gd name="connsiteY4" fmla="*/ 0 h 3574908"/>
              <a:gd name="connsiteX0" fmla="*/ 0 w 823548"/>
              <a:gd name="connsiteY0" fmla="*/ 3580665 h 3580665"/>
              <a:gd name="connsiteX1" fmla="*/ 823548 w 823548"/>
              <a:gd name="connsiteY1" fmla="*/ 2414018 h 3580665"/>
              <a:gd name="connsiteX2" fmla="*/ 822956 w 823548"/>
              <a:gd name="connsiteY2" fmla="*/ 2054161 h 3580665"/>
              <a:gd name="connsiteX3" fmla="*/ 134526 w 823548"/>
              <a:gd name="connsiteY3" fmla="*/ 1863824 h 3580665"/>
              <a:gd name="connsiteX4" fmla="*/ 104584 w 823548"/>
              <a:gd name="connsiteY4" fmla="*/ 0 h 3580665"/>
              <a:gd name="connsiteX0" fmla="*/ 29101 w 718964"/>
              <a:gd name="connsiteY0" fmla="*/ 3359195 h 3359195"/>
              <a:gd name="connsiteX1" fmla="*/ 718964 w 718964"/>
              <a:gd name="connsiteY1" fmla="*/ 2414018 h 3359195"/>
              <a:gd name="connsiteX2" fmla="*/ 718372 w 718964"/>
              <a:gd name="connsiteY2" fmla="*/ 2054161 h 3359195"/>
              <a:gd name="connsiteX3" fmla="*/ 29942 w 718964"/>
              <a:gd name="connsiteY3" fmla="*/ 1863824 h 3359195"/>
              <a:gd name="connsiteX4" fmla="*/ 0 w 718964"/>
              <a:gd name="connsiteY4" fmla="*/ 0 h 3359195"/>
              <a:gd name="connsiteX0" fmla="*/ 15733 w 705596"/>
              <a:gd name="connsiteY0" fmla="*/ 2968987 h 2968987"/>
              <a:gd name="connsiteX1" fmla="*/ 705596 w 705596"/>
              <a:gd name="connsiteY1" fmla="*/ 2023810 h 2968987"/>
              <a:gd name="connsiteX2" fmla="*/ 705004 w 705596"/>
              <a:gd name="connsiteY2" fmla="*/ 1663953 h 2968987"/>
              <a:gd name="connsiteX3" fmla="*/ 16574 w 705596"/>
              <a:gd name="connsiteY3" fmla="*/ 1473616 h 2968987"/>
              <a:gd name="connsiteX4" fmla="*/ 0 w 705596"/>
              <a:gd name="connsiteY4" fmla="*/ 0 h 2968987"/>
              <a:gd name="connsiteX0" fmla="*/ 21024 w 710887"/>
              <a:gd name="connsiteY0" fmla="*/ 3027431 h 3027431"/>
              <a:gd name="connsiteX1" fmla="*/ 710887 w 710887"/>
              <a:gd name="connsiteY1" fmla="*/ 2082254 h 3027431"/>
              <a:gd name="connsiteX2" fmla="*/ 710295 w 710887"/>
              <a:gd name="connsiteY2" fmla="*/ 1722397 h 3027431"/>
              <a:gd name="connsiteX3" fmla="*/ 21865 w 710887"/>
              <a:gd name="connsiteY3" fmla="*/ 1532060 h 3027431"/>
              <a:gd name="connsiteX4" fmla="*/ 0 w 710887"/>
              <a:gd name="connsiteY4" fmla="*/ 0 h 3027431"/>
              <a:gd name="connsiteX0" fmla="*/ 34392 w 710887"/>
              <a:gd name="connsiteY0" fmla="*/ 2943061 h 2943061"/>
              <a:gd name="connsiteX1" fmla="*/ 710887 w 710887"/>
              <a:gd name="connsiteY1" fmla="*/ 2082254 h 2943061"/>
              <a:gd name="connsiteX2" fmla="*/ 710295 w 710887"/>
              <a:gd name="connsiteY2" fmla="*/ 1722397 h 2943061"/>
              <a:gd name="connsiteX3" fmla="*/ 21865 w 710887"/>
              <a:gd name="connsiteY3" fmla="*/ 1532060 h 2943061"/>
              <a:gd name="connsiteX4" fmla="*/ 0 w 710887"/>
              <a:gd name="connsiteY4" fmla="*/ 0 h 2943061"/>
              <a:gd name="connsiteX0" fmla="*/ 34392 w 710887"/>
              <a:gd name="connsiteY0" fmla="*/ 2943061 h 2943061"/>
              <a:gd name="connsiteX1" fmla="*/ 710887 w 710887"/>
              <a:gd name="connsiteY1" fmla="*/ 2082254 h 2943061"/>
              <a:gd name="connsiteX2" fmla="*/ 710295 w 710887"/>
              <a:gd name="connsiteY2" fmla="*/ 1722397 h 2943061"/>
              <a:gd name="connsiteX3" fmla="*/ 21865 w 710887"/>
              <a:gd name="connsiteY3" fmla="*/ 1532060 h 2943061"/>
              <a:gd name="connsiteX4" fmla="*/ 0 w 710887"/>
              <a:gd name="connsiteY4" fmla="*/ 0 h 294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887" h="2943061">
                <a:moveTo>
                  <a:pt x="34392" y="2943061"/>
                </a:moveTo>
                <a:cubicBezTo>
                  <a:pt x="643118" y="2216702"/>
                  <a:pt x="436371" y="2471136"/>
                  <a:pt x="710887" y="2082254"/>
                </a:cubicBezTo>
                <a:cubicBezTo>
                  <a:pt x="710690" y="1923079"/>
                  <a:pt x="710492" y="1881572"/>
                  <a:pt x="710295" y="1722397"/>
                </a:cubicBezTo>
                <a:cubicBezTo>
                  <a:pt x="566067" y="1680698"/>
                  <a:pt x="166093" y="1573759"/>
                  <a:pt x="21865" y="1532060"/>
                </a:cubicBezTo>
                <a:cubicBezTo>
                  <a:pt x="5542" y="849989"/>
                  <a:pt x="1676" y="727768"/>
                  <a:pt x="0" y="0"/>
                </a:cubicBezTo>
              </a:path>
            </a:pathLst>
          </a:custGeom>
          <a:ln w="12700">
            <a:solidFill>
              <a:schemeClr val="tx1"/>
            </a:solidFill>
            <a:tailEnd type="triangle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5" name="Group 224"/>
          <p:cNvGrpSpPr/>
          <p:nvPr/>
        </p:nvGrpSpPr>
        <p:grpSpPr>
          <a:xfrm>
            <a:off x="1672399" y="4825035"/>
            <a:ext cx="313044" cy="369332"/>
            <a:chOff x="418816" y="1964112"/>
            <a:chExt cx="313044" cy="369332"/>
          </a:xfrm>
        </p:grpSpPr>
        <p:sp>
          <p:nvSpPr>
            <p:cNvPr id="226" name="Oval 225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1</a:t>
              </a:r>
              <a:endParaRPr lang="en-US" dirty="0">
                <a:latin typeface="Arial"/>
                <a:cs typeface="Arial"/>
              </a:endParaRPr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1765227" y="3717809"/>
            <a:ext cx="313044" cy="369332"/>
            <a:chOff x="418816" y="1964112"/>
            <a:chExt cx="313044" cy="369332"/>
          </a:xfrm>
        </p:grpSpPr>
        <p:sp>
          <p:nvSpPr>
            <p:cNvPr id="229" name="Oval 228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2</a:t>
              </a:r>
              <a:endParaRPr lang="en-US" dirty="0">
                <a:latin typeface="Arial"/>
                <a:cs typeface="Arial"/>
              </a:endParaRPr>
            </a:p>
          </p:txBody>
        </p:sp>
      </p:grpSp>
      <p:grpSp>
        <p:nvGrpSpPr>
          <p:cNvPr id="231" name="Group 230"/>
          <p:cNvGrpSpPr/>
          <p:nvPr/>
        </p:nvGrpSpPr>
        <p:grpSpPr>
          <a:xfrm>
            <a:off x="1285507" y="2532088"/>
            <a:ext cx="313044" cy="369332"/>
            <a:chOff x="418816" y="1964112"/>
            <a:chExt cx="313044" cy="369332"/>
          </a:xfrm>
        </p:grpSpPr>
        <p:sp>
          <p:nvSpPr>
            <p:cNvPr id="232" name="Oval 231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3</a:t>
              </a:r>
              <a:endParaRPr lang="en-US" dirty="0">
                <a:latin typeface="Arial"/>
                <a:cs typeface="Arial"/>
              </a:endParaRPr>
            </a:p>
          </p:txBody>
        </p:sp>
      </p:grpSp>
      <p:cxnSp>
        <p:nvCxnSpPr>
          <p:cNvPr id="4" name="Straight Arrow Connector 3"/>
          <p:cNvCxnSpPr/>
          <p:nvPr/>
        </p:nvCxnSpPr>
        <p:spPr bwMode="auto">
          <a:xfrm>
            <a:off x="1635543" y="1382172"/>
            <a:ext cx="36856" cy="199593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35" name="Group 234"/>
          <p:cNvGrpSpPr/>
          <p:nvPr/>
        </p:nvGrpSpPr>
        <p:grpSpPr>
          <a:xfrm>
            <a:off x="1506590" y="1883932"/>
            <a:ext cx="313044" cy="369332"/>
            <a:chOff x="418816" y="1964112"/>
            <a:chExt cx="313044" cy="369332"/>
          </a:xfrm>
        </p:grpSpPr>
        <p:sp>
          <p:nvSpPr>
            <p:cNvPr id="236" name="Oval 235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4</a:t>
              </a:r>
              <a:endParaRPr lang="en-US" dirty="0">
                <a:latin typeface="Arial"/>
                <a:cs typeface="Arial"/>
              </a:endParaRPr>
            </a:p>
          </p:txBody>
        </p:sp>
      </p:grpSp>
      <p:sp>
        <p:nvSpPr>
          <p:cNvPr id="238" name="Freeform 237"/>
          <p:cNvSpPr/>
          <p:nvPr/>
        </p:nvSpPr>
        <p:spPr>
          <a:xfrm>
            <a:off x="2295799" y="1680415"/>
            <a:ext cx="1029459" cy="3309980"/>
          </a:xfrm>
          <a:custGeom>
            <a:avLst/>
            <a:gdLst>
              <a:gd name="connsiteX0" fmla="*/ 3902322 w 3902322"/>
              <a:gd name="connsiteY0" fmla="*/ 0 h 449814"/>
              <a:gd name="connsiteX1" fmla="*/ 3452563 w 3902322"/>
              <a:gd name="connsiteY1" fmla="*/ 449814 h 449814"/>
              <a:gd name="connsiteX2" fmla="*/ 343934 w 3902322"/>
              <a:gd name="connsiteY2" fmla="*/ 423354 h 449814"/>
              <a:gd name="connsiteX3" fmla="*/ 0 w 3902322"/>
              <a:gd name="connsiteY3" fmla="*/ 39690 h 449814"/>
              <a:gd name="connsiteX0" fmla="*/ 3902322 w 3902322"/>
              <a:gd name="connsiteY0" fmla="*/ 0 h 423354"/>
              <a:gd name="connsiteX1" fmla="*/ 3565324 w 3902322"/>
              <a:gd name="connsiteY1" fmla="*/ 402338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02322 w 3902322"/>
              <a:gd name="connsiteY0" fmla="*/ 0 h 423354"/>
              <a:gd name="connsiteX1" fmla="*/ 3600933 w 3902322"/>
              <a:gd name="connsiteY1" fmla="*/ 384535 h 423354"/>
              <a:gd name="connsiteX2" fmla="*/ 343934 w 3902322"/>
              <a:gd name="connsiteY2" fmla="*/ 423354 h 423354"/>
              <a:gd name="connsiteX3" fmla="*/ 0 w 3902322"/>
              <a:gd name="connsiteY3" fmla="*/ 39690 h 423354"/>
              <a:gd name="connsiteX0" fmla="*/ 3943865 w 3943865"/>
              <a:gd name="connsiteY0" fmla="*/ 1851 h 383664"/>
              <a:gd name="connsiteX1" fmla="*/ 3600933 w 3943865"/>
              <a:gd name="connsiteY1" fmla="*/ 344845 h 383664"/>
              <a:gd name="connsiteX2" fmla="*/ 343934 w 3943865"/>
              <a:gd name="connsiteY2" fmla="*/ 383664 h 383664"/>
              <a:gd name="connsiteX3" fmla="*/ 0 w 3943865"/>
              <a:gd name="connsiteY3" fmla="*/ 0 h 383664"/>
              <a:gd name="connsiteX0" fmla="*/ 4015082 w 4015082"/>
              <a:gd name="connsiteY0" fmla="*/ 29941 h 383664"/>
              <a:gd name="connsiteX1" fmla="*/ 3600933 w 4015082"/>
              <a:gd name="connsiteY1" fmla="*/ 344845 h 383664"/>
              <a:gd name="connsiteX2" fmla="*/ 343934 w 4015082"/>
              <a:gd name="connsiteY2" fmla="*/ 383664 h 383664"/>
              <a:gd name="connsiteX3" fmla="*/ 0 w 4015082"/>
              <a:gd name="connsiteY3" fmla="*/ 0 h 383664"/>
              <a:gd name="connsiteX0" fmla="*/ 4187190 w 4187190"/>
              <a:gd name="connsiteY0" fmla="*/ 15896 h 369619"/>
              <a:gd name="connsiteX1" fmla="*/ 3773041 w 4187190"/>
              <a:gd name="connsiteY1" fmla="*/ 330800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4187190 w 4187190"/>
              <a:gd name="connsiteY0" fmla="*/ 15896 h 369619"/>
              <a:gd name="connsiteX1" fmla="*/ 3749302 w 4187190"/>
              <a:gd name="connsiteY1" fmla="*/ 349527 h 369619"/>
              <a:gd name="connsiteX2" fmla="*/ 516042 w 4187190"/>
              <a:gd name="connsiteY2" fmla="*/ 369619 h 369619"/>
              <a:gd name="connsiteX3" fmla="*/ 0 w 4187190"/>
              <a:gd name="connsiteY3" fmla="*/ 0 h 369619"/>
              <a:gd name="connsiteX0" fmla="*/ 0 w 6265284"/>
              <a:gd name="connsiteY0" fmla="*/ 0 h 1092877"/>
              <a:gd name="connsiteX1" fmla="*/ 6265284 w 6265284"/>
              <a:gd name="connsiteY1" fmla="*/ 1072785 h 1092877"/>
              <a:gd name="connsiteX2" fmla="*/ 3032024 w 6265284"/>
              <a:gd name="connsiteY2" fmla="*/ 1092877 h 1092877"/>
              <a:gd name="connsiteX3" fmla="*/ 2515982 w 6265284"/>
              <a:gd name="connsiteY3" fmla="*/ 723258 h 1092877"/>
              <a:gd name="connsiteX0" fmla="*/ 0 w 3032024"/>
              <a:gd name="connsiteY0" fmla="*/ 1193950 h 2286827"/>
              <a:gd name="connsiteX1" fmla="*/ 1581391 w 3032024"/>
              <a:gd name="connsiteY1" fmla="*/ 0 h 2286827"/>
              <a:gd name="connsiteX2" fmla="*/ 3032024 w 3032024"/>
              <a:gd name="connsiteY2" fmla="*/ 2286827 h 2286827"/>
              <a:gd name="connsiteX3" fmla="*/ 2515982 w 3032024"/>
              <a:gd name="connsiteY3" fmla="*/ 1917208 h 2286827"/>
              <a:gd name="connsiteX0" fmla="*/ 0 w 2515982"/>
              <a:gd name="connsiteY0" fmla="*/ 1896586 h 2619844"/>
              <a:gd name="connsiteX1" fmla="*/ 1581391 w 2515982"/>
              <a:gd name="connsiteY1" fmla="*/ 702636 h 2619844"/>
              <a:gd name="connsiteX2" fmla="*/ 1241736 w 2515982"/>
              <a:gd name="connsiteY2" fmla="*/ 0 h 2619844"/>
              <a:gd name="connsiteX3" fmla="*/ 2515982 w 2515982"/>
              <a:gd name="connsiteY3" fmla="*/ 2619844 h 2619844"/>
              <a:gd name="connsiteX0" fmla="*/ 0 w 1581391"/>
              <a:gd name="connsiteY0" fmla="*/ 2890379 h 2890379"/>
              <a:gd name="connsiteX1" fmla="*/ 1581391 w 1581391"/>
              <a:gd name="connsiteY1" fmla="*/ 1696429 h 2890379"/>
              <a:gd name="connsiteX2" fmla="*/ 1241736 w 1581391"/>
              <a:gd name="connsiteY2" fmla="*/ 993793 h 2890379"/>
              <a:gd name="connsiteX3" fmla="*/ 1579203 w 1581391"/>
              <a:gd name="connsiteY3" fmla="*/ 0 h 2890379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29193 w 1581391"/>
              <a:gd name="connsiteY3" fmla="*/ 0 h 2973211"/>
              <a:gd name="connsiteX0" fmla="*/ 0 w 1581391"/>
              <a:gd name="connsiteY0" fmla="*/ 3276927 h 3276927"/>
              <a:gd name="connsiteX1" fmla="*/ 1581391 w 1581391"/>
              <a:gd name="connsiteY1" fmla="*/ 2082977 h 3276927"/>
              <a:gd name="connsiteX2" fmla="*/ 1241736 w 1581391"/>
              <a:gd name="connsiteY2" fmla="*/ 1380341 h 3276927"/>
              <a:gd name="connsiteX3" fmla="*/ 1249193 w 1581391"/>
              <a:gd name="connsiteY3" fmla="*/ 0 h 3276927"/>
              <a:gd name="connsiteX0" fmla="*/ 0 w 1581391"/>
              <a:gd name="connsiteY0" fmla="*/ 2973211 h 2973211"/>
              <a:gd name="connsiteX1" fmla="*/ 1581391 w 1581391"/>
              <a:gd name="connsiteY1" fmla="*/ 1779261 h 2973211"/>
              <a:gd name="connsiteX2" fmla="*/ 1241736 w 1581391"/>
              <a:gd name="connsiteY2" fmla="*/ 1076625 h 2973211"/>
              <a:gd name="connsiteX3" fmla="*/ 1234193 w 1581391"/>
              <a:gd name="connsiteY3" fmla="*/ 0 h 2973211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241736 w 1581391"/>
              <a:gd name="connsiteY2" fmla="*/ 1112124 h 3008710"/>
              <a:gd name="connsiteX3" fmla="*/ 1239193 w 1581391"/>
              <a:gd name="connsiteY3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320792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814760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81391"/>
              <a:gd name="connsiteY0" fmla="*/ 3008710 h 3008710"/>
              <a:gd name="connsiteX1" fmla="*/ 1581391 w 1581391"/>
              <a:gd name="connsiteY1" fmla="*/ 1747705 h 3008710"/>
              <a:gd name="connsiteX2" fmla="*/ 1565798 w 1581391"/>
              <a:gd name="connsiteY2" fmla="*/ 1270181 h 3008710"/>
              <a:gd name="connsiteX3" fmla="*/ 1241736 w 1581391"/>
              <a:gd name="connsiteY3" fmla="*/ 1112124 h 3008710"/>
              <a:gd name="connsiteX4" fmla="*/ 1239193 w 1581391"/>
              <a:gd name="connsiteY4" fmla="*/ 0 h 3008710"/>
              <a:gd name="connsiteX0" fmla="*/ 0 w 1566390"/>
              <a:gd name="connsiteY0" fmla="*/ 3008710 h 3008710"/>
              <a:gd name="connsiteX1" fmla="*/ 1566390 w 1566390"/>
              <a:gd name="connsiteY1" fmla="*/ 1747705 h 3008710"/>
              <a:gd name="connsiteX2" fmla="*/ 1565798 w 1566390"/>
              <a:gd name="connsiteY2" fmla="*/ 1270181 h 3008710"/>
              <a:gd name="connsiteX3" fmla="*/ 1241736 w 1566390"/>
              <a:gd name="connsiteY3" fmla="*/ 1112124 h 3008710"/>
              <a:gd name="connsiteX4" fmla="*/ 1239193 w 1566390"/>
              <a:gd name="connsiteY4" fmla="*/ 0 h 3008710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1765803 w 1766395"/>
              <a:gd name="connsiteY2" fmla="*/ 1270181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1766395"/>
              <a:gd name="connsiteY0" fmla="*/ 2988988 h 2988988"/>
              <a:gd name="connsiteX1" fmla="*/ 1766395 w 1766395"/>
              <a:gd name="connsiteY1" fmla="*/ 1747705 h 2988988"/>
              <a:gd name="connsiteX2" fmla="*/ 579217 w 1766395"/>
              <a:gd name="connsiteY2" fmla="*/ 1319458 h 2988988"/>
              <a:gd name="connsiteX3" fmla="*/ 1441741 w 1766395"/>
              <a:gd name="connsiteY3" fmla="*/ 1112124 h 2988988"/>
              <a:gd name="connsiteX4" fmla="*/ 1439198 w 1766395"/>
              <a:gd name="connsiteY4" fmla="*/ 0 h 2988988"/>
              <a:gd name="connsiteX0" fmla="*/ 0 w 1442252"/>
              <a:gd name="connsiteY0" fmla="*/ 2988988 h 2988988"/>
              <a:gd name="connsiteX1" fmla="*/ 621443 w 1442252"/>
              <a:gd name="connsiteY1" fmla="*/ 1829833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21443 w 1442252"/>
              <a:gd name="connsiteY1" fmla="*/ 1829833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0807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60807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585794 w 1442252"/>
              <a:gd name="connsiteY1" fmla="*/ 1780618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1442252"/>
              <a:gd name="connsiteY0" fmla="*/ 2988988 h 2988988"/>
              <a:gd name="connsiteX1" fmla="*/ 585794 w 1442252"/>
              <a:gd name="connsiteY1" fmla="*/ 1714700 h 2988988"/>
              <a:gd name="connsiteX2" fmla="*/ 579217 w 1442252"/>
              <a:gd name="connsiteY2" fmla="*/ 1319458 h 2988988"/>
              <a:gd name="connsiteX3" fmla="*/ 1441741 w 1442252"/>
              <a:gd name="connsiteY3" fmla="*/ 1112124 h 2988988"/>
              <a:gd name="connsiteX4" fmla="*/ 1439198 w 1442252"/>
              <a:gd name="connsiteY4" fmla="*/ 0 h 2988988"/>
              <a:gd name="connsiteX0" fmla="*/ 0 w 2035489"/>
              <a:gd name="connsiteY0" fmla="*/ 2876928 h 2876928"/>
              <a:gd name="connsiteX1" fmla="*/ 1179031 w 2035489"/>
              <a:gd name="connsiteY1" fmla="*/ 1714700 h 2876928"/>
              <a:gd name="connsiteX2" fmla="*/ 1172454 w 2035489"/>
              <a:gd name="connsiteY2" fmla="*/ 1319458 h 2876928"/>
              <a:gd name="connsiteX3" fmla="*/ 2034978 w 2035489"/>
              <a:gd name="connsiteY3" fmla="*/ 1112124 h 2876928"/>
              <a:gd name="connsiteX4" fmla="*/ 2032435 w 2035489"/>
              <a:gd name="connsiteY4" fmla="*/ 0 h 2876928"/>
              <a:gd name="connsiteX0" fmla="*/ 0 w 2095517"/>
              <a:gd name="connsiteY0" fmla="*/ 2876928 h 2876928"/>
              <a:gd name="connsiteX1" fmla="*/ 1179031 w 2095517"/>
              <a:gd name="connsiteY1" fmla="*/ 1714700 h 2876928"/>
              <a:gd name="connsiteX2" fmla="*/ 1172454 w 2095517"/>
              <a:gd name="connsiteY2" fmla="*/ 1319458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2095517"/>
              <a:gd name="connsiteY0" fmla="*/ 2876928 h 2876928"/>
              <a:gd name="connsiteX1" fmla="*/ 1179031 w 2095517"/>
              <a:gd name="connsiteY1" fmla="*/ 1714700 h 2876928"/>
              <a:gd name="connsiteX2" fmla="*/ 1757025 w 2095517"/>
              <a:gd name="connsiteY2" fmla="*/ 2019085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2095517"/>
              <a:gd name="connsiteY0" fmla="*/ 2876928 h 2876928"/>
              <a:gd name="connsiteX1" fmla="*/ 1058086 w 2095517"/>
              <a:gd name="connsiteY1" fmla="*/ 2128116 h 2876928"/>
              <a:gd name="connsiteX2" fmla="*/ 1757025 w 2095517"/>
              <a:gd name="connsiteY2" fmla="*/ 2019085 h 2876928"/>
              <a:gd name="connsiteX3" fmla="*/ 2095451 w 2095517"/>
              <a:gd name="connsiteY3" fmla="*/ 1525541 h 2876928"/>
              <a:gd name="connsiteX4" fmla="*/ 2032435 w 2095517"/>
              <a:gd name="connsiteY4" fmla="*/ 0 h 2876928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19085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695248 w 1732679"/>
              <a:gd name="connsiteY1" fmla="*/ 2128116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0 w 1732679"/>
              <a:gd name="connsiteY0" fmla="*/ 3528853 h 3528853"/>
              <a:gd name="connsiteX1" fmla="*/ 703415 w 1732679"/>
              <a:gd name="connsiteY1" fmla="*/ 2070128 h 3528853"/>
              <a:gd name="connsiteX2" fmla="*/ 1394187 w 1732679"/>
              <a:gd name="connsiteY2" fmla="*/ 2064629 h 3528853"/>
              <a:gd name="connsiteX3" fmla="*/ 1732613 w 1732679"/>
              <a:gd name="connsiteY3" fmla="*/ 1525541 h 3528853"/>
              <a:gd name="connsiteX4" fmla="*/ 1669597 w 1732679"/>
              <a:gd name="connsiteY4" fmla="*/ 0 h 3528853"/>
              <a:gd name="connsiteX0" fmla="*/ 19366 w 1029264"/>
              <a:gd name="connsiteY0" fmla="*/ 2961861 h 2961861"/>
              <a:gd name="connsiteX1" fmla="*/ 0 w 1029264"/>
              <a:gd name="connsiteY1" fmla="*/ 2070128 h 2961861"/>
              <a:gd name="connsiteX2" fmla="*/ 690772 w 1029264"/>
              <a:gd name="connsiteY2" fmla="*/ 2064629 h 2961861"/>
              <a:gd name="connsiteX3" fmla="*/ 1029198 w 1029264"/>
              <a:gd name="connsiteY3" fmla="*/ 1525541 h 2961861"/>
              <a:gd name="connsiteX4" fmla="*/ 966182 w 1029264"/>
              <a:gd name="connsiteY4" fmla="*/ 0 h 2961861"/>
              <a:gd name="connsiteX0" fmla="*/ 19366 w 1029276"/>
              <a:gd name="connsiteY0" fmla="*/ 2611201 h 2611201"/>
              <a:gd name="connsiteX1" fmla="*/ 0 w 1029276"/>
              <a:gd name="connsiteY1" fmla="*/ 1719468 h 2611201"/>
              <a:gd name="connsiteX2" fmla="*/ 690772 w 1029276"/>
              <a:gd name="connsiteY2" fmla="*/ 1713969 h 2611201"/>
              <a:gd name="connsiteX3" fmla="*/ 1029198 w 1029276"/>
              <a:gd name="connsiteY3" fmla="*/ 1174881 h 2611201"/>
              <a:gd name="connsiteX4" fmla="*/ 976765 w 1029276"/>
              <a:gd name="connsiteY4" fmla="*/ 0 h 2611201"/>
              <a:gd name="connsiteX0" fmla="*/ 19366 w 1029459"/>
              <a:gd name="connsiteY0" fmla="*/ 2611201 h 2611201"/>
              <a:gd name="connsiteX1" fmla="*/ 0 w 1029459"/>
              <a:gd name="connsiteY1" fmla="*/ 1719468 h 2611201"/>
              <a:gd name="connsiteX2" fmla="*/ 690772 w 1029459"/>
              <a:gd name="connsiteY2" fmla="*/ 1713969 h 2611201"/>
              <a:gd name="connsiteX3" fmla="*/ 1029198 w 1029459"/>
              <a:gd name="connsiteY3" fmla="*/ 1174881 h 2611201"/>
              <a:gd name="connsiteX4" fmla="*/ 976765 w 1029459"/>
              <a:gd name="connsiteY4" fmla="*/ 0 h 261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9459" h="2611201">
                <a:moveTo>
                  <a:pt x="19366" y="2611201"/>
                </a:moveTo>
                <a:lnTo>
                  <a:pt x="0" y="1719468"/>
                </a:lnTo>
                <a:lnTo>
                  <a:pt x="690772" y="1713969"/>
                </a:lnTo>
                <a:cubicBezTo>
                  <a:pt x="953779" y="1301650"/>
                  <a:pt x="837892" y="1502072"/>
                  <a:pt x="1029198" y="1174881"/>
                </a:cubicBezTo>
                <a:cubicBezTo>
                  <a:pt x="1031684" y="714767"/>
                  <a:pt x="1016613" y="902614"/>
                  <a:pt x="976765" y="0"/>
                </a:cubicBezTo>
              </a:path>
            </a:pathLst>
          </a:custGeom>
          <a:ln w="12700">
            <a:solidFill>
              <a:schemeClr val="tx1"/>
            </a:solidFill>
            <a:headEnd type="triangle"/>
            <a:tailEnd type="none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Straight Arrow Connector 238"/>
          <p:cNvCxnSpPr/>
          <p:nvPr/>
        </p:nvCxnSpPr>
        <p:spPr bwMode="auto">
          <a:xfrm>
            <a:off x="2334047" y="4796373"/>
            <a:ext cx="165857" cy="4440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3" name="Straight Arrow Connector 242"/>
          <p:cNvCxnSpPr/>
          <p:nvPr/>
        </p:nvCxnSpPr>
        <p:spPr bwMode="auto">
          <a:xfrm flipH="1">
            <a:off x="1630957" y="4825035"/>
            <a:ext cx="697629" cy="7629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6" name="Group 245"/>
          <p:cNvGrpSpPr/>
          <p:nvPr/>
        </p:nvGrpSpPr>
        <p:grpSpPr>
          <a:xfrm rot="21446362">
            <a:off x="2189794" y="4667337"/>
            <a:ext cx="313044" cy="369332"/>
            <a:chOff x="418816" y="1964112"/>
            <a:chExt cx="313044" cy="369332"/>
          </a:xfrm>
        </p:grpSpPr>
        <p:sp>
          <p:nvSpPr>
            <p:cNvPr id="247" name="Oval 246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6</a:t>
              </a:r>
              <a:endParaRPr lang="en-US" dirty="0">
                <a:latin typeface="Arial"/>
                <a:cs typeface="Arial"/>
              </a:endParaRPr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3130061" y="1900424"/>
            <a:ext cx="313044" cy="369332"/>
            <a:chOff x="418816" y="1964112"/>
            <a:chExt cx="313044" cy="369332"/>
          </a:xfrm>
        </p:grpSpPr>
        <p:sp>
          <p:nvSpPr>
            <p:cNvPr id="250" name="Oval 249"/>
            <p:cNvSpPr/>
            <p:nvPr/>
          </p:nvSpPr>
          <p:spPr>
            <a:xfrm>
              <a:off x="448041" y="2026177"/>
              <a:ext cx="251755" cy="26312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418816" y="1964112"/>
              <a:ext cx="3130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Arial"/>
                  <a:cs typeface="Arial"/>
                </a:rPr>
                <a:t>5</a:t>
              </a:r>
              <a:endParaRPr lang="en-US" dirty="0">
                <a:latin typeface="Arial"/>
                <a:cs typeface="Arial"/>
              </a:endParaRPr>
            </a:p>
          </p:txBody>
        </p:sp>
      </p:grpSp>
      <p:sp>
        <p:nvSpPr>
          <p:cNvPr id="253" name="Oval 252"/>
          <p:cNvSpPr/>
          <p:nvPr/>
        </p:nvSpPr>
        <p:spPr>
          <a:xfrm rot="5400000">
            <a:off x="1970416" y="419579"/>
            <a:ext cx="631007" cy="223526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tailEnd type="arrow"/>
          </a:ln>
          <a:effectLst>
            <a:outerShdw blurRad="50800" dist="38100" dir="2700000" algn="tl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336780" y="1336100"/>
            <a:ext cx="1891162" cy="509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 dirty="0" smtClean="0">
                <a:latin typeface="Arial"/>
                <a:cs typeface="Arial"/>
              </a:rPr>
              <a:t>Dijkstra’s link-state </a:t>
            </a:r>
          </a:p>
          <a:p>
            <a:pPr algn="ctr">
              <a:lnSpc>
                <a:spcPts val="1600"/>
              </a:lnSpc>
            </a:pPr>
            <a:r>
              <a:rPr lang="en-US" sz="1600" dirty="0" smtClean="0">
                <a:latin typeface="Arial"/>
                <a:cs typeface="Arial"/>
              </a:rPr>
              <a:t>Routing</a:t>
            </a:r>
            <a:endParaRPr lang="en-US" sz="1600" dirty="0">
              <a:latin typeface="Arial"/>
              <a:cs typeface="Arial"/>
            </a:endParaRPr>
          </a:p>
        </p:txBody>
      </p:sp>
      <p:grpSp>
        <p:nvGrpSpPr>
          <p:cNvPr id="319" name="Group 318"/>
          <p:cNvGrpSpPr/>
          <p:nvPr/>
        </p:nvGrpSpPr>
        <p:grpSpPr>
          <a:xfrm>
            <a:off x="921872" y="5536490"/>
            <a:ext cx="687402" cy="470408"/>
            <a:chOff x="1736090" y="2893762"/>
            <a:chExt cx="565150" cy="340093"/>
          </a:xfrm>
        </p:grpSpPr>
        <p:grpSp>
          <p:nvGrpSpPr>
            <p:cNvPr id="320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24" name="Oval 323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25" name="Rectangle 324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6" name="Oval 325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27" name="Freeform 326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8" name="Freeform 327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9" name="Freeform 328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30" name="Freeform 329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31" name="Straight Connector 330"/>
              <p:cNvCxnSpPr>
                <a:endCxn id="32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1" name="Group 320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322" name="Oval 321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3" name="TextBox 322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s1</a:t>
                </a:r>
                <a:endParaRPr lang="en-US" sz="2000" dirty="0"/>
              </a:p>
            </p:txBody>
          </p:sp>
        </p:grpSp>
      </p:grpSp>
      <p:grpSp>
        <p:nvGrpSpPr>
          <p:cNvPr id="333" name="Group 332"/>
          <p:cNvGrpSpPr/>
          <p:nvPr/>
        </p:nvGrpSpPr>
        <p:grpSpPr>
          <a:xfrm>
            <a:off x="2206593" y="5245170"/>
            <a:ext cx="687402" cy="470406"/>
            <a:chOff x="1736090" y="2893762"/>
            <a:chExt cx="565150" cy="340091"/>
          </a:xfrm>
        </p:grpSpPr>
        <p:grpSp>
          <p:nvGrpSpPr>
            <p:cNvPr id="334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38" name="Oval 337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39" name="Rectangle 338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0" name="Oval 339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41" name="Freeform 340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2" name="Freeform 341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3" name="Freeform 342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4" name="Freeform 343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45" name="Straight Connector 344"/>
              <p:cNvCxnSpPr>
                <a:endCxn id="34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5" name="Group 33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36" name="Oval 335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7" name="TextBox 336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s2</a:t>
                </a:r>
                <a:endParaRPr lang="en-US" sz="2000" dirty="0"/>
              </a:p>
            </p:txBody>
          </p:sp>
        </p:grpSp>
      </p:grpSp>
      <p:grpSp>
        <p:nvGrpSpPr>
          <p:cNvPr id="347" name="Group 346"/>
          <p:cNvGrpSpPr/>
          <p:nvPr/>
        </p:nvGrpSpPr>
        <p:grpSpPr>
          <a:xfrm>
            <a:off x="1910145" y="5999406"/>
            <a:ext cx="687402" cy="470406"/>
            <a:chOff x="1736090" y="2893762"/>
            <a:chExt cx="565150" cy="340091"/>
          </a:xfrm>
        </p:grpSpPr>
        <p:grpSp>
          <p:nvGrpSpPr>
            <p:cNvPr id="348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52" name="Oval 35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53" name="Rectangle 35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4" name="Oval 35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55" name="Freeform 35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6" name="Freeform 35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7" name="Freeform 35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58" name="Freeform 35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59" name="Straight Connector 358"/>
              <p:cNvCxnSpPr>
                <a:endCxn id="35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9" name="Group 348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50" name="Oval 349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1" name="TextBox 350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s3</a:t>
                </a:r>
                <a:endParaRPr lang="en-US" sz="2000" dirty="0"/>
              </a:p>
            </p:txBody>
          </p:sp>
        </p:grpSp>
      </p:grpSp>
      <p:grpSp>
        <p:nvGrpSpPr>
          <p:cNvPr id="361" name="Group 360"/>
          <p:cNvGrpSpPr/>
          <p:nvPr/>
        </p:nvGrpSpPr>
        <p:grpSpPr>
          <a:xfrm>
            <a:off x="3077553" y="5718280"/>
            <a:ext cx="687402" cy="470406"/>
            <a:chOff x="1736090" y="2893762"/>
            <a:chExt cx="565150" cy="340091"/>
          </a:xfrm>
        </p:grpSpPr>
        <p:grpSp>
          <p:nvGrpSpPr>
            <p:cNvPr id="362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66" name="Oval 365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7" name="Rectangle 366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8" name="Oval 367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69" name="Freeform 368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0" name="Freeform 369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1" name="Freeform 370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72" name="Freeform 371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73" name="Straight Connector 372"/>
              <p:cNvCxnSpPr>
                <a:endCxn id="36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3" name="Group 362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364" name="Oval 363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5" name="TextBox 36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s4</a:t>
                </a:r>
                <a:endParaRPr lang="en-US" sz="2000" dirty="0"/>
              </a:p>
            </p:txBody>
          </p:sp>
        </p:grpSp>
      </p:grpSp>
      <p:cxnSp>
        <p:nvCxnSpPr>
          <p:cNvPr id="240" name="Straight Arrow Connector 239"/>
          <p:cNvCxnSpPr/>
          <p:nvPr/>
        </p:nvCxnSpPr>
        <p:spPr bwMode="auto">
          <a:xfrm>
            <a:off x="2475946" y="4898482"/>
            <a:ext cx="906274" cy="7697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76" name="Picture 12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74" y="702064"/>
            <a:ext cx="8154854" cy="193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7" name="Title 1"/>
          <p:cNvSpPr txBox="1">
            <a:spLocks/>
          </p:cNvSpPr>
          <p:nvPr/>
        </p:nvSpPr>
        <p:spPr>
          <a:xfrm>
            <a:off x="354145" y="177332"/>
            <a:ext cx="8642801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9pPr>
          </a:lstStyle>
          <a:p>
            <a:r>
              <a:rPr lang="en-US" sz="3600" dirty="0" smtClean="0"/>
              <a:t>SDN: control/data plane interaction example</a:t>
            </a:r>
            <a:endParaRPr lang="en-US" sz="3600" dirty="0"/>
          </a:p>
        </p:txBody>
      </p:sp>
      <p:grpSp>
        <p:nvGrpSpPr>
          <p:cNvPr id="382" name="Group 381"/>
          <p:cNvGrpSpPr/>
          <p:nvPr/>
        </p:nvGrpSpPr>
        <p:grpSpPr>
          <a:xfrm>
            <a:off x="5359418" y="2228890"/>
            <a:ext cx="3388878" cy="1357349"/>
            <a:chOff x="5313965" y="1301119"/>
            <a:chExt cx="3388878" cy="1357349"/>
          </a:xfrm>
        </p:grpSpPr>
        <p:sp>
          <p:nvSpPr>
            <p:cNvPr id="383" name="TextBox 382"/>
            <p:cNvSpPr txBox="1"/>
            <p:nvPr/>
          </p:nvSpPr>
          <p:spPr>
            <a:xfrm>
              <a:off x="5654651" y="1315023"/>
              <a:ext cx="3048192" cy="1343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 smtClean="0">
                  <a:solidFill>
                    <a:srgbClr val="000000"/>
                  </a:solidFill>
                  <a:latin typeface="+mn-lt"/>
                </a:rPr>
                <a:t>link state routing app interacts with flow-table-computation component in SDN controller, which computes new flow tables needed</a:t>
              </a:r>
              <a:endParaRPr lang="en-US" dirty="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384" name="Group 383"/>
            <p:cNvGrpSpPr/>
            <p:nvPr/>
          </p:nvGrpSpPr>
          <p:grpSpPr>
            <a:xfrm>
              <a:off x="5313965" y="1301119"/>
              <a:ext cx="313044" cy="369332"/>
              <a:chOff x="418816" y="1964112"/>
              <a:chExt cx="289705" cy="369332"/>
            </a:xfrm>
          </p:grpSpPr>
          <p:sp>
            <p:nvSpPr>
              <p:cNvPr id="385" name="Oval 38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87" name="TextBox 386"/>
              <p:cNvSpPr txBox="1"/>
              <p:nvPr/>
            </p:nvSpPr>
            <p:spPr>
              <a:xfrm>
                <a:off x="418816" y="1964112"/>
                <a:ext cx="289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Arial"/>
                    <a:cs typeface="Arial"/>
                  </a:rPr>
                  <a:t>5</a:t>
                </a:r>
                <a:endParaRPr lang="en-US" dirty="0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393" name="Group 392"/>
          <p:cNvGrpSpPr/>
          <p:nvPr/>
        </p:nvGrpSpPr>
        <p:grpSpPr>
          <a:xfrm>
            <a:off x="5450329" y="3736844"/>
            <a:ext cx="3388878" cy="858751"/>
            <a:chOff x="5313965" y="1301119"/>
            <a:chExt cx="3388878" cy="858751"/>
          </a:xfrm>
        </p:grpSpPr>
        <p:sp>
          <p:nvSpPr>
            <p:cNvPr id="394" name="TextBox 393"/>
            <p:cNvSpPr txBox="1"/>
            <p:nvPr/>
          </p:nvSpPr>
          <p:spPr>
            <a:xfrm>
              <a:off x="5654651" y="1315023"/>
              <a:ext cx="3048192" cy="844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 smtClean="0">
                  <a:solidFill>
                    <a:srgbClr val="000000"/>
                  </a:solidFill>
                  <a:latin typeface="+mn-lt"/>
                </a:rPr>
                <a:t>Controller uses OpenFlow to install new tables in switches that need updating</a:t>
              </a:r>
              <a:endParaRPr lang="en-US" dirty="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395" name="Group 394"/>
            <p:cNvGrpSpPr/>
            <p:nvPr/>
          </p:nvGrpSpPr>
          <p:grpSpPr>
            <a:xfrm>
              <a:off x="5313965" y="1301119"/>
              <a:ext cx="313044" cy="369332"/>
              <a:chOff x="418816" y="1964112"/>
              <a:chExt cx="289705" cy="369332"/>
            </a:xfrm>
          </p:grpSpPr>
          <p:sp>
            <p:nvSpPr>
              <p:cNvPr id="396" name="Oval 3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418816" y="1964112"/>
                <a:ext cx="289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Arial"/>
                    <a:cs typeface="Arial"/>
                  </a:rPr>
                  <a:t>6</a:t>
                </a:r>
                <a:endParaRPr lang="en-US" dirty="0">
                  <a:latin typeface="Arial"/>
                  <a:cs typeface="Arial"/>
                </a:endParaRPr>
              </a:p>
            </p:txBody>
          </p:sp>
        </p:grpSp>
      </p:grpSp>
      <p:sp>
        <p:nvSpPr>
          <p:cNvPr id="1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20</a:t>
            </a:fld>
            <a:endParaRPr lang="en-US" sz="1200" dirty="0">
              <a:latin typeface="Tahoma" charset="0"/>
            </a:endParaRPr>
          </a:p>
        </p:txBody>
      </p:sp>
      <p:sp>
        <p:nvSpPr>
          <p:cNvPr id="15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2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ounded Rectangle 102"/>
          <p:cNvSpPr/>
          <p:nvPr/>
        </p:nvSpPr>
        <p:spPr>
          <a:xfrm>
            <a:off x="441164" y="2526628"/>
            <a:ext cx="5253789" cy="23929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099837" y="2566732"/>
            <a:ext cx="3421328" cy="1774553"/>
          </a:xfrm>
          <a:prstGeom prst="roundRect">
            <a:avLst/>
          </a:prstGeom>
          <a:solidFill>
            <a:srgbClr val="008000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srgbClr val="CCFFCC">
                <a:alpha val="43000"/>
              </a:srgb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163980" y="3041095"/>
            <a:ext cx="991851" cy="563864"/>
            <a:chOff x="-2789389" y="3644860"/>
            <a:chExt cx="991851" cy="563864"/>
          </a:xfrm>
        </p:grpSpPr>
        <p:sp>
          <p:nvSpPr>
            <p:cNvPr id="4" name="Rounded Rectangle 3"/>
            <p:cNvSpPr/>
            <p:nvPr/>
          </p:nvSpPr>
          <p:spPr>
            <a:xfrm>
              <a:off x="-2789389" y="3656869"/>
              <a:ext cx="975975" cy="551855"/>
            </a:xfrm>
            <a:prstGeom prst="round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-2789389" y="3644860"/>
              <a:ext cx="991851" cy="516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topology</a:t>
              </a:r>
            </a:p>
            <a:p>
              <a:pPr algn="ctr">
                <a:lnSpc>
                  <a:spcPts val="1800"/>
                </a:lnSpc>
              </a:pPr>
              <a:r>
                <a:rPr lang="en-US" sz="1400" dirty="0" smtClean="0">
                  <a:solidFill>
                    <a:srgbClr val="000000"/>
                  </a:solidFill>
                  <a:latin typeface="Arial"/>
                  <a:cs typeface="Arial"/>
                </a:rPr>
                <a:t>manager</a:t>
              </a:r>
              <a:endParaRPr lang="en-US" sz="1400" dirty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18" name="TextBox 217"/>
          <p:cNvSpPr txBox="1"/>
          <p:nvPr/>
        </p:nvSpPr>
        <p:spPr>
          <a:xfrm>
            <a:off x="2501202" y="2675114"/>
            <a:ext cx="2846484" cy="277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1400" dirty="0" smtClean="0">
                <a:solidFill>
                  <a:schemeClr val="bg1"/>
                </a:solidFill>
                <a:latin typeface="Arial"/>
                <a:cs typeface="Arial"/>
              </a:rPr>
              <a:t>Basic Network Service Functions</a:t>
            </a:r>
            <a:endParaRPr lang="en-US" sz="1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41163" y="1938421"/>
            <a:ext cx="5160211" cy="515156"/>
            <a:chOff x="1045007" y="1459973"/>
            <a:chExt cx="6401028" cy="554537"/>
          </a:xfrm>
        </p:grpSpPr>
        <p:sp>
          <p:nvSpPr>
            <p:cNvPr id="99" name="Rounded Rectangle 98"/>
            <p:cNvSpPr/>
            <p:nvPr/>
          </p:nvSpPr>
          <p:spPr>
            <a:xfrm>
              <a:off x="1045007" y="1459973"/>
              <a:ext cx="6401028" cy="554537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12700">
              <a:noFill/>
              <a:tailEnd type="arrow"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224" name="Group 223"/>
            <p:cNvGrpSpPr/>
            <p:nvPr/>
          </p:nvGrpSpPr>
          <p:grpSpPr>
            <a:xfrm>
              <a:off x="2827550" y="1535145"/>
              <a:ext cx="2597382" cy="375164"/>
              <a:chOff x="2793561" y="3559145"/>
              <a:chExt cx="2597382" cy="375164"/>
            </a:xfrm>
          </p:grpSpPr>
          <p:sp>
            <p:nvSpPr>
              <p:cNvPr id="225" name="Rounded Rectangle 224"/>
              <p:cNvSpPr/>
              <p:nvPr/>
            </p:nvSpPr>
            <p:spPr>
              <a:xfrm>
                <a:off x="2793561" y="3559145"/>
                <a:ext cx="2597382" cy="375164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chemeClr val="accent5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cs typeface="Arial"/>
                </a:endParaRPr>
              </a:p>
            </p:txBody>
          </p:sp>
          <p:sp>
            <p:nvSpPr>
              <p:cNvPr id="226" name="TextBox 225"/>
              <p:cNvSpPr txBox="1"/>
              <p:nvPr/>
            </p:nvSpPr>
            <p:spPr>
              <a:xfrm>
                <a:off x="3410430" y="3583293"/>
                <a:ext cx="1560720" cy="330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800"/>
                  </a:lnSpc>
                </a:pPr>
                <a:r>
                  <a:rPr lang="en-US" sz="1600" dirty="0" smtClean="0">
                    <a:solidFill>
                      <a:schemeClr val="bg1"/>
                    </a:solidFill>
                    <a:latin typeface="Arial"/>
                    <a:cs typeface="Arial"/>
                  </a:rPr>
                  <a:t>REST    API</a:t>
                </a:r>
                <a:endParaRPr lang="en-US" sz="16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p:grpSp>
      </p:grpSp>
      <p:sp>
        <p:nvSpPr>
          <p:cNvPr id="100" name="Rounded Rectangle 99"/>
          <p:cNvSpPr/>
          <p:nvPr/>
        </p:nvSpPr>
        <p:spPr>
          <a:xfrm>
            <a:off x="427796" y="4998554"/>
            <a:ext cx="5293895" cy="62734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97733" y="5114776"/>
            <a:ext cx="1410942" cy="456940"/>
            <a:chOff x="2740484" y="4054371"/>
            <a:chExt cx="1574963" cy="373904"/>
          </a:xfrm>
        </p:grpSpPr>
        <p:sp>
          <p:nvSpPr>
            <p:cNvPr id="6" name="Rectangle 5"/>
            <p:cNvSpPr/>
            <p:nvPr/>
          </p:nvSpPr>
          <p:spPr>
            <a:xfrm>
              <a:off x="2785250" y="4054371"/>
              <a:ext cx="1530197" cy="373904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bg1">
                  <a:alpha val="43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0484" y="4076248"/>
              <a:ext cx="14620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OpenFlow 1.0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783284" y="4825720"/>
            <a:ext cx="533066" cy="714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008000"/>
                </a:solidFill>
                <a:latin typeface="Arial"/>
                <a:cs typeface="Arial"/>
              </a:rPr>
              <a:t>…</a:t>
            </a:r>
            <a:endParaRPr lang="en-US" sz="3200" dirty="0">
              <a:solidFill>
                <a:srgbClr val="008000"/>
              </a:solidFill>
              <a:latin typeface="Arial"/>
              <a:cs typeface="Arial"/>
            </a:endParaRPr>
          </a:p>
        </p:txBody>
      </p:sp>
      <p:grpSp>
        <p:nvGrpSpPr>
          <p:cNvPr id="162" name="Group 161"/>
          <p:cNvGrpSpPr/>
          <p:nvPr/>
        </p:nvGrpSpPr>
        <p:grpSpPr>
          <a:xfrm>
            <a:off x="3430771" y="5114776"/>
            <a:ext cx="811437" cy="433015"/>
            <a:chOff x="5082411" y="4394035"/>
            <a:chExt cx="905766" cy="354327"/>
          </a:xfrm>
        </p:grpSpPr>
        <p:sp>
          <p:nvSpPr>
            <p:cNvPr id="256" name="Rectangle 255"/>
            <p:cNvSpPr/>
            <p:nvPr/>
          </p:nvSpPr>
          <p:spPr>
            <a:xfrm>
              <a:off x="5082411" y="4394035"/>
              <a:ext cx="905766" cy="354327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bg1">
                  <a:alpha val="43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5121486" y="4394035"/>
              <a:ext cx="774571" cy="3543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SNMP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63" name="Group 262"/>
          <p:cNvGrpSpPr/>
          <p:nvPr/>
        </p:nvGrpSpPr>
        <p:grpSpPr>
          <a:xfrm>
            <a:off x="4289994" y="5109661"/>
            <a:ext cx="864376" cy="467213"/>
            <a:chOff x="5023318" y="4394035"/>
            <a:chExt cx="964859" cy="382310"/>
          </a:xfrm>
        </p:grpSpPr>
        <p:sp>
          <p:nvSpPr>
            <p:cNvPr id="264" name="Rectangle 263"/>
            <p:cNvSpPr/>
            <p:nvPr/>
          </p:nvSpPr>
          <p:spPr>
            <a:xfrm>
              <a:off x="5082411" y="4394035"/>
              <a:ext cx="905766" cy="354327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bg1">
                  <a:alpha val="43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5023318" y="4437791"/>
              <a:ext cx="9030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OVSDB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2704254" y="3663505"/>
            <a:ext cx="1022911" cy="563864"/>
            <a:chOff x="-2804918" y="3644860"/>
            <a:chExt cx="1022911" cy="563864"/>
          </a:xfrm>
        </p:grpSpPr>
        <p:sp>
          <p:nvSpPr>
            <p:cNvPr id="115" name="Rounded Rectangle 114"/>
            <p:cNvSpPr/>
            <p:nvPr/>
          </p:nvSpPr>
          <p:spPr>
            <a:xfrm>
              <a:off x="-2789389" y="3656869"/>
              <a:ext cx="975975" cy="551855"/>
            </a:xfrm>
            <a:prstGeom prst="round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-2804918" y="3644860"/>
              <a:ext cx="1022911" cy="551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forwarding</a:t>
              </a:r>
            </a:p>
            <a:p>
              <a:pPr algn="ctr">
                <a:lnSpc>
                  <a:spcPts val="1800"/>
                </a:lnSpc>
              </a:pPr>
              <a:r>
                <a:rPr lang="en-US" sz="1400" dirty="0" smtClean="0">
                  <a:solidFill>
                    <a:srgbClr val="000000"/>
                  </a:solidFill>
                  <a:latin typeface="Arial"/>
                  <a:cs typeface="Arial"/>
                </a:rPr>
                <a:t>manager</a:t>
              </a:r>
              <a:endParaRPr lang="en-US" sz="1400" dirty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3312541" y="3029086"/>
            <a:ext cx="975975" cy="563864"/>
            <a:chOff x="-2789389" y="3644860"/>
            <a:chExt cx="975975" cy="563864"/>
          </a:xfrm>
        </p:grpSpPr>
        <p:sp>
          <p:nvSpPr>
            <p:cNvPr id="118" name="Rounded Rectangle 117"/>
            <p:cNvSpPr/>
            <p:nvPr/>
          </p:nvSpPr>
          <p:spPr>
            <a:xfrm>
              <a:off x="-2789389" y="3656869"/>
              <a:ext cx="975975" cy="551855"/>
            </a:xfrm>
            <a:prstGeom prst="round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-2744868" y="3644860"/>
              <a:ext cx="902811" cy="551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switch</a:t>
              </a:r>
            </a:p>
            <a:p>
              <a:pPr algn="ctr">
                <a:lnSpc>
                  <a:spcPts val="1800"/>
                </a:lnSpc>
              </a:pPr>
              <a:r>
                <a:rPr lang="en-US" sz="1400" dirty="0" smtClean="0">
                  <a:solidFill>
                    <a:srgbClr val="000000"/>
                  </a:solidFill>
                  <a:latin typeface="Arial"/>
                  <a:cs typeface="Arial"/>
                </a:rPr>
                <a:t>manager</a:t>
              </a:r>
              <a:endParaRPr lang="en-US" sz="1400" dirty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3913381" y="3651496"/>
            <a:ext cx="975975" cy="563864"/>
            <a:chOff x="-2789389" y="3644860"/>
            <a:chExt cx="975975" cy="563864"/>
          </a:xfrm>
        </p:grpSpPr>
        <p:sp>
          <p:nvSpPr>
            <p:cNvPr id="121" name="Rounded Rectangle 120"/>
            <p:cNvSpPr/>
            <p:nvPr/>
          </p:nvSpPr>
          <p:spPr>
            <a:xfrm>
              <a:off x="-2789389" y="3656869"/>
              <a:ext cx="975975" cy="551855"/>
            </a:xfrm>
            <a:prstGeom prst="round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-2744868" y="3644860"/>
              <a:ext cx="902811" cy="551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host</a:t>
              </a:r>
            </a:p>
            <a:p>
              <a:pPr algn="ctr">
                <a:lnSpc>
                  <a:spcPts val="1800"/>
                </a:lnSpc>
              </a:pPr>
              <a:r>
                <a:rPr lang="en-US" sz="1400" dirty="0" smtClean="0">
                  <a:solidFill>
                    <a:srgbClr val="000000"/>
                  </a:solidFill>
                  <a:latin typeface="Arial"/>
                  <a:cs typeface="Arial"/>
                </a:rPr>
                <a:t>manager</a:t>
              </a:r>
              <a:endParaRPr lang="en-US" sz="1400" dirty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4466158" y="3017077"/>
            <a:ext cx="975975" cy="563864"/>
            <a:chOff x="-2789389" y="3644860"/>
            <a:chExt cx="975975" cy="563864"/>
          </a:xfrm>
        </p:grpSpPr>
        <p:sp>
          <p:nvSpPr>
            <p:cNvPr id="124" name="Rounded Rectangle 123"/>
            <p:cNvSpPr/>
            <p:nvPr/>
          </p:nvSpPr>
          <p:spPr>
            <a:xfrm>
              <a:off x="-2789389" y="3656869"/>
              <a:ext cx="975975" cy="551855"/>
            </a:xfrm>
            <a:prstGeom prst="round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-2744868" y="3644860"/>
              <a:ext cx="902811" cy="5514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stats</a:t>
              </a:r>
            </a:p>
            <a:p>
              <a:pPr algn="ctr">
                <a:lnSpc>
                  <a:spcPts val="1800"/>
                </a:lnSpc>
              </a:pPr>
              <a:r>
                <a:rPr lang="en-US" sz="1400" dirty="0" smtClean="0">
                  <a:solidFill>
                    <a:srgbClr val="000000"/>
                  </a:solidFill>
                  <a:latin typeface="Arial"/>
                  <a:cs typeface="Arial"/>
                </a:rPr>
                <a:t>manager</a:t>
              </a:r>
              <a:endParaRPr lang="en-US" sz="1400" dirty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42" name="Rounded Rectangle 141"/>
          <p:cNvSpPr/>
          <p:nvPr/>
        </p:nvSpPr>
        <p:spPr>
          <a:xfrm>
            <a:off x="561484" y="2566733"/>
            <a:ext cx="1470518" cy="1766072"/>
          </a:xfrm>
          <a:prstGeom prst="roundRect">
            <a:avLst/>
          </a:prstGeom>
          <a:solidFill>
            <a:srgbClr val="008000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  <a:effectLst>
            <a:outerShdw blurRad="50800" dist="38100" dir="2700000" algn="tl" rotWithShape="0">
              <a:srgbClr val="CCFFCC">
                <a:alpha val="43000"/>
              </a:srgb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604415" y="2578421"/>
            <a:ext cx="1375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Arial"/>
                <a:cs typeface="Arial"/>
              </a:rPr>
              <a:t>Network service apps 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61479" y="4412544"/>
            <a:ext cx="5013159" cy="404700"/>
            <a:chOff x="1092699" y="3559145"/>
            <a:chExt cx="6178678" cy="404700"/>
          </a:xfrm>
        </p:grpSpPr>
        <p:sp>
          <p:nvSpPr>
            <p:cNvPr id="20" name="Rounded Rectangle 19"/>
            <p:cNvSpPr/>
            <p:nvPr/>
          </p:nvSpPr>
          <p:spPr>
            <a:xfrm>
              <a:off x="1092699" y="3559145"/>
              <a:ext cx="6178678" cy="404700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2426534" y="3588680"/>
              <a:ext cx="3800001" cy="325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Service Abstraction</a:t>
              </a:r>
              <a:r>
                <a:rPr lang="en-US" sz="160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Layer (SAL)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cxnSp>
        <p:nvCxnSpPr>
          <p:cNvPr id="16" name="Straight Connector 15"/>
          <p:cNvCxnSpPr/>
          <p:nvPr/>
        </p:nvCxnSpPr>
        <p:spPr bwMode="auto">
          <a:xfrm>
            <a:off x="1016318" y="3561284"/>
            <a:ext cx="0" cy="91915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Straight Connector 143"/>
          <p:cNvCxnSpPr/>
          <p:nvPr/>
        </p:nvCxnSpPr>
        <p:spPr bwMode="auto">
          <a:xfrm>
            <a:off x="1632306" y="4032908"/>
            <a:ext cx="0" cy="38892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Straight Connector 129"/>
          <p:cNvCxnSpPr/>
          <p:nvPr/>
        </p:nvCxnSpPr>
        <p:spPr bwMode="auto">
          <a:xfrm>
            <a:off x="2658231" y="3604959"/>
            <a:ext cx="0" cy="83712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Straight Connector 130"/>
          <p:cNvCxnSpPr/>
          <p:nvPr/>
        </p:nvCxnSpPr>
        <p:spPr bwMode="auto">
          <a:xfrm>
            <a:off x="4988035" y="3580519"/>
            <a:ext cx="0" cy="90813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Straight Connector 131"/>
          <p:cNvCxnSpPr/>
          <p:nvPr/>
        </p:nvCxnSpPr>
        <p:spPr bwMode="auto">
          <a:xfrm>
            <a:off x="3792442" y="3590225"/>
            <a:ext cx="0" cy="85185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Straight Connector 132"/>
          <p:cNvCxnSpPr/>
          <p:nvPr/>
        </p:nvCxnSpPr>
        <p:spPr bwMode="auto">
          <a:xfrm>
            <a:off x="4400399" y="4209886"/>
            <a:ext cx="0" cy="2787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Straight Connector 136"/>
          <p:cNvCxnSpPr/>
          <p:nvPr/>
        </p:nvCxnSpPr>
        <p:spPr bwMode="auto">
          <a:xfrm>
            <a:off x="3218224" y="4215360"/>
            <a:ext cx="0" cy="22671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Straight Connector 103"/>
          <p:cNvCxnSpPr/>
          <p:nvPr/>
        </p:nvCxnSpPr>
        <p:spPr bwMode="auto">
          <a:xfrm>
            <a:off x="467901" y="5681579"/>
            <a:ext cx="518694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3" name="Straight Connector 212"/>
          <p:cNvCxnSpPr/>
          <p:nvPr/>
        </p:nvCxnSpPr>
        <p:spPr bwMode="auto">
          <a:xfrm>
            <a:off x="454533" y="1871579"/>
            <a:ext cx="502652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3" name="Group 12"/>
          <p:cNvGrpSpPr/>
          <p:nvPr/>
        </p:nvGrpSpPr>
        <p:grpSpPr>
          <a:xfrm>
            <a:off x="629185" y="3141575"/>
            <a:ext cx="1108720" cy="553739"/>
            <a:chOff x="-1602715" y="2206422"/>
            <a:chExt cx="1179425" cy="631007"/>
          </a:xfrm>
        </p:grpSpPr>
        <p:sp>
          <p:nvSpPr>
            <p:cNvPr id="214" name="Oval 213"/>
            <p:cNvSpPr/>
            <p:nvPr/>
          </p:nvSpPr>
          <p:spPr>
            <a:xfrm rot="5400000">
              <a:off x="-1328506" y="1932213"/>
              <a:ext cx="631007" cy="117942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tailEnd type="arrow"/>
            </a:ln>
            <a:effectLst>
              <a:outerShdw blurRad="50800" dist="38100" dir="2700000" algn="tl" rotWithShape="0">
                <a:schemeClr val="accent1">
                  <a:lumMod val="75000"/>
                  <a:alpha val="43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-1381328" y="2261840"/>
              <a:ext cx="763425" cy="483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dirty="0" smtClean="0">
                  <a:latin typeface="Arial"/>
                  <a:cs typeface="Arial"/>
                </a:rPr>
                <a:t>Access</a:t>
              </a: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latin typeface="Arial"/>
                  <a:cs typeface="Arial"/>
                </a:rPr>
                <a:t>C</a:t>
              </a:r>
              <a:r>
                <a:rPr lang="en-US" sz="1400" dirty="0" smtClean="0">
                  <a:latin typeface="Arial"/>
                  <a:cs typeface="Arial"/>
                </a:rPr>
                <a:t>ontrol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sp>
        <p:nvSpPr>
          <p:cNvPr id="215" name="Oval 214"/>
          <p:cNvSpPr/>
          <p:nvPr/>
        </p:nvSpPr>
        <p:spPr>
          <a:xfrm rot="5400000">
            <a:off x="1237809" y="3522133"/>
            <a:ext cx="534744" cy="905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tailEnd type="arrow"/>
          </a:ln>
          <a:effectLst>
            <a:outerShdw blurRad="50800" dist="38100" dir="2700000" algn="tl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181540" y="1016000"/>
            <a:ext cx="3296896" cy="785006"/>
            <a:chOff x="2625315" y="928382"/>
            <a:chExt cx="3262119" cy="779044"/>
          </a:xfrm>
        </p:grpSpPr>
        <p:grpSp>
          <p:nvGrpSpPr>
            <p:cNvPr id="17" name="Group 16"/>
            <p:cNvGrpSpPr/>
            <p:nvPr/>
          </p:nvGrpSpPr>
          <p:grpSpPr>
            <a:xfrm>
              <a:off x="2625315" y="1073061"/>
              <a:ext cx="1442229" cy="631007"/>
              <a:chOff x="9766434" y="1112781"/>
              <a:chExt cx="1442229" cy="631007"/>
            </a:xfrm>
          </p:grpSpPr>
          <p:sp>
            <p:nvSpPr>
              <p:cNvPr id="217" name="Oval 216"/>
              <p:cNvSpPr/>
              <p:nvPr/>
            </p:nvSpPr>
            <p:spPr>
              <a:xfrm rot="5400000">
                <a:off x="10172045" y="707170"/>
                <a:ext cx="631007" cy="144222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  <a:tailEnd type="arrow"/>
              </a:ln>
              <a:effectLst>
                <a:outerShdw blurRad="50800" dist="38100" dir="2700000" algn="tl" rotWithShape="0">
                  <a:schemeClr val="accent1">
                    <a:lumMod val="75000"/>
                    <a:alpha val="43000"/>
                  </a:scheme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53" name="TextBox 252"/>
              <p:cNvSpPr txBox="1"/>
              <p:nvPr/>
            </p:nvSpPr>
            <p:spPr>
              <a:xfrm>
                <a:off x="9865113" y="1189921"/>
                <a:ext cx="1279817" cy="509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ts val="1600"/>
                  </a:lnSpc>
                </a:pPr>
                <a:r>
                  <a:rPr lang="en-US" sz="1600" dirty="0" smtClean="0">
                    <a:latin typeface="Arial"/>
                    <a:cs typeface="Arial"/>
                  </a:rPr>
                  <a:t>Traffic</a:t>
                </a:r>
              </a:p>
              <a:p>
                <a:pPr algn="ctr">
                  <a:lnSpc>
                    <a:spcPts val="1600"/>
                  </a:lnSpc>
                </a:pPr>
                <a:r>
                  <a:rPr lang="en-US" sz="1600" dirty="0" smtClean="0">
                    <a:latin typeface="Arial"/>
                    <a:cs typeface="Arial"/>
                  </a:rPr>
                  <a:t>Engineering</a:t>
                </a:r>
                <a:endParaRPr lang="en-US" sz="1600" dirty="0">
                  <a:latin typeface="Arial"/>
                  <a:cs typeface="Arial"/>
                </a:endParaRPr>
              </a:p>
            </p:txBody>
          </p:sp>
        </p:grpSp>
        <p:sp>
          <p:nvSpPr>
            <p:cNvPr id="160" name="TextBox 159"/>
            <p:cNvSpPr txBox="1"/>
            <p:nvPr/>
          </p:nvSpPr>
          <p:spPr>
            <a:xfrm>
              <a:off x="4112974" y="928382"/>
              <a:ext cx="59503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chemeClr val="accent1">
                      <a:lumMod val="75000"/>
                    </a:schemeClr>
                  </a:solidFill>
                </a:rPr>
                <a:t>…  </a:t>
              </a:r>
              <a:endParaRPr lang="en-US" sz="32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16" name="Oval 215"/>
            <p:cNvSpPr/>
            <p:nvPr/>
          </p:nvSpPr>
          <p:spPr>
            <a:xfrm rot="5400000">
              <a:off x="4982218" y="802210"/>
              <a:ext cx="631007" cy="117942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tailEnd type="arrow"/>
            </a:ln>
            <a:effectLst>
              <a:outerShdw blurRad="50800" dist="38100" dir="2700000" algn="tl" rotWithShape="0">
                <a:schemeClr val="accent1">
                  <a:lumMod val="75000"/>
                  <a:alpha val="43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470534" y="5735053"/>
            <a:ext cx="3248526" cy="1029368"/>
            <a:chOff x="-1550737" y="5173579"/>
            <a:chExt cx="3248526" cy="1029368"/>
          </a:xfrm>
        </p:grpSpPr>
        <p:grpSp>
          <p:nvGrpSpPr>
            <p:cNvPr id="221" name="Group 220"/>
            <p:cNvGrpSpPr/>
            <p:nvPr/>
          </p:nvGrpSpPr>
          <p:grpSpPr>
            <a:xfrm>
              <a:off x="-1425965" y="5182847"/>
              <a:ext cx="2979208" cy="973667"/>
              <a:chOff x="2592388" y="5601756"/>
              <a:chExt cx="4027487" cy="939800"/>
            </a:xfrm>
          </p:grpSpPr>
          <p:sp>
            <p:nvSpPr>
              <p:cNvPr id="222" name="Freeform 2"/>
              <p:cNvSpPr>
                <a:spLocks/>
              </p:cNvSpPr>
              <p:nvPr/>
            </p:nvSpPr>
            <p:spPr bwMode="auto">
              <a:xfrm>
                <a:off x="2592388" y="5601756"/>
                <a:ext cx="4027487" cy="939800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23" name="Straight Connector 222"/>
              <p:cNvCxnSpPr/>
              <p:nvPr/>
            </p:nvCxnSpPr>
            <p:spPr>
              <a:xfrm flipV="1">
                <a:off x="3262941" y="5752569"/>
                <a:ext cx="1316038" cy="13176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/>
              <p:cNvCxnSpPr/>
              <p:nvPr/>
            </p:nvCxnSpPr>
            <p:spPr>
              <a:xfrm flipV="1">
                <a:off x="4182104" y="6238344"/>
                <a:ext cx="1247775" cy="825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/>
              <p:cNvCxnSpPr/>
              <p:nvPr/>
            </p:nvCxnSpPr>
            <p:spPr>
              <a:xfrm flipV="1">
                <a:off x="4126541" y="5939894"/>
                <a:ext cx="1790700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/>
              <p:cNvCxnSpPr/>
              <p:nvPr/>
            </p:nvCxnSpPr>
            <p:spPr>
              <a:xfrm flipV="1">
                <a:off x="5453691" y="5968469"/>
                <a:ext cx="588963" cy="2698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347"/>
              <p:cNvGrpSpPr>
                <a:grpSpLocks/>
              </p:cNvGrpSpPr>
              <p:nvPr/>
            </p:nvGrpSpPr>
            <p:grpSpPr bwMode="auto"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282" name="Oval 281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83" name="Rectangle 282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4" name="Oval 283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85" name="Freeform 284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6" name="Freeform 285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7" name="Freeform 286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8" name="Freeform 287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89" name="Straight Connector 288"/>
                <p:cNvCxnSpPr>
                  <a:endCxn id="284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347"/>
              <p:cNvGrpSpPr>
                <a:grpSpLocks/>
              </p:cNvGrpSpPr>
              <p:nvPr/>
            </p:nvGrpSpPr>
            <p:grpSpPr bwMode="auto"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273" name="Oval 272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74" name="Rectangle 273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75" name="Oval 274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76" name="Freeform 275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77" name="Freeform 276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78" name="Freeform 277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79" name="Freeform 278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80" name="Straight Connector 279"/>
                <p:cNvCxnSpPr>
                  <a:endCxn id="275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347"/>
              <p:cNvGrpSpPr>
                <a:grpSpLocks/>
              </p:cNvGrpSpPr>
              <p:nvPr/>
            </p:nvGrpSpPr>
            <p:grpSpPr bwMode="auto"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261" name="Oval 260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2" name="Rectangle 261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6" name="Oval 265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7" name="Freeform 266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8" name="Freeform 267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9" name="Freeform 268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70" name="Freeform 269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71" name="Straight Connector 270"/>
                <p:cNvCxnSpPr>
                  <a:endCxn id="266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347"/>
              <p:cNvGrpSpPr>
                <a:grpSpLocks/>
              </p:cNvGrpSpPr>
              <p:nvPr/>
            </p:nvGrpSpPr>
            <p:grpSpPr bwMode="auto"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248" name="Oval 247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9" name="Rectangle 248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0" name="Oval 249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1" name="Freeform 250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2" name="Freeform 251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5" name="Freeform 254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8" name="Freeform 257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59" name="Straight Connector 258"/>
                <p:cNvCxnSpPr>
                  <a:endCxn id="250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347"/>
              <p:cNvGrpSpPr>
                <a:grpSpLocks/>
              </p:cNvGrpSpPr>
              <p:nvPr/>
            </p:nvGrpSpPr>
            <p:grpSpPr bwMode="auto"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239" name="Oval 238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0" name="Rectangle 239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1" name="Oval 240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2" name="Freeform 241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3" name="Freeform 242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4" name="Freeform 243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5" name="Freeform 244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46" name="Straight Connector 245"/>
                <p:cNvCxnSpPr>
                  <a:endCxn id="241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5" name="Rectangle 294"/>
            <p:cNvSpPr/>
            <p:nvPr/>
          </p:nvSpPr>
          <p:spPr bwMode="auto">
            <a:xfrm>
              <a:off x="-1550737" y="5173579"/>
              <a:ext cx="3248526" cy="1029368"/>
            </a:xfrm>
            <a:prstGeom prst="rect">
              <a:avLst/>
            </a:prstGeom>
            <a:solidFill>
              <a:schemeClr val="bg1">
                <a:alpha val="77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96" name="Picture 12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18" y="707374"/>
            <a:ext cx="7253205" cy="188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" name="Title 1"/>
          <p:cNvSpPr txBox="1">
            <a:spLocks/>
          </p:cNvSpPr>
          <p:nvPr/>
        </p:nvSpPr>
        <p:spPr>
          <a:xfrm>
            <a:off x="399720" y="120318"/>
            <a:ext cx="7772400" cy="97275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9pPr>
          </a:lstStyle>
          <a:p>
            <a:r>
              <a:rPr lang="en-US" sz="4000" dirty="0" smtClean="0"/>
              <a:t>OpenDaylight (ODL) controller</a:t>
            </a:r>
            <a:endParaRPr lang="en-US" sz="4000" dirty="0"/>
          </a:p>
        </p:txBody>
      </p:sp>
      <p:sp>
        <p:nvSpPr>
          <p:cNvPr id="298" name="Content Placeholder 3"/>
          <p:cNvSpPr txBox="1">
            <a:spLocks/>
          </p:cNvSpPr>
          <p:nvPr/>
        </p:nvSpPr>
        <p:spPr>
          <a:xfrm>
            <a:off x="5915061" y="1433585"/>
            <a:ext cx="3135360" cy="4648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r>
              <a:rPr lang="en-US" sz="2400" dirty="0" smtClean="0">
                <a:solidFill>
                  <a:srgbClr val="000000"/>
                </a:solidFill>
              </a:rPr>
              <a:t>ODL Lithium controller</a:t>
            </a:r>
          </a:p>
          <a:p>
            <a:r>
              <a:rPr lang="en-US" sz="2400" dirty="0" smtClean="0">
                <a:solidFill>
                  <a:srgbClr val="000000"/>
                </a:solidFill>
              </a:rPr>
              <a:t>network apps may be contained within, or be external to SDN controller</a:t>
            </a:r>
          </a:p>
          <a:p>
            <a:r>
              <a:rPr lang="en-US" sz="2400" dirty="0" smtClean="0">
                <a:solidFill>
                  <a:srgbClr val="000000"/>
                </a:solidFill>
              </a:rPr>
              <a:t>Service Abstraction Layer: interconnects internal, external applications and services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29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21</a:t>
            </a:fld>
            <a:endParaRPr lang="en-US" sz="1200" dirty="0">
              <a:latin typeface="Tahoma" charset="0"/>
            </a:endParaRPr>
          </a:p>
        </p:txBody>
      </p:sp>
      <p:sp>
        <p:nvSpPr>
          <p:cNvPr id="30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94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ounded Rectangle 102"/>
          <p:cNvSpPr/>
          <p:nvPr/>
        </p:nvSpPr>
        <p:spPr>
          <a:xfrm>
            <a:off x="404938" y="2840593"/>
            <a:ext cx="4898361" cy="140872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6925" y="1301692"/>
            <a:ext cx="130246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Arial"/>
                <a:cs typeface="Arial"/>
              </a:rPr>
              <a:t>Network </a:t>
            </a:r>
          </a:p>
          <a:p>
            <a:r>
              <a:rPr lang="en-US" sz="1600" dirty="0" smtClean="0">
                <a:latin typeface="Arial"/>
                <a:cs typeface="Arial"/>
              </a:rPr>
              <a:t>control apps </a:t>
            </a:r>
          </a:p>
        </p:txBody>
      </p:sp>
      <p:sp>
        <p:nvSpPr>
          <p:cNvPr id="217" name="Oval 216"/>
          <p:cNvSpPr/>
          <p:nvPr/>
        </p:nvSpPr>
        <p:spPr>
          <a:xfrm rot="5400000">
            <a:off x="2177010" y="841271"/>
            <a:ext cx="631007" cy="14422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tailEnd type="arrow"/>
          </a:ln>
          <a:effectLst>
            <a:outerShdw blurRad="50800" dist="38100" dir="2700000" algn="tl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259058" y="1102203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…  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404938" y="2058742"/>
            <a:ext cx="4811594" cy="66530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4" name="Group 223"/>
          <p:cNvGrpSpPr/>
          <p:nvPr/>
        </p:nvGrpSpPr>
        <p:grpSpPr>
          <a:xfrm>
            <a:off x="666771" y="2244682"/>
            <a:ext cx="1503376" cy="375164"/>
            <a:chOff x="2793562" y="3559145"/>
            <a:chExt cx="1607438" cy="375164"/>
          </a:xfrm>
        </p:grpSpPr>
        <p:sp>
          <p:nvSpPr>
            <p:cNvPr id="225" name="Rounded Rectangle 224"/>
            <p:cNvSpPr/>
            <p:nvPr/>
          </p:nvSpPr>
          <p:spPr>
            <a:xfrm>
              <a:off x="2793562" y="3559145"/>
              <a:ext cx="1457313" cy="375164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2840280" y="3583293"/>
              <a:ext cx="1560720" cy="330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REST    API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00" name="Rounded Rectangle 99"/>
          <p:cNvSpPr/>
          <p:nvPr/>
        </p:nvSpPr>
        <p:spPr>
          <a:xfrm>
            <a:off x="383727" y="4578311"/>
            <a:ext cx="5005602" cy="8800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04" name="Straight Connector 103"/>
          <p:cNvCxnSpPr/>
          <p:nvPr/>
        </p:nvCxnSpPr>
        <p:spPr bwMode="auto">
          <a:xfrm>
            <a:off x="505728" y="4402051"/>
            <a:ext cx="4811594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3" name="Straight Connector 212"/>
          <p:cNvCxnSpPr/>
          <p:nvPr/>
        </p:nvCxnSpPr>
        <p:spPr bwMode="auto">
          <a:xfrm>
            <a:off x="404938" y="2002183"/>
            <a:ext cx="4811594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6" name="Oval 215"/>
          <p:cNvSpPr/>
          <p:nvPr/>
        </p:nvSpPr>
        <p:spPr>
          <a:xfrm rot="5400000">
            <a:off x="4128302" y="976031"/>
            <a:ext cx="631007" cy="11794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tailEnd type="arrow"/>
          </a:ln>
          <a:effectLst>
            <a:outerShdw blurRad="50800" dist="38100" dir="2700000" algn="tl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4076818" y="3493314"/>
            <a:ext cx="1356273" cy="761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 smtClean="0">
                <a:latin typeface="Arial"/>
                <a:cs typeface="Arial"/>
              </a:rPr>
              <a:t>ONOS</a:t>
            </a:r>
          </a:p>
          <a:p>
            <a:pPr>
              <a:lnSpc>
                <a:spcPct val="90000"/>
              </a:lnSpc>
            </a:pPr>
            <a:r>
              <a:rPr lang="en-US" sz="1600" dirty="0" smtClean="0">
                <a:latin typeface="Arial"/>
                <a:cs typeface="Arial"/>
              </a:rPr>
              <a:t>distributed core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012781" y="4621982"/>
            <a:ext cx="1610917" cy="761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 smtClean="0">
                <a:latin typeface="Arial"/>
                <a:cs typeface="Arial"/>
              </a:rPr>
              <a:t>southbound abstractions,</a:t>
            </a:r>
          </a:p>
          <a:p>
            <a:pPr>
              <a:lnSpc>
                <a:spcPct val="90000"/>
              </a:lnSpc>
            </a:pPr>
            <a:r>
              <a:rPr lang="en-US" sz="1600" dirty="0" smtClean="0">
                <a:latin typeface="Arial"/>
                <a:cs typeface="Arial"/>
              </a:rPr>
              <a:t>protocols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14814" y="5040198"/>
            <a:ext cx="1119818" cy="338554"/>
            <a:chOff x="1929852" y="4542126"/>
            <a:chExt cx="1119818" cy="338554"/>
          </a:xfrm>
        </p:grpSpPr>
        <p:sp>
          <p:nvSpPr>
            <p:cNvPr id="220" name="Rounded Rectangle 219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929852" y="4542126"/>
              <a:ext cx="11198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OpenFlow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726606" y="5041658"/>
            <a:ext cx="1062275" cy="338554"/>
            <a:chOff x="2774641" y="4248836"/>
            <a:chExt cx="1062275" cy="338554"/>
          </a:xfrm>
        </p:grpSpPr>
        <p:sp>
          <p:nvSpPr>
            <p:cNvPr id="223" name="Rounded Rectangle 222"/>
            <p:cNvSpPr/>
            <p:nvPr/>
          </p:nvSpPr>
          <p:spPr>
            <a:xfrm>
              <a:off x="2774641" y="4279216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2873106" y="4248836"/>
              <a:ext cx="9028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Netconf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979322" y="5053826"/>
            <a:ext cx="858974" cy="413739"/>
            <a:chOff x="4304185" y="4617263"/>
            <a:chExt cx="858974" cy="413739"/>
          </a:xfrm>
        </p:grpSpPr>
        <p:sp>
          <p:nvSpPr>
            <p:cNvPr id="222" name="Rounded Rectangle 221"/>
            <p:cNvSpPr/>
            <p:nvPr/>
          </p:nvSpPr>
          <p:spPr>
            <a:xfrm>
              <a:off x="4304185" y="4647691"/>
              <a:ext cx="858974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4307335" y="4617263"/>
              <a:ext cx="842600" cy="413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OVSDB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27" name="Group 226"/>
          <p:cNvGrpSpPr/>
          <p:nvPr/>
        </p:nvGrpSpPr>
        <p:grpSpPr>
          <a:xfrm>
            <a:off x="524833" y="4631710"/>
            <a:ext cx="777777" cy="338554"/>
            <a:chOff x="1929852" y="4542126"/>
            <a:chExt cx="1083553" cy="338554"/>
          </a:xfrm>
        </p:grpSpPr>
        <p:sp>
          <p:nvSpPr>
            <p:cNvPr id="228" name="Rounded Rectangle 227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1929852" y="4542126"/>
              <a:ext cx="7777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device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30" name="Group 229"/>
          <p:cNvGrpSpPr/>
          <p:nvPr/>
        </p:nvGrpSpPr>
        <p:grpSpPr>
          <a:xfrm>
            <a:off x="1356003" y="4629752"/>
            <a:ext cx="573691" cy="338554"/>
            <a:chOff x="1951130" y="4538598"/>
            <a:chExt cx="1062275" cy="338554"/>
          </a:xfrm>
        </p:grpSpPr>
        <p:sp>
          <p:nvSpPr>
            <p:cNvPr id="231" name="Rounded Rectangle 230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2014708" y="4538598"/>
              <a:ext cx="7039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link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33" name="Group 232"/>
          <p:cNvGrpSpPr/>
          <p:nvPr/>
        </p:nvGrpSpPr>
        <p:grpSpPr>
          <a:xfrm>
            <a:off x="1964566" y="4630736"/>
            <a:ext cx="561323" cy="338554"/>
            <a:chOff x="1921370" y="4542126"/>
            <a:chExt cx="1092035" cy="338554"/>
          </a:xfrm>
        </p:grpSpPr>
        <p:sp>
          <p:nvSpPr>
            <p:cNvPr id="234" name="Rounded Rectangle 233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1921370" y="4542126"/>
              <a:ext cx="7975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host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36" name="Group 235"/>
          <p:cNvGrpSpPr/>
          <p:nvPr/>
        </p:nvGrpSpPr>
        <p:grpSpPr>
          <a:xfrm>
            <a:off x="2571425" y="4630736"/>
            <a:ext cx="533020" cy="338554"/>
            <a:chOff x="1933590" y="4542126"/>
            <a:chExt cx="1079815" cy="338554"/>
          </a:xfrm>
        </p:grpSpPr>
        <p:sp>
          <p:nvSpPr>
            <p:cNvPr id="237" name="Rounded Rectangle 236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1933590" y="4542126"/>
              <a:ext cx="7655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flow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39" name="Group 238"/>
          <p:cNvGrpSpPr/>
          <p:nvPr/>
        </p:nvGrpSpPr>
        <p:grpSpPr>
          <a:xfrm>
            <a:off x="3122581" y="4615304"/>
            <a:ext cx="768563" cy="341965"/>
            <a:chOff x="1907908" y="4523169"/>
            <a:chExt cx="1105497" cy="341965"/>
          </a:xfrm>
        </p:grpSpPr>
        <p:sp>
          <p:nvSpPr>
            <p:cNvPr id="240" name="Rounded Rectangle 239"/>
            <p:cNvSpPr/>
            <p:nvPr/>
          </p:nvSpPr>
          <p:spPr>
            <a:xfrm>
              <a:off x="1951130" y="4566892"/>
              <a:ext cx="1062275" cy="298242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  <a:effectLst>
              <a:outerShdw blurRad="50800" dist="38100" dir="2700000" algn="tl" rotWithShape="0">
                <a:srgbClr val="CCFFCC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1907908" y="4523169"/>
              <a:ext cx="10994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packet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43" name="TextBox 242"/>
          <p:cNvSpPr txBox="1"/>
          <p:nvPr/>
        </p:nvSpPr>
        <p:spPr>
          <a:xfrm>
            <a:off x="3905769" y="2005996"/>
            <a:ext cx="1610917" cy="761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 smtClean="0">
                <a:latin typeface="Arial"/>
                <a:cs typeface="Arial"/>
              </a:rPr>
              <a:t>northbound abstractions,</a:t>
            </a:r>
          </a:p>
          <a:p>
            <a:pPr>
              <a:lnSpc>
                <a:spcPct val="90000"/>
              </a:lnSpc>
            </a:pPr>
            <a:r>
              <a:rPr lang="en-US" sz="1600" dirty="0" smtClean="0">
                <a:latin typeface="Arial"/>
                <a:cs typeface="Arial"/>
              </a:rPr>
              <a:t>protocols</a:t>
            </a:r>
          </a:p>
        </p:txBody>
      </p:sp>
      <p:grpSp>
        <p:nvGrpSpPr>
          <p:cNvPr id="245" name="Group 244"/>
          <p:cNvGrpSpPr/>
          <p:nvPr/>
        </p:nvGrpSpPr>
        <p:grpSpPr>
          <a:xfrm>
            <a:off x="2270558" y="2244682"/>
            <a:ext cx="1362970" cy="375164"/>
            <a:chOff x="2793562" y="3559145"/>
            <a:chExt cx="1457313" cy="375164"/>
          </a:xfrm>
        </p:grpSpPr>
        <p:sp>
          <p:nvSpPr>
            <p:cNvPr id="246" name="Rounded Rectangle 245"/>
            <p:cNvSpPr/>
            <p:nvPr/>
          </p:nvSpPr>
          <p:spPr>
            <a:xfrm>
              <a:off x="2793562" y="3559145"/>
              <a:ext cx="1457313" cy="375164"/>
            </a:xfrm>
            <a:prstGeom prst="roundRect">
              <a:avLst/>
            </a:prstGeom>
            <a:solidFill>
              <a:srgbClr val="008000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3085361" y="3583293"/>
              <a:ext cx="895069" cy="330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600" dirty="0" smtClean="0">
                  <a:solidFill>
                    <a:schemeClr val="bg1"/>
                  </a:solidFill>
                  <a:latin typeface="Arial"/>
                  <a:cs typeface="Arial"/>
                </a:rPr>
                <a:t>Intent</a:t>
              </a:r>
              <a:endParaRPr lang="en-US" sz="160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48" name="Group 247"/>
          <p:cNvGrpSpPr/>
          <p:nvPr/>
        </p:nvGrpSpPr>
        <p:grpSpPr>
          <a:xfrm>
            <a:off x="2879342" y="3577951"/>
            <a:ext cx="971340" cy="459826"/>
            <a:chOff x="3067713" y="457817"/>
            <a:chExt cx="1563748" cy="459826"/>
          </a:xfrm>
        </p:grpSpPr>
        <p:sp>
          <p:nvSpPr>
            <p:cNvPr id="249" name="Rounded Rectangle 248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3067713" y="541671"/>
              <a:ext cx="1563748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 smtClean="0">
                  <a:latin typeface="Arial"/>
                  <a:cs typeface="Arial"/>
                </a:rPr>
                <a:t>statistics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51" name="Group 250"/>
          <p:cNvGrpSpPr/>
          <p:nvPr/>
        </p:nvGrpSpPr>
        <p:grpSpPr>
          <a:xfrm>
            <a:off x="637141" y="3564396"/>
            <a:ext cx="889706" cy="459826"/>
            <a:chOff x="3128876" y="457817"/>
            <a:chExt cx="1432326" cy="459826"/>
          </a:xfrm>
        </p:grpSpPr>
        <p:sp>
          <p:nvSpPr>
            <p:cNvPr id="252" name="Rounded Rectangle 251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3140940" y="541671"/>
              <a:ext cx="1417294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 smtClean="0">
                  <a:latin typeface="Arial"/>
                  <a:cs typeface="Arial"/>
                </a:rPr>
                <a:t>devices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59" name="Group 258"/>
          <p:cNvGrpSpPr/>
          <p:nvPr/>
        </p:nvGrpSpPr>
        <p:grpSpPr>
          <a:xfrm>
            <a:off x="648682" y="3004281"/>
            <a:ext cx="889706" cy="459826"/>
            <a:chOff x="3128876" y="457817"/>
            <a:chExt cx="1432326" cy="459826"/>
          </a:xfrm>
        </p:grpSpPr>
        <p:sp>
          <p:nvSpPr>
            <p:cNvPr id="260" name="Rounded Rectangle 259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3306184" y="541671"/>
              <a:ext cx="1086810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 smtClean="0">
                  <a:latin typeface="Arial"/>
                  <a:cs typeface="Arial"/>
                </a:rPr>
                <a:t>hosts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66" name="Group 265"/>
          <p:cNvGrpSpPr/>
          <p:nvPr/>
        </p:nvGrpSpPr>
        <p:grpSpPr>
          <a:xfrm>
            <a:off x="1778595" y="3564396"/>
            <a:ext cx="889706" cy="459826"/>
            <a:chOff x="3128876" y="457817"/>
            <a:chExt cx="1432326" cy="459826"/>
          </a:xfrm>
        </p:grpSpPr>
        <p:sp>
          <p:nvSpPr>
            <p:cNvPr id="267" name="Rounded Rectangle 266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3370539" y="541671"/>
              <a:ext cx="958100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 smtClean="0">
                  <a:latin typeface="Arial"/>
                  <a:cs typeface="Arial"/>
                </a:rPr>
                <a:t>links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69" name="Group 268"/>
          <p:cNvGrpSpPr/>
          <p:nvPr/>
        </p:nvGrpSpPr>
        <p:grpSpPr>
          <a:xfrm>
            <a:off x="1778595" y="3004281"/>
            <a:ext cx="889706" cy="459826"/>
            <a:chOff x="3128876" y="457817"/>
            <a:chExt cx="1432326" cy="459826"/>
          </a:xfrm>
        </p:grpSpPr>
        <p:sp>
          <p:nvSpPr>
            <p:cNvPr id="270" name="Rounded Rectangle 269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3296911" y="541671"/>
              <a:ext cx="1105358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 smtClean="0">
                  <a:latin typeface="Arial"/>
                  <a:cs typeface="Arial"/>
                </a:rPr>
                <a:t>paths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72" name="Group 271"/>
          <p:cNvGrpSpPr/>
          <p:nvPr/>
        </p:nvGrpSpPr>
        <p:grpSpPr>
          <a:xfrm>
            <a:off x="2809351" y="3004281"/>
            <a:ext cx="1166221" cy="459826"/>
            <a:chOff x="3003364" y="457817"/>
            <a:chExt cx="1692457" cy="459826"/>
          </a:xfrm>
        </p:grpSpPr>
        <p:sp>
          <p:nvSpPr>
            <p:cNvPr id="273" name="Rounded Rectangle 272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003364" y="541671"/>
              <a:ext cx="1692457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 smtClean="0">
                  <a:latin typeface="Arial"/>
                  <a:cs typeface="Arial"/>
                </a:rPr>
                <a:t>flow rules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275" name="Group 274"/>
          <p:cNvGrpSpPr/>
          <p:nvPr/>
        </p:nvGrpSpPr>
        <p:grpSpPr>
          <a:xfrm>
            <a:off x="4110124" y="3008876"/>
            <a:ext cx="986973" cy="459826"/>
            <a:chOff x="3128876" y="457817"/>
            <a:chExt cx="1432326" cy="459826"/>
          </a:xfrm>
        </p:grpSpPr>
        <p:sp>
          <p:nvSpPr>
            <p:cNvPr id="276" name="Rounded Rectangle 27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schemeClr val="accent1">
                  <a:lumMod val="75000"/>
                  <a:alpha val="99000"/>
                </a:scheme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3152699" y="541671"/>
              <a:ext cx="1393790" cy="304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600" dirty="0" smtClean="0">
                  <a:latin typeface="Arial"/>
                  <a:cs typeface="Arial"/>
                </a:rPr>
                <a:t>topology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grpSp>
        <p:nvGrpSpPr>
          <p:cNvPr id="193" name="Group 192"/>
          <p:cNvGrpSpPr/>
          <p:nvPr/>
        </p:nvGrpSpPr>
        <p:grpSpPr>
          <a:xfrm>
            <a:off x="1470534" y="5574637"/>
            <a:ext cx="3248526" cy="1029368"/>
            <a:chOff x="-1550737" y="5173579"/>
            <a:chExt cx="3248526" cy="1029368"/>
          </a:xfrm>
        </p:grpSpPr>
        <p:grpSp>
          <p:nvGrpSpPr>
            <p:cNvPr id="196" name="Group 195"/>
            <p:cNvGrpSpPr/>
            <p:nvPr/>
          </p:nvGrpSpPr>
          <p:grpSpPr>
            <a:xfrm>
              <a:off x="-1425965" y="5182847"/>
              <a:ext cx="2979208" cy="973667"/>
              <a:chOff x="2592388" y="5601756"/>
              <a:chExt cx="4027487" cy="939800"/>
            </a:xfrm>
          </p:grpSpPr>
          <p:sp>
            <p:nvSpPr>
              <p:cNvPr id="215" name="Freeform 2"/>
              <p:cNvSpPr>
                <a:spLocks/>
              </p:cNvSpPr>
              <p:nvPr/>
            </p:nvSpPr>
            <p:spPr bwMode="auto">
              <a:xfrm>
                <a:off x="2592388" y="5601756"/>
                <a:ext cx="4027487" cy="939800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18" name="Straight Connector 217"/>
              <p:cNvCxnSpPr/>
              <p:nvPr/>
            </p:nvCxnSpPr>
            <p:spPr>
              <a:xfrm flipV="1">
                <a:off x="3262941" y="5752569"/>
                <a:ext cx="1316038" cy="13176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/>
              <p:cNvCxnSpPr/>
              <p:nvPr/>
            </p:nvCxnSpPr>
            <p:spPr>
              <a:xfrm flipV="1">
                <a:off x="4182104" y="6238344"/>
                <a:ext cx="1247775" cy="825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/>
              <p:cNvCxnSpPr/>
              <p:nvPr/>
            </p:nvCxnSpPr>
            <p:spPr>
              <a:xfrm flipV="1">
                <a:off x="4126541" y="5939894"/>
                <a:ext cx="1790700" cy="298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/>
              <p:cNvCxnSpPr/>
              <p:nvPr/>
            </p:nvCxnSpPr>
            <p:spPr>
              <a:xfrm flipV="1">
                <a:off x="5453691" y="5968469"/>
                <a:ext cx="588963" cy="2698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2" name="Group 347"/>
              <p:cNvGrpSpPr>
                <a:grpSpLocks/>
              </p:cNvGrpSpPr>
              <p:nvPr/>
            </p:nvGrpSpPr>
            <p:grpSpPr bwMode="auto"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316" name="Oval 315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17" name="Rectangle 316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18" name="Oval 317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19" name="Freeform 318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0" name="Freeform 319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1" name="Freeform 320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2" name="Freeform 321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23" name="Straight Connector 322"/>
                <p:cNvCxnSpPr>
                  <a:endCxn id="318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347"/>
              <p:cNvGrpSpPr>
                <a:grpSpLocks/>
              </p:cNvGrpSpPr>
              <p:nvPr/>
            </p:nvGrpSpPr>
            <p:grpSpPr bwMode="auto"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307" name="Oval 306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08" name="Rectangle 307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9" name="Oval 308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10" name="Freeform 309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11" name="Freeform 310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12" name="Freeform 311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13" name="Freeform 312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14" name="Straight Connector 313"/>
                <p:cNvCxnSpPr>
                  <a:endCxn id="309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Group 347"/>
              <p:cNvGrpSpPr>
                <a:grpSpLocks/>
              </p:cNvGrpSpPr>
              <p:nvPr/>
            </p:nvGrpSpPr>
            <p:grpSpPr bwMode="auto"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298" name="Oval 297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99" name="Rectangle 298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0" name="Oval 299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01" name="Freeform 300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2" name="Freeform 301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3" name="Freeform 302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4" name="Freeform 303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05" name="Straight Connector 304"/>
                <p:cNvCxnSpPr>
                  <a:endCxn id="300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347"/>
              <p:cNvGrpSpPr>
                <a:grpSpLocks/>
              </p:cNvGrpSpPr>
              <p:nvPr/>
            </p:nvGrpSpPr>
            <p:grpSpPr bwMode="auto"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289" name="Oval 288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90" name="Rectangle 289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91" name="Oval 290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92" name="Freeform 291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93" name="Freeform 292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94" name="Freeform 293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95" name="Freeform 294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96" name="Straight Connector 295"/>
                <p:cNvCxnSpPr>
                  <a:endCxn id="291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347"/>
              <p:cNvGrpSpPr>
                <a:grpSpLocks/>
              </p:cNvGrpSpPr>
              <p:nvPr/>
            </p:nvGrpSpPr>
            <p:grpSpPr bwMode="auto"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280" name="Oval 279"/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81" name="Rectangle 280"/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2" name="Oval 281"/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83" name="Freeform 282"/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4" name="Freeform 283"/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5" name="Freeform 284"/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6" name="Freeform 285"/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87" name="Straight Connector 286"/>
                <p:cNvCxnSpPr>
                  <a:endCxn id="282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14" name="Rectangle 213"/>
            <p:cNvSpPr/>
            <p:nvPr/>
          </p:nvSpPr>
          <p:spPr bwMode="auto">
            <a:xfrm>
              <a:off x="-1550737" y="5173579"/>
              <a:ext cx="3248526" cy="1029368"/>
            </a:xfrm>
            <a:prstGeom prst="rect">
              <a:avLst/>
            </a:prstGeom>
            <a:solidFill>
              <a:schemeClr val="bg1">
                <a:alpha val="77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25" name="Picture 1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14" y="720742"/>
            <a:ext cx="4579519" cy="188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6" name="Title 1"/>
          <p:cNvSpPr txBox="1">
            <a:spLocks/>
          </p:cNvSpPr>
          <p:nvPr/>
        </p:nvSpPr>
        <p:spPr>
          <a:xfrm>
            <a:off x="399720" y="120318"/>
            <a:ext cx="7772400" cy="97275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</a:defRPr>
            </a:lvl9pPr>
          </a:lstStyle>
          <a:p>
            <a:r>
              <a:rPr lang="en-US" sz="4000" dirty="0" smtClean="0"/>
              <a:t>ONOS controller</a:t>
            </a:r>
            <a:endParaRPr lang="en-US" sz="4000" dirty="0"/>
          </a:p>
        </p:txBody>
      </p:sp>
      <p:sp>
        <p:nvSpPr>
          <p:cNvPr id="327" name="Content Placeholder 3"/>
          <p:cNvSpPr txBox="1">
            <a:spLocks/>
          </p:cNvSpPr>
          <p:nvPr/>
        </p:nvSpPr>
        <p:spPr>
          <a:xfrm>
            <a:off x="5768007" y="1647479"/>
            <a:ext cx="3135360" cy="4648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r>
              <a:rPr lang="en-US" sz="2400" dirty="0" smtClean="0">
                <a:solidFill>
                  <a:srgbClr val="000000"/>
                </a:solidFill>
              </a:rPr>
              <a:t>control apps separate from controller</a:t>
            </a:r>
          </a:p>
          <a:p>
            <a:r>
              <a:rPr lang="en-US" sz="2400" dirty="0" smtClean="0">
                <a:solidFill>
                  <a:srgbClr val="000000"/>
                </a:solidFill>
              </a:rPr>
              <a:t>intent framework: high-level specification of service: what rather than how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 smtClean="0">
                <a:solidFill>
                  <a:srgbClr val="000000"/>
                </a:solidFill>
              </a:rPr>
              <a:t>considerable emphasis on distributed core: service reliability, replication performance scaling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3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22</a:t>
            </a:fld>
            <a:endParaRPr lang="en-US" sz="1200" dirty="0">
              <a:latin typeface="Tahoma" charset="0"/>
            </a:endParaRPr>
          </a:p>
        </p:txBody>
      </p:sp>
      <p:sp>
        <p:nvSpPr>
          <p:cNvPr id="32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95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 txBox="1">
            <a:spLocks/>
          </p:cNvSpPr>
          <p:nvPr/>
        </p:nvSpPr>
        <p:spPr>
          <a:xfrm>
            <a:off x="371475" y="179919"/>
            <a:ext cx="82296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r>
              <a:rPr lang="en-US" dirty="0" smtClean="0">
                <a:latin typeface="Gill Sans MT" charset="0"/>
              </a:rPr>
              <a:t>SDN:  selected challenges</a:t>
            </a:r>
            <a:endParaRPr lang="en-US" dirty="0">
              <a:latin typeface="Gill Sans MT" charset="0"/>
            </a:endParaRPr>
          </a:p>
        </p:txBody>
      </p:sp>
      <p:pic>
        <p:nvPicPr>
          <p:cNvPr id="42" name="Picture 1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40" y="836758"/>
            <a:ext cx="5845283" cy="186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87364"/>
            <a:ext cx="7772400" cy="4648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hardening the control plane: dependable, reliable, performance-scalable, secure distributed system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robustness to failures: leverage strong theory of reliable distributed system for control plane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dependability, security: “baked in” from day one? </a:t>
            </a:r>
          </a:p>
          <a:p>
            <a:pPr>
              <a:lnSpc>
                <a:spcPct val="100000"/>
              </a:lnSpc>
            </a:pPr>
            <a:r>
              <a:rPr lang="en-US" dirty="0"/>
              <a:t>networks, protocols meeting </a:t>
            </a:r>
            <a:r>
              <a:rPr lang="en-US" dirty="0" smtClean="0"/>
              <a:t>mission-</a:t>
            </a:r>
            <a:r>
              <a:rPr lang="en-US" dirty="0"/>
              <a:t>specific requirements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e.g., real</a:t>
            </a:r>
            <a:r>
              <a:rPr lang="en-US" dirty="0"/>
              <a:t>-time, ultra-reliable, ultra-secure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Internet</a:t>
            </a:r>
            <a:r>
              <a:rPr lang="en-US" dirty="0"/>
              <a:t>-scaling 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23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45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 smtClean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mtClean="0"/>
              <a:t>Q &amp; A </a:t>
            </a:r>
            <a:r>
              <a:rPr lang="ko-KR" altLang="en-US" smtClean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842968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20583</TotalTime>
  <Words>1776</Words>
  <Application>Microsoft Office PowerPoint</Application>
  <PresentationFormat>화면 슬라이드 쇼(4:3)</PresentationFormat>
  <Paragraphs>487</Paragraphs>
  <Slides>24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ＭＳ Ｐゴシック</vt:lpstr>
      <vt:lpstr>Arial</vt:lpstr>
      <vt:lpstr>Calibri</vt:lpstr>
      <vt:lpstr>Comic Sans MS</vt:lpstr>
      <vt:lpstr>Gill Sans MT</vt:lpstr>
      <vt:lpstr>Tahoma</vt:lpstr>
      <vt:lpstr>Times New Roman</vt:lpstr>
      <vt:lpstr>Wingdings</vt:lpstr>
      <vt:lpstr>Default Design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Analogy: mainframe to PC evolution*</vt:lpstr>
      <vt:lpstr>Traffic engineering: difficult traditional routing</vt:lpstr>
      <vt:lpstr>Traffic engineering: difficult</vt:lpstr>
      <vt:lpstr>Traffic engineering: difficult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OpenFlow protocol</vt:lpstr>
      <vt:lpstr>OpenFlow: controller-to-switch messages</vt:lpstr>
      <vt:lpstr>OpenFlow: switch-to-controller messages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mjchoi</cp:lastModifiedBy>
  <cp:revision>512</cp:revision>
  <dcterms:created xsi:type="dcterms:W3CDTF">1999-10-08T19:08:27Z</dcterms:created>
  <dcterms:modified xsi:type="dcterms:W3CDTF">2020-09-14T07:59:47Z</dcterms:modified>
</cp:coreProperties>
</file>