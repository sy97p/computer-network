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778" r:id="rId2"/>
    <p:sldId id="780" r:id="rId3"/>
    <p:sldId id="821" r:id="rId4"/>
    <p:sldId id="822" r:id="rId5"/>
    <p:sldId id="823" r:id="rId6"/>
    <p:sldId id="824" r:id="rId7"/>
    <p:sldId id="845" r:id="rId8"/>
    <p:sldId id="817" r:id="rId9"/>
    <p:sldId id="818" r:id="rId10"/>
    <p:sldId id="819" r:id="rId11"/>
    <p:sldId id="820" r:id="rId12"/>
    <p:sldId id="856" r:id="rId13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DDDDD"/>
    <a:srgbClr val="FFCCFF"/>
    <a:srgbClr val="000099"/>
    <a:srgbClr val="FF0000"/>
    <a:srgbClr val="008000"/>
    <a:srgbClr val="66CC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67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2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2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2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91292653-6D28-1A4E-9097-8CD0CA4FA9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41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ACCD5E27-021E-054B-84DE-C100B224ED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115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Swamp </a:t>
            </a:r>
            <a:r>
              <a:rPr lang="ko-KR" altLang="en-US" dirty="0" smtClean="0"/>
              <a:t>뒤덮다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슾지</a:t>
            </a:r>
            <a:r>
              <a:rPr lang="en-US" altLang="ko-KR" dirty="0" smtClean="0"/>
              <a:t>)</a:t>
            </a:r>
          </a:p>
          <a:p>
            <a:r>
              <a:rPr lang="en-US" altLang="ko-KR" sz="800" i="1" kern="1200" dirty="0" smtClean="0">
                <a:solidFill>
                  <a:srgbClr val="CC0000"/>
                </a:solidFill>
                <a:latin typeface="Times New Roman" pitchFamily="-109" charset="0"/>
                <a:ea typeface="ＭＳ Ｐゴシック" charset="0"/>
                <a:cs typeface="ＭＳ Ｐゴシック" charset="0"/>
              </a:rPr>
              <a:t>Administrative </a:t>
            </a:r>
            <a:r>
              <a:rPr lang="ko-KR" altLang="en-US" sz="800" i="1" kern="1200" dirty="0" smtClean="0">
                <a:solidFill>
                  <a:srgbClr val="CC0000"/>
                </a:solidFill>
                <a:latin typeface="Times New Roman" pitchFamily="-109" charset="0"/>
                <a:ea typeface="ＭＳ Ｐゴシック" charset="0"/>
                <a:cs typeface="ＭＳ Ｐゴシック" charset="0"/>
              </a:rPr>
              <a:t>관리자의</a:t>
            </a:r>
            <a:endParaRPr lang="en-US" altLang="ko-KR" sz="800" i="1" kern="1200" dirty="0" smtClean="0">
              <a:solidFill>
                <a:srgbClr val="CC0000"/>
              </a:solidFill>
              <a:latin typeface="Times New Roman" pitchFamily="-109" charset="0"/>
              <a:ea typeface="ＭＳ Ｐゴシック" charset="0"/>
              <a:cs typeface="ＭＳ Ｐゴシック" charset="0"/>
            </a:endParaRPr>
          </a:p>
          <a:p>
            <a:r>
              <a:rPr lang="en-US" altLang="ko-KR" sz="800" i="1" kern="1200" dirty="0" smtClean="0">
                <a:solidFill>
                  <a:srgbClr val="CC0000"/>
                </a:solidFill>
                <a:latin typeface="Times New Roman" pitchFamily="-109" charset="0"/>
              </a:rPr>
              <a:t>Autonomy </a:t>
            </a:r>
            <a:r>
              <a:rPr lang="ko-KR" altLang="en-US" sz="800" i="1" kern="1200" dirty="0" smtClean="0">
                <a:solidFill>
                  <a:srgbClr val="CC0000"/>
                </a:solidFill>
                <a:latin typeface="Times New Roman" pitchFamily="-109" charset="0"/>
              </a:rPr>
              <a:t>자율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CD5E27-021E-054B-84DE-C100B224ED6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958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IS (Intermediate System)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CD5E27-021E-054B-84DE-C100B224ED6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57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Dissemination </a:t>
            </a:r>
            <a:r>
              <a:rPr lang="ko-KR" altLang="en-US" dirty="0" smtClean="0"/>
              <a:t>파급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전파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CD5E27-021E-054B-84DE-C100B224ED6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34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743F53F6-B523-C44E-B4C1-FCBC5EB649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6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D498B073-F070-8F40-A264-45FE158B67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18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A5E2E980-7D79-7040-B5D8-18DB884801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52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F735F25A-B97A-024B-B408-E1A4C1DF41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987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9" name="Slide Number Placeholder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DD8B96B1-2EDF-B64A-A4F1-BB54A74ACD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6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0DCF9BDD-CFA9-4940-A134-4E3EBF4AC9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7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7EFC9773-7379-5049-A6C9-0C8EEEC5C5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34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A514D338-4107-944C-9C9F-B78F8039FA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806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FD97474-BCA4-8B48-AA21-40B47D81E8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2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38D61CF4-3907-BD48-A0AD-B97C00B711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15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4E5268B6-BFED-754B-A245-6D16E75F07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64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C0F1923-A596-1A47-A249-877B26CCB9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391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100000"/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Arial"/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4"/>
          <p:cNvSpPr>
            <a:spLocks noChangeArrowheads="1"/>
          </p:cNvSpPr>
          <p:nvPr/>
        </p:nvSpPr>
        <p:spPr bwMode="auto">
          <a:xfrm>
            <a:off x="5608638" y="3489325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ts val="3063"/>
              </a:lnSpc>
            </a:pPr>
            <a:r>
              <a:rPr lang="en-US" sz="2800" i="1" dirty="0">
                <a:solidFill>
                  <a:srgbClr val="008000"/>
                </a:solidFill>
                <a:cs typeface="Arial" charset="0"/>
              </a:rPr>
              <a:t>Computer Networking: A Top </a:t>
            </a:r>
            <a:r>
              <a:rPr lang="en-US" sz="2800" i="1">
                <a:solidFill>
                  <a:srgbClr val="008000"/>
                </a:solidFill>
                <a:cs typeface="Arial" charset="0"/>
              </a:rPr>
              <a:t>Down </a:t>
            </a:r>
            <a:r>
              <a:rPr lang="en-US" sz="2800" i="1" smtClean="0">
                <a:solidFill>
                  <a:srgbClr val="008000"/>
                </a:solidFill>
                <a:cs typeface="Arial" charset="0"/>
              </a:rPr>
              <a:t>Approach </a:t>
            </a:r>
            <a:r>
              <a:rPr lang="en-US" sz="2800" dirty="0">
                <a:solidFill>
                  <a:srgbClr val="008000"/>
                </a:solidFill>
                <a:cs typeface="Arial" charset="0"/>
              </a:rPr>
              <a:t/>
            </a:r>
            <a:br>
              <a:rPr lang="en-US" sz="2800" dirty="0">
                <a:solidFill>
                  <a:srgbClr val="008000"/>
                </a:solidFill>
                <a:cs typeface="Arial" charset="0"/>
              </a:rPr>
            </a:br>
            <a:endParaRPr lang="en-US" sz="2000" dirty="0">
              <a:solidFill>
                <a:srgbClr val="008000"/>
              </a:solidFill>
              <a:cs typeface="Arial" charset="0"/>
            </a:endParaRPr>
          </a:p>
        </p:txBody>
      </p:sp>
      <p:sp>
        <p:nvSpPr>
          <p:cNvPr id="40962" name="Text Box 6"/>
          <p:cNvSpPr txBox="1">
            <a:spLocks noChangeArrowheads="1"/>
          </p:cNvSpPr>
          <p:nvPr/>
        </p:nvSpPr>
        <p:spPr bwMode="auto">
          <a:xfrm>
            <a:off x="369888" y="3241675"/>
            <a:ext cx="5378450" cy="148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 note on the use of these Powerpoint slides:</a:t>
            </a:r>
          </a:p>
          <a:p>
            <a:r>
              <a:rPr lang="en-US" sz="1200" dirty="0"/>
              <a:t>We</a:t>
            </a:r>
            <a:r>
              <a:rPr lang="ja-JP" altLang="en-US" sz="1200" dirty="0"/>
              <a:t>’</a:t>
            </a:r>
            <a:r>
              <a:rPr lang="en-US" altLang="ja-JP" sz="1200" dirty="0"/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 dirty="0"/>
              <a:t>lot</a:t>
            </a:r>
            <a:r>
              <a:rPr lang="en-US" altLang="ja-JP" sz="1200" dirty="0"/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sz="1400" dirty="0"/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390525" y="4370388"/>
            <a:ext cx="5378450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1400" dirty="0" smtClean="0">
              <a:latin typeface="Gill Sans MT" charset="0"/>
            </a:endParaRP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 smtClean="0"/>
              <a:t>If you use these slides (e.g., in a class) that you mention their source (after all, we</a:t>
            </a:r>
            <a:r>
              <a:rPr lang="ja-JP" altLang="en-US" sz="1200" dirty="0" smtClean="0"/>
              <a:t>’</a:t>
            </a:r>
            <a:r>
              <a:rPr lang="en-US" altLang="ja-JP" sz="1200" dirty="0" smtClean="0"/>
              <a:t>d like people to use our book!)</a:t>
            </a: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 smtClean="0"/>
              <a:t>If you post any slides on a www site, that you note that they are adapted from (or perhaps identical to) our slides, and note our copyright of this material.</a:t>
            </a:r>
          </a:p>
          <a:p>
            <a:pPr>
              <a:buClr>
                <a:schemeClr val="accent2"/>
              </a:buClr>
              <a:buFont typeface="Wingdings" charset="0"/>
              <a:buChar char="q"/>
              <a:defRPr/>
            </a:pPr>
            <a:endParaRPr lang="en-US" sz="1200" dirty="0" smtClean="0"/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charset="0"/>
              <a:buNone/>
              <a:defRPr/>
            </a:pPr>
            <a:r>
              <a:rPr lang="en-US" sz="1200" dirty="0" smtClean="0"/>
              <a:t>Thanks and enjoy!  JFK/KWR</a:t>
            </a:r>
          </a:p>
          <a:p>
            <a:pPr>
              <a:lnSpc>
                <a:spcPct val="85000"/>
              </a:lnSpc>
              <a:defRPr/>
            </a:pPr>
            <a:endParaRPr lang="en-US" sz="1200" dirty="0" smtClean="0"/>
          </a:p>
          <a:p>
            <a:pPr>
              <a:defRPr/>
            </a:pPr>
            <a:r>
              <a:rPr lang="en-US" sz="1200" dirty="0" smtClean="0"/>
              <a:t>     All material copyright 1996-2016</a:t>
            </a:r>
          </a:p>
          <a:p>
            <a:pPr>
              <a:defRPr/>
            </a:pPr>
            <a:r>
              <a:rPr lang="en-US" sz="1200" dirty="0" smtClean="0"/>
              <a:t>     J.F Kurose and K.W. Ross, All Rights Reserved</a:t>
            </a:r>
          </a:p>
        </p:txBody>
      </p:sp>
      <p:pic>
        <p:nvPicPr>
          <p:cNvPr id="40964" name="Picture 8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6146800"/>
            <a:ext cx="187325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Rectangle 4"/>
          <p:cNvSpPr>
            <a:spLocks noChangeArrowheads="1"/>
          </p:cNvSpPr>
          <p:nvPr/>
        </p:nvSpPr>
        <p:spPr bwMode="auto">
          <a:xfrm>
            <a:off x="5634038" y="4510088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dirty="0">
                <a:solidFill>
                  <a:srgbClr val="008000"/>
                </a:solidFill>
                <a:cs typeface="Arial" charset="0"/>
              </a:rPr>
              <a:t>7</a:t>
            </a:r>
            <a:r>
              <a:rPr lang="en-US" baseline="30000" dirty="0">
                <a:solidFill>
                  <a:srgbClr val="008000"/>
                </a:solidFill>
                <a:cs typeface="Arial" charset="0"/>
              </a:rPr>
              <a:t>th</a:t>
            </a:r>
            <a:r>
              <a:rPr lang="en-US" dirty="0">
                <a:solidFill>
                  <a:srgbClr val="008000"/>
                </a:solidFill>
                <a:cs typeface="Arial" charset="0"/>
              </a:rPr>
              <a:t> </a:t>
            </a:r>
            <a:r>
              <a:rPr lang="en-US" dirty="0" smtClean="0">
                <a:solidFill>
                  <a:srgbClr val="008000"/>
                </a:solidFill>
                <a:cs typeface="Arial" charset="0"/>
              </a:rPr>
              <a:t>Edition, </a:t>
            </a:r>
            <a:r>
              <a:rPr lang="en-US" dirty="0" smtClean="0">
                <a:solidFill>
                  <a:srgbClr val="008000"/>
                </a:solidFill>
              </a:rPr>
              <a:t>Global Edition</a:t>
            </a:r>
            <a:r>
              <a:rPr lang="en-US" dirty="0" smtClean="0">
                <a:solidFill>
                  <a:srgbClr val="008000"/>
                </a:solidFill>
                <a:cs typeface="Arial" charset="0"/>
              </a:rPr>
              <a:t> </a:t>
            </a:r>
            <a:r>
              <a:rPr lang="en-US" dirty="0">
                <a:solidFill>
                  <a:srgbClr val="008000"/>
                </a:solidFill>
                <a:cs typeface="Arial" charset="0"/>
              </a:rPr>
              <a:t/>
            </a:r>
            <a:br>
              <a:rPr lang="en-US" dirty="0">
                <a:solidFill>
                  <a:srgbClr val="008000"/>
                </a:solidFill>
                <a:cs typeface="Arial" charset="0"/>
              </a:rPr>
            </a:br>
            <a:r>
              <a:rPr lang="en-US" dirty="0">
                <a:solidFill>
                  <a:srgbClr val="008000"/>
                </a:solidFill>
                <a:cs typeface="Arial" charset="0"/>
              </a:rPr>
              <a:t>Jim Kurose, Keith Ross</a:t>
            </a:r>
            <a:r>
              <a:rPr lang="en-US">
                <a:solidFill>
                  <a:srgbClr val="008000"/>
                </a:solidFill>
                <a:cs typeface="Arial" charset="0"/>
              </a:rPr>
              <a:t/>
            </a:r>
            <a:br>
              <a:rPr lang="en-US">
                <a:solidFill>
                  <a:srgbClr val="008000"/>
                </a:solidFill>
                <a:cs typeface="Arial" charset="0"/>
              </a:rPr>
            </a:br>
            <a:r>
              <a:rPr lang="en-US" sz="1400" smtClean="0">
                <a:solidFill>
                  <a:srgbClr val="008000"/>
                </a:solidFill>
                <a:cs typeface="Arial" charset="0"/>
              </a:rPr>
              <a:t>Pearson</a:t>
            </a:r>
            <a:r>
              <a:rPr lang="en-US" sz="1400" dirty="0">
                <a:solidFill>
                  <a:srgbClr val="008000"/>
                </a:solidFill>
                <a:cs typeface="Arial" charset="0"/>
              </a:rPr>
              <a:t/>
            </a:r>
            <a:br>
              <a:rPr lang="en-US" sz="1400" dirty="0">
                <a:solidFill>
                  <a:srgbClr val="008000"/>
                </a:solidFill>
                <a:cs typeface="Arial" charset="0"/>
              </a:rPr>
            </a:br>
            <a:r>
              <a:rPr lang="en-US" sz="1400" dirty="0">
                <a:solidFill>
                  <a:srgbClr val="008000"/>
                </a:solidFill>
                <a:cs typeface="Arial" charset="0"/>
              </a:rPr>
              <a:t>April 2016</a:t>
            </a:r>
          </a:p>
        </p:txBody>
      </p:sp>
      <p:sp>
        <p:nvSpPr>
          <p:cNvPr id="40967" name="Rectangle 3"/>
          <p:cNvSpPr>
            <a:spLocks noChangeArrowheads="1"/>
          </p:cNvSpPr>
          <p:nvPr/>
        </p:nvSpPr>
        <p:spPr bwMode="auto">
          <a:xfrm>
            <a:off x="371475" y="715963"/>
            <a:ext cx="4487863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Chapter </a:t>
            </a:r>
            <a:r>
              <a:rPr lang="en-US" sz="4400" dirty="0" smtClean="0">
                <a:solidFill>
                  <a:srgbClr val="000099"/>
                </a:solidFill>
                <a:latin typeface="Gill Sans MT" charset="0"/>
                <a:cs typeface="Arial" charset="0"/>
              </a:rPr>
              <a:t>5</a:t>
            </a:r>
            <a:r>
              <a:rPr lang="en-US" sz="4800" dirty="0">
                <a:solidFill>
                  <a:srgbClr val="000099"/>
                </a:solidFill>
                <a:latin typeface="Gill Sans MT" charset="0"/>
                <a:cs typeface="Arial" charset="0"/>
              </a:rPr>
              <a:t/>
            </a:r>
            <a:br>
              <a:rPr lang="en-US" sz="4800" dirty="0">
                <a:solidFill>
                  <a:srgbClr val="000099"/>
                </a:solidFill>
                <a:latin typeface="Gill Sans MT" charset="0"/>
                <a:cs typeface="Arial" charset="0"/>
              </a:rPr>
            </a:b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Network Layer:</a:t>
            </a:r>
          </a:p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The </a:t>
            </a:r>
            <a:r>
              <a:rPr lang="en-US" sz="4400" dirty="0" smtClean="0">
                <a:solidFill>
                  <a:srgbClr val="000099"/>
                </a:solidFill>
                <a:latin typeface="Gill Sans MT" charset="0"/>
                <a:cs typeface="Arial" charset="0"/>
              </a:rPr>
              <a:t>Control Plane</a:t>
            </a:r>
            <a:endParaRPr lang="en-US" sz="4400" dirty="0">
              <a:solidFill>
                <a:srgbClr val="000099"/>
              </a:solidFill>
              <a:latin typeface="Gill Sans MT" charset="0"/>
              <a:cs typeface="Arial" charset="0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  <p:pic>
        <p:nvPicPr>
          <p:cNvPr id="14" name="Picture 1" descr="kurose7e_cover_smal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712715" y="325438"/>
            <a:ext cx="3082733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9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543936"/>
            <a:ext cx="3890962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4019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1" name="Picture 2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latin typeface="Gill Sans MT" charset="0"/>
              </a:rPr>
              <a:t>5.1 </a:t>
            </a:r>
            <a:r>
              <a:rPr lang="en-US" sz="2400" dirty="0">
                <a:latin typeface="Gill Sans MT" charset="0"/>
              </a:rPr>
              <a:t>introduction</a:t>
            </a:r>
          </a:p>
          <a:p>
            <a:pPr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latin typeface="Gill Sans MT" charset="0"/>
              </a:rPr>
              <a:t>5.2 routing protocols</a:t>
            </a: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Gill Sans MT" charset="0"/>
              </a:rPr>
              <a:t>link state</a:t>
            </a: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Gill Sans MT" charset="0"/>
              </a:rPr>
              <a:t>distance vector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>
                <a:solidFill>
                  <a:srgbClr val="CC0000"/>
                </a:solidFill>
              </a:rPr>
              <a:t>5.3 intra</a:t>
            </a:r>
            <a:r>
              <a:rPr lang="en-US" sz="2400" dirty="0">
                <a:solidFill>
                  <a:srgbClr val="CC0000"/>
                </a:solidFill>
              </a:rPr>
              <a:t>-AS </a:t>
            </a:r>
            <a:r>
              <a:rPr lang="en-US" sz="2400" dirty="0" smtClean="0">
                <a:solidFill>
                  <a:srgbClr val="CC0000"/>
                </a:solidFill>
              </a:rPr>
              <a:t>routing </a:t>
            </a:r>
            <a:r>
              <a:rPr lang="en-US" sz="2400" dirty="0">
                <a:solidFill>
                  <a:srgbClr val="CC0000"/>
                </a:solidFill>
              </a:rPr>
              <a:t>in the Internet: </a:t>
            </a:r>
            <a:r>
              <a:rPr lang="en-US" sz="2400" dirty="0" smtClean="0">
                <a:solidFill>
                  <a:srgbClr val="CC0000"/>
                </a:solidFill>
              </a:rPr>
              <a:t>OSPF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/>
              <a:t>5.4 routing among </a:t>
            </a:r>
            <a:r>
              <a:rPr lang="en-US" sz="2400" dirty="0"/>
              <a:t>the ISPs: B</a:t>
            </a:r>
            <a:r>
              <a:rPr lang="en-US" sz="2400" dirty="0" smtClean="0"/>
              <a:t>GP</a:t>
            </a:r>
            <a:endParaRPr lang="en-US" sz="2400" dirty="0">
              <a:latin typeface="Gill Sans MT" charset="0"/>
            </a:endParaRPr>
          </a:p>
        </p:txBody>
      </p:sp>
      <p:sp>
        <p:nvSpPr>
          <p:cNvPr id="43013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461963" indent="-461963"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latin typeface="Gill Sans MT" charset="0"/>
              </a:rPr>
              <a:t>5.5 The SDN control plane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>
                <a:solidFill>
                  <a:srgbClr val="000000"/>
                </a:solidFill>
              </a:rPr>
              <a:t>5.6 </a:t>
            </a:r>
            <a:r>
              <a:rPr lang="en-US" sz="2400" dirty="0">
                <a:solidFill>
                  <a:srgbClr val="000000"/>
                </a:solidFill>
              </a:rPr>
              <a:t>ICMP: The Internet Control Message Protocol 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/>
              <a:t>5.7 Network </a:t>
            </a:r>
            <a:r>
              <a:rPr lang="en-US" sz="2400" dirty="0" smtClean="0"/>
              <a:t>management </a:t>
            </a:r>
            <a:r>
              <a:rPr lang="en-US" sz="2400" dirty="0"/>
              <a:t>and SNMP</a:t>
            </a:r>
            <a:endParaRPr lang="en-US" sz="2400" dirty="0">
              <a:latin typeface="Gill Sans MT" charset="0"/>
            </a:endParaRPr>
          </a:p>
        </p:txBody>
      </p:sp>
      <p:sp>
        <p:nvSpPr>
          <p:cNvPr id="43014" name="Rectangle 2"/>
          <p:cNvSpPr>
            <a:spLocks noChangeArrowheads="1"/>
          </p:cNvSpPr>
          <p:nvPr/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4400" dirty="0">
                <a:solidFill>
                  <a:srgbClr val="000099"/>
                </a:solidFill>
                <a:latin typeface="Gill Sans MT" charset="0"/>
              </a:rPr>
              <a:t>Chapter </a:t>
            </a:r>
            <a:r>
              <a:rPr lang="en-US" sz="4400" dirty="0" smtClean="0">
                <a:solidFill>
                  <a:srgbClr val="000099"/>
                </a:solidFill>
                <a:latin typeface="Gill Sans MT" charset="0"/>
              </a:rPr>
              <a:t>5: </a:t>
            </a:r>
            <a:r>
              <a:rPr lang="en-US" sz="4400" dirty="0">
                <a:solidFill>
                  <a:srgbClr val="000099"/>
                </a:solidFill>
                <a:latin typeface="Gill Sans MT" charset="0"/>
              </a:rPr>
              <a:t>outline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2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504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63" name="Picture 7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903288"/>
            <a:ext cx="4964972" cy="232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6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41300"/>
            <a:ext cx="5164138" cy="885825"/>
          </a:xfrm>
        </p:spPr>
        <p:txBody>
          <a:bodyPr/>
          <a:lstStyle/>
          <a:p>
            <a:r>
              <a:rPr lang="en-US" sz="4000" dirty="0" smtClean="0">
                <a:latin typeface="Gill Sans MT" charset="0"/>
              </a:rPr>
              <a:t>Making routing scalable</a:t>
            </a:r>
            <a:endParaRPr lang="en-US" dirty="0">
              <a:latin typeface="Gill Sans MT" charset="0"/>
            </a:endParaRPr>
          </a:p>
        </p:txBody>
      </p:sp>
      <p:sp>
        <p:nvSpPr>
          <p:cNvPr id="14336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42925" y="3467100"/>
            <a:ext cx="3810000" cy="226695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scale:</a:t>
            </a:r>
            <a:r>
              <a:rPr lang="en-US" dirty="0">
                <a:latin typeface="Gill Sans MT" charset="0"/>
              </a:rPr>
              <a:t> with </a:t>
            </a:r>
            <a:r>
              <a:rPr lang="en-US" dirty="0" smtClean="0">
                <a:latin typeface="Gill Sans MT" charset="0"/>
              </a:rPr>
              <a:t>billions of destinations</a:t>
            </a:r>
            <a:r>
              <a:rPr lang="en-US" dirty="0">
                <a:latin typeface="Gill Sans MT" charset="0"/>
              </a:rPr>
              <a:t>:</a:t>
            </a:r>
          </a:p>
          <a:p>
            <a:r>
              <a:rPr lang="en-US" sz="2400" dirty="0">
                <a:latin typeface="Gill Sans MT" charset="0"/>
              </a:rPr>
              <a:t>can</a:t>
            </a:r>
            <a:r>
              <a:rPr lang="ja-JP" altLang="en-US" sz="2400" dirty="0">
                <a:latin typeface="Gill Sans MT" charset="0"/>
              </a:rPr>
              <a:t>’</a:t>
            </a:r>
            <a:r>
              <a:rPr lang="en-US" altLang="ja-JP" sz="2400" dirty="0">
                <a:latin typeface="Gill Sans MT" charset="0"/>
              </a:rPr>
              <a:t>t store all </a:t>
            </a:r>
            <a:r>
              <a:rPr lang="en-US" altLang="ja-JP" sz="2400" dirty="0" smtClean="0">
                <a:latin typeface="Gill Sans MT" charset="0"/>
              </a:rPr>
              <a:t>destinations in </a:t>
            </a:r>
            <a:r>
              <a:rPr lang="en-US" altLang="ja-JP" sz="2400" dirty="0">
                <a:latin typeface="Gill Sans MT" charset="0"/>
              </a:rPr>
              <a:t>routing tables!</a:t>
            </a:r>
          </a:p>
          <a:p>
            <a:r>
              <a:rPr lang="en-US" sz="2400" dirty="0">
                <a:latin typeface="Gill Sans MT" charset="0"/>
              </a:rPr>
              <a:t>routing table exchange would swamp links!</a:t>
            </a:r>
            <a:r>
              <a:rPr lang="en-US" dirty="0">
                <a:latin typeface="Gill Sans MT" charset="0"/>
              </a:rPr>
              <a:t> </a:t>
            </a:r>
          </a:p>
          <a:p>
            <a:endParaRPr lang="en-US" dirty="0">
              <a:latin typeface="Gill Sans MT" charset="0"/>
            </a:endParaRPr>
          </a:p>
          <a:p>
            <a:endParaRPr lang="en-US" dirty="0">
              <a:latin typeface="Gill Sans MT" charset="0"/>
            </a:endParaRPr>
          </a:p>
        </p:txBody>
      </p:sp>
      <p:sp>
        <p:nvSpPr>
          <p:cNvPr id="9831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48175" y="3467100"/>
            <a:ext cx="4019550" cy="25146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cs typeface="+mn-cs"/>
              </a:rPr>
              <a:t>administrative autonomy</a:t>
            </a:r>
          </a:p>
          <a:p>
            <a:pPr>
              <a:defRPr/>
            </a:pPr>
            <a:r>
              <a:rPr lang="en-US" sz="2400" dirty="0">
                <a:cs typeface="+mn-cs"/>
              </a:rPr>
              <a:t>internet = network of networks</a:t>
            </a:r>
          </a:p>
          <a:p>
            <a:pPr>
              <a:defRPr/>
            </a:pPr>
            <a:r>
              <a:rPr lang="en-US" sz="2400" dirty="0">
                <a:cs typeface="+mn-cs"/>
              </a:rPr>
              <a:t>each network admin may want to control routing in its own network</a:t>
            </a:r>
          </a:p>
        </p:txBody>
      </p:sp>
      <p:sp>
        <p:nvSpPr>
          <p:cNvPr id="143367" name="Rectangle 5"/>
          <p:cNvSpPr>
            <a:spLocks noChangeArrowheads="1"/>
          </p:cNvSpPr>
          <p:nvPr/>
        </p:nvSpPr>
        <p:spPr bwMode="auto">
          <a:xfrm>
            <a:off x="660531" y="1313250"/>
            <a:ext cx="65436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</a:pPr>
            <a:r>
              <a:rPr lang="en-US" sz="2800" dirty="0">
                <a:latin typeface="Gill Sans MT" charset="0"/>
              </a:rPr>
              <a:t>our routing study thus far - </a:t>
            </a:r>
            <a:r>
              <a:rPr lang="en-US" sz="2800" dirty="0" smtClean="0">
                <a:latin typeface="Gill Sans MT" charset="0"/>
              </a:rPr>
              <a:t>idealized </a:t>
            </a:r>
            <a:endParaRPr lang="en-US" sz="2800" dirty="0">
              <a:latin typeface="Gill Sans MT" charset="0"/>
            </a:endParaRPr>
          </a:p>
          <a:p>
            <a:pPr marL="457200" indent="-4572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Gill Sans MT" charset="0"/>
              </a:rPr>
              <a:t>all routers identical</a:t>
            </a:r>
          </a:p>
          <a:p>
            <a:pPr marL="457200" indent="-4572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Gill Sans MT" charset="0"/>
              </a:rPr>
              <a:t>network </a:t>
            </a:r>
            <a:r>
              <a:rPr lang="ja-JP" altLang="en-US" sz="2800" dirty="0">
                <a:latin typeface="Gill Sans MT" charset="0"/>
              </a:rPr>
              <a:t>“</a:t>
            </a:r>
            <a:r>
              <a:rPr lang="en-US" altLang="ja-JP" sz="2800" dirty="0">
                <a:latin typeface="Gill Sans MT" charset="0"/>
              </a:rPr>
              <a:t>flat</a:t>
            </a:r>
            <a:r>
              <a:rPr lang="ja-JP" altLang="en-US" sz="2800" dirty="0">
                <a:latin typeface="Gill Sans MT" charset="0"/>
              </a:rPr>
              <a:t>”</a:t>
            </a:r>
            <a:endParaRPr lang="en-US" altLang="ja-JP" sz="2800" dirty="0">
              <a:latin typeface="Gill Sans MT" charset="0"/>
            </a:endParaRP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</a:pPr>
            <a:r>
              <a:rPr lang="en-US" sz="2800" i="1" dirty="0">
                <a:latin typeface="Gill Sans MT" charset="0"/>
              </a:rPr>
              <a:t>… not</a:t>
            </a:r>
            <a:r>
              <a:rPr lang="en-US" sz="2800" dirty="0">
                <a:latin typeface="Gill Sans MT" charset="0"/>
              </a:rPr>
              <a:t> true in practice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3</a:t>
            </a:fld>
            <a:endParaRPr lang="en-US" sz="1200" dirty="0">
              <a:latin typeface="Tahoma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123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17100" y="1302987"/>
            <a:ext cx="8192217" cy="910047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dirty="0">
                <a:latin typeface="Gill Sans MT"/>
                <a:cs typeface="Gill Sans MT"/>
              </a:rPr>
              <a:t>aggregate routers into </a:t>
            </a:r>
            <a:r>
              <a:rPr lang="en-US" dirty="0" smtClean="0">
                <a:latin typeface="Gill Sans MT"/>
                <a:cs typeface="Gill Sans MT"/>
              </a:rPr>
              <a:t>regions known as</a:t>
            </a:r>
            <a:r>
              <a:rPr lang="en-US" dirty="0" smtClean="0">
                <a:solidFill>
                  <a:srgbClr val="FF0000"/>
                </a:solidFill>
                <a:latin typeface="Gill Sans MT"/>
                <a:cs typeface="Gill Sans MT"/>
              </a:rPr>
              <a:t> </a:t>
            </a:r>
            <a:r>
              <a:rPr lang="ja-JP" altLang="en-US" dirty="0">
                <a:solidFill>
                  <a:srgbClr val="CC0000"/>
                </a:solidFill>
                <a:latin typeface="Gill Sans MT"/>
                <a:cs typeface="Gill Sans MT"/>
              </a:rPr>
              <a:t>“</a:t>
            </a:r>
            <a:r>
              <a:rPr lang="en-US" altLang="ja-JP" dirty="0">
                <a:solidFill>
                  <a:srgbClr val="CC0000"/>
                </a:solidFill>
                <a:latin typeface="Gill Sans MT"/>
                <a:cs typeface="Gill Sans MT"/>
              </a:rPr>
              <a:t>autonomous systems</a:t>
            </a:r>
            <a:r>
              <a:rPr lang="ja-JP" altLang="en-US" dirty="0">
                <a:solidFill>
                  <a:srgbClr val="CC0000"/>
                </a:solidFill>
                <a:latin typeface="Gill Sans MT"/>
                <a:cs typeface="Gill Sans MT"/>
              </a:rPr>
              <a:t>”</a:t>
            </a:r>
            <a:r>
              <a:rPr lang="en-US" altLang="ja-JP" dirty="0">
                <a:solidFill>
                  <a:srgbClr val="CC0000"/>
                </a:solidFill>
                <a:latin typeface="Gill Sans MT"/>
                <a:cs typeface="Gill Sans MT"/>
              </a:rPr>
              <a:t> (AS</a:t>
            </a:r>
            <a:r>
              <a:rPr lang="en-US" altLang="ja-JP" dirty="0" smtClean="0">
                <a:solidFill>
                  <a:srgbClr val="CC0000"/>
                </a:solidFill>
                <a:latin typeface="Gill Sans MT"/>
                <a:cs typeface="Gill Sans MT"/>
              </a:rPr>
              <a:t>) (a.k.a. “domains”)</a:t>
            </a:r>
            <a:endParaRPr lang="en-US" dirty="0">
              <a:latin typeface="Gill Sans MT" charset="0"/>
            </a:endParaRPr>
          </a:p>
        </p:txBody>
      </p:sp>
      <p:sp>
        <p:nvSpPr>
          <p:cNvPr id="14438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006150" y="2636395"/>
            <a:ext cx="3748232" cy="1934001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dirty="0" smtClean="0">
                <a:solidFill>
                  <a:srgbClr val="000090"/>
                </a:solidFill>
                <a:latin typeface="Gill Sans MT" charset="0"/>
              </a:rPr>
              <a:t>inter-AS routing</a:t>
            </a:r>
          </a:p>
          <a:p>
            <a:r>
              <a:rPr lang="en-US" sz="2400" dirty="0" smtClean="0">
                <a:latin typeface="Gill Sans MT" charset="0"/>
              </a:rPr>
              <a:t>routing among </a:t>
            </a:r>
            <a:r>
              <a:rPr lang="en-US" sz="2400" dirty="0" err="1" smtClean="0">
                <a:latin typeface="Gill Sans MT" charset="0"/>
              </a:rPr>
              <a:t>AS’es</a:t>
            </a:r>
            <a:endParaRPr lang="en-US" sz="2400" dirty="0" smtClean="0">
              <a:latin typeface="Gill Sans MT" charset="0"/>
            </a:endParaRPr>
          </a:p>
          <a:p>
            <a:r>
              <a:rPr lang="en-US" sz="2400" dirty="0" smtClean="0">
                <a:latin typeface="Gill Sans MT" charset="0"/>
              </a:rPr>
              <a:t>gateways perform inter-domain routing (as well as intra-domain routing)</a:t>
            </a:r>
            <a:endParaRPr lang="en-US" sz="2400" dirty="0">
              <a:latin typeface="Gill Sans MT" charset="0"/>
            </a:endParaRPr>
          </a:p>
        </p:txBody>
      </p:sp>
      <p:pic>
        <p:nvPicPr>
          <p:cNvPr id="144389" name="Picture 6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903288"/>
            <a:ext cx="7831792" cy="212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5" name="Rectangle 7"/>
          <p:cNvSpPr>
            <a:spLocks noGrp="1" noChangeArrowheads="1"/>
          </p:cNvSpPr>
          <p:nvPr>
            <p:ph type="title"/>
          </p:nvPr>
        </p:nvSpPr>
        <p:spPr>
          <a:xfrm>
            <a:off x="533400" y="241300"/>
            <a:ext cx="8144020" cy="885825"/>
          </a:xfrm>
        </p:spPr>
        <p:txBody>
          <a:bodyPr/>
          <a:lstStyle/>
          <a:p>
            <a:pPr>
              <a:defRPr/>
            </a:pPr>
            <a:r>
              <a:rPr lang="en-US" sz="4000" dirty="0" smtClean="0">
                <a:cs typeface="+mj-cs"/>
              </a:rPr>
              <a:t>Internet approach to scalable </a:t>
            </a:r>
            <a:r>
              <a:rPr lang="en-US" sz="4000" dirty="0">
                <a:cs typeface="+mj-cs"/>
              </a:rPr>
              <a:t>routing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674560" y="2540178"/>
            <a:ext cx="4246080" cy="3912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ja-JP" dirty="0" smtClean="0">
                <a:solidFill>
                  <a:srgbClr val="000090"/>
                </a:solidFill>
                <a:latin typeface="Gill Sans MT"/>
                <a:cs typeface="Gill Sans MT"/>
              </a:rPr>
              <a:t>intra-AS routing</a:t>
            </a:r>
          </a:p>
          <a:p>
            <a:pPr>
              <a:lnSpc>
                <a:spcPct val="90000"/>
              </a:lnSpc>
            </a:pPr>
            <a:r>
              <a:rPr lang="en-US" altLang="ja-JP" sz="2400" dirty="0" smtClean="0">
                <a:latin typeface="Gill Sans MT" charset="0"/>
              </a:rPr>
              <a:t>routing among hosts, routers in same AS (“network”)</a:t>
            </a:r>
          </a:p>
          <a:p>
            <a:pPr>
              <a:lnSpc>
                <a:spcPct val="90000"/>
              </a:lnSpc>
            </a:pPr>
            <a:r>
              <a:rPr lang="en-US" altLang="ja-JP" sz="2400" dirty="0" smtClean="0">
                <a:latin typeface="Gill Sans MT" charset="0"/>
              </a:rPr>
              <a:t>all routers in AS must run </a:t>
            </a:r>
            <a:r>
              <a:rPr lang="en-US" altLang="ja-JP" sz="2400" i="1" dirty="0" smtClean="0">
                <a:solidFill>
                  <a:srgbClr val="000090"/>
                </a:solidFill>
                <a:latin typeface="Gill Sans MT" charset="0"/>
              </a:rPr>
              <a:t>same</a:t>
            </a:r>
            <a:r>
              <a:rPr lang="en-US" altLang="ja-JP" sz="2400" dirty="0" smtClean="0">
                <a:latin typeface="Gill Sans MT" charset="0"/>
              </a:rPr>
              <a:t> intra-domain protocol</a:t>
            </a:r>
            <a:endParaRPr lang="en-US" altLang="ja-JP" sz="2400" dirty="0">
              <a:latin typeface="Gill Sans MT" charset="0"/>
            </a:endParaRPr>
          </a:p>
          <a:p>
            <a:pPr>
              <a:lnSpc>
                <a:spcPct val="90000"/>
              </a:lnSpc>
            </a:pPr>
            <a:r>
              <a:rPr lang="en-US" sz="2400" dirty="0" smtClean="0">
                <a:latin typeface="Gill Sans MT" charset="0"/>
              </a:rPr>
              <a:t>routers in </a:t>
            </a:r>
            <a:r>
              <a:rPr lang="en-US" sz="2400" i="1" dirty="0" smtClean="0">
                <a:latin typeface="Gill Sans MT" charset="0"/>
              </a:rPr>
              <a:t>different</a:t>
            </a:r>
            <a:r>
              <a:rPr lang="en-US" sz="2400" dirty="0" smtClean="0">
                <a:latin typeface="Gill Sans MT" charset="0"/>
              </a:rPr>
              <a:t> AS can run </a:t>
            </a:r>
            <a:r>
              <a:rPr lang="en-US" sz="2400" i="1" dirty="0" smtClean="0">
                <a:latin typeface="Gill Sans MT" charset="0"/>
              </a:rPr>
              <a:t>different</a:t>
            </a:r>
            <a:r>
              <a:rPr lang="en-US" sz="2400" dirty="0" smtClean="0">
                <a:latin typeface="Gill Sans MT" charset="0"/>
              </a:rPr>
              <a:t> intra-domain routing protocol</a:t>
            </a:r>
          </a:p>
          <a:p>
            <a:pPr>
              <a:lnSpc>
                <a:spcPct val="90000"/>
              </a:lnSpc>
            </a:pPr>
            <a:r>
              <a:rPr lang="en-US" sz="2400" dirty="0" smtClean="0">
                <a:latin typeface="Gill Sans MT" charset="0"/>
              </a:rPr>
              <a:t>gateway router: at “edge” of its own AS, has link(s) to router(s) in other </a:t>
            </a:r>
            <a:r>
              <a:rPr lang="en-US" sz="2400" dirty="0" err="1" smtClean="0">
                <a:latin typeface="Gill Sans MT" charset="0"/>
              </a:rPr>
              <a:t>AS’es</a:t>
            </a:r>
            <a:endParaRPr lang="en-US" sz="2400" dirty="0">
              <a:latin typeface="Gill Sans MT" charset="0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4</a:t>
            </a:fld>
            <a:endParaRPr lang="en-US" sz="1200" dirty="0">
              <a:latin typeface="Tahoma" charset="0"/>
            </a:endParaRP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338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411" name="Group 2"/>
          <p:cNvGrpSpPr>
            <a:grpSpLocks/>
          </p:cNvGrpSpPr>
          <p:nvPr/>
        </p:nvGrpSpPr>
        <p:grpSpPr bwMode="auto">
          <a:xfrm>
            <a:off x="204788" y="1254125"/>
            <a:ext cx="6178550" cy="4376738"/>
            <a:chOff x="0" y="878"/>
            <a:chExt cx="4232" cy="2968"/>
          </a:xfrm>
        </p:grpSpPr>
        <p:sp>
          <p:nvSpPr>
            <p:cNvPr id="145415" name="Freeform 3"/>
            <p:cNvSpPr>
              <a:spLocks/>
            </p:cNvSpPr>
            <p:nvPr/>
          </p:nvSpPr>
          <p:spPr bwMode="auto">
            <a:xfrm>
              <a:off x="2621" y="1050"/>
              <a:ext cx="1611" cy="1025"/>
            </a:xfrm>
            <a:custGeom>
              <a:avLst/>
              <a:gdLst>
                <a:gd name="T0" fmla="*/ 1063 w 1162"/>
                <a:gd name="T1" fmla="*/ 49351 h 543"/>
                <a:gd name="T2" fmla="*/ 6960 w 1162"/>
                <a:gd name="T3" fmla="*/ 4162 h 543"/>
                <a:gd name="T4" fmla="*/ 17785 w 1162"/>
                <a:gd name="T5" fmla="*/ 23973 h 543"/>
                <a:gd name="T6" fmla="*/ 21649 w 1162"/>
                <a:gd name="T7" fmla="*/ 72662 h 543"/>
                <a:gd name="T8" fmla="*/ 19828 w 1162"/>
                <a:gd name="T9" fmla="*/ 137161 h 543"/>
                <a:gd name="T10" fmla="*/ 11083 w 1162"/>
                <a:gd name="T11" fmla="*/ 164591 h 543"/>
                <a:gd name="T12" fmla="*/ 1657 w 1162"/>
                <a:gd name="T13" fmla="*/ 133650 h 543"/>
                <a:gd name="T14" fmla="*/ 1063 w 1162"/>
                <a:gd name="T15" fmla="*/ 49351 h 5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62"/>
                <a:gd name="T25" fmla="*/ 0 h 543"/>
                <a:gd name="T26" fmla="*/ 1162 w 1162"/>
                <a:gd name="T27" fmla="*/ 543 h 54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62" h="543">
                  <a:moveTo>
                    <a:pt x="56" y="162"/>
                  </a:moveTo>
                  <a:cubicBezTo>
                    <a:pt x="115" y="100"/>
                    <a:pt x="221" y="28"/>
                    <a:pt x="368" y="14"/>
                  </a:cubicBezTo>
                  <a:cubicBezTo>
                    <a:pt x="515" y="0"/>
                    <a:pt x="811" y="42"/>
                    <a:pt x="940" y="79"/>
                  </a:cubicBezTo>
                  <a:cubicBezTo>
                    <a:pt x="1069" y="116"/>
                    <a:pt x="1126" y="177"/>
                    <a:pt x="1144" y="239"/>
                  </a:cubicBezTo>
                  <a:cubicBezTo>
                    <a:pt x="1162" y="301"/>
                    <a:pt x="1141" y="401"/>
                    <a:pt x="1048" y="451"/>
                  </a:cubicBezTo>
                  <a:cubicBezTo>
                    <a:pt x="955" y="501"/>
                    <a:pt x="746" y="543"/>
                    <a:pt x="586" y="541"/>
                  </a:cubicBezTo>
                  <a:cubicBezTo>
                    <a:pt x="426" y="539"/>
                    <a:pt x="176" y="502"/>
                    <a:pt x="88" y="439"/>
                  </a:cubicBezTo>
                  <a:cubicBezTo>
                    <a:pt x="0" y="376"/>
                    <a:pt x="63" y="220"/>
                    <a:pt x="56" y="162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16" name="Freeform 4"/>
            <p:cNvSpPr>
              <a:spLocks/>
            </p:cNvSpPr>
            <p:nvPr/>
          </p:nvSpPr>
          <p:spPr bwMode="auto">
            <a:xfrm>
              <a:off x="0" y="878"/>
              <a:ext cx="1255" cy="1016"/>
            </a:xfrm>
            <a:custGeom>
              <a:avLst/>
              <a:gdLst>
                <a:gd name="T0" fmla="*/ 134 w 1198"/>
                <a:gd name="T1" fmla="*/ 270558 h 451"/>
                <a:gd name="T2" fmla="*/ 273 w 1198"/>
                <a:gd name="T3" fmla="*/ 132828 h 451"/>
                <a:gd name="T4" fmla="*/ 679 w 1198"/>
                <a:gd name="T5" fmla="*/ 73044 h 451"/>
                <a:gd name="T6" fmla="*/ 1501 w 1198"/>
                <a:gd name="T7" fmla="*/ 37135 h 451"/>
                <a:gd name="T8" fmla="*/ 1796 w 1198"/>
                <a:gd name="T9" fmla="*/ 294460 h 451"/>
                <a:gd name="T10" fmla="*/ 1350 w 1198"/>
                <a:gd name="T11" fmla="*/ 616944 h 451"/>
                <a:gd name="T12" fmla="*/ 466 w 1198"/>
                <a:gd name="T13" fmla="*/ 634874 h 451"/>
                <a:gd name="T14" fmla="*/ 54 w 1198"/>
                <a:gd name="T15" fmla="*/ 503524 h 451"/>
                <a:gd name="T16" fmla="*/ 134 w 1198"/>
                <a:gd name="T17" fmla="*/ 270558 h 45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98"/>
                <a:gd name="T28" fmla="*/ 0 h 451"/>
                <a:gd name="T29" fmla="*/ 1198 w 1198"/>
                <a:gd name="T30" fmla="*/ 451 h 45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98" h="451">
                  <a:moveTo>
                    <a:pt x="88" y="181"/>
                  </a:moveTo>
                  <a:cubicBezTo>
                    <a:pt x="159" y="143"/>
                    <a:pt x="120" y="111"/>
                    <a:pt x="180" y="89"/>
                  </a:cubicBezTo>
                  <a:cubicBezTo>
                    <a:pt x="240" y="67"/>
                    <a:pt x="313" y="60"/>
                    <a:pt x="448" y="49"/>
                  </a:cubicBezTo>
                  <a:cubicBezTo>
                    <a:pt x="583" y="38"/>
                    <a:pt x="866" y="0"/>
                    <a:pt x="988" y="25"/>
                  </a:cubicBezTo>
                  <a:cubicBezTo>
                    <a:pt x="1110" y="50"/>
                    <a:pt x="1198" y="132"/>
                    <a:pt x="1181" y="197"/>
                  </a:cubicBezTo>
                  <a:cubicBezTo>
                    <a:pt x="1164" y="262"/>
                    <a:pt x="1034" y="375"/>
                    <a:pt x="889" y="413"/>
                  </a:cubicBezTo>
                  <a:cubicBezTo>
                    <a:pt x="744" y="451"/>
                    <a:pt x="449" y="438"/>
                    <a:pt x="307" y="425"/>
                  </a:cubicBezTo>
                  <a:cubicBezTo>
                    <a:pt x="165" y="412"/>
                    <a:pt x="72" y="378"/>
                    <a:pt x="36" y="337"/>
                  </a:cubicBezTo>
                  <a:cubicBezTo>
                    <a:pt x="0" y="296"/>
                    <a:pt x="77" y="213"/>
                    <a:pt x="88" y="18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17" name="Freeform 5"/>
            <p:cNvSpPr>
              <a:spLocks/>
            </p:cNvSpPr>
            <p:nvPr/>
          </p:nvSpPr>
          <p:spPr bwMode="auto">
            <a:xfrm>
              <a:off x="810" y="1611"/>
              <a:ext cx="2007" cy="792"/>
            </a:xfrm>
            <a:custGeom>
              <a:avLst/>
              <a:gdLst>
                <a:gd name="T0" fmla="*/ 1319 w 1583"/>
                <a:gd name="T1" fmla="*/ 862 h 682"/>
                <a:gd name="T2" fmla="*/ 3445 w 1583"/>
                <a:gd name="T3" fmla="*/ 285 h 682"/>
                <a:gd name="T4" fmla="*/ 6645 w 1583"/>
                <a:gd name="T5" fmla="*/ 77 h 682"/>
                <a:gd name="T6" fmla="*/ 9794 w 1583"/>
                <a:gd name="T7" fmla="*/ 744 h 682"/>
                <a:gd name="T8" fmla="*/ 13238 w 1583"/>
                <a:gd name="T9" fmla="*/ 1642 h 682"/>
                <a:gd name="T10" fmla="*/ 10773 w 1583"/>
                <a:gd name="T11" fmla="*/ 2476 h 682"/>
                <a:gd name="T12" fmla="*/ 5844 w 1583"/>
                <a:gd name="T13" fmla="*/ 2523 h 682"/>
                <a:gd name="T14" fmla="*/ 751 w 1583"/>
                <a:gd name="T15" fmla="*/ 2291 h 682"/>
                <a:gd name="T16" fmla="*/ 1319 w 1583"/>
                <a:gd name="T17" fmla="*/ 862 h 6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83"/>
                <a:gd name="T28" fmla="*/ 0 h 682"/>
                <a:gd name="T29" fmla="*/ 1583 w 1583"/>
                <a:gd name="T30" fmla="*/ 682 h 68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83" h="682">
                  <a:moveTo>
                    <a:pt x="155" y="224"/>
                  </a:moveTo>
                  <a:cubicBezTo>
                    <a:pt x="208" y="137"/>
                    <a:pt x="302" y="108"/>
                    <a:pt x="407" y="74"/>
                  </a:cubicBezTo>
                  <a:cubicBezTo>
                    <a:pt x="512" y="40"/>
                    <a:pt x="660" y="0"/>
                    <a:pt x="785" y="20"/>
                  </a:cubicBezTo>
                  <a:cubicBezTo>
                    <a:pt x="910" y="40"/>
                    <a:pt x="1027" y="126"/>
                    <a:pt x="1157" y="194"/>
                  </a:cubicBezTo>
                  <a:cubicBezTo>
                    <a:pt x="1287" y="262"/>
                    <a:pt x="1545" y="353"/>
                    <a:pt x="1564" y="428"/>
                  </a:cubicBezTo>
                  <a:cubicBezTo>
                    <a:pt x="1583" y="503"/>
                    <a:pt x="1417" y="606"/>
                    <a:pt x="1272" y="644"/>
                  </a:cubicBezTo>
                  <a:cubicBezTo>
                    <a:pt x="1127" y="682"/>
                    <a:pt x="887" y="664"/>
                    <a:pt x="690" y="656"/>
                  </a:cubicBezTo>
                  <a:cubicBezTo>
                    <a:pt x="493" y="648"/>
                    <a:pt x="178" y="668"/>
                    <a:pt x="89" y="596"/>
                  </a:cubicBezTo>
                  <a:cubicBezTo>
                    <a:pt x="0" y="524"/>
                    <a:pt x="102" y="311"/>
                    <a:pt x="155" y="224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18" name="Oval 6"/>
            <p:cNvSpPr>
              <a:spLocks noChangeArrowheads="1"/>
            </p:cNvSpPr>
            <p:nvPr/>
          </p:nvSpPr>
          <p:spPr bwMode="auto">
            <a:xfrm>
              <a:off x="261" y="161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19" name="Line 7"/>
            <p:cNvSpPr>
              <a:spLocks noChangeShapeType="1"/>
            </p:cNvSpPr>
            <p:nvPr/>
          </p:nvSpPr>
          <p:spPr bwMode="auto">
            <a:xfrm>
              <a:off x="261" y="1603"/>
              <a:ext cx="0" cy="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20" name="Line 8"/>
            <p:cNvSpPr>
              <a:spLocks noChangeShapeType="1"/>
            </p:cNvSpPr>
            <p:nvPr/>
          </p:nvSpPr>
          <p:spPr bwMode="auto">
            <a:xfrm>
              <a:off x="574" y="1603"/>
              <a:ext cx="0" cy="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21" name="Rectangle 9"/>
            <p:cNvSpPr>
              <a:spLocks noChangeArrowheads="1"/>
            </p:cNvSpPr>
            <p:nvPr/>
          </p:nvSpPr>
          <p:spPr bwMode="auto">
            <a:xfrm>
              <a:off x="261" y="1603"/>
              <a:ext cx="310" cy="51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45422" name="Oval 10"/>
            <p:cNvSpPr>
              <a:spLocks noChangeArrowheads="1"/>
            </p:cNvSpPr>
            <p:nvPr/>
          </p:nvSpPr>
          <p:spPr bwMode="auto">
            <a:xfrm>
              <a:off x="258" y="154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23" name="Rectangle 11"/>
            <p:cNvSpPr>
              <a:spLocks noChangeArrowheads="1"/>
            </p:cNvSpPr>
            <p:nvPr/>
          </p:nvSpPr>
          <p:spPr bwMode="auto">
            <a:xfrm>
              <a:off x="345" y="1557"/>
              <a:ext cx="141" cy="124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24" name="Text Box 12"/>
            <p:cNvSpPr txBox="1">
              <a:spLocks noChangeArrowheads="1"/>
            </p:cNvSpPr>
            <p:nvPr/>
          </p:nvSpPr>
          <p:spPr bwMode="auto">
            <a:xfrm>
              <a:off x="259" y="1492"/>
              <a:ext cx="32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/>
                <a:t>3b</a:t>
              </a:r>
              <a:endParaRPr lang="en-US"/>
            </a:p>
          </p:txBody>
        </p:sp>
        <p:sp>
          <p:nvSpPr>
            <p:cNvPr id="145425" name="Oval 13"/>
            <p:cNvSpPr>
              <a:spLocks noChangeArrowheads="1"/>
            </p:cNvSpPr>
            <p:nvPr/>
          </p:nvSpPr>
          <p:spPr bwMode="auto">
            <a:xfrm>
              <a:off x="1479" y="221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26" name="Line 14"/>
            <p:cNvSpPr>
              <a:spLocks noChangeShapeType="1"/>
            </p:cNvSpPr>
            <p:nvPr/>
          </p:nvSpPr>
          <p:spPr bwMode="auto">
            <a:xfrm>
              <a:off x="1479" y="2209"/>
              <a:ext cx="0" cy="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27" name="Line 15"/>
            <p:cNvSpPr>
              <a:spLocks noChangeShapeType="1"/>
            </p:cNvSpPr>
            <p:nvPr/>
          </p:nvSpPr>
          <p:spPr bwMode="auto">
            <a:xfrm>
              <a:off x="1792" y="2209"/>
              <a:ext cx="0" cy="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28" name="Rectangle 16"/>
            <p:cNvSpPr>
              <a:spLocks noChangeArrowheads="1"/>
            </p:cNvSpPr>
            <p:nvPr/>
          </p:nvSpPr>
          <p:spPr bwMode="auto">
            <a:xfrm>
              <a:off x="1479" y="2209"/>
              <a:ext cx="310" cy="51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45429" name="Oval 17"/>
            <p:cNvSpPr>
              <a:spLocks noChangeArrowheads="1"/>
            </p:cNvSpPr>
            <p:nvPr/>
          </p:nvSpPr>
          <p:spPr bwMode="auto">
            <a:xfrm>
              <a:off x="1476" y="215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45430" name="Group 18"/>
            <p:cNvGrpSpPr>
              <a:grpSpLocks/>
            </p:cNvGrpSpPr>
            <p:nvPr/>
          </p:nvGrpSpPr>
          <p:grpSpPr bwMode="auto">
            <a:xfrm>
              <a:off x="1478" y="2092"/>
              <a:ext cx="321" cy="269"/>
              <a:chOff x="2897" y="2425"/>
              <a:chExt cx="323" cy="269"/>
            </a:xfrm>
          </p:grpSpPr>
          <p:sp>
            <p:nvSpPr>
              <p:cNvPr id="145533" name="Rectangle 19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34" name="Text Box 20"/>
              <p:cNvSpPr txBox="1">
                <a:spLocks noChangeArrowheads="1"/>
              </p:cNvSpPr>
              <p:nvPr/>
            </p:nvSpPr>
            <p:spPr bwMode="auto">
              <a:xfrm>
                <a:off x="2897" y="2425"/>
                <a:ext cx="323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1d</a:t>
                </a:r>
              </a:p>
            </p:txBody>
          </p:sp>
        </p:grpSp>
        <p:sp>
          <p:nvSpPr>
            <p:cNvPr id="145431" name="Oval 21"/>
            <p:cNvSpPr>
              <a:spLocks noChangeArrowheads="1"/>
            </p:cNvSpPr>
            <p:nvPr/>
          </p:nvSpPr>
          <p:spPr bwMode="auto">
            <a:xfrm>
              <a:off x="822" y="1478"/>
              <a:ext cx="313" cy="8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32" name="Line 22"/>
            <p:cNvSpPr>
              <a:spLocks noChangeShapeType="1"/>
            </p:cNvSpPr>
            <p:nvPr/>
          </p:nvSpPr>
          <p:spPr bwMode="auto">
            <a:xfrm>
              <a:off x="822" y="14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33" name="Line 23"/>
            <p:cNvSpPr>
              <a:spLocks noChangeShapeType="1"/>
            </p:cNvSpPr>
            <p:nvPr/>
          </p:nvSpPr>
          <p:spPr bwMode="auto">
            <a:xfrm>
              <a:off x="1135" y="14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34" name="Rectangle 24"/>
            <p:cNvSpPr>
              <a:spLocks noChangeArrowheads="1"/>
            </p:cNvSpPr>
            <p:nvPr/>
          </p:nvSpPr>
          <p:spPr bwMode="auto">
            <a:xfrm>
              <a:off x="822" y="1471"/>
              <a:ext cx="310" cy="47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45435" name="Oval 25"/>
            <p:cNvSpPr>
              <a:spLocks noChangeArrowheads="1"/>
            </p:cNvSpPr>
            <p:nvPr/>
          </p:nvSpPr>
          <p:spPr bwMode="auto">
            <a:xfrm>
              <a:off x="819" y="1412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36" name="Rectangle 26"/>
            <p:cNvSpPr>
              <a:spLocks noChangeArrowheads="1"/>
            </p:cNvSpPr>
            <p:nvPr/>
          </p:nvSpPr>
          <p:spPr bwMode="auto">
            <a:xfrm>
              <a:off x="906" y="1425"/>
              <a:ext cx="142" cy="11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37" name="Text Box 27"/>
            <p:cNvSpPr txBox="1">
              <a:spLocks noChangeArrowheads="1"/>
            </p:cNvSpPr>
            <p:nvPr/>
          </p:nvSpPr>
          <p:spPr bwMode="auto">
            <a:xfrm>
              <a:off x="821" y="1359"/>
              <a:ext cx="32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/>
                <a:t>3a</a:t>
              </a:r>
              <a:endParaRPr lang="en-US"/>
            </a:p>
          </p:txBody>
        </p:sp>
        <p:sp>
          <p:nvSpPr>
            <p:cNvPr id="145438" name="Oval 28"/>
            <p:cNvSpPr>
              <a:spLocks noChangeArrowheads="1"/>
            </p:cNvSpPr>
            <p:nvPr/>
          </p:nvSpPr>
          <p:spPr bwMode="auto">
            <a:xfrm>
              <a:off x="1443" y="18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39" name="Line 29"/>
            <p:cNvSpPr>
              <a:spLocks noChangeShapeType="1"/>
            </p:cNvSpPr>
            <p:nvPr/>
          </p:nvSpPr>
          <p:spPr bwMode="auto">
            <a:xfrm>
              <a:off x="1443" y="1814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40" name="Line 30"/>
            <p:cNvSpPr>
              <a:spLocks noChangeShapeType="1"/>
            </p:cNvSpPr>
            <p:nvPr/>
          </p:nvSpPr>
          <p:spPr bwMode="auto">
            <a:xfrm>
              <a:off x="1756" y="1814"/>
              <a:ext cx="0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41" name="Rectangle 31"/>
            <p:cNvSpPr>
              <a:spLocks noChangeArrowheads="1"/>
            </p:cNvSpPr>
            <p:nvPr/>
          </p:nvSpPr>
          <p:spPr bwMode="auto">
            <a:xfrm>
              <a:off x="1443" y="1814"/>
              <a:ext cx="310" cy="48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45442" name="Oval 32"/>
            <p:cNvSpPr>
              <a:spLocks noChangeArrowheads="1"/>
            </p:cNvSpPr>
            <p:nvPr/>
          </p:nvSpPr>
          <p:spPr bwMode="auto">
            <a:xfrm>
              <a:off x="1440" y="17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45443" name="Group 33"/>
            <p:cNvGrpSpPr>
              <a:grpSpLocks/>
            </p:cNvGrpSpPr>
            <p:nvPr/>
          </p:nvGrpSpPr>
          <p:grpSpPr bwMode="auto">
            <a:xfrm>
              <a:off x="1445" y="1696"/>
              <a:ext cx="310" cy="270"/>
              <a:chOff x="2899" y="2425"/>
              <a:chExt cx="319" cy="270"/>
            </a:xfrm>
          </p:grpSpPr>
          <p:sp>
            <p:nvSpPr>
              <p:cNvPr id="145531" name="Rectangle 3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32" name="Text Box 35"/>
              <p:cNvSpPr txBox="1">
                <a:spLocks noChangeArrowheads="1"/>
              </p:cNvSpPr>
              <p:nvPr/>
            </p:nvSpPr>
            <p:spPr bwMode="auto">
              <a:xfrm>
                <a:off x="2899" y="2425"/>
                <a:ext cx="319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1c</a:t>
                </a:r>
              </a:p>
            </p:txBody>
          </p:sp>
        </p:grpSp>
        <p:sp>
          <p:nvSpPr>
            <p:cNvPr id="145444" name="Line 36"/>
            <p:cNvSpPr>
              <a:spLocks noChangeShapeType="1"/>
            </p:cNvSpPr>
            <p:nvPr/>
          </p:nvSpPr>
          <p:spPr bwMode="auto">
            <a:xfrm>
              <a:off x="3238" y="1632"/>
              <a:ext cx="308" cy="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45" name="Line 37"/>
            <p:cNvSpPr>
              <a:spLocks noChangeShapeType="1"/>
            </p:cNvSpPr>
            <p:nvPr/>
          </p:nvSpPr>
          <p:spPr bwMode="auto">
            <a:xfrm>
              <a:off x="3562" y="1556"/>
              <a:ext cx="91" cy="1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46" name="Line 38"/>
            <p:cNvSpPr>
              <a:spLocks noChangeShapeType="1"/>
            </p:cNvSpPr>
            <p:nvPr/>
          </p:nvSpPr>
          <p:spPr bwMode="auto">
            <a:xfrm flipV="1">
              <a:off x="3170" y="1512"/>
              <a:ext cx="114" cy="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47" name="Freeform 39"/>
            <p:cNvSpPr>
              <a:spLocks/>
            </p:cNvSpPr>
            <p:nvPr/>
          </p:nvSpPr>
          <p:spPr bwMode="auto">
            <a:xfrm>
              <a:off x="1790" y="2146"/>
              <a:ext cx="264" cy="82"/>
            </a:xfrm>
            <a:custGeom>
              <a:avLst/>
              <a:gdLst>
                <a:gd name="T0" fmla="*/ 0 w 264"/>
                <a:gd name="T1" fmla="*/ 82 h 82"/>
                <a:gd name="T2" fmla="*/ 264 w 264"/>
                <a:gd name="T3" fmla="*/ 0 h 82"/>
                <a:gd name="T4" fmla="*/ 0 60000 65536"/>
                <a:gd name="T5" fmla="*/ 0 60000 65536"/>
                <a:gd name="T6" fmla="*/ 0 w 264"/>
                <a:gd name="T7" fmla="*/ 0 h 82"/>
                <a:gd name="T8" fmla="*/ 264 w 264"/>
                <a:gd name="T9" fmla="*/ 82 h 8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64" h="82">
                  <a:moveTo>
                    <a:pt x="0" y="82"/>
                  </a:moveTo>
                  <a:lnTo>
                    <a:pt x="26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48" name="Freeform 40"/>
            <p:cNvSpPr>
              <a:spLocks/>
            </p:cNvSpPr>
            <p:nvPr/>
          </p:nvSpPr>
          <p:spPr bwMode="auto">
            <a:xfrm>
              <a:off x="1330" y="2110"/>
              <a:ext cx="152" cy="118"/>
            </a:xfrm>
            <a:custGeom>
              <a:avLst/>
              <a:gdLst>
                <a:gd name="T0" fmla="*/ 0 w 152"/>
                <a:gd name="T1" fmla="*/ 0 h 118"/>
                <a:gd name="T2" fmla="*/ 152 w 152"/>
                <a:gd name="T3" fmla="*/ 118 h 118"/>
                <a:gd name="T4" fmla="*/ 0 60000 65536"/>
                <a:gd name="T5" fmla="*/ 0 60000 65536"/>
                <a:gd name="T6" fmla="*/ 0 w 152"/>
                <a:gd name="T7" fmla="*/ 0 h 118"/>
                <a:gd name="T8" fmla="*/ 152 w 152"/>
                <a:gd name="T9" fmla="*/ 118 h 11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2" h="118">
                  <a:moveTo>
                    <a:pt x="0" y="0"/>
                  </a:moveTo>
                  <a:lnTo>
                    <a:pt x="152" y="11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49" name="Freeform 41"/>
            <p:cNvSpPr>
              <a:spLocks/>
            </p:cNvSpPr>
            <p:nvPr/>
          </p:nvSpPr>
          <p:spPr bwMode="auto">
            <a:xfrm>
              <a:off x="1454" y="2040"/>
              <a:ext cx="564" cy="82"/>
            </a:xfrm>
            <a:custGeom>
              <a:avLst/>
              <a:gdLst>
                <a:gd name="T0" fmla="*/ 0 w 564"/>
                <a:gd name="T1" fmla="*/ 0 h 82"/>
                <a:gd name="T2" fmla="*/ 564 w 564"/>
                <a:gd name="T3" fmla="*/ 82 h 82"/>
                <a:gd name="T4" fmla="*/ 0 60000 65536"/>
                <a:gd name="T5" fmla="*/ 0 60000 65536"/>
                <a:gd name="T6" fmla="*/ 0 w 564"/>
                <a:gd name="T7" fmla="*/ 0 h 82"/>
                <a:gd name="T8" fmla="*/ 564 w 564"/>
                <a:gd name="T9" fmla="*/ 82 h 8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64" h="82">
                  <a:moveTo>
                    <a:pt x="0" y="0"/>
                  </a:moveTo>
                  <a:lnTo>
                    <a:pt x="564" y="8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50" name="Freeform 42"/>
            <p:cNvSpPr>
              <a:spLocks/>
            </p:cNvSpPr>
            <p:nvPr/>
          </p:nvSpPr>
          <p:spPr bwMode="auto">
            <a:xfrm>
              <a:off x="1392" y="1878"/>
              <a:ext cx="76" cy="94"/>
            </a:xfrm>
            <a:custGeom>
              <a:avLst/>
              <a:gdLst>
                <a:gd name="T0" fmla="*/ 0 w 76"/>
                <a:gd name="T1" fmla="*/ 94 h 94"/>
                <a:gd name="T2" fmla="*/ 76 w 76"/>
                <a:gd name="T3" fmla="*/ 0 h 94"/>
                <a:gd name="T4" fmla="*/ 0 60000 65536"/>
                <a:gd name="T5" fmla="*/ 0 60000 65536"/>
                <a:gd name="T6" fmla="*/ 0 w 76"/>
                <a:gd name="T7" fmla="*/ 0 h 94"/>
                <a:gd name="T8" fmla="*/ 76 w 76"/>
                <a:gd name="T9" fmla="*/ 94 h 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6" h="94">
                  <a:moveTo>
                    <a:pt x="0" y="94"/>
                  </a:moveTo>
                  <a:lnTo>
                    <a:pt x="7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51" name="Freeform 43"/>
            <p:cNvSpPr>
              <a:spLocks/>
            </p:cNvSpPr>
            <p:nvPr/>
          </p:nvSpPr>
          <p:spPr bwMode="auto">
            <a:xfrm>
              <a:off x="566" y="1502"/>
              <a:ext cx="252" cy="114"/>
            </a:xfrm>
            <a:custGeom>
              <a:avLst/>
              <a:gdLst>
                <a:gd name="T0" fmla="*/ 0 w 252"/>
                <a:gd name="T1" fmla="*/ 114 h 114"/>
                <a:gd name="T2" fmla="*/ 252 w 252"/>
                <a:gd name="T3" fmla="*/ 0 h 114"/>
                <a:gd name="T4" fmla="*/ 0 60000 65536"/>
                <a:gd name="T5" fmla="*/ 0 60000 65536"/>
                <a:gd name="T6" fmla="*/ 0 w 252"/>
                <a:gd name="T7" fmla="*/ 0 h 114"/>
                <a:gd name="T8" fmla="*/ 252 w 252"/>
                <a:gd name="T9" fmla="*/ 114 h 11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2" h="114">
                  <a:moveTo>
                    <a:pt x="0" y="114"/>
                  </a:moveTo>
                  <a:lnTo>
                    <a:pt x="252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52" name="Freeform 44"/>
            <p:cNvSpPr>
              <a:spLocks/>
            </p:cNvSpPr>
            <p:nvPr/>
          </p:nvSpPr>
          <p:spPr bwMode="auto">
            <a:xfrm>
              <a:off x="1002" y="1562"/>
              <a:ext cx="444" cy="258"/>
            </a:xfrm>
            <a:custGeom>
              <a:avLst/>
              <a:gdLst>
                <a:gd name="T0" fmla="*/ 0 w 444"/>
                <a:gd name="T1" fmla="*/ 0 h 258"/>
                <a:gd name="T2" fmla="*/ 444 w 444"/>
                <a:gd name="T3" fmla="*/ 258 h 258"/>
                <a:gd name="T4" fmla="*/ 0 60000 65536"/>
                <a:gd name="T5" fmla="*/ 0 60000 65536"/>
                <a:gd name="T6" fmla="*/ 0 w 444"/>
                <a:gd name="T7" fmla="*/ 0 h 258"/>
                <a:gd name="T8" fmla="*/ 444 w 444"/>
                <a:gd name="T9" fmla="*/ 258 h 25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44" h="258">
                  <a:moveTo>
                    <a:pt x="0" y="0"/>
                  </a:moveTo>
                  <a:lnTo>
                    <a:pt x="444" y="25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53" name="Freeform 45"/>
            <p:cNvSpPr>
              <a:spLocks/>
            </p:cNvSpPr>
            <p:nvPr/>
          </p:nvSpPr>
          <p:spPr bwMode="auto">
            <a:xfrm>
              <a:off x="2326" y="1680"/>
              <a:ext cx="654" cy="420"/>
            </a:xfrm>
            <a:custGeom>
              <a:avLst/>
              <a:gdLst>
                <a:gd name="T0" fmla="*/ 0 w 654"/>
                <a:gd name="T1" fmla="*/ 420 h 420"/>
                <a:gd name="T2" fmla="*/ 654 w 654"/>
                <a:gd name="T3" fmla="*/ 0 h 420"/>
                <a:gd name="T4" fmla="*/ 0 60000 65536"/>
                <a:gd name="T5" fmla="*/ 0 60000 65536"/>
                <a:gd name="T6" fmla="*/ 0 w 654"/>
                <a:gd name="T7" fmla="*/ 0 h 420"/>
                <a:gd name="T8" fmla="*/ 654 w 654"/>
                <a:gd name="T9" fmla="*/ 420 h 42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54" h="420">
                  <a:moveTo>
                    <a:pt x="0" y="420"/>
                  </a:moveTo>
                  <a:lnTo>
                    <a:pt x="65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54" name="Oval 46"/>
            <p:cNvSpPr>
              <a:spLocks noChangeArrowheads="1"/>
            </p:cNvSpPr>
            <p:nvPr/>
          </p:nvSpPr>
          <p:spPr bwMode="auto">
            <a:xfrm>
              <a:off x="2925" y="1617"/>
              <a:ext cx="313" cy="82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55" name="Line 47"/>
            <p:cNvSpPr>
              <a:spLocks noChangeShapeType="1"/>
            </p:cNvSpPr>
            <p:nvPr/>
          </p:nvSpPr>
          <p:spPr bwMode="auto">
            <a:xfrm>
              <a:off x="2925" y="16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56" name="Line 48"/>
            <p:cNvSpPr>
              <a:spLocks noChangeShapeType="1"/>
            </p:cNvSpPr>
            <p:nvPr/>
          </p:nvSpPr>
          <p:spPr bwMode="auto">
            <a:xfrm>
              <a:off x="3238" y="160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57" name="Rectangle 49"/>
            <p:cNvSpPr>
              <a:spLocks noChangeArrowheads="1"/>
            </p:cNvSpPr>
            <p:nvPr/>
          </p:nvSpPr>
          <p:spPr bwMode="auto">
            <a:xfrm>
              <a:off x="2925" y="1609"/>
              <a:ext cx="310" cy="5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45458" name="Oval 50"/>
            <p:cNvSpPr>
              <a:spLocks noChangeArrowheads="1"/>
            </p:cNvSpPr>
            <p:nvPr/>
          </p:nvSpPr>
          <p:spPr bwMode="auto">
            <a:xfrm>
              <a:off x="2922" y="155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59" name="Rectangle 51"/>
            <p:cNvSpPr>
              <a:spLocks noChangeArrowheads="1"/>
            </p:cNvSpPr>
            <p:nvPr/>
          </p:nvSpPr>
          <p:spPr bwMode="auto">
            <a:xfrm>
              <a:off x="3009" y="1563"/>
              <a:ext cx="141" cy="12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60" name="Text Box 52"/>
            <p:cNvSpPr txBox="1">
              <a:spLocks noChangeArrowheads="1"/>
            </p:cNvSpPr>
            <p:nvPr/>
          </p:nvSpPr>
          <p:spPr bwMode="auto">
            <a:xfrm>
              <a:off x="2923" y="1498"/>
              <a:ext cx="32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/>
                <a:t>2a</a:t>
              </a:r>
              <a:endParaRPr lang="en-US"/>
            </a:p>
          </p:txBody>
        </p:sp>
        <p:sp>
          <p:nvSpPr>
            <p:cNvPr id="145461" name="Text Box 53"/>
            <p:cNvSpPr txBox="1">
              <a:spLocks noChangeArrowheads="1"/>
            </p:cNvSpPr>
            <p:nvPr/>
          </p:nvSpPr>
          <p:spPr bwMode="auto">
            <a:xfrm>
              <a:off x="597" y="1585"/>
              <a:ext cx="4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/>
                <a:t>AS3</a:t>
              </a:r>
              <a:endParaRPr lang="en-US" sz="1800"/>
            </a:p>
          </p:txBody>
        </p:sp>
        <p:sp>
          <p:nvSpPr>
            <p:cNvPr id="145462" name="Text Box 54"/>
            <p:cNvSpPr txBox="1">
              <a:spLocks noChangeArrowheads="1"/>
            </p:cNvSpPr>
            <p:nvPr/>
          </p:nvSpPr>
          <p:spPr bwMode="auto">
            <a:xfrm>
              <a:off x="2380" y="2042"/>
              <a:ext cx="4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/>
                <a:t>AS1</a:t>
              </a:r>
              <a:endParaRPr lang="en-US" sz="1800"/>
            </a:p>
          </p:txBody>
        </p:sp>
        <p:sp>
          <p:nvSpPr>
            <p:cNvPr id="145463" name="Text Box 55"/>
            <p:cNvSpPr txBox="1">
              <a:spLocks noChangeArrowheads="1"/>
            </p:cNvSpPr>
            <p:nvPr/>
          </p:nvSpPr>
          <p:spPr bwMode="auto">
            <a:xfrm>
              <a:off x="3207" y="1787"/>
              <a:ext cx="42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1800"/>
                <a:t>AS2</a:t>
              </a:r>
            </a:p>
          </p:txBody>
        </p:sp>
        <p:sp>
          <p:nvSpPr>
            <p:cNvPr id="145464" name="Oval 56"/>
            <p:cNvSpPr>
              <a:spLocks noChangeArrowheads="1"/>
            </p:cNvSpPr>
            <p:nvPr/>
          </p:nvSpPr>
          <p:spPr bwMode="auto">
            <a:xfrm>
              <a:off x="1137" y="203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65" name="Line 57"/>
            <p:cNvSpPr>
              <a:spLocks noChangeShapeType="1"/>
            </p:cNvSpPr>
            <p:nvPr/>
          </p:nvSpPr>
          <p:spPr bwMode="auto">
            <a:xfrm>
              <a:off x="1137" y="202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66" name="Line 58"/>
            <p:cNvSpPr>
              <a:spLocks noChangeShapeType="1"/>
            </p:cNvSpPr>
            <p:nvPr/>
          </p:nvSpPr>
          <p:spPr bwMode="auto">
            <a:xfrm>
              <a:off x="1451" y="202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67" name="Rectangle 59"/>
            <p:cNvSpPr>
              <a:spLocks noChangeArrowheads="1"/>
            </p:cNvSpPr>
            <p:nvPr/>
          </p:nvSpPr>
          <p:spPr bwMode="auto">
            <a:xfrm>
              <a:off x="1137" y="2023"/>
              <a:ext cx="310" cy="47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45468" name="Oval 60"/>
            <p:cNvSpPr>
              <a:spLocks noChangeArrowheads="1"/>
            </p:cNvSpPr>
            <p:nvPr/>
          </p:nvSpPr>
          <p:spPr bwMode="auto">
            <a:xfrm>
              <a:off x="1134" y="1969"/>
              <a:ext cx="313" cy="96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69" name="Rectangle 61"/>
            <p:cNvSpPr>
              <a:spLocks noChangeArrowheads="1"/>
            </p:cNvSpPr>
            <p:nvPr/>
          </p:nvSpPr>
          <p:spPr bwMode="auto">
            <a:xfrm>
              <a:off x="1219" y="1995"/>
              <a:ext cx="142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70" name="Text Box 62"/>
            <p:cNvSpPr txBox="1">
              <a:spLocks noChangeArrowheads="1"/>
            </p:cNvSpPr>
            <p:nvPr/>
          </p:nvSpPr>
          <p:spPr bwMode="auto">
            <a:xfrm>
              <a:off x="1137" y="1909"/>
              <a:ext cx="32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/>
                <a:t>1a</a:t>
              </a:r>
              <a:endParaRPr lang="en-US"/>
            </a:p>
          </p:txBody>
        </p:sp>
        <p:grpSp>
          <p:nvGrpSpPr>
            <p:cNvPr id="145471" name="Group 63"/>
            <p:cNvGrpSpPr>
              <a:grpSpLocks/>
            </p:cNvGrpSpPr>
            <p:nvPr/>
          </p:nvGrpSpPr>
          <p:grpSpPr bwMode="auto">
            <a:xfrm>
              <a:off x="3270" y="1384"/>
              <a:ext cx="316" cy="269"/>
              <a:chOff x="4320" y="1936"/>
              <a:chExt cx="316" cy="269"/>
            </a:xfrm>
          </p:grpSpPr>
          <p:sp>
            <p:nvSpPr>
              <p:cNvPr id="145524" name="Oval 64"/>
              <p:cNvSpPr>
                <a:spLocks noChangeArrowheads="1"/>
              </p:cNvSpPr>
              <p:nvPr/>
            </p:nvSpPr>
            <p:spPr bwMode="auto">
              <a:xfrm>
                <a:off x="4323" y="20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25" name="Line 65"/>
              <p:cNvSpPr>
                <a:spLocks noChangeShapeType="1"/>
              </p:cNvSpPr>
              <p:nvPr/>
            </p:nvSpPr>
            <p:spPr bwMode="auto">
              <a:xfrm>
                <a:off x="4323" y="2047"/>
                <a:ext cx="0" cy="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26" name="Line 66"/>
              <p:cNvSpPr>
                <a:spLocks noChangeShapeType="1"/>
              </p:cNvSpPr>
              <p:nvPr/>
            </p:nvSpPr>
            <p:spPr bwMode="auto">
              <a:xfrm>
                <a:off x="4636" y="2047"/>
                <a:ext cx="0" cy="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27" name="Rectangle 67"/>
              <p:cNvSpPr>
                <a:spLocks noChangeArrowheads="1"/>
              </p:cNvSpPr>
              <p:nvPr/>
            </p:nvSpPr>
            <p:spPr bwMode="auto">
              <a:xfrm>
                <a:off x="4323" y="2047"/>
                <a:ext cx="310" cy="51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45528" name="Oval 68"/>
              <p:cNvSpPr>
                <a:spLocks noChangeArrowheads="1"/>
              </p:cNvSpPr>
              <p:nvPr/>
            </p:nvSpPr>
            <p:spPr bwMode="auto">
              <a:xfrm>
                <a:off x="4320" y="1988"/>
                <a:ext cx="313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29" name="Rectangle 69"/>
              <p:cNvSpPr>
                <a:spLocks noChangeArrowheads="1"/>
              </p:cNvSpPr>
              <p:nvPr/>
            </p:nvSpPr>
            <p:spPr bwMode="auto">
              <a:xfrm>
                <a:off x="4407" y="2001"/>
                <a:ext cx="141" cy="11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30" name="Text Box 70"/>
              <p:cNvSpPr txBox="1">
                <a:spLocks noChangeArrowheads="1"/>
              </p:cNvSpPr>
              <p:nvPr/>
            </p:nvSpPr>
            <p:spPr bwMode="auto">
              <a:xfrm>
                <a:off x="4325" y="1936"/>
                <a:ext cx="310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2c</a:t>
                </a:r>
                <a:endParaRPr lang="en-US"/>
              </a:p>
            </p:txBody>
          </p:sp>
        </p:grpSp>
        <p:grpSp>
          <p:nvGrpSpPr>
            <p:cNvPr id="145472" name="Group 71"/>
            <p:cNvGrpSpPr>
              <a:grpSpLocks/>
            </p:cNvGrpSpPr>
            <p:nvPr/>
          </p:nvGrpSpPr>
          <p:grpSpPr bwMode="auto">
            <a:xfrm>
              <a:off x="3546" y="1606"/>
              <a:ext cx="321" cy="269"/>
              <a:chOff x="4596" y="2158"/>
              <a:chExt cx="321" cy="269"/>
            </a:xfrm>
          </p:grpSpPr>
          <p:sp>
            <p:nvSpPr>
              <p:cNvPr id="145517" name="Oval 72"/>
              <p:cNvSpPr>
                <a:spLocks noChangeArrowheads="1"/>
              </p:cNvSpPr>
              <p:nvPr/>
            </p:nvSpPr>
            <p:spPr bwMode="auto">
              <a:xfrm>
                <a:off x="4599" y="2276"/>
                <a:ext cx="311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18" name="Line 73"/>
              <p:cNvSpPr>
                <a:spLocks noChangeShapeType="1"/>
              </p:cNvSpPr>
              <p:nvPr/>
            </p:nvSpPr>
            <p:spPr bwMode="auto">
              <a:xfrm>
                <a:off x="4599" y="2269"/>
                <a:ext cx="0" cy="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19" name="Line 74"/>
              <p:cNvSpPr>
                <a:spLocks noChangeShapeType="1"/>
              </p:cNvSpPr>
              <p:nvPr/>
            </p:nvSpPr>
            <p:spPr bwMode="auto">
              <a:xfrm>
                <a:off x="4910" y="2269"/>
                <a:ext cx="0" cy="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20" name="Rectangle 75"/>
              <p:cNvSpPr>
                <a:spLocks noChangeArrowheads="1"/>
              </p:cNvSpPr>
              <p:nvPr/>
            </p:nvSpPr>
            <p:spPr bwMode="auto">
              <a:xfrm>
                <a:off x="4599" y="2269"/>
                <a:ext cx="310" cy="51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45521" name="Oval 76"/>
              <p:cNvSpPr>
                <a:spLocks noChangeArrowheads="1"/>
              </p:cNvSpPr>
              <p:nvPr/>
            </p:nvSpPr>
            <p:spPr bwMode="auto">
              <a:xfrm>
                <a:off x="4596" y="2208"/>
                <a:ext cx="313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22" name="Rectangle 77"/>
              <p:cNvSpPr>
                <a:spLocks noChangeArrowheads="1"/>
              </p:cNvSpPr>
              <p:nvPr/>
            </p:nvSpPr>
            <p:spPr bwMode="auto">
              <a:xfrm>
                <a:off x="4683" y="2221"/>
                <a:ext cx="141" cy="11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23" name="Text Box 78"/>
              <p:cNvSpPr txBox="1">
                <a:spLocks noChangeArrowheads="1"/>
              </p:cNvSpPr>
              <p:nvPr/>
            </p:nvSpPr>
            <p:spPr bwMode="auto">
              <a:xfrm>
                <a:off x="4598" y="2158"/>
                <a:ext cx="31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2b</a:t>
                </a:r>
                <a:endParaRPr lang="en-US"/>
              </a:p>
            </p:txBody>
          </p:sp>
        </p:grpSp>
        <p:grpSp>
          <p:nvGrpSpPr>
            <p:cNvPr id="145473" name="Group 79"/>
            <p:cNvGrpSpPr>
              <a:grpSpLocks/>
            </p:cNvGrpSpPr>
            <p:nvPr/>
          </p:nvGrpSpPr>
          <p:grpSpPr bwMode="auto">
            <a:xfrm>
              <a:off x="2015" y="1976"/>
              <a:ext cx="321" cy="269"/>
              <a:chOff x="2015" y="1976"/>
              <a:chExt cx="321" cy="269"/>
            </a:xfrm>
          </p:grpSpPr>
          <p:sp>
            <p:nvSpPr>
              <p:cNvPr id="145509" name="Oval 80"/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1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10" name="Line 81"/>
              <p:cNvSpPr>
                <a:spLocks noChangeShapeType="1"/>
              </p:cNvSpPr>
              <p:nvPr/>
            </p:nvSpPr>
            <p:spPr bwMode="auto">
              <a:xfrm>
                <a:off x="2019" y="209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11" name="Line 82"/>
              <p:cNvSpPr>
                <a:spLocks noChangeShapeType="1"/>
              </p:cNvSpPr>
              <p:nvPr/>
            </p:nvSpPr>
            <p:spPr bwMode="auto">
              <a:xfrm>
                <a:off x="2330" y="2097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12" name="Rectangle 83"/>
              <p:cNvSpPr>
                <a:spLocks noChangeArrowheads="1"/>
              </p:cNvSpPr>
              <p:nvPr/>
            </p:nvSpPr>
            <p:spPr bwMode="auto">
              <a:xfrm>
                <a:off x="2019" y="2097"/>
                <a:ext cx="310" cy="47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45513" name="Oval 84"/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5514" name="Group 85"/>
              <p:cNvGrpSpPr>
                <a:grpSpLocks/>
              </p:cNvGrpSpPr>
              <p:nvPr/>
            </p:nvGrpSpPr>
            <p:grpSpPr bwMode="auto">
              <a:xfrm>
                <a:off x="2015" y="1976"/>
                <a:ext cx="321" cy="269"/>
                <a:chOff x="2894" y="2425"/>
                <a:chExt cx="328" cy="269"/>
              </a:xfrm>
            </p:grpSpPr>
            <p:sp>
              <p:nvSpPr>
                <p:cNvPr id="145515" name="Rectangle 8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5516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2894" y="2425"/>
                  <a:ext cx="328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/>
                    <a:t>1b</a:t>
                  </a:r>
                  <a:endParaRPr lang="en-US"/>
                </a:p>
              </p:txBody>
            </p:sp>
          </p:grpSp>
        </p:grpSp>
        <p:sp>
          <p:nvSpPr>
            <p:cNvPr id="145474" name="Freeform 88"/>
            <p:cNvSpPr>
              <a:spLocks/>
            </p:cNvSpPr>
            <p:nvPr/>
          </p:nvSpPr>
          <p:spPr bwMode="auto">
            <a:xfrm>
              <a:off x="1457" y="2302"/>
              <a:ext cx="1848" cy="414"/>
            </a:xfrm>
            <a:custGeom>
              <a:avLst/>
              <a:gdLst>
                <a:gd name="T0" fmla="*/ 0 w 1848"/>
                <a:gd name="T1" fmla="*/ 414 h 414"/>
                <a:gd name="T2" fmla="*/ 84 w 1848"/>
                <a:gd name="T3" fmla="*/ 0 h 414"/>
                <a:gd name="T4" fmla="*/ 384 w 1848"/>
                <a:gd name="T5" fmla="*/ 6 h 414"/>
                <a:gd name="T6" fmla="*/ 1848 w 1848"/>
                <a:gd name="T7" fmla="*/ 414 h 414"/>
                <a:gd name="T8" fmla="*/ 0 w 1848"/>
                <a:gd name="T9" fmla="*/ 414 h 4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48"/>
                <a:gd name="T16" fmla="*/ 0 h 414"/>
                <a:gd name="T17" fmla="*/ 1848 w 1848"/>
                <a:gd name="T18" fmla="*/ 414 h 4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48" h="414">
                  <a:moveTo>
                    <a:pt x="0" y="414"/>
                  </a:moveTo>
                  <a:lnTo>
                    <a:pt x="84" y="0"/>
                  </a:lnTo>
                  <a:lnTo>
                    <a:pt x="384" y="6"/>
                  </a:lnTo>
                  <a:lnTo>
                    <a:pt x="1848" y="414"/>
                  </a:lnTo>
                  <a:lnTo>
                    <a:pt x="0" y="414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5F5F5F"/>
                </a:gs>
              </a:gsLst>
              <a:lin ang="5400000" scaled="1"/>
            </a:gradFill>
            <a:ln w="9525" cap="flat" cmpd="sng">
              <a:solidFill>
                <a:srgbClr val="DDDDDD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75" name="Rectangle 89"/>
            <p:cNvSpPr>
              <a:spLocks noChangeArrowheads="1"/>
            </p:cNvSpPr>
            <p:nvPr/>
          </p:nvSpPr>
          <p:spPr bwMode="auto">
            <a:xfrm>
              <a:off x="1462" y="2729"/>
              <a:ext cx="1833" cy="111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45476" name="Group 90"/>
            <p:cNvGrpSpPr>
              <a:grpSpLocks/>
            </p:cNvGrpSpPr>
            <p:nvPr/>
          </p:nvGrpSpPr>
          <p:grpSpPr bwMode="auto">
            <a:xfrm>
              <a:off x="1578" y="2818"/>
              <a:ext cx="736" cy="479"/>
              <a:chOff x="1595" y="2898"/>
              <a:chExt cx="736" cy="479"/>
            </a:xfrm>
          </p:grpSpPr>
          <p:sp>
            <p:nvSpPr>
              <p:cNvPr id="145507" name="Oval 91"/>
              <p:cNvSpPr>
                <a:spLocks noChangeArrowheads="1"/>
              </p:cNvSpPr>
              <p:nvPr/>
            </p:nvSpPr>
            <p:spPr bwMode="auto">
              <a:xfrm>
                <a:off x="1595" y="2898"/>
                <a:ext cx="736" cy="479"/>
              </a:xfrm>
              <a:prstGeom prst="ellips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08" name="Text Box 92"/>
              <p:cNvSpPr txBox="1">
                <a:spLocks noChangeArrowheads="1"/>
              </p:cNvSpPr>
              <p:nvPr/>
            </p:nvSpPr>
            <p:spPr bwMode="auto">
              <a:xfrm>
                <a:off x="1733" y="2933"/>
                <a:ext cx="553" cy="4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200">
                    <a:solidFill>
                      <a:srgbClr val="000099"/>
                    </a:solidFill>
                  </a:rPr>
                  <a:t>Intra-AS</a:t>
                </a:r>
              </a:p>
              <a:p>
                <a:pPr eaLnBrk="1" hangingPunct="1"/>
                <a:r>
                  <a:rPr lang="en-US" sz="1200">
                    <a:solidFill>
                      <a:srgbClr val="000099"/>
                    </a:solidFill>
                  </a:rPr>
                  <a:t>Routing </a:t>
                </a:r>
              </a:p>
              <a:p>
                <a:pPr eaLnBrk="1" hangingPunct="1"/>
                <a:r>
                  <a:rPr lang="en-US" sz="1200">
                    <a:solidFill>
                      <a:srgbClr val="000099"/>
                    </a:solidFill>
                  </a:rPr>
                  <a:t>algorithm</a:t>
                </a:r>
              </a:p>
            </p:txBody>
          </p:sp>
        </p:grpSp>
        <p:grpSp>
          <p:nvGrpSpPr>
            <p:cNvPr id="145477" name="Group 93"/>
            <p:cNvGrpSpPr>
              <a:grpSpLocks/>
            </p:cNvGrpSpPr>
            <p:nvPr/>
          </p:nvGrpSpPr>
          <p:grpSpPr bwMode="auto">
            <a:xfrm>
              <a:off x="2402" y="2826"/>
              <a:ext cx="736" cy="479"/>
              <a:chOff x="2402" y="2826"/>
              <a:chExt cx="736" cy="479"/>
            </a:xfrm>
          </p:grpSpPr>
          <p:sp>
            <p:nvSpPr>
              <p:cNvPr id="145505" name="Oval 94"/>
              <p:cNvSpPr>
                <a:spLocks noChangeArrowheads="1"/>
              </p:cNvSpPr>
              <p:nvPr/>
            </p:nvSpPr>
            <p:spPr bwMode="auto">
              <a:xfrm>
                <a:off x="2402" y="2828"/>
                <a:ext cx="736" cy="477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06" name="Text Box 95"/>
              <p:cNvSpPr txBox="1">
                <a:spLocks noChangeArrowheads="1"/>
              </p:cNvSpPr>
              <p:nvPr/>
            </p:nvSpPr>
            <p:spPr bwMode="auto">
              <a:xfrm>
                <a:off x="2539" y="2862"/>
                <a:ext cx="553" cy="4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200">
                    <a:solidFill>
                      <a:srgbClr val="FF0000"/>
                    </a:solidFill>
                  </a:rPr>
                  <a:t>Inter-AS</a:t>
                </a:r>
              </a:p>
              <a:p>
                <a:pPr eaLnBrk="1" hangingPunct="1"/>
                <a:r>
                  <a:rPr lang="en-US" sz="1200">
                    <a:solidFill>
                      <a:srgbClr val="FF0000"/>
                    </a:solidFill>
                  </a:rPr>
                  <a:t>Routing </a:t>
                </a:r>
              </a:p>
              <a:p>
                <a:pPr eaLnBrk="1" hangingPunct="1"/>
                <a:r>
                  <a:rPr lang="en-US" sz="1200">
                    <a:solidFill>
                      <a:srgbClr val="FF0000"/>
                    </a:solidFill>
                  </a:rPr>
                  <a:t>algorithm</a:t>
                </a:r>
              </a:p>
            </p:txBody>
          </p:sp>
        </p:grpSp>
        <p:sp>
          <p:nvSpPr>
            <p:cNvPr id="145478" name="Rectangle 96"/>
            <p:cNvSpPr>
              <a:spLocks noChangeArrowheads="1"/>
            </p:cNvSpPr>
            <p:nvPr/>
          </p:nvSpPr>
          <p:spPr bwMode="auto">
            <a:xfrm>
              <a:off x="1932" y="3447"/>
              <a:ext cx="780" cy="26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400"/>
                <a:t>Forwarding</a:t>
              </a:r>
            </a:p>
            <a:p>
              <a:pPr algn="ctr" eaLnBrk="1" hangingPunct="1"/>
              <a:r>
                <a:rPr lang="en-US" sz="1400"/>
                <a:t>table</a:t>
              </a:r>
            </a:p>
          </p:txBody>
        </p:sp>
        <p:sp>
          <p:nvSpPr>
            <p:cNvPr id="145479" name="Freeform 97"/>
            <p:cNvSpPr>
              <a:spLocks/>
            </p:cNvSpPr>
            <p:nvPr/>
          </p:nvSpPr>
          <p:spPr bwMode="auto">
            <a:xfrm>
              <a:off x="1648" y="3217"/>
              <a:ext cx="275" cy="345"/>
            </a:xfrm>
            <a:custGeom>
              <a:avLst/>
              <a:gdLst>
                <a:gd name="T0" fmla="*/ 0 w 275"/>
                <a:gd name="T1" fmla="*/ 0 h 345"/>
                <a:gd name="T2" fmla="*/ 71 w 275"/>
                <a:gd name="T3" fmla="*/ 230 h 345"/>
                <a:gd name="T4" fmla="*/ 275 w 275"/>
                <a:gd name="T5" fmla="*/ 345 h 345"/>
                <a:gd name="T6" fmla="*/ 0 60000 65536"/>
                <a:gd name="T7" fmla="*/ 0 60000 65536"/>
                <a:gd name="T8" fmla="*/ 0 60000 65536"/>
                <a:gd name="T9" fmla="*/ 0 w 275"/>
                <a:gd name="T10" fmla="*/ 0 h 345"/>
                <a:gd name="T11" fmla="*/ 275 w 275"/>
                <a:gd name="T12" fmla="*/ 345 h 3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5" h="345">
                  <a:moveTo>
                    <a:pt x="0" y="0"/>
                  </a:moveTo>
                  <a:cubicBezTo>
                    <a:pt x="12" y="86"/>
                    <a:pt x="25" y="173"/>
                    <a:pt x="71" y="230"/>
                  </a:cubicBezTo>
                  <a:cubicBezTo>
                    <a:pt x="117" y="287"/>
                    <a:pt x="241" y="326"/>
                    <a:pt x="275" y="345"/>
                  </a:cubicBezTo>
                </a:path>
              </a:pathLst>
            </a:cu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80" name="Freeform 98"/>
            <p:cNvSpPr>
              <a:spLocks/>
            </p:cNvSpPr>
            <p:nvPr/>
          </p:nvSpPr>
          <p:spPr bwMode="auto">
            <a:xfrm>
              <a:off x="2712" y="3217"/>
              <a:ext cx="354" cy="372"/>
            </a:xfrm>
            <a:custGeom>
              <a:avLst/>
              <a:gdLst>
                <a:gd name="T0" fmla="*/ 354 w 354"/>
                <a:gd name="T1" fmla="*/ 0 h 372"/>
                <a:gd name="T2" fmla="*/ 248 w 354"/>
                <a:gd name="T3" fmla="*/ 274 h 372"/>
                <a:gd name="T4" fmla="*/ 0 w 354"/>
                <a:gd name="T5" fmla="*/ 372 h 372"/>
                <a:gd name="T6" fmla="*/ 0 60000 65536"/>
                <a:gd name="T7" fmla="*/ 0 60000 65536"/>
                <a:gd name="T8" fmla="*/ 0 60000 65536"/>
                <a:gd name="T9" fmla="*/ 0 w 354"/>
                <a:gd name="T10" fmla="*/ 0 h 372"/>
                <a:gd name="T11" fmla="*/ 354 w 354"/>
                <a:gd name="T12" fmla="*/ 372 h 3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4" h="372">
                  <a:moveTo>
                    <a:pt x="354" y="0"/>
                  </a:moveTo>
                  <a:cubicBezTo>
                    <a:pt x="330" y="106"/>
                    <a:pt x="307" y="212"/>
                    <a:pt x="248" y="274"/>
                  </a:cubicBezTo>
                  <a:cubicBezTo>
                    <a:pt x="189" y="336"/>
                    <a:pt x="41" y="354"/>
                    <a:pt x="0" y="372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5481" name="Group 99"/>
            <p:cNvGrpSpPr>
              <a:grpSpLocks/>
            </p:cNvGrpSpPr>
            <p:nvPr/>
          </p:nvGrpSpPr>
          <p:grpSpPr bwMode="auto">
            <a:xfrm>
              <a:off x="419" y="1222"/>
              <a:ext cx="316" cy="269"/>
              <a:chOff x="2016" y="1976"/>
              <a:chExt cx="316" cy="269"/>
            </a:xfrm>
          </p:grpSpPr>
          <p:sp>
            <p:nvSpPr>
              <p:cNvPr id="145497" name="Oval 100"/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498" name="Line 101"/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499" name="Line 102"/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00" name="Rectangle 103"/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50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45501" name="Oval 104"/>
              <p:cNvSpPr>
                <a:spLocks noChangeArrowheads="1"/>
              </p:cNvSpPr>
              <p:nvPr/>
            </p:nvSpPr>
            <p:spPr bwMode="auto">
              <a:xfrm>
                <a:off x="2016" y="2037"/>
                <a:ext cx="313" cy="94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5502" name="Group 105"/>
              <p:cNvGrpSpPr>
                <a:grpSpLocks/>
              </p:cNvGrpSpPr>
              <p:nvPr/>
            </p:nvGrpSpPr>
            <p:grpSpPr bwMode="auto">
              <a:xfrm>
                <a:off x="2020" y="1976"/>
                <a:ext cx="308" cy="269"/>
                <a:chOff x="2899" y="2425"/>
                <a:chExt cx="315" cy="269"/>
              </a:xfrm>
            </p:grpSpPr>
            <p:sp>
              <p:nvSpPr>
                <p:cNvPr id="145503" name="Rectangle 10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2" cy="130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5504" name="Text Box 107"/>
                <p:cNvSpPr txBox="1">
                  <a:spLocks noChangeArrowheads="1"/>
                </p:cNvSpPr>
                <p:nvPr/>
              </p:nvSpPr>
              <p:spPr bwMode="auto">
                <a:xfrm>
                  <a:off x="2899" y="2425"/>
                  <a:ext cx="315" cy="2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/>
                    <a:t>3c</a:t>
                  </a:r>
                  <a:endParaRPr lang="en-US"/>
                </a:p>
              </p:txBody>
            </p:sp>
          </p:grpSp>
        </p:grpSp>
        <p:sp>
          <p:nvSpPr>
            <p:cNvPr id="145482" name="Line 108"/>
            <p:cNvSpPr>
              <a:spLocks noChangeShapeType="1"/>
            </p:cNvSpPr>
            <p:nvPr/>
          </p:nvSpPr>
          <p:spPr bwMode="auto">
            <a:xfrm flipH="1">
              <a:off x="443" y="1436"/>
              <a:ext cx="62" cy="1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83" name="Line 109"/>
            <p:cNvSpPr>
              <a:spLocks noChangeShapeType="1"/>
            </p:cNvSpPr>
            <p:nvPr/>
          </p:nvSpPr>
          <p:spPr bwMode="auto">
            <a:xfrm>
              <a:off x="136" y="1482"/>
              <a:ext cx="145" cy="1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84" name="Line 110"/>
            <p:cNvSpPr>
              <a:spLocks noChangeShapeType="1"/>
            </p:cNvSpPr>
            <p:nvPr/>
          </p:nvSpPr>
          <p:spPr bwMode="auto">
            <a:xfrm flipH="1">
              <a:off x="635" y="1127"/>
              <a:ext cx="136" cy="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85" name="Line 111"/>
            <p:cNvSpPr>
              <a:spLocks noChangeShapeType="1"/>
            </p:cNvSpPr>
            <p:nvPr/>
          </p:nvSpPr>
          <p:spPr bwMode="auto">
            <a:xfrm>
              <a:off x="356" y="1118"/>
              <a:ext cx="120" cy="1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86" name="Line 112"/>
            <p:cNvSpPr>
              <a:spLocks noChangeShapeType="1"/>
            </p:cNvSpPr>
            <p:nvPr/>
          </p:nvSpPr>
          <p:spPr bwMode="auto">
            <a:xfrm flipH="1">
              <a:off x="1016" y="1211"/>
              <a:ext cx="70" cy="2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87" name="Line 113"/>
            <p:cNvSpPr>
              <a:spLocks noChangeShapeType="1"/>
            </p:cNvSpPr>
            <p:nvPr/>
          </p:nvSpPr>
          <p:spPr bwMode="auto">
            <a:xfrm>
              <a:off x="3854" y="1728"/>
              <a:ext cx="2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88" name="Line 114"/>
            <p:cNvSpPr>
              <a:spLocks noChangeShapeType="1"/>
            </p:cNvSpPr>
            <p:nvPr/>
          </p:nvSpPr>
          <p:spPr bwMode="auto">
            <a:xfrm flipV="1">
              <a:off x="3795" y="1415"/>
              <a:ext cx="262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89" name="Line 115"/>
            <p:cNvSpPr>
              <a:spLocks noChangeShapeType="1"/>
            </p:cNvSpPr>
            <p:nvPr/>
          </p:nvSpPr>
          <p:spPr bwMode="auto">
            <a:xfrm flipH="1" flipV="1">
              <a:off x="3244" y="1245"/>
              <a:ext cx="127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90" name="Line 116"/>
            <p:cNvSpPr>
              <a:spLocks noChangeShapeType="1"/>
            </p:cNvSpPr>
            <p:nvPr/>
          </p:nvSpPr>
          <p:spPr bwMode="auto">
            <a:xfrm flipH="1" flipV="1">
              <a:off x="2932" y="1347"/>
              <a:ext cx="136" cy="1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91" name="Line 117"/>
            <p:cNvSpPr>
              <a:spLocks noChangeShapeType="1"/>
            </p:cNvSpPr>
            <p:nvPr/>
          </p:nvSpPr>
          <p:spPr bwMode="auto">
            <a:xfrm flipH="1">
              <a:off x="1042" y="2092"/>
              <a:ext cx="135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92" name="Line 118"/>
            <p:cNvSpPr>
              <a:spLocks noChangeShapeType="1"/>
            </p:cNvSpPr>
            <p:nvPr/>
          </p:nvSpPr>
          <p:spPr bwMode="auto">
            <a:xfrm flipH="1" flipV="1">
              <a:off x="1008" y="1991"/>
              <a:ext cx="127" cy="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93" name="Line 119"/>
            <p:cNvSpPr>
              <a:spLocks noChangeShapeType="1"/>
            </p:cNvSpPr>
            <p:nvPr/>
          </p:nvSpPr>
          <p:spPr bwMode="auto">
            <a:xfrm flipH="1">
              <a:off x="1279" y="2262"/>
              <a:ext cx="212" cy="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94" name="Line 120"/>
            <p:cNvSpPr>
              <a:spLocks noChangeShapeType="1"/>
            </p:cNvSpPr>
            <p:nvPr/>
          </p:nvSpPr>
          <p:spPr bwMode="auto">
            <a:xfrm flipV="1">
              <a:off x="1762" y="1804"/>
              <a:ext cx="229" cy="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95" name="Line 121"/>
            <p:cNvSpPr>
              <a:spLocks noChangeShapeType="1"/>
            </p:cNvSpPr>
            <p:nvPr/>
          </p:nvSpPr>
          <p:spPr bwMode="auto">
            <a:xfrm>
              <a:off x="2219" y="2177"/>
              <a:ext cx="119" cy="1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96" name="Line 122"/>
            <p:cNvSpPr>
              <a:spLocks noChangeShapeType="1"/>
            </p:cNvSpPr>
            <p:nvPr/>
          </p:nvSpPr>
          <p:spPr bwMode="auto">
            <a:xfrm>
              <a:off x="1737" y="1880"/>
              <a:ext cx="145" cy="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0357" name="Rectangle 123"/>
          <p:cNvSpPr>
            <a:spLocks noGrp="1" noChangeArrowheads="1"/>
          </p:cNvSpPr>
          <p:nvPr>
            <p:ph type="title"/>
          </p:nvPr>
        </p:nvSpPr>
        <p:spPr>
          <a:xfrm>
            <a:off x="422275" y="228600"/>
            <a:ext cx="7772400" cy="839788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Interconnected ASes</a:t>
            </a:r>
          </a:p>
        </p:txBody>
      </p:sp>
      <p:sp>
        <p:nvSpPr>
          <p:cNvPr id="100358" name="Rectangle 124"/>
          <p:cNvSpPr>
            <a:spLocks noGrp="1" noChangeArrowheads="1"/>
          </p:cNvSpPr>
          <p:nvPr>
            <p:ph type="body" sz="half" idx="2"/>
          </p:nvPr>
        </p:nvSpPr>
        <p:spPr>
          <a:xfrm>
            <a:off x="5114925" y="3082149"/>
            <a:ext cx="3810000" cy="3400425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cs typeface="+mn-cs"/>
              </a:rPr>
              <a:t>forwarding table  configured by both intra- and inter-AS routing algorithm</a:t>
            </a:r>
          </a:p>
          <a:p>
            <a:pPr lvl="1">
              <a:defRPr/>
            </a:pPr>
            <a:r>
              <a:rPr lang="en-US" dirty="0"/>
              <a:t>intra-AS </a:t>
            </a:r>
            <a:r>
              <a:rPr lang="en-US" dirty="0" smtClean="0"/>
              <a:t>routing determine entries </a:t>
            </a:r>
            <a:r>
              <a:rPr lang="en-US" dirty="0"/>
              <a:t>for </a:t>
            </a:r>
            <a:r>
              <a:rPr lang="en-US" dirty="0" smtClean="0"/>
              <a:t>destinations within AS</a:t>
            </a:r>
            <a:endParaRPr lang="en-US" dirty="0"/>
          </a:p>
          <a:p>
            <a:pPr lvl="1">
              <a:defRPr/>
            </a:pPr>
            <a:r>
              <a:rPr lang="en-US" dirty="0"/>
              <a:t>inter-AS &amp; intra-AS </a:t>
            </a:r>
            <a:r>
              <a:rPr lang="en-US" dirty="0" smtClean="0"/>
              <a:t>determine </a:t>
            </a:r>
            <a:r>
              <a:rPr lang="en-US" dirty="0"/>
              <a:t>entries for external </a:t>
            </a:r>
            <a:r>
              <a:rPr lang="en-US" dirty="0" smtClean="0"/>
              <a:t>destinations</a:t>
            </a:r>
            <a:endParaRPr lang="en-US" dirty="0"/>
          </a:p>
        </p:txBody>
      </p:sp>
      <p:pic>
        <p:nvPicPr>
          <p:cNvPr id="145414" name="Picture 126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884238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5</a:t>
            </a:fld>
            <a:endParaRPr lang="en-US" sz="1200" dirty="0">
              <a:latin typeface="Tahoma" charset="0"/>
            </a:endParaRPr>
          </a:p>
        </p:txBody>
      </p:sp>
      <p:sp>
        <p:nvSpPr>
          <p:cNvPr id="12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165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0" name="Rectangle 2"/>
          <p:cNvSpPr>
            <a:spLocks noGrp="1" noChangeArrowheads="1"/>
          </p:cNvSpPr>
          <p:nvPr>
            <p:ph type="title"/>
          </p:nvPr>
        </p:nvSpPr>
        <p:spPr>
          <a:xfrm>
            <a:off x="557213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Inter-AS tasks</a:t>
            </a:r>
          </a:p>
        </p:txBody>
      </p:sp>
      <p:sp>
        <p:nvSpPr>
          <p:cNvPr id="10138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1813" y="1195388"/>
            <a:ext cx="3810000" cy="29210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cs typeface="+mn-cs"/>
              </a:rPr>
              <a:t>suppose router in AS</a:t>
            </a:r>
            <a:r>
              <a:rPr lang="en-US" sz="2400" dirty="0">
                <a:latin typeface="Arial"/>
                <a:cs typeface="Arial"/>
              </a:rPr>
              <a:t>1</a:t>
            </a:r>
            <a:r>
              <a:rPr lang="en-US" sz="2400" dirty="0">
                <a:cs typeface="+mn-cs"/>
              </a:rPr>
              <a:t> receives datagram destined outside of AS</a:t>
            </a:r>
            <a:r>
              <a:rPr lang="en-US" sz="2400" dirty="0">
                <a:latin typeface="Arial"/>
                <a:cs typeface="Arial"/>
              </a:rPr>
              <a:t>1</a:t>
            </a:r>
            <a:r>
              <a:rPr lang="en-US" sz="2400" dirty="0">
                <a:cs typeface="+mn-cs"/>
              </a:rPr>
              <a:t>:</a:t>
            </a:r>
          </a:p>
          <a:p>
            <a:pPr lvl="1">
              <a:defRPr/>
            </a:pPr>
            <a:r>
              <a:rPr lang="en-US" dirty="0"/>
              <a:t>router should forward packet to gateway router, but which one?</a:t>
            </a:r>
          </a:p>
        </p:txBody>
      </p:sp>
      <p:sp>
        <p:nvSpPr>
          <p:cNvPr id="10138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38675" y="1195388"/>
            <a:ext cx="3810000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sz="2400" i="1" dirty="0">
                <a:solidFill>
                  <a:srgbClr val="CC0000"/>
                </a:solidFill>
                <a:cs typeface="+mn-cs"/>
              </a:rPr>
              <a:t>AS</a:t>
            </a:r>
            <a:r>
              <a:rPr lang="en-US" sz="2400" i="1" dirty="0">
                <a:solidFill>
                  <a:srgbClr val="CC0000"/>
                </a:solidFill>
                <a:latin typeface="Arial"/>
                <a:cs typeface="Arial"/>
              </a:rPr>
              <a:t>1</a:t>
            </a:r>
            <a:r>
              <a:rPr lang="en-US" sz="2400" i="1" dirty="0">
                <a:solidFill>
                  <a:srgbClr val="CC0000"/>
                </a:solidFill>
                <a:cs typeface="+mn-cs"/>
              </a:rPr>
              <a:t> must:</a:t>
            </a:r>
          </a:p>
          <a:p>
            <a:pPr marL="457200" indent="-457200">
              <a:buFont typeface="ZapfDingbats" charset="0"/>
              <a:buAutoNum type="arabicPeriod"/>
              <a:defRPr/>
            </a:pPr>
            <a:r>
              <a:rPr lang="en-US" sz="2400" dirty="0">
                <a:cs typeface="+mn-cs"/>
              </a:rPr>
              <a:t>learn which </a:t>
            </a:r>
            <a:r>
              <a:rPr lang="en-US" sz="2400" dirty="0" err="1">
                <a:cs typeface="+mn-cs"/>
              </a:rPr>
              <a:t>dests</a:t>
            </a:r>
            <a:r>
              <a:rPr lang="en-US" sz="2400" dirty="0">
                <a:cs typeface="+mn-cs"/>
              </a:rPr>
              <a:t> are reachable through AS2, which through AS3</a:t>
            </a:r>
          </a:p>
          <a:p>
            <a:pPr marL="457200" indent="-457200">
              <a:buFont typeface="ZapfDingbats" charset="0"/>
              <a:buAutoNum type="arabicPeriod"/>
              <a:defRPr/>
            </a:pPr>
            <a:r>
              <a:rPr lang="en-US" sz="2400" dirty="0">
                <a:cs typeface="+mn-cs"/>
              </a:rPr>
              <a:t>propagate this reachability info to all routers in AS</a:t>
            </a:r>
            <a:r>
              <a:rPr lang="en-US" sz="2400" dirty="0">
                <a:latin typeface="Arial"/>
                <a:cs typeface="Arial"/>
              </a:rPr>
              <a:t>1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sz="2400" i="1" dirty="0">
                <a:solidFill>
                  <a:srgbClr val="CC0000"/>
                </a:solidFill>
                <a:cs typeface="+mn-cs"/>
              </a:rPr>
              <a:t>job of inter-AS routing!</a:t>
            </a:r>
          </a:p>
        </p:txBody>
      </p:sp>
      <p:sp>
        <p:nvSpPr>
          <p:cNvPr id="146438" name="Freeform 5"/>
          <p:cNvSpPr>
            <a:spLocks/>
          </p:cNvSpPr>
          <p:nvPr/>
        </p:nvSpPr>
        <p:spPr bwMode="auto">
          <a:xfrm>
            <a:off x="7277100" y="4562475"/>
            <a:ext cx="1171575" cy="1758950"/>
          </a:xfrm>
          <a:custGeom>
            <a:avLst/>
            <a:gdLst>
              <a:gd name="T0" fmla="*/ 2147483647 w 738"/>
              <a:gd name="T1" fmla="*/ 2147483647 h 1108"/>
              <a:gd name="T2" fmla="*/ 2147483647 w 738"/>
              <a:gd name="T3" fmla="*/ 2147483647 h 1108"/>
              <a:gd name="T4" fmla="*/ 2147483647 w 738"/>
              <a:gd name="T5" fmla="*/ 2147483647 h 1108"/>
              <a:gd name="T6" fmla="*/ 2147483647 w 738"/>
              <a:gd name="T7" fmla="*/ 2147483647 h 1108"/>
              <a:gd name="T8" fmla="*/ 2147483647 w 738"/>
              <a:gd name="T9" fmla="*/ 2147483647 h 1108"/>
              <a:gd name="T10" fmla="*/ 2147483647 w 738"/>
              <a:gd name="T11" fmla="*/ 2147483647 h 1108"/>
              <a:gd name="T12" fmla="*/ 2147483647 w 738"/>
              <a:gd name="T13" fmla="*/ 2147483647 h 1108"/>
              <a:gd name="T14" fmla="*/ 2147483647 w 738"/>
              <a:gd name="T15" fmla="*/ 2147483647 h 11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38"/>
              <a:gd name="T25" fmla="*/ 0 h 1108"/>
              <a:gd name="T26" fmla="*/ 738 w 738"/>
              <a:gd name="T27" fmla="*/ 1108 h 110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38" h="1108">
                <a:moveTo>
                  <a:pt x="32" y="394"/>
                </a:moveTo>
                <a:cubicBezTo>
                  <a:pt x="66" y="301"/>
                  <a:pt x="108" y="228"/>
                  <a:pt x="213" y="172"/>
                </a:cubicBezTo>
                <a:cubicBezTo>
                  <a:pt x="318" y="116"/>
                  <a:pt x="588" y="0"/>
                  <a:pt x="663" y="56"/>
                </a:cubicBezTo>
                <a:cubicBezTo>
                  <a:pt x="738" y="112"/>
                  <a:pt x="659" y="346"/>
                  <a:pt x="661" y="509"/>
                </a:cubicBezTo>
                <a:cubicBezTo>
                  <a:pt x="663" y="672"/>
                  <a:pt x="731" y="956"/>
                  <a:pt x="677" y="1032"/>
                </a:cubicBezTo>
                <a:cubicBezTo>
                  <a:pt x="623" y="1108"/>
                  <a:pt x="442" y="999"/>
                  <a:pt x="338" y="962"/>
                </a:cubicBezTo>
                <a:cubicBezTo>
                  <a:pt x="234" y="925"/>
                  <a:pt x="102" y="904"/>
                  <a:pt x="51" y="809"/>
                </a:cubicBezTo>
                <a:cubicBezTo>
                  <a:pt x="0" y="715"/>
                  <a:pt x="36" y="481"/>
                  <a:pt x="32" y="394"/>
                </a:cubicBez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6439" name="Freeform 6"/>
          <p:cNvSpPr>
            <a:spLocks/>
          </p:cNvSpPr>
          <p:nvPr/>
        </p:nvSpPr>
        <p:spPr bwMode="auto">
          <a:xfrm>
            <a:off x="5230813" y="4872038"/>
            <a:ext cx="1944687" cy="1292225"/>
          </a:xfrm>
          <a:custGeom>
            <a:avLst/>
            <a:gdLst>
              <a:gd name="T0" fmla="*/ 2147483647 w 1162"/>
              <a:gd name="T1" fmla="*/ 2147483647 h 543"/>
              <a:gd name="T2" fmla="*/ 2147483647 w 1162"/>
              <a:gd name="T3" fmla="*/ 2147483647 h 543"/>
              <a:gd name="T4" fmla="*/ 2147483647 w 1162"/>
              <a:gd name="T5" fmla="*/ 2147483647 h 543"/>
              <a:gd name="T6" fmla="*/ 2147483647 w 1162"/>
              <a:gd name="T7" fmla="*/ 2147483647 h 543"/>
              <a:gd name="T8" fmla="*/ 2147483647 w 1162"/>
              <a:gd name="T9" fmla="*/ 2147483647 h 543"/>
              <a:gd name="T10" fmla="*/ 2147483647 w 1162"/>
              <a:gd name="T11" fmla="*/ 2147483647 h 543"/>
              <a:gd name="T12" fmla="*/ 2147483647 w 1162"/>
              <a:gd name="T13" fmla="*/ 2147483647 h 543"/>
              <a:gd name="T14" fmla="*/ 2147483647 w 1162"/>
              <a:gd name="T15" fmla="*/ 2147483647 h 54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162"/>
              <a:gd name="T25" fmla="*/ 0 h 543"/>
              <a:gd name="T26" fmla="*/ 1162 w 1162"/>
              <a:gd name="T27" fmla="*/ 543 h 54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162" h="543">
                <a:moveTo>
                  <a:pt x="56" y="162"/>
                </a:moveTo>
                <a:cubicBezTo>
                  <a:pt x="115" y="100"/>
                  <a:pt x="221" y="28"/>
                  <a:pt x="368" y="14"/>
                </a:cubicBezTo>
                <a:cubicBezTo>
                  <a:pt x="515" y="0"/>
                  <a:pt x="811" y="42"/>
                  <a:pt x="940" y="79"/>
                </a:cubicBezTo>
                <a:cubicBezTo>
                  <a:pt x="1069" y="116"/>
                  <a:pt x="1126" y="177"/>
                  <a:pt x="1144" y="239"/>
                </a:cubicBezTo>
                <a:cubicBezTo>
                  <a:pt x="1162" y="301"/>
                  <a:pt x="1141" y="401"/>
                  <a:pt x="1048" y="451"/>
                </a:cubicBezTo>
                <a:cubicBezTo>
                  <a:pt x="955" y="501"/>
                  <a:pt x="746" y="543"/>
                  <a:pt x="586" y="541"/>
                </a:cubicBezTo>
                <a:cubicBezTo>
                  <a:pt x="426" y="539"/>
                  <a:pt x="176" y="502"/>
                  <a:pt x="88" y="439"/>
                </a:cubicBezTo>
                <a:cubicBezTo>
                  <a:pt x="0" y="376"/>
                  <a:pt x="63" y="220"/>
                  <a:pt x="56" y="162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6440" name="Freeform 7"/>
          <p:cNvSpPr>
            <a:spLocks/>
          </p:cNvSpPr>
          <p:nvPr/>
        </p:nvSpPr>
        <p:spPr bwMode="auto">
          <a:xfrm>
            <a:off x="1477963" y="4164013"/>
            <a:ext cx="1679575" cy="1411287"/>
          </a:xfrm>
          <a:custGeom>
            <a:avLst/>
            <a:gdLst>
              <a:gd name="T0" fmla="*/ 2147483647 w 1198"/>
              <a:gd name="T1" fmla="*/ 2147483647 h 451"/>
              <a:gd name="T2" fmla="*/ 2147483647 w 1198"/>
              <a:gd name="T3" fmla="*/ 2147483647 h 451"/>
              <a:gd name="T4" fmla="*/ 2147483647 w 1198"/>
              <a:gd name="T5" fmla="*/ 2147483647 h 451"/>
              <a:gd name="T6" fmla="*/ 2147483647 w 1198"/>
              <a:gd name="T7" fmla="*/ 2147483647 h 451"/>
              <a:gd name="T8" fmla="*/ 2147483647 w 1198"/>
              <a:gd name="T9" fmla="*/ 2147483647 h 451"/>
              <a:gd name="T10" fmla="*/ 2147483647 w 1198"/>
              <a:gd name="T11" fmla="*/ 2147483647 h 451"/>
              <a:gd name="T12" fmla="*/ 2147483647 w 1198"/>
              <a:gd name="T13" fmla="*/ 2147483647 h 451"/>
              <a:gd name="T14" fmla="*/ 2147483647 w 1198"/>
              <a:gd name="T15" fmla="*/ 2147483647 h 451"/>
              <a:gd name="T16" fmla="*/ 2147483647 w 1198"/>
              <a:gd name="T17" fmla="*/ 2147483647 h 45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98"/>
              <a:gd name="T28" fmla="*/ 0 h 451"/>
              <a:gd name="T29" fmla="*/ 1198 w 1198"/>
              <a:gd name="T30" fmla="*/ 451 h 45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98" h="451">
                <a:moveTo>
                  <a:pt x="88" y="181"/>
                </a:moveTo>
                <a:cubicBezTo>
                  <a:pt x="159" y="143"/>
                  <a:pt x="120" y="111"/>
                  <a:pt x="180" y="89"/>
                </a:cubicBezTo>
                <a:cubicBezTo>
                  <a:pt x="240" y="67"/>
                  <a:pt x="313" y="60"/>
                  <a:pt x="448" y="49"/>
                </a:cubicBezTo>
                <a:cubicBezTo>
                  <a:pt x="583" y="38"/>
                  <a:pt x="866" y="0"/>
                  <a:pt x="988" y="25"/>
                </a:cubicBezTo>
                <a:cubicBezTo>
                  <a:pt x="1110" y="50"/>
                  <a:pt x="1198" y="132"/>
                  <a:pt x="1181" y="197"/>
                </a:cubicBezTo>
                <a:cubicBezTo>
                  <a:pt x="1164" y="262"/>
                  <a:pt x="1034" y="375"/>
                  <a:pt x="889" y="413"/>
                </a:cubicBezTo>
                <a:cubicBezTo>
                  <a:pt x="744" y="451"/>
                  <a:pt x="449" y="438"/>
                  <a:pt x="307" y="425"/>
                </a:cubicBezTo>
                <a:cubicBezTo>
                  <a:pt x="165" y="412"/>
                  <a:pt x="72" y="378"/>
                  <a:pt x="36" y="337"/>
                </a:cubicBezTo>
                <a:cubicBezTo>
                  <a:pt x="0" y="296"/>
                  <a:pt x="77" y="213"/>
                  <a:pt x="88" y="181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6441" name="Freeform 8"/>
          <p:cNvSpPr>
            <a:spLocks/>
          </p:cNvSpPr>
          <p:nvPr/>
        </p:nvSpPr>
        <p:spPr bwMode="auto">
          <a:xfrm>
            <a:off x="2108200" y="4908550"/>
            <a:ext cx="400050" cy="180975"/>
          </a:xfrm>
          <a:custGeom>
            <a:avLst/>
            <a:gdLst>
              <a:gd name="T0" fmla="*/ 0 w 252"/>
              <a:gd name="T1" fmla="*/ 2147483647 h 114"/>
              <a:gd name="T2" fmla="*/ 2147483647 w 252"/>
              <a:gd name="T3" fmla="*/ 0 h 114"/>
              <a:gd name="T4" fmla="*/ 0 60000 65536"/>
              <a:gd name="T5" fmla="*/ 0 60000 65536"/>
              <a:gd name="T6" fmla="*/ 0 w 252"/>
              <a:gd name="T7" fmla="*/ 0 h 114"/>
              <a:gd name="T8" fmla="*/ 252 w 252"/>
              <a:gd name="T9" fmla="*/ 114 h 11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52" h="114">
                <a:moveTo>
                  <a:pt x="0" y="114"/>
                </a:moveTo>
                <a:lnTo>
                  <a:pt x="252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6442" name="Text Box 9"/>
          <p:cNvSpPr txBox="1">
            <a:spLocks noChangeArrowheads="1"/>
          </p:cNvSpPr>
          <p:nvPr/>
        </p:nvSpPr>
        <p:spPr bwMode="auto">
          <a:xfrm>
            <a:off x="2052638" y="5129213"/>
            <a:ext cx="665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000"/>
              <a:t>AS3</a:t>
            </a:r>
            <a:endParaRPr lang="en-US" sz="1800"/>
          </a:p>
        </p:txBody>
      </p:sp>
      <p:sp>
        <p:nvSpPr>
          <p:cNvPr id="146443" name="Text Box 10"/>
          <p:cNvSpPr txBox="1">
            <a:spLocks noChangeArrowheads="1"/>
          </p:cNvSpPr>
          <p:nvPr/>
        </p:nvSpPr>
        <p:spPr bwMode="auto">
          <a:xfrm>
            <a:off x="5867400" y="5794375"/>
            <a:ext cx="615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AS2</a:t>
            </a:r>
          </a:p>
        </p:txBody>
      </p:sp>
      <p:sp>
        <p:nvSpPr>
          <p:cNvPr id="146444" name="Line 11"/>
          <p:cNvSpPr>
            <a:spLocks noChangeShapeType="1"/>
          </p:cNvSpPr>
          <p:nvPr/>
        </p:nvSpPr>
        <p:spPr bwMode="auto">
          <a:xfrm flipV="1">
            <a:off x="5746750" y="5283200"/>
            <a:ext cx="434975" cy="1920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6445" name="Line 12"/>
          <p:cNvSpPr>
            <a:spLocks noChangeShapeType="1"/>
          </p:cNvSpPr>
          <p:nvPr/>
        </p:nvSpPr>
        <p:spPr bwMode="auto">
          <a:xfrm flipH="1" flipV="1">
            <a:off x="2324100" y="4641850"/>
            <a:ext cx="241300" cy="174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6446" name="Line 13"/>
          <p:cNvSpPr>
            <a:spLocks noChangeShapeType="1"/>
          </p:cNvSpPr>
          <p:nvPr/>
        </p:nvSpPr>
        <p:spPr bwMode="auto">
          <a:xfrm flipH="1">
            <a:off x="1882775" y="4635500"/>
            <a:ext cx="147638" cy="376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6447" name="Group 14"/>
          <p:cNvGrpSpPr>
            <a:grpSpLocks/>
          </p:cNvGrpSpPr>
          <p:nvPr/>
        </p:nvGrpSpPr>
        <p:grpSpPr bwMode="auto">
          <a:xfrm>
            <a:off x="1619250" y="4903788"/>
            <a:ext cx="501650" cy="396875"/>
            <a:chOff x="873" y="3243"/>
            <a:chExt cx="316" cy="250"/>
          </a:xfrm>
        </p:grpSpPr>
        <p:sp>
          <p:nvSpPr>
            <p:cNvPr id="146545" name="Oval 15"/>
            <p:cNvSpPr>
              <a:spLocks noChangeArrowheads="1"/>
            </p:cNvSpPr>
            <p:nvPr/>
          </p:nvSpPr>
          <p:spPr bwMode="auto">
            <a:xfrm>
              <a:off x="876" y="3361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546" name="Line 16"/>
            <p:cNvSpPr>
              <a:spLocks noChangeShapeType="1"/>
            </p:cNvSpPr>
            <p:nvPr/>
          </p:nvSpPr>
          <p:spPr bwMode="auto">
            <a:xfrm>
              <a:off x="876" y="335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547" name="Line 17"/>
            <p:cNvSpPr>
              <a:spLocks noChangeShapeType="1"/>
            </p:cNvSpPr>
            <p:nvPr/>
          </p:nvSpPr>
          <p:spPr bwMode="auto">
            <a:xfrm>
              <a:off x="1189" y="335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548" name="Rectangle 18"/>
            <p:cNvSpPr>
              <a:spLocks noChangeArrowheads="1"/>
            </p:cNvSpPr>
            <p:nvPr/>
          </p:nvSpPr>
          <p:spPr bwMode="auto">
            <a:xfrm>
              <a:off x="876" y="3354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46549" name="Oval 19"/>
            <p:cNvSpPr>
              <a:spLocks noChangeArrowheads="1"/>
            </p:cNvSpPr>
            <p:nvPr/>
          </p:nvSpPr>
          <p:spPr bwMode="auto">
            <a:xfrm>
              <a:off x="873" y="3295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550" name="Rectangle 20"/>
            <p:cNvSpPr>
              <a:spLocks noChangeArrowheads="1"/>
            </p:cNvSpPr>
            <p:nvPr/>
          </p:nvSpPr>
          <p:spPr bwMode="auto">
            <a:xfrm>
              <a:off x="960" y="3308"/>
              <a:ext cx="141" cy="124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551" name="Text Box 21"/>
            <p:cNvSpPr txBox="1">
              <a:spLocks noChangeArrowheads="1"/>
            </p:cNvSpPr>
            <p:nvPr/>
          </p:nvSpPr>
          <p:spPr bwMode="auto">
            <a:xfrm>
              <a:off x="887" y="3243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/>
                <a:t>3b</a:t>
              </a:r>
              <a:endParaRPr lang="en-US"/>
            </a:p>
          </p:txBody>
        </p:sp>
      </p:grpSp>
      <p:grpSp>
        <p:nvGrpSpPr>
          <p:cNvPr id="146448" name="Group 22"/>
          <p:cNvGrpSpPr>
            <a:grpSpLocks/>
          </p:cNvGrpSpPr>
          <p:nvPr/>
        </p:nvGrpSpPr>
        <p:grpSpPr bwMode="auto">
          <a:xfrm>
            <a:off x="1889125" y="4327525"/>
            <a:ext cx="501650" cy="396875"/>
            <a:chOff x="2016" y="1976"/>
            <a:chExt cx="316" cy="250"/>
          </a:xfrm>
        </p:grpSpPr>
        <p:sp>
          <p:nvSpPr>
            <p:cNvPr id="146537" name="Oval 23"/>
            <p:cNvSpPr>
              <a:spLocks noChangeArrowheads="1"/>
            </p:cNvSpPr>
            <p:nvPr/>
          </p:nvSpPr>
          <p:spPr bwMode="auto">
            <a:xfrm>
              <a:off x="2019" y="210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538" name="Line 24"/>
            <p:cNvSpPr>
              <a:spLocks noChangeShapeType="1"/>
            </p:cNvSpPr>
            <p:nvPr/>
          </p:nvSpPr>
          <p:spPr bwMode="auto">
            <a:xfrm>
              <a:off x="2019" y="209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539" name="Line 25"/>
            <p:cNvSpPr>
              <a:spLocks noChangeShapeType="1"/>
            </p:cNvSpPr>
            <p:nvPr/>
          </p:nvSpPr>
          <p:spPr bwMode="auto">
            <a:xfrm>
              <a:off x="2332" y="209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540" name="Rectangle 26"/>
            <p:cNvSpPr>
              <a:spLocks noChangeArrowheads="1"/>
            </p:cNvSpPr>
            <p:nvPr/>
          </p:nvSpPr>
          <p:spPr bwMode="auto">
            <a:xfrm>
              <a:off x="2019" y="209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46541" name="Oval 27"/>
            <p:cNvSpPr>
              <a:spLocks noChangeArrowheads="1"/>
            </p:cNvSpPr>
            <p:nvPr/>
          </p:nvSpPr>
          <p:spPr bwMode="auto">
            <a:xfrm>
              <a:off x="2016" y="203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46542" name="Group 28"/>
            <p:cNvGrpSpPr>
              <a:grpSpLocks/>
            </p:cNvGrpSpPr>
            <p:nvPr/>
          </p:nvGrpSpPr>
          <p:grpSpPr bwMode="auto">
            <a:xfrm>
              <a:off x="2032" y="1976"/>
              <a:ext cx="285" cy="250"/>
              <a:chOff x="2912" y="2425"/>
              <a:chExt cx="290" cy="250"/>
            </a:xfrm>
          </p:grpSpPr>
          <p:sp>
            <p:nvSpPr>
              <p:cNvPr id="146543" name="Rectangle 29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544" name="Text Box 30"/>
              <p:cNvSpPr txBox="1">
                <a:spLocks noChangeArrowheads="1"/>
              </p:cNvSpPr>
              <p:nvPr/>
            </p:nvSpPr>
            <p:spPr bwMode="auto">
              <a:xfrm>
                <a:off x="2912" y="2425"/>
                <a:ext cx="29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3c</a:t>
                </a:r>
                <a:endParaRPr lang="en-US"/>
              </a:p>
            </p:txBody>
          </p:sp>
        </p:grpSp>
      </p:grpSp>
      <p:grpSp>
        <p:nvGrpSpPr>
          <p:cNvPr id="146449" name="Group 31"/>
          <p:cNvGrpSpPr>
            <a:grpSpLocks/>
          </p:cNvGrpSpPr>
          <p:nvPr/>
        </p:nvGrpSpPr>
        <p:grpSpPr bwMode="auto">
          <a:xfrm>
            <a:off x="2466975" y="4702175"/>
            <a:ext cx="501650" cy="396875"/>
            <a:chOff x="1434" y="3104"/>
            <a:chExt cx="316" cy="250"/>
          </a:xfrm>
        </p:grpSpPr>
        <p:grpSp>
          <p:nvGrpSpPr>
            <p:cNvPr id="146529" name="Group 32"/>
            <p:cNvGrpSpPr>
              <a:grpSpLocks/>
            </p:cNvGrpSpPr>
            <p:nvPr/>
          </p:nvGrpSpPr>
          <p:grpSpPr bwMode="auto">
            <a:xfrm>
              <a:off x="1434" y="3163"/>
              <a:ext cx="316" cy="147"/>
              <a:chOff x="1434" y="3163"/>
              <a:chExt cx="316" cy="147"/>
            </a:xfrm>
          </p:grpSpPr>
          <p:sp>
            <p:nvSpPr>
              <p:cNvPr id="146531" name="Oval 33"/>
              <p:cNvSpPr>
                <a:spLocks noChangeArrowheads="1"/>
              </p:cNvSpPr>
              <p:nvPr/>
            </p:nvSpPr>
            <p:spPr bwMode="auto">
              <a:xfrm>
                <a:off x="1437" y="3229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532" name="Line 34"/>
              <p:cNvSpPr>
                <a:spLocks noChangeShapeType="1"/>
              </p:cNvSpPr>
              <p:nvPr/>
            </p:nvSpPr>
            <p:spPr bwMode="auto">
              <a:xfrm>
                <a:off x="1437" y="3222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533" name="Line 35"/>
              <p:cNvSpPr>
                <a:spLocks noChangeShapeType="1"/>
              </p:cNvSpPr>
              <p:nvPr/>
            </p:nvSpPr>
            <p:spPr bwMode="auto">
              <a:xfrm>
                <a:off x="1750" y="3222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534" name="Rectangle 36"/>
              <p:cNvSpPr>
                <a:spLocks noChangeArrowheads="1"/>
              </p:cNvSpPr>
              <p:nvPr/>
            </p:nvSpPr>
            <p:spPr bwMode="auto">
              <a:xfrm>
                <a:off x="1437" y="3222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46535" name="Oval 37"/>
              <p:cNvSpPr>
                <a:spLocks noChangeArrowheads="1"/>
              </p:cNvSpPr>
              <p:nvPr/>
            </p:nvSpPr>
            <p:spPr bwMode="auto">
              <a:xfrm>
                <a:off x="1434" y="3163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536" name="Rectangle 38"/>
              <p:cNvSpPr>
                <a:spLocks noChangeArrowheads="1"/>
              </p:cNvSpPr>
              <p:nvPr/>
            </p:nvSpPr>
            <p:spPr bwMode="auto">
              <a:xfrm>
                <a:off x="1521" y="3176"/>
                <a:ext cx="142" cy="110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46530" name="Text Box 39"/>
            <p:cNvSpPr txBox="1">
              <a:spLocks noChangeArrowheads="1"/>
            </p:cNvSpPr>
            <p:nvPr/>
          </p:nvSpPr>
          <p:spPr bwMode="auto">
            <a:xfrm>
              <a:off x="1448" y="3104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/>
                <a:t>3a</a:t>
              </a:r>
              <a:endParaRPr lang="en-US"/>
            </a:p>
          </p:txBody>
        </p:sp>
      </p:grpSp>
      <p:grpSp>
        <p:nvGrpSpPr>
          <p:cNvPr id="146450" name="Group 40"/>
          <p:cNvGrpSpPr>
            <a:grpSpLocks/>
          </p:cNvGrpSpPr>
          <p:nvPr/>
        </p:nvGrpSpPr>
        <p:grpSpPr bwMode="auto">
          <a:xfrm>
            <a:off x="2495550" y="5227638"/>
            <a:ext cx="2660650" cy="1122362"/>
            <a:chOff x="1572" y="3293"/>
            <a:chExt cx="1676" cy="707"/>
          </a:xfrm>
        </p:grpSpPr>
        <p:sp>
          <p:nvSpPr>
            <p:cNvPr id="146486" name="Freeform 41"/>
            <p:cNvSpPr>
              <a:spLocks/>
            </p:cNvSpPr>
            <p:nvPr/>
          </p:nvSpPr>
          <p:spPr bwMode="auto">
            <a:xfrm>
              <a:off x="1572" y="3293"/>
              <a:ext cx="1676" cy="707"/>
            </a:xfrm>
            <a:custGeom>
              <a:avLst/>
              <a:gdLst>
                <a:gd name="T0" fmla="*/ 259 w 1583"/>
                <a:gd name="T1" fmla="*/ 310 h 682"/>
                <a:gd name="T2" fmla="*/ 681 w 1583"/>
                <a:gd name="T3" fmla="*/ 102 h 682"/>
                <a:gd name="T4" fmla="*/ 1313 w 1583"/>
                <a:gd name="T5" fmla="*/ 29 h 682"/>
                <a:gd name="T6" fmla="*/ 1933 w 1583"/>
                <a:gd name="T7" fmla="*/ 268 h 682"/>
                <a:gd name="T8" fmla="*/ 2613 w 1583"/>
                <a:gd name="T9" fmla="*/ 591 h 682"/>
                <a:gd name="T10" fmla="*/ 2126 w 1583"/>
                <a:gd name="T11" fmla="*/ 888 h 682"/>
                <a:gd name="T12" fmla="*/ 1153 w 1583"/>
                <a:gd name="T13" fmla="*/ 908 h 682"/>
                <a:gd name="T14" fmla="*/ 149 w 1583"/>
                <a:gd name="T15" fmla="*/ 823 h 682"/>
                <a:gd name="T16" fmla="*/ 259 w 1583"/>
                <a:gd name="T17" fmla="*/ 310 h 6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83"/>
                <a:gd name="T28" fmla="*/ 0 h 682"/>
                <a:gd name="T29" fmla="*/ 1583 w 1583"/>
                <a:gd name="T30" fmla="*/ 682 h 68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83" h="682">
                  <a:moveTo>
                    <a:pt x="155" y="224"/>
                  </a:moveTo>
                  <a:cubicBezTo>
                    <a:pt x="208" y="137"/>
                    <a:pt x="302" y="108"/>
                    <a:pt x="407" y="74"/>
                  </a:cubicBezTo>
                  <a:cubicBezTo>
                    <a:pt x="512" y="40"/>
                    <a:pt x="660" y="0"/>
                    <a:pt x="785" y="20"/>
                  </a:cubicBezTo>
                  <a:cubicBezTo>
                    <a:pt x="910" y="40"/>
                    <a:pt x="1027" y="126"/>
                    <a:pt x="1157" y="194"/>
                  </a:cubicBezTo>
                  <a:cubicBezTo>
                    <a:pt x="1287" y="262"/>
                    <a:pt x="1545" y="353"/>
                    <a:pt x="1564" y="428"/>
                  </a:cubicBezTo>
                  <a:cubicBezTo>
                    <a:pt x="1583" y="503"/>
                    <a:pt x="1417" y="606"/>
                    <a:pt x="1272" y="644"/>
                  </a:cubicBezTo>
                  <a:cubicBezTo>
                    <a:pt x="1127" y="682"/>
                    <a:pt x="887" y="664"/>
                    <a:pt x="690" y="656"/>
                  </a:cubicBezTo>
                  <a:cubicBezTo>
                    <a:pt x="493" y="648"/>
                    <a:pt x="178" y="668"/>
                    <a:pt x="89" y="596"/>
                  </a:cubicBezTo>
                  <a:cubicBezTo>
                    <a:pt x="0" y="524"/>
                    <a:pt x="102" y="311"/>
                    <a:pt x="155" y="224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487" name="Text Box 42"/>
            <p:cNvSpPr txBox="1">
              <a:spLocks noChangeArrowheads="1"/>
            </p:cNvSpPr>
            <p:nvPr/>
          </p:nvSpPr>
          <p:spPr bwMode="auto">
            <a:xfrm>
              <a:off x="1719" y="3724"/>
              <a:ext cx="4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000"/>
                <a:t>AS1</a:t>
              </a:r>
              <a:endParaRPr lang="en-US" sz="1800"/>
            </a:p>
          </p:txBody>
        </p:sp>
        <p:sp>
          <p:nvSpPr>
            <p:cNvPr id="146488" name="Line 43"/>
            <p:cNvSpPr>
              <a:spLocks noChangeShapeType="1"/>
            </p:cNvSpPr>
            <p:nvPr/>
          </p:nvSpPr>
          <p:spPr bwMode="auto">
            <a:xfrm flipH="1">
              <a:off x="2134" y="3469"/>
              <a:ext cx="93" cy="1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489" name="Line 44"/>
            <p:cNvSpPr>
              <a:spLocks noChangeShapeType="1"/>
            </p:cNvSpPr>
            <p:nvPr/>
          </p:nvSpPr>
          <p:spPr bwMode="auto">
            <a:xfrm>
              <a:off x="2388" y="3491"/>
              <a:ext cx="3" cy="2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490" name="Line 45"/>
            <p:cNvSpPr>
              <a:spLocks noChangeShapeType="1"/>
            </p:cNvSpPr>
            <p:nvPr/>
          </p:nvSpPr>
          <p:spPr bwMode="auto">
            <a:xfrm>
              <a:off x="2490" y="3461"/>
              <a:ext cx="313" cy="2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491" name="Line 46"/>
            <p:cNvSpPr>
              <a:spLocks noChangeShapeType="1"/>
            </p:cNvSpPr>
            <p:nvPr/>
          </p:nvSpPr>
          <p:spPr bwMode="auto">
            <a:xfrm flipH="1">
              <a:off x="2566" y="3749"/>
              <a:ext cx="237" cy="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492" name="Line 47"/>
            <p:cNvSpPr>
              <a:spLocks noChangeShapeType="1"/>
            </p:cNvSpPr>
            <p:nvPr/>
          </p:nvSpPr>
          <p:spPr bwMode="auto">
            <a:xfrm flipH="1" flipV="1">
              <a:off x="2202" y="3638"/>
              <a:ext cx="568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493" name="Line 48"/>
            <p:cNvSpPr>
              <a:spLocks noChangeShapeType="1"/>
            </p:cNvSpPr>
            <p:nvPr/>
          </p:nvSpPr>
          <p:spPr bwMode="auto">
            <a:xfrm>
              <a:off x="2143" y="3689"/>
              <a:ext cx="127" cy="8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6494" name="Group 49"/>
            <p:cNvGrpSpPr>
              <a:grpSpLocks/>
            </p:cNvGrpSpPr>
            <p:nvPr/>
          </p:nvGrpSpPr>
          <p:grpSpPr bwMode="auto">
            <a:xfrm>
              <a:off x="2202" y="3293"/>
              <a:ext cx="316" cy="250"/>
              <a:chOff x="2055" y="3447"/>
              <a:chExt cx="316" cy="250"/>
            </a:xfrm>
          </p:grpSpPr>
          <p:sp>
            <p:nvSpPr>
              <p:cNvPr id="146521" name="Oval 50"/>
              <p:cNvSpPr>
                <a:spLocks noChangeArrowheads="1"/>
              </p:cNvSpPr>
              <p:nvPr/>
            </p:nvSpPr>
            <p:spPr bwMode="auto">
              <a:xfrm>
                <a:off x="2058" y="3571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522" name="Line 51"/>
              <p:cNvSpPr>
                <a:spLocks noChangeShapeType="1"/>
              </p:cNvSpPr>
              <p:nvPr/>
            </p:nvSpPr>
            <p:spPr bwMode="auto">
              <a:xfrm>
                <a:off x="2058" y="3564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523" name="Line 52"/>
              <p:cNvSpPr>
                <a:spLocks noChangeShapeType="1"/>
              </p:cNvSpPr>
              <p:nvPr/>
            </p:nvSpPr>
            <p:spPr bwMode="auto">
              <a:xfrm>
                <a:off x="2371" y="3564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524" name="Rectangle 53"/>
              <p:cNvSpPr>
                <a:spLocks noChangeArrowheads="1"/>
              </p:cNvSpPr>
              <p:nvPr/>
            </p:nvSpPr>
            <p:spPr bwMode="auto">
              <a:xfrm>
                <a:off x="2058" y="3564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46525" name="Oval 54"/>
              <p:cNvSpPr>
                <a:spLocks noChangeArrowheads="1"/>
              </p:cNvSpPr>
              <p:nvPr/>
            </p:nvSpPr>
            <p:spPr bwMode="auto">
              <a:xfrm>
                <a:off x="2055" y="3505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6526" name="Group 55"/>
              <p:cNvGrpSpPr>
                <a:grpSpLocks/>
              </p:cNvGrpSpPr>
              <p:nvPr/>
            </p:nvGrpSpPr>
            <p:grpSpPr bwMode="auto">
              <a:xfrm>
                <a:off x="2072" y="3447"/>
                <a:ext cx="285" cy="250"/>
                <a:chOff x="2912" y="2425"/>
                <a:chExt cx="292" cy="250"/>
              </a:xfrm>
            </p:grpSpPr>
            <p:sp>
              <p:nvSpPr>
                <p:cNvPr id="146527" name="Rectangle 5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6528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2912" y="2425"/>
                  <a:ext cx="29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/>
                    <a:t>1c</a:t>
                  </a:r>
                </a:p>
              </p:txBody>
            </p:sp>
          </p:grpSp>
        </p:grpSp>
        <p:grpSp>
          <p:nvGrpSpPr>
            <p:cNvPr id="146495" name="Group 58"/>
            <p:cNvGrpSpPr>
              <a:grpSpLocks/>
            </p:cNvGrpSpPr>
            <p:nvPr/>
          </p:nvGrpSpPr>
          <p:grpSpPr bwMode="auto">
            <a:xfrm>
              <a:off x="1896" y="3507"/>
              <a:ext cx="316" cy="250"/>
              <a:chOff x="1749" y="3661"/>
              <a:chExt cx="316" cy="250"/>
            </a:xfrm>
          </p:grpSpPr>
          <p:sp>
            <p:nvSpPr>
              <p:cNvPr id="146514" name="Oval 59"/>
              <p:cNvSpPr>
                <a:spLocks noChangeArrowheads="1"/>
              </p:cNvSpPr>
              <p:nvPr/>
            </p:nvSpPr>
            <p:spPr bwMode="auto">
              <a:xfrm>
                <a:off x="1752" y="3781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515" name="Line 60"/>
              <p:cNvSpPr>
                <a:spLocks noChangeShapeType="1"/>
              </p:cNvSpPr>
              <p:nvPr/>
            </p:nvSpPr>
            <p:spPr bwMode="auto">
              <a:xfrm>
                <a:off x="1752" y="3774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516" name="Line 61"/>
              <p:cNvSpPr>
                <a:spLocks noChangeShapeType="1"/>
              </p:cNvSpPr>
              <p:nvPr/>
            </p:nvSpPr>
            <p:spPr bwMode="auto">
              <a:xfrm>
                <a:off x="2065" y="3774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517" name="Rectangle 62"/>
              <p:cNvSpPr>
                <a:spLocks noChangeArrowheads="1"/>
              </p:cNvSpPr>
              <p:nvPr/>
            </p:nvSpPr>
            <p:spPr bwMode="auto">
              <a:xfrm>
                <a:off x="1752" y="3774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46518" name="Oval 63"/>
              <p:cNvSpPr>
                <a:spLocks noChangeArrowheads="1"/>
              </p:cNvSpPr>
              <p:nvPr/>
            </p:nvSpPr>
            <p:spPr bwMode="auto">
              <a:xfrm>
                <a:off x="1749" y="3719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519" name="Rectangle 64"/>
              <p:cNvSpPr>
                <a:spLocks noChangeArrowheads="1"/>
              </p:cNvSpPr>
              <p:nvPr/>
            </p:nvSpPr>
            <p:spPr bwMode="auto">
              <a:xfrm>
                <a:off x="1834" y="3746"/>
                <a:ext cx="142" cy="96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520" name="Text Box 65"/>
              <p:cNvSpPr txBox="1">
                <a:spLocks noChangeArrowheads="1"/>
              </p:cNvSpPr>
              <p:nvPr/>
            </p:nvSpPr>
            <p:spPr bwMode="auto">
              <a:xfrm>
                <a:off x="1765" y="3661"/>
                <a:ext cx="29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2000"/>
                  <a:t>1a</a:t>
                </a:r>
                <a:endParaRPr lang="en-US"/>
              </a:p>
            </p:txBody>
          </p:sp>
        </p:grpSp>
        <p:grpSp>
          <p:nvGrpSpPr>
            <p:cNvPr id="146496" name="Group 66"/>
            <p:cNvGrpSpPr>
              <a:grpSpLocks/>
            </p:cNvGrpSpPr>
            <p:nvPr/>
          </p:nvGrpSpPr>
          <p:grpSpPr bwMode="auto">
            <a:xfrm>
              <a:off x="2238" y="3689"/>
              <a:ext cx="316" cy="250"/>
              <a:chOff x="2091" y="3843"/>
              <a:chExt cx="316" cy="250"/>
            </a:xfrm>
          </p:grpSpPr>
          <p:sp>
            <p:nvSpPr>
              <p:cNvPr id="146506" name="Oval 67"/>
              <p:cNvSpPr>
                <a:spLocks noChangeArrowheads="1"/>
              </p:cNvSpPr>
              <p:nvPr/>
            </p:nvSpPr>
            <p:spPr bwMode="auto">
              <a:xfrm>
                <a:off x="2094" y="3967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507" name="Line 68"/>
              <p:cNvSpPr>
                <a:spLocks noChangeShapeType="1"/>
              </p:cNvSpPr>
              <p:nvPr/>
            </p:nvSpPr>
            <p:spPr bwMode="auto">
              <a:xfrm>
                <a:off x="2094" y="3960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508" name="Line 69"/>
              <p:cNvSpPr>
                <a:spLocks noChangeShapeType="1"/>
              </p:cNvSpPr>
              <p:nvPr/>
            </p:nvSpPr>
            <p:spPr bwMode="auto">
              <a:xfrm>
                <a:off x="2407" y="3960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509" name="Rectangle 70"/>
              <p:cNvSpPr>
                <a:spLocks noChangeArrowheads="1"/>
              </p:cNvSpPr>
              <p:nvPr/>
            </p:nvSpPr>
            <p:spPr bwMode="auto">
              <a:xfrm>
                <a:off x="2094" y="3960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46510" name="Oval 71"/>
              <p:cNvSpPr>
                <a:spLocks noChangeArrowheads="1"/>
              </p:cNvSpPr>
              <p:nvPr/>
            </p:nvSpPr>
            <p:spPr bwMode="auto">
              <a:xfrm>
                <a:off x="2091" y="3901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6511" name="Group 72"/>
              <p:cNvGrpSpPr>
                <a:grpSpLocks/>
              </p:cNvGrpSpPr>
              <p:nvPr/>
            </p:nvGrpSpPr>
            <p:grpSpPr bwMode="auto">
              <a:xfrm>
                <a:off x="2106" y="3843"/>
                <a:ext cx="294" cy="250"/>
                <a:chOff x="2910" y="2425"/>
                <a:chExt cx="296" cy="250"/>
              </a:xfrm>
            </p:grpSpPr>
            <p:sp>
              <p:nvSpPr>
                <p:cNvPr id="146512" name="Rectangle 73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6513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2910" y="2425"/>
                  <a:ext cx="2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/>
                    <a:t>1d</a:t>
                  </a:r>
                </a:p>
              </p:txBody>
            </p:sp>
          </p:grpSp>
        </p:grpSp>
        <p:grpSp>
          <p:nvGrpSpPr>
            <p:cNvPr id="146497" name="Group 75"/>
            <p:cNvGrpSpPr>
              <a:grpSpLocks/>
            </p:cNvGrpSpPr>
            <p:nvPr/>
          </p:nvGrpSpPr>
          <p:grpSpPr bwMode="auto">
            <a:xfrm>
              <a:off x="2778" y="3573"/>
              <a:ext cx="316" cy="250"/>
              <a:chOff x="2016" y="1976"/>
              <a:chExt cx="316" cy="250"/>
            </a:xfrm>
          </p:grpSpPr>
          <p:sp>
            <p:nvSpPr>
              <p:cNvPr id="146498" name="Oval 76"/>
              <p:cNvSpPr>
                <a:spLocks noChangeArrowheads="1"/>
              </p:cNvSpPr>
              <p:nvPr/>
            </p:nvSpPr>
            <p:spPr bwMode="auto">
              <a:xfrm>
                <a:off x="2019" y="21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499" name="Line 77"/>
              <p:cNvSpPr>
                <a:spLocks noChangeShapeType="1"/>
              </p:cNvSpPr>
              <p:nvPr/>
            </p:nvSpPr>
            <p:spPr bwMode="auto">
              <a:xfrm>
                <a:off x="2019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500" name="Line 78"/>
              <p:cNvSpPr>
                <a:spLocks noChangeShapeType="1"/>
              </p:cNvSpPr>
              <p:nvPr/>
            </p:nvSpPr>
            <p:spPr bwMode="auto">
              <a:xfrm>
                <a:off x="2332" y="2095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6501" name="Rectangle 79"/>
              <p:cNvSpPr>
                <a:spLocks noChangeArrowheads="1"/>
              </p:cNvSpPr>
              <p:nvPr/>
            </p:nvSpPr>
            <p:spPr bwMode="auto">
              <a:xfrm>
                <a:off x="2019" y="20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46502" name="Oval 80"/>
              <p:cNvSpPr>
                <a:spLocks noChangeArrowheads="1"/>
              </p:cNvSpPr>
              <p:nvPr/>
            </p:nvSpPr>
            <p:spPr bwMode="auto">
              <a:xfrm>
                <a:off x="2016" y="20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6503" name="Group 81"/>
              <p:cNvGrpSpPr>
                <a:grpSpLocks/>
              </p:cNvGrpSpPr>
              <p:nvPr/>
            </p:nvGrpSpPr>
            <p:grpSpPr bwMode="auto">
              <a:xfrm>
                <a:off x="2029" y="1976"/>
                <a:ext cx="294" cy="250"/>
                <a:chOff x="2909" y="2425"/>
                <a:chExt cx="299" cy="250"/>
              </a:xfrm>
            </p:grpSpPr>
            <p:sp>
              <p:nvSpPr>
                <p:cNvPr id="146504" name="Rectangle 82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2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6505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2909" y="2425"/>
                  <a:ext cx="299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2000"/>
                    <a:t>1b</a:t>
                  </a:r>
                  <a:endParaRPr lang="en-US"/>
                </a:p>
              </p:txBody>
            </p:sp>
          </p:grpSp>
        </p:grpSp>
      </p:grpSp>
      <p:grpSp>
        <p:nvGrpSpPr>
          <p:cNvPr id="146451" name="Group 84"/>
          <p:cNvGrpSpPr>
            <a:grpSpLocks/>
          </p:cNvGrpSpPr>
          <p:nvPr/>
        </p:nvGrpSpPr>
        <p:grpSpPr bwMode="auto">
          <a:xfrm>
            <a:off x="5414963" y="5324475"/>
            <a:ext cx="501650" cy="396875"/>
            <a:chOff x="3537" y="3473"/>
            <a:chExt cx="316" cy="250"/>
          </a:xfrm>
        </p:grpSpPr>
        <p:sp>
          <p:nvSpPr>
            <p:cNvPr id="146479" name="Oval 85"/>
            <p:cNvSpPr>
              <a:spLocks noChangeArrowheads="1"/>
            </p:cNvSpPr>
            <p:nvPr/>
          </p:nvSpPr>
          <p:spPr bwMode="auto">
            <a:xfrm>
              <a:off x="3540" y="3598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480" name="Line 86"/>
            <p:cNvSpPr>
              <a:spLocks noChangeShapeType="1"/>
            </p:cNvSpPr>
            <p:nvPr/>
          </p:nvSpPr>
          <p:spPr bwMode="auto">
            <a:xfrm>
              <a:off x="3540" y="359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481" name="Line 87"/>
            <p:cNvSpPr>
              <a:spLocks noChangeShapeType="1"/>
            </p:cNvSpPr>
            <p:nvPr/>
          </p:nvSpPr>
          <p:spPr bwMode="auto">
            <a:xfrm>
              <a:off x="3853" y="359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482" name="Rectangle 88"/>
            <p:cNvSpPr>
              <a:spLocks noChangeArrowheads="1"/>
            </p:cNvSpPr>
            <p:nvPr/>
          </p:nvSpPr>
          <p:spPr bwMode="auto">
            <a:xfrm>
              <a:off x="3540" y="3591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46483" name="Oval 89"/>
            <p:cNvSpPr>
              <a:spLocks noChangeArrowheads="1"/>
            </p:cNvSpPr>
            <p:nvPr/>
          </p:nvSpPr>
          <p:spPr bwMode="auto">
            <a:xfrm>
              <a:off x="3537" y="3532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484" name="Rectangle 90"/>
            <p:cNvSpPr>
              <a:spLocks noChangeArrowheads="1"/>
            </p:cNvSpPr>
            <p:nvPr/>
          </p:nvSpPr>
          <p:spPr bwMode="auto">
            <a:xfrm>
              <a:off x="3624" y="3545"/>
              <a:ext cx="141" cy="12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485" name="Text Box 91"/>
            <p:cNvSpPr txBox="1">
              <a:spLocks noChangeArrowheads="1"/>
            </p:cNvSpPr>
            <p:nvPr/>
          </p:nvSpPr>
          <p:spPr bwMode="auto">
            <a:xfrm>
              <a:off x="3551" y="3473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/>
                <a:t>2a</a:t>
              </a:r>
              <a:endParaRPr lang="en-US"/>
            </a:p>
          </p:txBody>
        </p:sp>
      </p:grpSp>
      <p:sp>
        <p:nvSpPr>
          <p:cNvPr id="146452" name="Line 92"/>
          <p:cNvSpPr>
            <a:spLocks noChangeShapeType="1"/>
          </p:cNvSpPr>
          <p:nvPr/>
        </p:nvSpPr>
        <p:spPr bwMode="auto">
          <a:xfrm>
            <a:off x="6635750" y="5241925"/>
            <a:ext cx="857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6453" name="Line 93"/>
          <p:cNvSpPr>
            <a:spLocks noChangeShapeType="1"/>
          </p:cNvSpPr>
          <p:nvPr/>
        </p:nvSpPr>
        <p:spPr bwMode="auto">
          <a:xfrm>
            <a:off x="6889750" y="5707063"/>
            <a:ext cx="7350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6454" name="Line 94"/>
          <p:cNvSpPr>
            <a:spLocks noChangeShapeType="1"/>
          </p:cNvSpPr>
          <p:nvPr/>
        </p:nvSpPr>
        <p:spPr bwMode="auto">
          <a:xfrm>
            <a:off x="5921375" y="5553075"/>
            <a:ext cx="4889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6455" name="Line 95"/>
          <p:cNvSpPr>
            <a:spLocks noChangeShapeType="1"/>
          </p:cNvSpPr>
          <p:nvPr/>
        </p:nvSpPr>
        <p:spPr bwMode="auto">
          <a:xfrm>
            <a:off x="6530975" y="5351463"/>
            <a:ext cx="68263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6456" name="Group 96"/>
          <p:cNvGrpSpPr>
            <a:grpSpLocks/>
          </p:cNvGrpSpPr>
          <p:nvPr/>
        </p:nvGrpSpPr>
        <p:grpSpPr bwMode="auto">
          <a:xfrm>
            <a:off x="6142038" y="5046663"/>
            <a:ext cx="501650" cy="396875"/>
            <a:chOff x="4320" y="1936"/>
            <a:chExt cx="316" cy="250"/>
          </a:xfrm>
        </p:grpSpPr>
        <p:sp>
          <p:nvSpPr>
            <p:cNvPr id="146472" name="Oval 97"/>
            <p:cNvSpPr>
              <a:spLocks noChangeArrowheads="1"/>
            </p:cNvSpPr>
            <p:nvPr/>
          </p:nvSpPr>
          <p:spPr bwMode="auto">
            <a:xfrm>
              <a:off x="4323" y="2054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473" name="Line 98"/>
            <p:cNvSpPr>
              <a:spLocks noChangeShapeType="1"/>
            </p:cNvSpPr>
            <p:nvPr/>
          </p:nvSpPr>
          <p:spPr bwMode="auto">
            <a:xfrm>
              <a:off x="4323" y="204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474" name="Line 99"/>
            <p:cNvSpPr>
              <a:spLocks noChangeShapeType="1"/>
            </p:cNvSpPr>
            <p:nvPr/>
          </p:nvSpPr>
          <p:spPr bwMode="auto">
            <a:xfrm>
              <a:off x="4636" y="204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475" name="Rectangle 100"/>
            <p:cNvSpPr>
              <a:spLocks noChangeArrowheads="1"/>
            </p:cNvSpPr>
            <p:nvPr/>
          </p:nvSpPr>
          <p:spPr bwMode="auto">
            <a:xfrm>
              <a:off x="4323" y="2047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46476" name="Oval 101"/>
            <p:cNvSpPr>
              <a:spLocks noChangeArrowheads="1"/>
            </p:cNvSpPr>
            <p:nvPr/>
          </p:nvSpPr>
          <p:spPr bwMode="auto">
            <a:xfrm>
              <a:off x="4320" y="1988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477" name="Rectangle 102"/>
            <p:cNvSpPr>
              <a:spLocks noChangeArrowheads="1"/>
            </p:cNvSpPr>
            <p:nvPr/>
          </p:nvSpPr>
          <p:spPr bwMode="auto">
            <a:xfrm>
              <a:off x="4407" y="2001"/>
              <a:ext cx="141" cy="118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478" name="Text Box 103"/>
            <p:cNvSpPr txBox="1">
              <a:spLocks noChangeArrowheads="1"/>
            </p:cNvSpPr>
            <p:nvPr/>
          </p:nvSpPr>
          <p:spPr bwMode="auto">
            <a:xfrm>
              <a:off x="4338" y="1936"/>
              <a:ext cx="28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/>
                <a:t>2c</a:t>
              </a:r>
              <a:endParaRPr lang="en-US"/>
            </a:p>
          </p:txBody>
        </p:sp>
      </p:grpSp>
      <p:grpSp>
        <p:nvGrpSpPr>
          <p:cNvPr id="146457" name="Group 104"/>
          <p:cNvGrpSpPr>
            <a:grpSpLocks/>
          </p:cNvGrpSpPr>
          <p:nvPr/>
        </p:nvGrpSpPr>
        <p:grpSpPr bwMode="auto">
          <a:xfrm>
            <a:off x="6405563" y="5502275"/>
            <a:ext cx="501650" cy="396875"/>
            <a:chOff x="4596" y="2158"/>
            <a:chExt cx="316" cy="250"/>
          </a:xfrm>
        </p:grpSpPr>
        <p:sp>
          <p:nvSpPr>
            <p:cNvPr id="146465" name="Oval 105"/>
            <p:cNvSpPr>
              <a:spLocks noChangeArrowheads="1"/>
            </p:cNvSpPr>
            <p:nvPr/>
          </p:nvSpPr>
          <p:spPr bwMode="auto">
            <a:xfrm>
              <a:off x="4599" y="227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466" name="Line 106"/>
            <p:cNvSpPr>
              <a:spLocks noChangeShapeType="1"/>
            </p:cNvSpPr>
            <p:nvPr/>
          </p:nvSpPr>
          <p:spPr bwMode="auto">
            <a:xfrm>
              <a:off x="4599" y="226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467" name="Line 107"/>
            <p:cNvSpPr>
              <a:spLocks noChangeShapeType="1"/>
            </p:cNvSpPr>
            <p:nvPr/>
          </p:nvSpPr>
          <p:spPr bwMode="auto">
            <a:xfrm>
              <a:off x="4912" y="226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468" name="Rectangle 108"/>
            <p:cNvSpPr>
              <a:spLocks noChangeArrowheads="1"/>
            </p:cNvSpPr>
            <p:nvPr/>
          </p:nvSpPr>
          <p:spPr bwMode="auto">
            <a:xfrm>
              <a:off x="4599" y="226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sp>
          <p:nvSpPr>
            <p:cNvPr id="146469" name="Oval 109"/>
            <p:cNvSpPr>
              <a:spLocks noChangeArrowheads="1"/>
            </p:cNvSpPr>
            <p:nvPr/>
          </p:nvSpPr>
          <p:spPr bwMode="auto">
            <a:xfrm>
              <a:off x="4596" y="221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470" name="Rectangle 110"/>
            <p:cNvSpPr>
              <a:spLocks noChangeArrowheads="1"/>
            </p:cNvSpPr>
            <p:nvPr/>
          </p:nvSpPr>
          <p:spPr bwMode="auto">
            <a:xfrm>
              <a:off x="4683" y="2223"/>
              <a:ext cx="142" cy="11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471" name="Text Box 111"/>
            <p:cNvSpPr txBox="1">
              <a:spLocks noChangeArrowheads="1"/>
            </p:cNvSpPr>
            <p:nvPr/>
          </p:nvSpPr>
          <p:spPr bwMode="auto">
            <a:xfrm>
              <a:off x="4610" y="2158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/>
                <a:t>2b</a:t>
              </a:r>
              <a:endParaRPr lang="en-US"/>
            </a:p>
          </p:txBody>
        </p:sp>
      </p:grpSp>
      <p:sp>
        <p:nvSpPr>
          <p:cNvPr id="146458" name="Text Box 112"/>
          <p:cNvSpPr txBox="1">
            <a:spLocks noChangeArrowheads="1"/>
          </p:cNvSpPr>
          <p:nvPr/>
        </p:nvSpPr>
        <p:spPr bwMode="auto">
          <a:xfrm>
            <a:off x="7656513" y="5159375"/>
            <a:ext cx="893762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/>
              <a:t>other</a:t>
            </a:r>
          </a:p>
          <a:p>
            <a:r>
              <a:rPr lang="en-US" sz="1400"/>
              <a:t>networks</a:t>
            </a:r>
          </a:p>
        </p:txBody>
      </p:sp>
      <p:sp>
        <p:nvSpPr>
          <p:cNvPr id="146459" name="Freeform 113"/>
          <p:cNvSpPr>
            <a:spLocks/>
          </p:cNvSpPr>
          <p:nvPr/>
        </p:nvSpPr>
        <p:spPr bwMode="auto">
          <a:xfrm flipH="1">
            <a:off x="292100" y="4772025"/>
            <a:ext cx="1171575" cy="1758950"/>
          </a:xfrm>
          <a:custGeom>
            <a:avLst/>
            <a:gdLst>
              <a:gd name="T0" fmla="*/ 2147483647 w 738"/>
              <a:gd name="T1" fmla="*/ 2147483647 h 1108"/>
              <a:gd name="T2" fmla="*/ 2147483647 w 738"/>
              <a:gd name="T3" fmla="*/ 2147483647 h 1108"/>
              <a:gd name="T4" fmla="*/ 2147483647 w 738"/>
              <a:gd name="T5" fmla="*/ 2147483647 h 1108"/>
              <a:gd name="T6" fmla="*/ 2147483647 w 738"/>
              <a:gd name="T7" fmla="*/ 2147483647 h 1108"/>
              <a:gd name="T8" fmla="*/ 2147483647 w 738"/>
              <a:gd name="T9" fmla="*/ 2147483647 h 1108"/>
              <a:gd name="T10" fmla="*/ 2147483647 w 738"/>
              <a:gd name="T11" fmla="*/ 2147483647 h 1108"/>
              <a:gd name="T12" fmla="*/ 2147483647 w 738"/>
              <a:gd name="T13" fmla="*/ 2147483647 h 1108"/>
              <a:gd name="T14" fmla="*/ 2147483647 w 738"/>
              <a:gd name="T15" fmla="*/ 2147483647 h 11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38"/>
              <a:gd name="T25" fmla="*/ 0 h 1108"/>
              <a:gd name="T26" fmla="*/ 738 w 738"/>
              <a:gd name="T27" fmla="*/ 1108 h 110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38" h="1108">
                <a:moveTo>
                  <a:pt x="32" y="394"/>
                </a:moveTo>
                <a:cubicBezTo>
                  <a:pt x="66" y="301"/>
                  <a:pt x="108" y="228"/>
                  <a:pt x="213" y="172"/>
                </a:cubicBezTo>
                <a:cubicBezTo>
                  <a:pt x="318" y="116"/>
                  <a:pt x="588" y="0"/>
                  <a:pt x="663" y="56"/>
                </a:cubicBezTo>
                <a:cubicBezTo>
                  <a:pt x="738" y="112"/>
                  <a:pt x="659" y="346"/>
                  <a:pt x="661" y="509"/>
                </a:cubicBezTo>
                <a:cubicBezTo>
                  <a:pt x="663" y="672"/>
                  <a:pt x="731" y="956"/>
                  <a:pt x="677" y="1032"/>
                </a:cubicBezTo>
                <a:cubicBezTo>
                  <a:pt x="623" y="1108"/>
                  <a:pt x="442" y="999"/>
                  <a:pt x="338" y="962"/>
                </a:cubicBezTo>
                <a:cubicBezTo>
                  <a:pt x="234" y="925"/>
                  <a:pt x="102" y="904"/>
                  <a:pt x="51" y="809"/>
                </a:cubicBezTo>
                <a:cubicBezTo>
                  <a:pt x="0" y="715"/>
                  <a:pt x="36" y="481"/>
                  <a:pt x="32" y="394"/>
                </a:cubicBez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6460" name="Text Box 114"/>
          <p:cNvSpPr txBox="1">
            <a:spLocks noChangeArrowheads="1"/>
          </p:cNvSpPr>
          <p:nvPr/>
        </p:nvSpPr>
        <p:spPr bwMode="auto">
          <a:xfrm>
            <a:off x="349250" y="5556250"/>
            <a:ext cx="89376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/>
              <a:t>other</a:t>
            </a:r>
          </a:p>
          <a:p>
            <a:r>
              <a:rPr lang="en-US" sz="1400"/>
              <a:t>networks</a:t>
            </a:r>
          </a:p>
        </p:txBody>
      </p:sp>
      <p:sp>
        <p:nvSpPr>
          <p:cNvPr id="146461" name="Line 115"/>
          <p:cNvSpPr>
            <a:spLocks noChangeShapeType="1"/>
          </p:cNvSpPr>
          <p:nvPr/>
        </p:nvSpPr>
        <p:spPr bwMode="auto">
          <a:xfrm flipH="1">
            <a:off x="1149350" y="5118100"/>
            <a:ext cx="468313" cy="268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6462" name="Freeform 116"/>
          <p:cNvSpPr>
            <a:spLocks/>
          </p:cNvSpPr>
          <p:nvPr/>
        </p:nvSpPr>
        <p:spPr bwMode="auto">
          <a:xfrm>
            <a:off x="4913313" y="5607050"/>
            <a:ext cx="523875" cy="261938"/>
          </a:xfrm>
          <a:custGeom>
            <a:avLst/>
            <a:gdLst>
              <a:gd name="T0" fmla="*/ 0 w 654"/>
              <a:gd name="T1" fmla="*/ 2147483647 h 420"/>
              <a:gd name="T2" fmla="*/ 2147483647 w 654"/>
              <a:gd name="T3" fmla="*/ 0 h 420"/>
              <a:gd name="T4" fmla="*/ 0 60000 65536"/>
              <a:gd name="T5" fmla="*/ 0 60000 65536"/>
              <a:gd name="T6" fmla="*/ 0 w 654"/>
              <a:gd name="T7" fmla="*/ 0 h 420"/>
              <a:gd name="T8" fmla="*/ 654 w 654"/>
              <a:gd name="T9" fmla="*/ 420 h 42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54" h="420">
                <a:moveTo>
                  <a:pt x="0" y="420"/>
                </a:moveTo>
                <a:lnTo>
                  <a:pt x="654" y="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6463" name="Freeform 117"/>
          <p:cNvSpPr>
            <a:spLocks/>
          </p:cNvSpPr>
          <p:nvPr/>
        </p:nvSpPr>
        <p:spPr bwMode="auto">
          <a:xfrm>
            <a:off x="2800350" y="5014913"/>
            <a:ext cx="704850" cy="409575"/>
          </a:xfrm>
          <a:custGeom>
            <a:avLst/>
            <a:gdLst>
              <a:gd name="T0" fmla="*/ 0 w 444"/>
              <a:gd name="T1" fmla="*/ 0 h 258"/>
              <a:gd name="T2" fmla="*/ 2147483647 w 444"/>
              <a:gd name="T3" fmla="*/ 2147483647 h 258"/>
              <a:gd name="T4" fmla="*/ 0 60000 65536"/>
              <a:gd name="T5" fmla="*/ 0 60000 65536"/>
              <a:gd name="T6" fmla="*/ 0 w 444"/>
              <a:gd name="T7" fmla="*/ 0 h 258"/>
              <a:gd name="T8" fmla="*/ 444 w 444"/>
              <a:gd name="T9" fmla="*/ 258 h 25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44" h="258">
                <a:moveTo>
                  <a:pt x="0" y="0"/>
                </a:moveTo>
                <a:lnTo>
                  <a:pt x="444" y="258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46464" name="Picture 118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800100"/>
            <a:ext cx="3656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6</a:t>
            </a:fld>
            <a:endParaRPr lang="en-US" sz="1200" dirty="0">
              <a:latin typeface="Tahoma" charset="0"/>
            </a:endParaRPr>
          </a:p>
        </p:txBody>
      </p:sp>
      <p:sp>
        <p:nvSpPr>
          <p:cNvPr id="12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21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>
                <a:cs typeface="+mj-cs"/>
              </a:rPr>
              <a:t>Intra-AS Routing</a:t>
            </a:r>
          </a:p>
        </p:txBody>
      </p:sp>
      <p:sp>
        <p:nvSpPr>
          <p:cNvPr id="1065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n-cs"/>
              </a:rPr>
              <a:t>also known as </a:t>
            </a:r>
            <a:r>
              <a:rPr lang="en-US" i="1" dirty="0">
                <a:solidFill>
                  <a:srgbClr val="CC0000"/>
                </a:solidFill>
                <a:cs typeface="+mn-cs"/>
              </a:rPr>
              <a:t>interior gateway protocols (IGP)</a:t>
            </a:r>
          </a:p>
          <a:p>
            <a:pPr>
              <a:defRPr/>
            </a:pPr>
            <a:r>
              <a:rPr lang="en-US" dirty="0">
                <a:cs typeface="+mn-cs"/>
              </a:rPr>
              <a:t>most common intra-AS routing protocols:</a:t>
            </a:r>
          </a:p>
          <a:p>
            <a:pPr lvl="1">
              <a:defRPr/>
            </a:pPr>
            <a:r>
              <a:rPr lang="en-US" sz="2800" dirty="0"/>
              <a:t>RIP: Routing Information Protocol</a:t>
            </a:r>
          </a:p>
          <a:p>
            <a:pPr lvl="1">
              <a:defRPr/>
            </a:pPr>
            <a:r>
              <a:rPr lang="en-US" sz="2800" dirty="0"/>
              <a:t>OSPF: Open Shortest Path </a:t>
            </a:r>
            <a:r>
              <a:rPr lang="en-US" sz="2800" dirty="0" smtClean="0"/>
              <a:t>First (IS-IS protocol essentially same as OSPF)</a:t>
            </a:r>
            <a:endParaRPr lang="en-US" sz="2800" dirty="0"/>
          </a:p>
          <a:p>
            <a:pPr lvl="1">
              <a:defRPr/>
            </a:pPr>
            <a:r>
              <a:rPr lang="en-US" sz="2800" dirty="0"/>
              <a:t>IGRP: Interior Gateway Routing Protocol (Cisco </a:t>
            </a:r>
            <a:r>
              <a:rPr lang="en-US" sz="2800" dirty="0" smtClean="0"/>
              <a:t>proprietary </a:t>
            </a:r>
            <a:r>
              <a:rPr lang="en-US" sz="2000" dirty="0" smtClean="0"/>
              <a:t>for decades, until 2016</a:t>
            </a:r>
            <a:r>
              <a:rPr lang="en-US" sz="2800" dirty="0" smtClean="0"/>
              <a:t>)</a:t>
            </a:r>
            <a:endParaRPr lang="en-US" sz="2800" dirty="0"/>
          </a:p>
        </p:txBody>
      </p:sp>
      <p:pic>
        <p:nvPicPr>
          <p:cNvPr id="151557" name="Picture 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1031875"/>
            <a:ext cx="4113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7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46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699" name="Picture 5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004888"/>
            <a:ext cx="7313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>
                <a:cs typeface="+mj-cs"/>
              </a:rPr>
              <a:t>OSPF (Open Shortest Path First)</a:t>
            </a:r>
          </a:p>
        </p:txBody>
      </p:sp>
      <p:sp>
        <p:nvSpPr>
          <p:cNvPr id="1577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229600" cy="5105400"/>
          </a:xfrm>
        </p:spPr>
        <p:txBody>
          <a:bodyPr/>
          <a:lstStyle/>
          <a:p>
            <a:r>
              <a:rPr lang="ja-JP" altLang="en-US" dirty="0">
                <a:latin typeface="Gill Sans MT" charset="0"/>
              </a:rPr>
              <a:t>“</a:t>
            </a:r>
            <a:r>
              <a:rPr lang="en-US" altLang="ja-JP" dirty="0">
                <a:latin typeface="Gill Sans MT" charset="0"/>
              </a:rPr>
              <a:t>open</a:t>
            </a:r>
            <a:r>
              <a:rPr lang="ja-JP" altLang="en-US" dirty="0">
                <a:latin typeface="Gill Sans MT" charset="0"/>
              </a:rPr>
              <a:t>”</a:t>
            </a:r>
            <a:r>
              <a:rPr lang="en-US" altLang="ja-JP" dirty="0">
                <a:latin typeface="Gill Sans MT" charset="0"/>
              </a:rPr>
              <a:t>: publicly available</a:t>
            </a:r>
          </a:p>
          <a:p>
            <a:r>
              <a:rPr lang="en-US" dirty="0">
                <a:latin typeface="Gill Sans MT" charset="0"/>
              </a:rPr>
              <a:t>uses </a:t>
            </a:r>
            <a:r>
              <a:rPr lang="en-US" dirty="0" smtClean="0">
                <a:latin typeface="Gill Sans MT" charset="0"/>
              </a:rPr>
              <a:t>link-state </a:t>
            </a:r>
            <a:r>
              <a:rPr lang="en-US" dirty="0">
                <a:latin typeface="Gill Sans MT" charset="0"/>
              </a:rPr>
              <a:t>algorithm </a:t>
            </a:r>
          </a:p>
          <a:p>
            <a:pPr lvl="1"/>
            <a:r>
              <a:rPr lang="en-US" dirty="0" smtClean="0">
                <a:latin typeface="Gill Sans MT" charset="0"/>
              </a:rPr>
              <a:t>link state </a:t>
            </a:r>
            <a:r>
              <a:rPr lang="en-US" dirty="0">
                <a:latin typeface="Gill Sans MT" charset="0"/>
              </a:rPr>
              <a:t>packet dissemination</a:t>
            </a:r>
          </a:p>
          <a:p>
            <a:pPr lvl="1"/>
            <a:r>
              <a:rPr lang="en-US" dirty="0">
                <a:latin typeface="Gill Sans MT" charset="0"/>
              </a:rPr>
              <a:t>topology map at each node</a:t>
            </a:r>
          </a:p>
          <a:p>
            <a:pPr lvl="1"/>
            <a:r>
              <a:rPr lang="en-US" dirty="0">
                <a:latin typeface="Gill Sans MT" charset="0"/>
              </a:rPr>
              <a:t>route computation using Dijkstra</a:t>
            </a:r>
            <a:r>
              <a:rPr lang="ja-JP" altLang="en-US" dirty="0">
                <a:latin typeface="Gill Sans MT" charset="0"/>
              </a:rPr>
              <a:t>’</a:t>
            </a:r>
            <a:r>
              <a:rPr lang="en-US" altLang="ja-JP" dirty="0">
                <a:latin typeface="Gill Sans MT" charset="0"/>
              </a:rPr>
              <a:t>s algorithm</a:t>
            </a:r>
          </a:p>
          <a:p>
            <a:r>
              <a:rPr lang="en-US" dirty="0" smtClean="0">
                <a:latin typeface="Gill Sans MT" charset="0"/>
              </a:rPr>
              <a:t>router floods OSPF link-state advertisements to all other routers in </a:t>
            </a:r>
            <a:r>
              <a:rPr lang="en-US" i="1" dirty="0" smtClean="0">
                <a:solidFill>
                  <a:srgbClr val="CC0000"/>
                </a:solidFill>
                <a:latin typeface="Gill Sans MT" charset="0"/>
              </a:rPr>
              <a:t>entire</a:t>
            </a:r>
            <a:r>
              <a:rPr lang="en-US" dirty="0" smtClean="0"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AS</a:t>
            </a:r>
          </a:p>
          <a:p>
            <a:pPr lvl="1"/>
            <a:r>
              <a:rPr lang="en-US" dirty="0">
                <a:latin typeface="Gill Sans MT" charset="0"/>
              </a:rPr>
              <a:t>carried in OSPF messages directly over IP (rather than TCP or </a:t>
            </a:r>
            <a:r>
              <a:rPr lang="en-US" dirty="0" smtClean="0">
                <a:latin typeface="Gill Sans MT" charset="0"/>
              </a:rPr>
              <a:t>UDP)</a:t>
            </a:r>
          </a:p>
          <a:p>
            <a:pPr lvl="1"/>
            <a:r>
              <a:rPr lang="en-US" dirty="0" smtClean="0">
                <a:latin typeface="Gill Sans MT" charset="0"/>
              </a:rPr>
              <a:t>link state: for each attached link</a:t>
            </a:r>
            <a:endParaRPr lang="en-US" dirty="0">
              <a:latin typeface="Gill Sans MT" charset="0"/>
            </a:endParaRPr>
          </a:p>
          <a:p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IS-IS routing</a:t>
            </a:r>
            <a:r>
              <a:rPr lang="en-US" dirty="0">
                <a:latin typeface="Gill Sans MT" charset="0"/>
              </a:rPr>
              <a:t> protocol: nearly identical to OSPF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8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00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723" name="Picture 5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005343"/>
            <a:ext cx="5308773" cy="219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8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Gill Sans MT" charset="0"/>
              </a:rPr>
              <a:t>OSPF </a:t>
            </a:r>
            <a:r>
              <a:rPr lang="ja-JP" altLang="en-US" sz="3600" dirty="0">
                <a:latin typeface="Gill Sans MT" charset="0"/>
              </a:rPr>
              <a:t>“</a:t>
            </a:r>
            <a:r>
              <a:rPr lang="en-US" altLang="ja-JP" sz="3600" dirty="0">
                <a:latin typeface="Gill Sans MT" charset="0"/>
              </a:rPr>
              <a:t>advanced</a:t>
            </a:r>
            <a:r>
              <a:rPr lang="ja-JP" altLang="en-US" sz="3600" dirty="0">
                <a:latin typeface="Gill Sans MT" charset="0"/>
              </a:rPr>
              <a:t>”</a:t>
            </a:r>
            <a:r>
              <a:rPr lang="en-US" altLang="ja-JP" sz="3600" dirty="0">
                <a:latin typeface="Gill Sans MT" charset="0"/>
              </a:rPr>
              <a:t> </a:t>
            </a:r>
            <a:r>
              <a:rPr lang="en-US" altLang="ja-JP" sz="3600" dirty="0" smtClean="0">
                <a:latin typeface="Gill Sans MT" charset="0"/>
              </a:rPr>
              <a:t>features</a:t>
            </a:r>
            <a:endParaRPr lang="en-US" dirty="0">
              <a:latin typeface="Gill Sans MT" charset="0"/>
            </a:endParaRPr>
          </a:p>
        </p:txBody>
      </p:sp>
      <p:sp>
        <p:nvSpPr>
          <p:cNvPr id="1587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1385888"/>
            <a:ext cx="8229600" cy="4876800"/>
          </a:xfrm>
        </p:spPr>
        <p:txBody>
          <a:bodyPr/>
          <a:lstStyle/>
          <a:p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security:</a:t>
            </a:r>
            <a:r>
              <a:rPr lang="en-US" dirty="0">
                <a:latin typeface="Gill Sans MT" charset="0"/>
              </a:rPr>
              <a:t> all OSPF messages authenticated (to prevent malicious intrusion) </a:t>
            </a:r>
          </a:p>
          <a:p>
            <a:r>
              <a:rPr lang="en-US" dirty="0">
                <a:solidFill>
                  <a:srgbClr val="CC0000"/>
                </a:solidFill>
                <a:latin typeface="Gill Sans MT" charset="0"/>
              </a:rPr>
              <a:t>multiple </a:t>
            </a:r>
            <a:r>
              <a:rPr lang="en-US" dirty="0">
                <a:latin typeface="Gill Sans MT" charset="0"/>
              </a:rPr>
              <a:t>same-cost </a:t>
            </a:r>
            <a:r>
              <a:rPr lang="en-US" dirty="0">
                <a:solidFill>
                  <a:srgbClr val="CC0000"/>
                </a:solidFill>
                <a:latin typeface="Gill Sans MT" charset="0"/>
              </a:rPr>
              <a:t>paths</a:t>
            </a:r>
            <a:r>
              <a:rPr lang="en-US" dirty="0">
                <a:latin typeface="Gill Sans MT" charset="0"/>
              </a:rPr>
              <a:t> allowed (only one path in RIP)</a:t>
            </a:r>
          </a:p>
          <a:p>
            <a:r>
              <a:rPr lang="en-US" dirty="0">
                <a:latin typeface="Gill Sans MT" charset="0"/>
              </a:rPr>
              <a:t>for each link, multiple cost metrics for different </a:t>
            </a:r>
            <a:r>
              <a:rPr lang="en-US" dirty="0">
                <a:solidFill>
                  <a:srgbClr val="CC0000"/>
                </a:solidFill>
                <a:latin typeface="Gill Sans MT" charset="0"/>
              </a:rPr>
              <a:t>TOS</a:t>
            </a:r>
            <a:r>
              <a:rPr lang="en-US" dirty="0">
                <a:solidFill>
                  <a:srgbClr val="FF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(e.g., satellite link cost set </a:t>
            </a:r>
            <a:r>
              <a:rPr lang="en-US" altLang="ja-JP" dirty="0" smtClean="0">
                <a:latin typeface="Gill Sans MT" charset="0"/>
              </a:rPr>
              <a:t>low </a:t>
            </a:r>
            <a:r>
              <a:rPr lang="en-US" altLang="ja-JP" dirty="0">
                <a:latin typeface="Gill Sans MT" charset="0"/>
              </a:rPr>
              <a:t>for best effort </a:t>
            </a:r>
            <a:r>
              <a:rPr lang="en-US" altLang="ja-JP" dirty="0" err="1">
                <a:latin typeface="Gill Sans MT" charset="0"/>
              </a:rPr>
              <a:t>ToS</a:t>
            </a:r>
            <a:r>
              <a:rPr lang="en-US" altLang="ja-JP" dirty="0">
                <a:latin typeface="Gill Sans MT" charset="0"/>
              </a:rPr>
              <a:t>; high for </a:t>
            </a:r>
            <a:r>
              <a:rPr lang="en-US" altLang="ja-JP" dirty="0" smtClean="0">
                <a:latin typeface="Gill Sans MT" charset="0"/>
              </a:rPr>
              <a:t>real-time </a:t>
            </a:r>
            <a:r>
              <a:rPr lang="en-US" altLang="ja-JP" dirty="0" err="1">
                <a:latin typeface="Gill Sans MT" charset="0"/>
              </a:rPr>
              <a:t>ToS</a:t>
            </a:r>
            <a:r>
              <a:rPr lang="en-US" altLang="ja-JP" dirty="0">
                <a:latin typeface="Gill Sans MT" charset="0"/>
              </a:rPr>
              <a:t>)</a:t>
            </a:r>
          </a:p>
          <a:p>
            <a:r>
              <a:rPr lang="en-US" dirty="0">
                <a:latin typeface="Gill Sans MT" charset="0"/>
              </a:rPr>
              <a:t>integrated </a:t>
            </a:r>
            <a:r>
              <a:rPr lang="en-US" dirty="0" err="1">
                <a:latin typeface="Gill Sans MT" charset="0"/>
              </a:rPr>
              <a:t>uni</a:t>
            </a:r>
            <a:r>
              <a:rPr lang="en-US" dirty="0">
                <a:latin typeface="Gill Sans MT" charset="0"/>
              </a:rPr>
              <a:t>- and </a:t>
            </a:r>
            <a:r>
              <a:rPr lang="en-US" dirty="0" smtClean="0">
                <a:solidFill>
                  <a:srgbClr val="CC0000"/>
                </a:solidFill>
                <a:latin typeface="Gill Sans MT" charset="0"/>
              </a:rPr>
              <a:t>multi-cast</a:t>
            </a:r>
            <a:r>
              <a:rPr lang="en-US" dirty="0" smtClean="0"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support: </a:t>
            </a:r>
          </a:p>
          <a:p>
            <a:pPr lvl="1"/>
            <a:r>
              <a:rPr lang="en-US" sz="2800" dirty="0">
                <a:latin typeface="Gill Sans MT" charset="0"/>
              </a:rPr>
              <a:t>Multicast OSPF (MOSPF) uses same topology data base as OSPF</a:t>
            </a:r>
          </a:p>
          <a:p>
            <a:r>
              <a:rPr lang="en-US" dirty="0">
                <a:solidFill>
                  <a:srgbClr val="CC0000"/>
                </a:solidFill>
                <a:latin typeface="Gill Sans MT" charset="0"/>
              </a:rPr>
              <a:t>hierarchical</a:t>
            </a:r>
            <a:r>
              <a:rPr lang="en-US" dirty="0">
                <a:latin typeface="Gill Sans MT" charset="0"/>
              </a:rPr>
              <a:t> OSPF in large domains.</a:t>
            </a:r>
          </a:p>
          <a:p>
            <a:endParaRPr lang="en-US" dirty="0">
              <a:latin typeface="Gill Sans MT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9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77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7" name="Freeform 2"/>
          <p:cNvSpPr>
            <a:spLocks/>
          </p:cNvSpPr>
          <p:nvPr/>
        </p:nvSpPr>
        <p:spPr bwMode="auto">
          <a:xfrm>
            <a:off x="2027238" y="1652588"/>
            <a:ext cx="6010275" cy="2206625"/>
          </a:xfrm>
          <a:custGeom>
            <a:avLst/>
            <a:gdLst>
              <a:gd name="T0" fmla="*/ 2147483647 w 3786"/>
              <a:gd name="T1" fmla="*/ 2147483647 h 1390"/>
              <a:gd name="T2" fmla="*/ 2147483647 w 3786"/>
              <a:gd name="T3" fmla="*/ 2147483647 h 1390"/>
              <a:gd name="T4" fmla="*/ 2147483647 w 3786"/>
              <a:gd name="T5" fmla="*/ 2147483647 h 1390"/>
              <a:gd name="T6" fmla="*/ 2147483647 w 3786"/>
              <a:gd name="T7" fmla="*/ 2147483647 h 1390"/>
              <a:gd name="T8" fmla="*/ 2147483647 w 3786"/>
              <a:gd name="T9" fmla="*/ 2147483647 h 1390"/>
              <a:gd name="T10" fmla="*/ 2147483647 w 3786"/>
              <a:gd name="T11" fmla="*/ 2147483647 h 1390"/>
              <a:gd name="T12" fmla="*/ 2147483647 w 3786"/>
              <a:gd name="T13" fmla="*/ 2147483647 h 1390"/>
              <a:gd name="T14" fmla="*/ 2147483647 w 3786"/>
              <a:gd name="T15" fmla="*/ 2147483647 h 1390"/>
              <a:gd name="T16" fmla="*/ 2147483647 w 3786"/>
              <a:gd name="T17" fmla="*/ 2147483647 h 1390"/>
              <a:gd name="T18" fmla="*/ 2147483647 w 3786"/>
              <a:gd name="T19" fmla="*/ 2147483647 h 1390"/>
              <a:gd name="T20" fmla="*/ 2147483647 w 3786"/>
              <a:gd name="T21" fmla="*/ 2147483647 h 1390"/>
              <a:gd name="T22" fmla="*/ 2147483647 w 3786"/>
              <a:gd name="T23" fmla="*/ 2147483647 h 1390"/>
              <a:gd name="T24" fmla="*/ 2147483647 w 3786"/>
              <a:gd name="T25" fmla="*/ 2147483647 h 1390"/>
              <a:gd name="T26" fmla="*/ 2147483647 w 3786"/>
              <a:gd name="T27" fmla="*/ 2147483647 h 13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3786"/>
              <a:gd name="T43" fmla="*/ 0 h 1390"/>
              <a:gd name="T44" fmla="*/ 3786 w 3786"/>
              <a:gd name="T45" fmla="*/ 1390 h 1390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3786" h="1390">
                <a:moveTo>
                  <a:pt x="408" y="575"/>
                </a:moveTo>
                <a:cubicBezTo>
                  <a:pt x="689" y="273"/>
                  <a:pt x="1286" y="110"/>
                  <a:pt x="1693" y="55"/>
                </a:cubicBezTo>
                <a:cubicBezTo>
                  <a:pt x="2100" y="0"/>
                  <a:pt x="2585" y="164"/>
                  <a:pt x="2852" y="245"/>
                </a:cubicBezTo>
                <a:cubicBezTo>
                  <a:pt x="3119" y="326"/>
                  <a:pt x="3163" y="420"/>
                  <a:pt x="3295" y="540"/>
                </a:cubicBezTo>
                <a:cubicBezTo>
                  <a:pt x="3427" y="660"/>
                  <a:pt x="3786" y="870"/>
                  <a:pt x="3702" y="1130"/>
                </a:cubicBezTo>
                <a:cubicBezTo>
                  <a:pt x="3618" y="1390"/>
                  <a:pt x="3209" y="1190"/>
                  <a:pt x="3035" y="1214"/>
                </a:cubicBezTo>
                <a:cubicBezTo>
                  <a:pt x="2870" y="1266"/>
                  <a:pt x="2655" y="1277"/>
                  <a:pt x="2655" y="1277"/>
                </a:cubicBezTo>
                <a:cubicBezTo>
                  <a:pt x="2655" y="1277"/>
                  <a:pt x="2160" y="1316"/>
                  <a:pt x="1918" y="1326"/>
                </a:cubicBezTo>
                <a:cubicBezTo>
                  <a:pt x="1676" y="1336"/>
                  <a:pt x="1387" y="1353"/>
                  <a:pt x="1201" y="1340"/>
                </a:cubicBezTo>
                <a:cubicBezTo>
                  <a:pt x="1015" y="1327"/>
                  <a:pt x="913" y="1278"/>
                  <a:pt x="801" y="1249"/>
                </a:cubicBezTo>
                <a:lnTo>
                  <a:pt x="527" y="1165"/>
                </a:lnTo>
                <a:cubicBezTo>
                  <a:pt x="404" y="1140"/>
                  <a:pt x="126" y="1159"/>
                  <a:pt x="63" y="1102"/>
                </a:cubicBezTo>
                <a:cubicBezTo>
                  <a:pt x="0" y="1045"/>
                  <a:pt x="85" y="919"/>
                  <a:pt x="148" y="821"/>
                </a:cubicBezTo>
                <a:cubicBezTo>
                  <a:pt x="205" y="733"/>
                  <a:pt x="127" y="877"/>
                  <a:pt x="408" y="575"/>
                </a:cubicBezTo>
                <a:close/>
              </a:path>
            </a:pathLst>
          </a:custGeom>
          <a:solidFill>
            <a:srgbClr val="33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48" name="Rectangle 3"/>
          <p:cNvSpPr>
            <a:spLocks noGrp="1" noChangeArrowheads="1"/>
          </p:cNvSpPr>
          <p:nvPr>
            <p:ph type="title"/>
          </p:nvPr>
        </p:nvSpPr>
        <p:spPr>
          <a:xfrm>
            <a:off x="427038" y="169863"/>
            <a:ext cx="4438650" cy="1143000"/>
          </a:xfrm>
        </p:spPr>
        <p:txBody>
          <a:bodyPr/>
          <a:lstStyle/>
          <a:p>
            <a:r>
              <a:rPr lang="en-US" sz="4000">
                <a:latin typeface="Gill Sans MT" charset="0"/>
              </a:rPr>
              <a:t>Hierarchical OSPF</a:t>
            </a:r>
            <a:endParaRPr lang="en-US">
              <a:latin typeface="Gill Sans MT" charset="0"/>
            </a:endParaRPr>
          </a:p>
        </p:txBody>
      </p:sp>
      <p:sp>
        <p:nvSpPr>
          <p:cNvPr id="159749" name="Line 4"/>
          <p:cNvSpPr>
            <a:spLocks noChangeShapeType="1"/>
          </p:cNvSpPr>
          <p:nvPr/>
        </p:nvSpPr>
        <p:spPr bwMode="auto">
          <a:xfrm flipV="1">
            <a:off x="3679825" y="2039938"/>
            <a:ext cx="1058863" cy="346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50" name="Line 5"/>
          <p:cNvSpPr>
            <a:spLocks noChangeShapeType="1"/>
          </p:cNvSpPr>
          <p:nvPr/>
        </p:nvSpPr>
        <p:spPr bwMode="auto">
          <a:xfrm>
            <a:off x="4957763" y="2036763"/>
            <a:ext cx="1169987" cy="3444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51" name="Line 6"/>
          <p:cNvSpPr>
            <a:spLocks noChangeShapeType="1"/>
          </p:cNvSpPr>
          <p:nvPr/>
        </p:nvSpPr>
        <p:spPr bwMode="auto">
          <a:xfrm>
            <a:off x="6369050" y="2435225"/>
            <a:ext cx="803275" cy="8016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52" name="Line 7"/>
          <p:cNvSpPr>
            <a:spLocks noChangeShapeType="1"/>
          </p:cNvSpPr>
          <p:nvPr/>
        </p:nvSpPr>
        <p:spPr bwMode="auto">
          <a:xfrm flipV="1">
            <a:off x="4948238" y="2330450"/>
            <a:ext cx="1271587" cy="11826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53" name="Line 8"/>
          <p:cNvSpPr>
            <a:spLocks noChangeShapeType="1"/>
          </p:cNvSpPr>
          <p:nvPr/>
        </p:nvSpPr>
        <p:spPr bwMode="auto">
          <a:xfrm>
            <a:off x="3683000" y="2471738"/>
            <a:ext cx="1138238" cy="9921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54" name="Line 9"/>
          <p:cNvSpPr>
            <a:spLocks noChangeShapeType="1"/>
          </p:cNvSpPr>
          <p:nvPr/>
        </p:nvSpPr>
        <p:spPr bwMode="auto">
          <a:xfrm flipH="1">
            <a:off x="6780213" y="3236913"/>
            <a:ext cx="400050" cy="8810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55" name="Line 10"/>
          <p:cNvSpPr>
            <a:spLocks noChangeShapeType="1"/>
          </p:cNvSpPr>
          <p:nvPr/>
        </p:nvSpPr>
        <p:spPr bwMode="auto">
          <a:xfrm>
            <a:off x="6808788" y="4090988"/>
            <a:ext cx="893762" cy="8366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56" name="Line 11"/>
          <p:cNvSpPr>
            <a:spLocks noChangeShapeType="1"/>
          </p:cNvSpPr>
          <p:nvPr/>
        </p:nvSpPr>
        <p:spPr bwMode="auto">
          <a:xfrm>
            <a:off x="4841875" y="3405188"/>
            <a:ext cx="547688" cy="1338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57" name="Line 12"/>
          <p:cNvSpPr>
            <a:spLocks noChangeShapeType="1"/>
          </p:cNvSpPr>
          <p:nvPr/>
        </p:nvSpPr>
        <p:spPr bwMode="auto">
          <a:xfrm>
            <a:off x="4403725" y="4268788"/>
            <a:ext cx="246063" cy="971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58" name="Line 13"/>
          <p:cNvSpPr>
            <a:spLocks noChangeShapeType="1"/>
          </p:cNvSpPr>
          <p:nvPr/>
        </p:nvSpPr>
        <p:spPr bwMode="auto">
          <a:xfrm flipH="1">
            <a:off x="4646613" y="4775200"/>
            <a:ext cx="7239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59" name="Line 14"/>
          <p:cNvSpPr>
            <a:spLocks noChangeShapeType="1"/>
          </p:cNvSpPr>
          <p:nvPr/>
        </p:nvSpPr>
        <p:spPr bwMode="auto">
          <a:xfrm flipH="1">
            <a:off x="4454525" y="3519488"/>
            <a:ext cx="388938" cy="7794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60" name="Line 15"/>
          <p:cNvSpPr>
            <a:spLocks noChangeShapeType="1"/>
          </p:cNvSpPr>
          <p:nvPr/>
        </p:nvSpPr>
        <p:spPr bwMode="auto">
          <a:xfrm flipH="1">
            <a:off x="2689225" y="2319338"/>
            <a:ext cx="857250" cy="8461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61" name="Line 16"/>
          <p:cNvSpPr>
            <a:spLocks noChangeShapeType="1"/>
          </p:cNvSpPr>
          <p:nvPr/>
        </p:nvSpPr>
        <p:spPr bwMode="auto">
          <a:xfrm flipH="1">
            <a:off x="2084388" y="3171825"/>
            <a:ext cx="577850" cy="7905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62" name="Line 17"/>
          <p:cNvSpPr>
            <a:spLocks noChangeShapeType="1"/>
          </p:cNvSpPr>
          <p:nvPr/>
        </p:nvSpPr>
        <p:spPr bwMode="auto">
          <a:xfrm flipH="1">
            <a:off x="1435100" y="4024313"/>
            <a:ext cx="622300" cy="600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63" name="Line 18"/>
          <p:cNvSpPr>
            <a:spLocks noChangeShapeType="1"/>
          </p:cNvSpPr>
          <p:nvPr/>
        </p:nvSpPr>
        <p:spPr bwMode="auto">
          <a:xfrm flipH="1">
            <a:off x="2290763" y="4552950"/>
            <a:ext cx="433387" cy="6778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64" name="Line 19"/>
          <p:cNvSpPr>
            <a:spLocks noChangeShapeType="1"/>
          </p:cNvSpPr>
          <p:nvPr/>
        </p:nvSpPr>
        <p:spPr bwMode="auto">
          <a:xfrm>
            <a:off x="2163763" y="3981450"/>
            <a:ext cx="636587" cy="520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65" name="Freeform 20"/>
          <p:cNvSpPr>
            <a:spLocks/>
          </p:cNvSpPr>
          <p:nvPr/>
        </p:nvSpPr>
        <p:spPr bwMode="auto">
          <a:xfrm>
            <a:off x="1087438" y="2833688"/>
            <a:ext cx="2185987" cy="2820987"/>
          </a:xfrm>
          <a:custGeom>
            <a:avLst/>
            <a:gdLst>
              <a:gd name="T0" fmla="*/ 2147483647 w 1377"/>
              <a:gd name="T1" fmla="*/ 2147483647 h 1777"/>
              <a:gd name="T2" fmla="*/ 2147483647 w 1377"/>
              <a:gd name="T3" fmla="*/ 2147483647 h 1777"/>
              <a:gd name="T4" fmla="*/ 2147483647 w 1377"/>
              <a:gd name="T5" fmla="*/ 2147483647 h 1777"/>
              <a:gd name="T6" fmla="*/ 2147483647 w 1377"/>
              <a:gd name="T7" fmla="*/ 2147483647 h 1777"/>
              <a:gd name="T8" fmla="*/ 2147483647 w 1377"/>
              <a:gd name="T9" fmla="*/ 2147483647 h 1777"/>
              <a:gd name="T10" fmla="*/ 2147483647 w 1377"/>
              <a:gd name="T11" fmla="*/ 2147483647 h 1777"/>
              <a:gd name="T12" fmla="*/ 2147483647 w 1377"/>
              <a:gd name="T13" fmla="*/ 2147483647 h 1777"/>
              <a:gd name="T14" fmla="*/ 2147483647 w 1377"/>
              <a:gd name="T15" fmla="*/ 2147483647 h 1777"/>
              <a:gd name="T16" fmla="*/ 2147483647 w 1377"/>
              <a:gd name="T17" fmla="*/ 2147483647 h 1777"/>
              <a:gd name="T18" fmla="*/ 2147483647 w 1377"/>
              <a:gd name="T19" fmla="*/ 2147483647 h 1777"/>
              <a:gd name="T20" fmla="*/ 2147483647 w 1377"/>
              <a:gd name="T21" fmla="*/ 2147483647 h 1777"/>
              <a:gd name="T22" fmla="*/ 2147483647 w 1377"/>
              <a:gd name="T23" fmla="*/ 2147483647 h 1777"/>
              <a:gd name="T24" fmla="*/ 2147483647 w 1377"/>
              <a:gd name="T25" fmla="*/ 2147483647 h 1777"/>
              <a:gd name="T26" fmla="*/ 2147483647 w 1377"/>
              <a:gd name="T27" fmla="*/ 2147483647 h 1777"/>
              <a:gd name="T28" fmla="*/ 2147483647 w 1377"/>
              <a:gd name="T29" fmla="*/ 2147483647 h 1777"/>
              <a:gd name="T30" fmla="*/ 2147483647 w 1377"/>
              <a:gd name="T31" fmla="*/ 2147483647 h 1777"/>
              <a:gd name="T32" fmla="*/ 2147483647 w 1377"/>
              <a:gd name="T33" fmla="*/ 2147483647 h 1777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377"/>
              <a:gd name="T52" fmla="*/ 0 h 1777"/>
              <a:gd name="T53" fmla="*/ 1377 w 1377"/>
              <a:gd name="T54" fmla="*/ 1777 h 1777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377" h="1777">
                <a:moveTo>
                  <a:pt x="671" y="245"/>
                </a:moveTo>
                <a:cubicBezTo>
                  <a:pt x="604" y="317"/>
                  <a:pt x="533" y="382"/>
                  <a:pt x="474" y="463"/>
                </a:cubicBezTo>
                <a:cubicBezTo>
                  <a:pt x="415" y="544"/>
                  <a:pt x="366" y="663"/>
                  <a:pt x="319" y="730"/>
                </a:cubicBezTo>
                <a:cubicBezTo>
                  <a:pt x="272" y="797"/>
                  <a:pt x="242" y="800"/>
                  <a:pt x="193" y="863"/>
                </a:cubicBezTo>
                <a:cubicBezTo>
                  <a:pt x="144" y="926"/>
                  <a:pt x="48" y="1027"/>
                  <a:pt x="24" y="1109"/>
                </a:cubicBezTo>
                <a:cubicBezTo>
                  <a:pt x="0" y="1191"/>
                  <a:pt x="10" y="1295"/>
                  <a:pt x="46" y="1355"/>
                </a:cubicBezTo>
                <a:cubicBezTo>
                  <a:pt x="82" y="1415"/>
                  <a:pt x="172" y="1437"/>
                  <a:pt x="242" y="1467"/>
                </a:cubicBezTo>
                <a:cubicBezTo>
                  <a:pt x="312" y="1497"/>
                  <a:pt x="404" y="1499"/>
                  <a:pt x="467" y="1538"/>
                </a:cubicBezTo>
                <a:cubicBezTo>
                  <a:pt x="530" y="1577"/>
                  <a:pt x="518" y="1669"/>
                  <a:pt x="622" y="1699"/>
                </a:cubicBezTo>
                <a:cubicBezTo>
                  <a:pt x="726" y="1729"/>
                  <a:pt x="986" y="1777"/>
                  <a:pt x="1092" y="1720"/>
                </a:cubicBezTo>
                <a:cubicBezTo>
                  <a:pt x="1198" y="1663"/>
                  <a:pt x="1219" y="1471"/>
                  <a:pt x="1261" y="1355"/>
                </a:cubicBezTo>
                <a:cubicBezTo>
                  <a:pt x="1303" y="1239"/>
                  <a:pt x="1377" y="1150"/>
                  <a:pt x="1345" y="1025"/>
                </a:cubicBezTo>
                <a:cubicBezTo>
                  <a:pt x="1313" y="900"/>
                  <a:pt x="1084" y="727"/>
                  <a:pt x="1071" y="603"/>
                </a:cubicBezTo>
                <a:cubicBezTo>
                  <a:pt x="1058" y="479"/>
                  <a:pt x="1237" y="374"/>
                  <a:pt x="1268" y="280"/>
                </a:cubicBezTo>
                <a:cubicBezTo>
                  <a:pt x="1299" y="186"/>
                  <a:pt x="1320" y="82"/>
                  <a:pt x="1254" y="41"/>
                </a:cubicBezTo>
                <a:cubicBezTo>
                  <a:pt x="1188" y="0"/>
                  <a:pt x="970" y="2"/>
                  <a:pt x="874" y="34"/>
                </a:cubicBezTo>
                <a:cubicBezTo>
                  <a:pt x="778" y="66"/>
                  <a:pt x="738" y="173"/>
                  <a:pt x="671" y="245"/>
                </a:cubicBez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66" name="Freeform 21"/>
          <p:cNvSpPr>
            <a:spLocks/>
          </p:cNvSpPr>
          <p:nvPr/>
        </p:nvSpPr>
        <p:spPr bwMode="auto">
          <a:xfrm>
            <a:off x="3951288" y="3068638"/>
            <a:ext cx="1903412" cy="2730500"/>
          </a:xfrm>
          <a:custGeom>
            <a:avLst/>
            <a:gdLst>
              <a:gd name="T0" fmla="*/ 2147483647 w 1199"/>
              <a:gd name="T1" fmla="*/ 2147483647 h 1720"/>
              <a:gd name="T2" fmla="*/ 2147483647 w 1199"/>
              <a:gd name="T3" fmla="*/ 2147483647 h 1720"/>
              <a:gd name="T4" fmla="*/ 2147483647 w 1199"/>
              <a:gd name="T5" fmla="*/ 2147483647 h 1720"/>
              <a:gd name="T6" fmla="*/ 2147483647 w 1199"/>
              <a:gd name="T7" fmla="*/ 2147483647 h 1720"/>
              <a:gd name="T8" fmla="*/ 2147483647 w 1199"/>
              <a:gd name="T9" fmla="*/ 2147483647 h 1720"/>
              <a:gd name="T10" fmla="*/ 2147483647 w 1199"/>
              <a:gd name="T11" fmla="*/ 2147483647 h 1720"/>
              <a:gd name="T12" fmla="*/ 2147483647 w 1199"/>
              <a:gd name="T13" fmla="*/ 2147483647 h 1720"/>
              <a:gd name="T14" fmla="*/ 2147483647 w 1199"/>
              <a:gd name="T15" fmla="*/ 2147483647 h 1720"/>
              <a:gd name="T16" fmla="*/ 2147483647 w 1199"/>
              <a:gd name="T17" fmla="*/ 2147483647 h 1720"/>
              <a:gd name="T18" fmla="*/ 2147483647 w 1199"/>
              <a:gd name="T19" fmla="*/ 2147483647 h 1720"/>
              <a:gd name="T20" fmla="*/ 2147483647 w 1199"/>
              <a:gd name="T21" fmla="*/ 2147483647 h 1720"/>
              <a:gd name="T22" fmla="*/ 2147483647 w 1199"/>
              <a:gd name="T23" fmla="*/ 2147483647 h 1720"/>
              <a:gd name="T24" fmla="*/ 2147483647 w 1199"/>
              <a:gd name="T25" fmla="*/ 2147483647 h 1720"/>
              <a:gd name="T26" fmla="*/ 2147483647 w 1199"/>
              <a:gd name="T27" fmla="*/ 2147483647 h 1720"/>
              <a:gd name="T28" fmla="*/ 2147483647 w 1199"/>
              <a:gd name="T29" fmla="*/ 2147483647 h 1720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199"/>
              <a:gd name="T46" fmla="*/ 0 h 1720"/>
              <a:gd name="T47" fmla="*/ 1199 w 1199"/>
              <a:gd name="T48" fmla="*/ 1720 h 1720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199" h="1720">
                <a:moveTo>
                  <a:pt x="651" y="20"/>
                </a:moveTo>
                <a:cubicBezTo>
                  <a:pt x="595" y="0"/>
                  <a:pt x="643" y="10"/>
                  <a:pt x="609" y="20"/>
                </a:cubicBezTo>
                <a:cubicBezTo>
                  <a:pt x="575" y="30"/>
                  <a:pt x="499" y="45"/>
                  <a:pt x="447" y="83"/>
                </a:cubicBezTo>
                <a:cubicBezTo>
                  <a:pt x="395" y="121"/>
                  <a:pt x="354" y="178"/>
                  <a:pt x="300" y="245"/>
                </a:cubicBezTo>
                <a:cubicBezTo>
                  <a:pt x="246" y="312"/>
                  <a:pt x="173" y="379"/>
                  <a:pt x="124" y="483"/>
                </a:cubicBezTo>
                <a:cubicBezTo>
                  <a:pt x="75" y="587"/>
                  <a:pt x="10" y="742"/>
                  <a:pt x="5" y="870"/>
                </a:cubicBezTo>
                <a:cubicBezTo>
                  <a:pt x="0" y="998"/>
                  <a:pt x="50" y="1122"/>
                  <a:pt x="96" y="1249"/>
                </a:cubicBezTo>
                <a:cubicBezTo>
                  <a:pt x="142" y="1376"/>
                  <a:pt x="153" y="1564"/>
                  <a:pt x="279" y="1635"/>
                </a:cubicBezTo>
                <a:cubicBezTo>
                  <a:pt x="405" y="1706"/>
                  <a:pt x="711" y="1720"/>
                  <a:pt x="855" y="1678"/>
                </a:cubicBezTo>
                <a:cubicBezTo>
                  <a:pt x="999" y="1636"/>
                  <a:pt x="1089" y="1492"/>
                  <a:pt x="1143" y="1383"/>
                </a:cubicBezTo>
                <a:cubicBezTo>
                  <a:pt x="1197" y="1274"/>
                  <a:pt x="1199" y="1129"/>
                  <a:pt x="1178" y="1024"/>
                </a:cubicBezTo>
                <a:cubicBezTo>
                  <a:pt x="1157" y="919"/>
                  <a:pt x="1057" y="854"/>
                  <a:pt x="1016" y="750"/>
                </a:cubicBezTo>
                <a:cubicBezTo>
                  <a:pt x="975" y="646"/>
                  <a:pt x="944" y="501"/>
                  <a:pt x="932" y="399"/>
                </a:cubicBezTo>
                <a:cubicBezTo>
                  <a:pt x="920" y="297"/>
                  <a:pt x="994" y="203"/>
                  <a:pt x="946" y="139"/>
                </a:cubicBezTo>
                <a:cubicBezTo>
                  <a:pt x="898" y="75"/>
                  <a:pt x="707" y="40"/>
                  <a:pt x="651" y="20"/>
                </a:cubicBez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67" name="Freeform 22"/>
          <p:cNvSpPr>
            <a:spLocks/>
          </p:cNvSpPr>
          <p:nvPr/>
        </p:nvSpPr>
        <p:spPr bwMode="auto">
          <a:xfrm>
            <a:off x="6380163" y="2774950"/>
            <a:ext cx="2079625" cy="2720975"/>
          </a:xfrm>
          <a:custGeom>
            <a:avLst/>
            <a:gdLst>
              <a:gd name="T0" fmla="*/ 2147483647 w 1310"/>
              <a:gd name="T1" fmla="*/ 2147483647 h 1714"/>
              <a:gd name="T2" fmla="*/ 2147483647 w 1310"/>
              <a:gd name="T3" fmla="*/ 2147483647 h 1714"/>
              <a:gd name="T4" fmla="*/ 2147483647 w 1310"/>
              <a:gd name="T5" fmla="*/ 2147483647 h 1714"/>
              <a:gd name="T6" fmla="*/ 2147483647 w 1310"/>
              <a:gd name="T7" fmla="*/ 2147483647 h 1714"/>
              <a:gd name="T8" fmla="*/ 2147483647 w 1310"/>
              <a:gd name="T9" fmla="*/ 2147483647 h 1714"/>
              <a:gd name="T10" fmla="*/ 2147483647 w 1310"/>
              <a:gd name="T11" fmla="*/ 2147483647 h 1714"/>
              <a:gd name="T12" fmla="*/ 2147483647 w 1310"/>
              <a:gd name="T13" fmla="*/ 2147483647 h 1714"/>
              <a:gd name="T14" fmla="*/ 2147483647 w 1310"/>
              <a:gd name="T15" fmla="*/ 2147483647 h 1714"/>
              <a:gd name="T16" fmla="*/ 2147483647 w 1310"/>
              <a:gd name="T17" fmla="*/ 2147483647 h 1714"/>
              <a:gd name="T18" fmla="*/ 2147483647 w 1310"/>
              <a:gd name="T19" fmla="*/ 2147483647 h 1714"/>
              <a:gd name="T20" fmla="*/ 2147483647 w 1310"/>
              <a:gd name="T21" fmla="*/ 2147483647 h 1714"/>
              <a:gd name="T22" fmla="*/ 2147483647 w 1310"/>
              <a:gd name="T23" fmla="*/ 2147483647 h 1714"/>
              <a:gd name="T24" fmla="*/ 2147483647 w 1310"/>
              <a:gd name="T25" fmla="*/ 2147483647 h 171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310"/>
              <a:gd name="T40" fmla="*/ 0 h 1714"/>
              <a:gd name="T41" fmla="*/ 1310 w 1310"/>
              <a:gd name="T42" fmla="*/ 1714 h 1714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310" h="1714">
                <a:moveTo>
                  <a:pt x="470" y="29"/>
                </a:moveTo>
                <a:cubicBezTo>
                  <a:pt x="373" y="0"/>
                  <a:pt x="308" y="123"/>
                  <a:pt x="245" y="198"/>
                </a:cubicBezTo>
                <a:cubicBezTo>
                  <a:pt x="182" y="273"/>
                  <a:pt x="130" y="385"/>
                  <a:pt x="90" y="479"/>
                </a:cubicBezTo>
                <a:cubicBezTo>
                  <a:pt x="50" y="573"/>
                  <a:pt x="12" y="651"/>
                  <a:pt x="6" y="760"/>
                </a:cubicBezTo>
                <a:cubicBezTo>
                  <a:pt x="0" y="869"/>
                  <a:pt x="7" y="1042"/>
                  <a:pt x="55" y="1132"/>
                </a:cubicBezTo>
                <a:cubicBezTo>
                  <a:pt x="103" y="1222"/>
                  <a:pt x="191" y="1232"/>
                  <a:pt x="294" y="1301"/>
                </a:cubicBezTo>
                <a:cubicBezTo>
                  <a:pt x="397" y="1370"/>
                  <a:pt x="536" y="1479"/>
                  <a:pt x="673" y="1546"/>
                </a:cubicBezTo>
                <a:cubicBezTo>
                  <a:pt x="810" y="1613"/>
                  <a:pt x="1018" y="1714"/>
                  <a:pt x="1116" y="1701"/>
                </a:cubicBezTo>
                <a:cubicBezTo>
                  <a:pt x="1214" y="1688"/>
                  <a:pt x="1310" y="1559"/>
                  <a:pt x="1263" y="1469"/>
                </a:cubicBezTo>
                <a:cubicBezTo>
                  <a:pt x="1216" y="1379"/>
                  <a:pt x="925" y="1270"/>
                  <a:pt x="835" y="1160"/>
                </a:cubicBezTo>
                <a:cubicBezTo>
                  <a:pt x="745" y="1050"/>
                  <a:pt x="723" y="940"/>
                  <a:pt x="722" y="809"/>
                </a:cubicBezTo>
                <a:cubicBezTo>
                  <a:pt x="721" y="678"/>
                  <a:pt x="871" y="504"/>
                  <a:pt x="828" y="373"/>
                </a:cubicBezTo>
                <a:cubicBezTo>
                  <a:pt x="785" y="242"/>
                  <a:pt x="567" y="58"/>
                  <a:pt x="470" y="29"/>
                </a:cubicBez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68" name="Text Box 23"/>
          <p:cNvSpPr txBox="1">
            <a:spLocks noChangeArrowheads="1"/>
          </p:cNvSpPr>
          <p:nvPr/>
        </p:nvSpPr>
        <p:spPr bwMode="auto">
          <a:xfrm>
            <a:off x="5092700" y="1293813"/>
            <a:ext cx="1797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boundary router</a:t>
            </a:r>
          </a:p>
        </p:txBody>
      </p:sp>
      <p:sp>
        <p:nvSpPr>
          <p:cNvPr id="159769" name="Text Box 24"/>
          <p:cNvSpPr txBox="1">
            <a:spLocks noChangeArrowheads="1"/>
          </p:cNvSpPr>
          <p:nvPr/>
        </p:nvSpPr>
        <p:spPr bwMode="auto">
          <a:xfrm>
            <a:off x="6616700" y="1714500"/>
            <a:ext cx="183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backbone router</a:t>
            </a:r>
          </a:p>
        </p:txBody>
      </p:sp>
      <p:sp>
        <p:nvSpPr>
          <p:cNvPr id="159770" name="Text Box 25"/>
          <p:cNvSpPr txBox="1">
            <a:spLocks noChangeArrowheads="1"/>
          </p:cNvSpPr>
          <p:nvPr/>
        </p:nvSpPr>
        <p:spPr bwMode="auto">
          <a:xfrm>
            <a:off x="936625" y="5357813"/>
            <a:ext cx="831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area 1</a:t>
            </a:r>
          </a:p>
        </p:txBody>
      </p:sp>
      <p:sp>
        <p:nvSpPr>
          <p:cNvPr id="159771" name="Text Box 26"/>
          <p:cNvSpPr txBox="1">
            <a:spLocks noChangeArrowheads="1"/>
          </p:cNvSpPr>
          <p:nvPr/>
        </p:nvSpPr>
        <p:spPr bwMode="auto">
          <a:xfrm>
            <a:off x="4502150" y="5734050"/>
            <a:ext cx="831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area 2</a:t>
            </a:r>
          </a:p>
        </p:txBody>
      </p:sp>
      <p:sp>
        <p:nvSpPr>
          <p:cNvPr id="159772" name="Text Box 27"/>
          <p:cNvSpPr txBox="1">
            <a:spLocks noChangeArrowheads="1"/>
          </p:cNvSpPr>
          <p:nvPr/>
        </p:nvSpPr>
        <p:spPr bwMode="auto">
          <a:xfrm>
            <a:off x="7586663" y="4113213"/>
            <a:ext cx="831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/>
              <a:t>area 3</a:t>
            </a:r>
          </a:p>
        </p:txBody>
      </p:sp>
      <p:sp>
        <p:nvSpPr>
          <p:cNvPr id="159773" name="Text Box 28"/>
          <p:cNvSpPr txBox="1">
            <a:spLocks noChangeArrowheads="1"/>
          </p:cNvSpPr>
          <p:nvPr/>
        </p:nvSpPr>
        <p:spPr bwMode="auto">
          <a:xfrm>
            <a:off x="4394200" y="2411413"/>
            <a:ext cx="1285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000">
                <a:solidFill>
                  <a:schemeClr val="bg1"/>
                </a:solidFill>
              </a:rPr>
              <a:t>backbone</a:t>
            </a:r>
          </a:p>
        </p:txBody>
      </p:sp>
      <p:sp>
        <p:nvSpPr>
          <p:cNvPr id="159774" name="Text Box 29"/>
          <p:cNvSpPr txBox="1">
            <a:spLocks noChangeArrowheads="1"/>
          </p:cNvSpPr>
          <p:nvPr/>
        </p:nvSpPr>
        <p:spPr bwMode="auto">
          <a:xfrm>
            <a:off x="3219450" y="2822575"/>
            <a:ext cx="89535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1800">
                <a:solidFill>
                  <a:schemeClr val="bg1"/>
                </a:solidFill>
              </a:rPr>
              <a:t>area</a:t>
            </a:r>
          </a:p>
          <a:p>
            <a:pPr>
              <a:lnSpc>
                <a:spcPct val="85000"/>
              </a:lnSpc>
            </a:pPr>
            <a:r>
              <a:rPr lang="en-US" sz="1800">
                <a:solidFill>
                  <a:schemeClr val="bg1"/>
                </a:solidFill>
              </a:rPr>
              <a:t>border</a:t>
            </a:r>
          </a:p>
          <a:p>
            <a:pPr>
              <a:lnSpc>
                <a:spcPct val="85000"/>
              </a:lnSpc>
            </a:pPr>
            <a:r>
              <a:rPr lang="en-US" sz="1800">
                <a:solidFill>
                  <a:schemeClr val="bg1"/>
                </a:solidFill>
              </a:rPr>
              <a:t>routers</a:t>
            </a:r>
          </a:p>
        </p:txBody>
      </p:sp>
      <p:sp>
        <p:nvSpPr>
          <p:cNvPr id="159775" name="Text Box 30"/>
          <p:cNvSpPr txBox="1">
            <a:spLocks noChangeArrowheads="1"/>
          </p:cNvSpPr>
          <p:nvPr/>
        </p:nvSpPr>
        <p:spPr bwMode="auto">
          <a:xfrm>
            <a:off x="5969000" y="5048250"/>
            <a:ext cx="9334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sz="1800">
                <a:solidFill>
                  <a:srgbClr val="CC0000"/>
                </a:solidFill>
              </a:rPr>
              <a:t>internal</a:t>
            </a:r>
          </a:p>
          <a:p>
            <a:pPr>
              <a:lnSpc>
                <a:spcPct val="85000"/>
              </a:lnSpc>
            </a:pPr>
            <a:r>
              <a:rPr lang="en-US" sz="1800">
                <a:solidFill>
                  <a:srgbClr val="CC0000"/>
                </a:solidFill>
              </a:rPr>
              <a:t>routers</a:t>
            </a:r>
          </a:p>
        </p:txBody>
      </p:sp>
      <p:sp>
        <p:nvSpPr>
          <p:cNvPr id="159776" name="Line 242"/>
          <p:cNvSpPr>
            <a:spLocks noChangeShapeType="1"/>
          </p:cNvSpPr>
          <p:nvPr/>
        </p:nvSpPr>
        <p:spPr bwMode="auto">
          <a:xfrm flipV="1">
            <a:off x="6946900" y="5018088"/>
            <a:ext cx="490538" cy="20002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77" name="Line 243"/>
          <p:cNvSpPr>
            <a:spLocks noChangeShapeType="1"/>
          </p:cNvSpPr>
          <p:nvPr/>
        </p:nvSpPr>
        <p:spPr bwMode="auto">
          <a:xfrm flipH="1" flipV="1">
            <a:off x="5559425" y="4892675"/>
            <a:ext cx="481013" cy="300038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78" name="Line 244"/>
          <p:cNvSpPr>
            <a:spLocks noChangeShapeType="1"/>
          </p:cNvSpPr>
          <p:nvPr/>
        </p:nvSpPr>
        <p:spPr bwMode="auto">
          <a:xfrm flipV="1">
            <a:off x="4862513" y="1081088"/>
            <a:ext cx="0" cy="792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79" name="Line 245"/>
          <p:cNvSpPr>
            <a:spLocks noChangeShapeType="1"/>
          </p:cNvSpPr>
          <p:nvPr/>
        </p:nvSpPr>
        <p:spPr bwMode="auto">
          <a:xfrm flipH="1">
            <a:off x="6534150" y="2039938"/>
            <a:ext cx="312738" cy="20161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80" name="Line 246"/>
          <p:cNvSpPr>
            <a:spLocks noChangeShapeType="1"/>
          </p:cNvSpPr>
          <p:nvPr/>
        </p:nvSpPr>
        <p:spPr bwMode="auto">
          <a:xfrm flipH="1">
            <a:off x="5024438" y="1646238"/>
            <a:ext cx="312737" cy="20161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81" name="Line 247"/>
          <p:cNvSpPr>
            <a:spLocks noChangeShapeType="1"/>
          </p:cNvSpPr>
          <p:nvPr/>
        </p:nvSpPr>
        <p:spPr bwMode="auto">
          <a:xfrm>
            <a:off x="4154488" y="3463925"/>
            <a:ext cx="334962" cy="55563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82" name="Line 248"/>
          <p:cNvSpPr>
            <a:spLocks noChangeShapeType="1"/>
          </p:cNvSpPr>
          <p:nvPr/>
        </p:nvSpPr>
        <p:spPr bwMode="auto">
          <a:xfrm flipH="1" flipV="1">
            <a:off x="2968625" y="3270250"/>
            <a:ext cx="257175" cy="157163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59783" name="Group 249"/>
          <p:cNvGrpSpPr>
            <a:grpSpLocks/>
          </p:cNvGrpSpPr>
          <p:nvPr/>
        </p:nvGrpSpPr>
        <p:grpSpPr bwMode="auto">
          <a:xfrm>
            <a:off x="5902325" y="2276475"/>
            <a:ext cx="644525" cy="282575"/>
            <a:chOff x="4396" y="1245"/>
            <a:chExt cx="672" cy="248"/>
          </a:xfrm>
        </p:grpSpPr>
        <p:sp>
          <p:nvSpPr>
            <p:cNvPr id="159911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912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913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grpSp>
          <p:nvGrpSpPr>
            <p:cNvPr id="159914" name="Group 253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59917" name="Freeform 254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18" name="Freeform 255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9915" name="Line 256"/>
            <p:cNvSpPr>
              <a:spLocks noChangeShapeType="1"/>
            </p:cNvSpPr>
            <p:nvPr/>
          </p:nvSpPr>
          <p:spPr bwMode="auto">
            <a:xfrm>
              <a:off x="4399" y="1322"/>
              <a:ext cx="0" cy="11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916" name="Line 257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9784" name="Group 258"/>
          <p:cNvGrpSpPr>
            <a:grpSpLocks/>
          </p:cNvGrpSpPr>
          <p:nvPr/>
        </p:nvGrpSpPr>
        <p:grpSpPr bwMode="auto">
          <a:xfrm>
            <a:off x="6824663" y="3119438"/>
            <a:ext cx="644525" cy="282575"/>
            <a:chOff x="4396" y="1245"/>
            <a:chExt cx="672" cy="248"/>
          </a:xfrm>
        </p:grpSpPr>
        <p:sp>
          <p:nvSpPr>
            <p:cNvPr id="159903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904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905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grpSp>
          <p:nvGrpSpPr>
            <p:cNvPr id="159906" name="Group 262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59909" name="Freeform 26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10" name="Freeform 26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9907" name="Line 265"/>
            <p:cNvSpPr>
              <a:spLocks noChangeShapeType="1"/>
            </p:cNvSpPr>
            <p:nvPr/>
          </p:nvSpPr>
          <p:spPr bwMode="auto">
            <a:xfrm>
              <a:off x="4399" y="1322"/>
              <a:ext cx="0" cy="11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908" name="Line 266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9785" name="Group 267"/>
          <p:cNvGrpSpPr>
            <a:grpSpLocks/>
          </p:cNvGrpSpPr>
          <p:nvPr/>
        </p:nvGrpSpPr>
        <p:grpSpPr bwMode="auto">
          <a:xfrm>
            <a:off x="6608763" y="3952875"/>
            <a:ext cx="644525" cy="282575"/>
            <a:chOff x="4396" y="1245"/>
            <a:chExt cx="672" cy="248"/>
          </a:xfrm>
        </p:grpSpPr>
        <p:sp>
          <p:nvSpPr>
            <p:cNvPr id="159895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96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97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grpSp>
          <p:nvGrpSpPr>
            <p:cNvPr id="159898" name="Group 271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59901" name="Freeform 272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902" name="Freeform 273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9899" name="Line 274"/>
            <p:cNvSpPr>
              <a:spLocks noChangeShapeType="1"/>
            </p:cNvSpPr>
            <p:nvPr/>
          </p:nvSpPr>
          <p:spPr bwMode="auto">
            <a:xfrm>
              <a:off x="4399" y="1322"/>
              <a:ext cx="0" cy="11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900" name="Line 275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9786" name="Group 276"/>
          <p:cNvGrpSpPr>
            <a:grpSpLocks/>
          </p:cNvGrpSpPr>
          <p:nvPr/>
        </p:nvGrpSpPr>
        <p:grpSpPr bwMode="auto">
          <a:xfrm>
            <a:off x="7418388" y="4797425"/>
            <a:ext cx="644525" cy="282575"/>
            <a:chOff x="4396" y="1245"/>
            <a:chExt cx="672" cy="248"/>
          </a:xfrm>
        </p:grpSpPr>
        <p:sp>
          <p:nvSpPr>
            <p:cNvPr id="159887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88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89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grpSp>
          <p:nvGrpSpPr>
            <p:cNvPr id="159890" name="Group 280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59893" name="Freeform 281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94" name="Freeform 282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9891" name="Line 283"/>
            <p:cNvSpPr>
              <a:spLocks noChangeShapeType="1"/>
            </p:cNvSpPr>
            <p:nvPr/>
          </p:nvSpPr>
          <p:spPr bwMode="auto">
            <a:xfrm>
              <a:off x="4399" y="1322"/>
              <a:ext cx="0" cy="11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892" name="Line 284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9787" name="Group 285"/>
          <p:cNvGrpSpPr>
            <a:grpSpLocks/>
          </p:cNvGrpSpPr>
          <p:nvPr/>
        </p:nvGrpSpPr>
        <p:grpSpPr bwMode="auto">
          <a:xfrm>
            <a:off x="4548188" y="1871663"/>
            <a:ext cx="644525" cy="282575"/>
            <a:chOff x="4396" y="1245"/>
            <a:chExt cx="672" cy="248"/>
          </a:xfrm>
        </p:grpSpPr>
        <p:sp>
          <p:nvSpPr>
            <p:cNvPr id="159879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80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81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grpSp>
          <p:nvGrpSpPr>
            <p:cNvPr id="159882" name="Group 289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59885" name="Freeform 29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86" name="Freeform 29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9883" name="Line 292"/>
            <p:cNvSpPr>
              <a:spLocks noChangeShapeType="1"/>
            </p:cNvSpPr>
            <p:nvPr/>
          </p:nvSpPr>
          <p:spPr bwMode="auto">
            <a:xfrm>
              <a:off x="4399" y="1322"/>
              <a:ext cx="0" cy="11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884" name="Line 293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9788" name="Group 294"/>
          <p:cNvGrpSpPr>
            <a:grpSpLocks/>
          </p:cNvGrpSpPr>
          <p:nvPr/>
        </p:nvGrpSpPr>
        <p:grpSpPr bwMode="auto">
          <a:xfrm>
            <a:off x="4567238" y="3273425"/>
            <a:ext cx="644525" cy="282575"/>
            <a:chOff x="4396" y="1245"/>
            <a:chExt cx="672" cy="248"/>
          </a:xfrm>
        </p:grpSpPr>
        <p:sp>
          <p:nvSpPr>
            <p:cNvPr id="159871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72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73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grpSp>
          <p:nvGrpSpPr>
            <p:cNvPr id="159874" name="Group 298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59877" name="Freeform 299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78" name="Freeform 300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9875" name="Line 301"/>
            <p:cNvSpPr>
              <a:spLocks noChangeShapeType="1"/>
            </p:cNvSpPr>
            <p:nvPr/>
          </p:nvSpPr>
          <p:spPr bwMode="auto">
            <a:xfrm>
              <a:off x="4399" y="1322"/>
              <a:ext cx="0" cy="11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876" name="Line 302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9789" name="Group 303"/>
          <p:cNvGrpSpPr>
            <a:grpSpLocks/>
          </p:cNvGrpSpPr>
          <p:nvPr/>
        </p:nvGrpSpPr>
        <p:grpSpPr bwMode="auto">
          <a:xfrm>
            <a:off x="3314700" y="2276475"/>
            <a:ext cx="644525" cy="282575"/>
            <a:chOff x="4396" y="1245"/>
            <a:chExt cx="672" cy="248"/>
          </a:xfrm>
        </p:grpSpPr>
        <p:sp>
          <p:nvSpPr>
            <p:cNvPr id="159863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64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65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grpSp>
          <p:nvGrpSpPr>
            <p:cNvPr id="159866" name="Group 307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59869" name="Freeform 30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70" name="Freeform 30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9867" name="Line 310"/>
            <p:cNvSpPr>
              <a:spLocks noChangeShapeType="1"/>
            </p:cNvSpPr>
            <p:nvPr/>
          </p:nvSpPr>
          <p:spPr bwMode="auto">
            <a:xfrm>
              <a:off x="4399" y="1322"/>
              <a:ext cx="0" cy="11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868" name="Line 311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9790" name="Group 312"/>
          <p:cNvGrpSpPr>
            <a:grpSpLocks/>
          </p:cNvGrpSpPr>
          <p:nvPr/>
        </p:nvGrpSpPr>
        <p:grpSpPr bwMode="auto">
          <a:xfrm>
            <a:off x="2330450" y="3063875"/>
            <a:ext cx="644525" cy="282575"/>
            <a:chOff x="4396" y="1245"/>
            <a:chExt cx="672" cy="248"/>
          </a:xfrm>
        </p:grpSpPr>
        <p:sp>
          <p:nvSpPr>
            <p:cNvPr id="159855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56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57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grpSp>
          <p:nvGrpSpPr>
            <p:cNvPr id="159858" name="Group 316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59861" name="Freeform 317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62" name="Freeform 318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9859" name="Line 319"/>
            <p:cNvSpPr>
              <a:spLocks noChangeShapeType="1"/>
            </p:cNvSpPr>
            <p:nvPr/>
          </p:nvSpPr>
          <p:spPr bwMode="auto">
            <a:xfrm>
              <a:off x="4399" y="1322"/>
              <a:ext cx="0" cy="11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860" name="Line 320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9791" name="Group 321"/>
          <p:cNvGrpSpPr>
            <a:grpSpLocks/>
          </p:cNvGrpSpPr>
          <p:nvPr/>
        </p:nvGrpSpPr>
        <p:grpSpPr bwMode="auto">
          <a:xfrm>
            <a:off x="1781175" y="3841750"/>
            <a:ext cx="644525" cy="282575"/>
            <a:chOff x="4396" y="1245"/>
            <a:chExt cx="672" cy="248"/>
          </a:xfrm>
        </p:grpSpPr>
        <p:sp>
          <p:nvSpPr>
            <p:cNvPr id="159847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48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49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grpSp>
          <p:nvGrpSpPr>
            <p:cNvPr id="159850" name="Group 325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59853" name="Freeform 326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54" name="Freeform 327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9851" name="Line 328"/>
            <p:cNvSpPr>
              <a:spLocks noChangeShapeType="1"/>
            </p:cNvSpPr>
            <p:nvPr/>
          </p:nvSpPr>
          <p:spPr bwMode="auto">
            <a:xfrm>
              <a:off x="4399" y="1322"/>
              <a:ext cx="0" cy="11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852" name="Line 329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9792" name="Group 330"/>
          <p:cNvGrpSpPr>
            <a:grpSpLocks/>
          </p:cNvGrpSpPr>
          <p:nvPr/>
        </p:nvGrpSpPr>
        <p:grpSpPr bwMode="auto">
          <a:xfrm>
            <a:off x="2368550" y="4362450"/>
            <a:ext cx="644525" cy="282575"/>
            <a:chOff x="4396" y="1245"/>
            <a:chExt cx="672" cy="248"/>
          </a:xfrm>
        </p:grpSpPr>
        <p:sp>
          <p:nvSpPr>
            <p:cNvPr id="159839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40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41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grpSp>
          <p:nvGrpSpPr>
            <p:cNvPr id="159842" name="Group 334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59845" name="Freeform 335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46" name="Freeform 336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9843" name="Line 337"/>
            <p:cNvSpPr>
              <a:spLocks noChangeShapeType="1"/>
            </p:cNvSpPr>
            <p:nvPr/>
          </p:nvSpPr>
          <p:spPr bwMode="auto">
            <a:xfrm>
              <a:off x="4399" y="1322"/>
              <a:ext cx="0" cy="11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844" name="Line 338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9793" name="Group 339"/>
          <p:cNvGrpSpPr>
            <a:grpSpLocks/>
          </p:cNvGrpSpPr>
          <p:nvPr/>
        </p:nvGrpSpPr>
        <p:grpSpPr bwMode="auto">
          <a:xfrm>
            <a:off x="2019300" y="5095875"/>
            <a:ext cx="644525" cy="282575"/>
            <a:chOff x="4396" y="1245"/>
            <a:chExt cx="672" cy="248"/>
          </a:xfrm>
        </p:grpSpPr>
        <p:sp>
          <p:nvSpPr>
            <p:cNvPr id="159831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32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33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grpSp>
          <p:nvGrpSpPr>
            <p:cNvPr id="159834" name="Group 343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59837" name="Freeform 344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38" name="Freeform 345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9835" name="Line 346"/>
            <p:cNvSpPr>
              <a:spLocks noChangeShapeType="1"/>
            </p:cNvSpPr>
            <p:nvPr/>
          </p:nvSpPr>
          <p:spPr bwMode="auto">
            <a:xfrm>
              <a:off x="4399" y="1322"/>
              <a:ext cx="0" cy="11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836" name="Line 347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9794" name="Group 348"/>
          <p:cNvGrpSpPr>
            <a:grpSpLocks/>
          </p:cNvGrpSpPr>
          <p:nvPr/>
        </p:nvGrpSpPr>
        <p:grpSpPr bwMode="auto">
          <a:xfrm>
            <a:off x="1189038" y="4511675"/>
            <a:ext cx="644525" cy="282575"/>
            <a:chOff x="4396" y="1245"/>
            <a:chExt cx="672" cy="248"/>
          </a:xfrm>
        </p:grpSpPr>
        <p:sp>
          <p:nvSpPr>
            <p:cNvPr id="159823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24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25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grpSp>
          <p:nvGrpSpPr>
            <p:cNvPr id="159826" name="Group 352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59829" name="Freeform 35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30" name="Freeform 35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9827" name="Line 355"/>
            <p:cNvSpPr>
              <a:spLocks noChangeShapeType="1"/>
            </p:cNvSpPr>
            <p:nvPr/>
          </p:nvSpPr>
          <p:spPr bwMode="auto">
            <a:xfrm>
              <a:off x="4399" y="1322"/>
              <a:ext cx="0" cy="11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828" name="Line 356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9795" name="Group 357"/>
          <p:cNvGrpSpPr>
            <a:grpSpLocks/>
          </p:cNvGrpSpPr>
          <p:nvPr/>
        </p:nvGrpSpPr>
        <p:grpSpPr bwMode="auto">
          <a:xfrm>
            <a:off x="4149725" y="4191000"/>
            <a:ext cx="644525" cy="282575"/>
            <a:chOff x="4396" y="1245"/>
            <a:chExt cx="672" cy="248"/>
          </a:xfrm>
        </p:grpSpPr>
        <p:sp>
          <p:nvSpPr>
            <p:cNvPr id="159815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16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17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grpSp>
          <p:nvGrpSpPr>
            <p:cNvPr id="159818" name="Group 361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59821" name="Freeform 362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22" name="Freeform 363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9819" name="Line 364"/>
            <p:cNvSpPr>
              <a:spLocks noChangeShapeType="1"/>
            </p:cNvSpPr>
            <p:nvPr/>
          </p:nvSpPr>
          <p:spPr bwMode="auto">
            <a:xfrm>
              <a:off x="4399" y="1322"/>
              <a:ext cx="0" cy="11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820" name="Line 365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9796" name="Group 366"/>
          <p:cNvGrpSpPr>
            <a:grpSpLocks/>
          </p:cNvGrpSpPr>
          <p:nvPr/>
        </p:nvGrpSpPr>
        <p:grpSpPr bwMode="auto">
          <a:xfrm>
            <a:off x="4960938" y="4610100"/>
            <a:ext cx="644525" cy="282575"/>
            <a:chOff x="4396" y="1245"/>
            <a:chExt cx="672" cy="248"/>
          </a:xfrm>
        </p:grpSpPr>
        <p:sp>
          <p:nvSpPr>
            <p:cNvPr id="159807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08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09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grpSp>
          <p:nvGrpSpPr>
            <p:cNvPr id="159810" name="Group 370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59813" name="Freeform 371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14" name="Freeform 372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9811" name="Line 373"/>
            <p:cNvSpPr>
              <a:spLocks noChangeShapeType="1"/>
            </p:cNvSpPr>
            <p:nvPr/>
          </p:nvSpPr>
          <p:spPr bwMode="auto">
            <a:xfrm>
              <a:off x="4399" y="1322"/>
              <a:ext cx="0" cy="11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812" name="Line 374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9797" name="Group 375"/>
          <p:cNvGrpSpPr>
            <a:grpSpLocks/>
          </p:cNvGrpSpPr>
          <p:nvPr/>
        </p:nvGrpSpPr>
        <p:grpSpPr bwMode="auto">
          <a:xfrm>
            <a:off x="4376738" y="5051425"/>
            <a:ext cx="644525" cy="282575"/>
            <a:chOff x="4396" y="1245"/>
            <a:chExt cx="672" cy="248"/>
          </a:xfrm>
        </p:grpSpPr>
        <p:sp>
          <p:nvSpPr>
            <p:cNvPr id="159799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00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59801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grpSp>
          <p:nvGrpSpPr>
            <p:cNvPr id="159802" name="Group 379"/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59805" name="Freeform 38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806" name="Freeform 38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9803" name="Line 382"/>
            <p:cNvSpPr>
              <a:spLocks noChangeShapeType="1"/>
            </p:cNvSpPr>
            <p:nvPr/>
          </p:nvSpPr>
          <p:spPr bwMode="auto">
            <a:xfrm>
              <a:off x="4399" y="1322"/>
              <a:ext cx="0" cy="11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804" name="Line 383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59798" name="Picture 384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976313"/>
            <a:ext cx="4113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10</a:t>
            </a:fld>
            <a:endParaRPr lang="en-US" sz="1200" dirty="0">
              <a:latin typeface="Tahoma" charset="0"/>
            </a:endParaRPr>
          </a:p>
        </p:txBody>
      </p:sp>
      <p:sp>
        <p:nvSpPr>
          <p:cNvPr id="17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119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0700" y="1468438"/>
            <a:ext cx="8229600" cy="4008437"/>
          </a:xfrm>
        </p:spPr>
        <p:txBody>
          <a:bodyPr/>
          <a:lstStyle/>
          <a:p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two-level hierarchy:</a:t>
            </a:r>
            <a:r>
              <a:rPr lang="en-US" dirty="0">
                <a:latin typeface="Gill Sans MT" charset="0"/>
              </a:rPr>
              <a:t> local area, backbone.</a:t>
            </a:r>
          </a:p>
          <a:p>
            <a:pPr lvl="1"/>
            <a:r>
              <a:rPr lang="en-US" sz="2800" dirty="0">
                <a:latin typeface="Gill Sans MT" charset="0"/>
              </a:rPr>
              <a:t>link-state advertisements only in area </a:t>
            </a:r>
          </a:p>
          <a:p>
            <a:pPr lvl="1"/>
            <a:r>
              <a:rPr lang="en-US" sz="2800" dirty="0">
                <a:latin typeface="Gill Sans MT" charset="0"/>
              </a:rPr>
              <a:t>each nodes has detailed area topology; only know direction (shortest path) to nets in other areas.</a:t>
            </a:r>
            <a:endParaRPr lang="en-US" dirty="0">
              <a:latin typeface="Gill Sans MT" charset="0"/>
            </a:endParaRPr>
          </a:p>
          <a:p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area border routers:</a:t>
            </a:r>
            <a:r>
              <a:rPr lang="en-US" b="1" dirty="0">
                <a:solidFill>
                  <a:schemeClr val="accent2"/>
                </a:solidFill>
                <a:latin typeface="Gill Sans MT" charset="0"/>
              </a:rPr>
              <a:t> </a:t>
            </a:r>
            <a:r>
              <a:rPr lang="ja-JP" altLang="en-US" dirty="0">
                <a:latin typeface="Gill Sans MT" charset="0"/>
              </a:rPr>
              <a:t>“</a:t>
            </a:r>
            <a:r>
              <a:rPr lang="en-US" altLang="ja-JP" dirty="0">
                <a:latin typeface="Gill Sans MT" charset="0"/>
              </a:rPr>
              <a:t>summarize</a:t>
            </a:r>
            <a:r>
              <a:rPr lang="ja-JP" altLang="en-US" dirty="0">
                <a:latin typeface="Gill Sans MT" charset="0"/>
              </a:rPr>
              <a:t>”</a:t>
            </a:r>
            <a:r>
              <a:rPr lang="en-US" altLang="ja-JP" dirty="0">
                <a:latin typeface="Gill Sans MT" charset="0"/>
              </a:rPr>
              <a:t> distances  to nets in own area, advertise to other Area Border routers.</a:t>
            </a:r>
          </a:p>
          <a:p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backbone routers:</a:t>
            </a:r>
            <a:r>
              <a:rPr lang="en-US" dirty="0">
                <a:latin typeface="Gill Sans MT" charset="0"/>
              </a:rPr>
              <a:t> run OSPF routing limited to backbone.</a:t>
            </a:r>
          </a:p>
          <a:p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boundary routers:</a:t>
            </a:r>
            <a:r>
              <a:rPr lang="en-US" dirty="0">
                <a:latin typeface="Gill Sans MT" charset="0"/>
              </a:rPr>
              <a:t> connect to other AS</a:t>
            </a:r>
            <a:r>
              <a:rPr lang="ja-JP" altLang="en-US" dirty="0" smtClean="0">
                <a:latin typeface="Gill Sans MT" charset="0"/>
              </a:rPr>
              <a:t>’</a:t>
            </a:r>
            <a:r>
              <a:rPr lang="en-US" altLang="ja-JP" dirty="0" err="1" smtClean="0">
                <a:latin typeface="Gill Sans MT" charset="0"/>
              </a:rPr>
              <a:t>es</a:t>
            </a:r>
            <a:r>
              <a:rPr lang="en-US" altLang="ja-JP" dirty="0">
                <a:latin typeface="Gill Sans MT" charset="0"/>
              </a:rPr>
              <a:t>.</a:t>
            </a:r>
            <a:endParaRPr lang="en-US" altLang="ja-JP" sz="2400" dirty="0">
              <a:latin typeface="Gill Sans MT" charset="0"/>
            </a:endParaRPr>
          </a:p>
          <a:p>
            <a:endParaRPr lang="en-US" sz="2400" dirty="0">
              <a:latin typeface="Gill Sans MT" charset="0"/>
            </a:endParaRPr>
          </a:p>
        </p:txBody>
      </p:sp>
      <p:sp>
        <p:nvSpPr>
          <p:cNvPr id="115717" name="Rectangle 5"/>
          <p:cNvSpPr>
            <a:spLocks noGrp="1" noChangeArrowheads="1"/>
          </p:cNvSpPr>
          <p:nvPr>
            <p:ph type="title"/>
          </p:nvPr>
        </p:nvSpPr>
        <p:spPr>
          <a:xfrm>
            <a:off x="427038" y="169863"/>
            <a:ext cx="4438650" cy="11430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Hierarchical OSPF</a:t>
            </a:r>
          </a:p>
        </p:txBody>
      </p:sp>
      <p:pic>
        <p:nvPicPr>
          <p:cNvPr id="160773" name="Picture 6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976313"/>
            <a:ext cx="41132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11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44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373063" y="83409"/>
            <a:ext cx="7772400" cy="981075"/>
          </a:xfrm>
        </p:spPr>
        <p:txBody>
          <a:bodyPr/>
          <a:lstStyle/>
          <a:p>
            <a:r>
              <a:rPr lang="en-US" altLang="ko-KR" dirty="0" smtClean="0"/>
              <a:t>Q &amp; A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3413" y="1360488"/>
            <a:ext cx="4398962" cy="39528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mtClean="0"/>
              <a:t>Q &amp; A </a:t>
            </a:r>
            <a:r>
              <a:rPr lang="ko-KR" altLang="en-US" smtClean="0"/>
              <a:t>게시판</a:t>
            </a:r>
          </a:p>
        </p:txBody>
      </p:sp>
      <p:pic>
        <p:nvPicPr>
          <p:cNvPr id="33798" name="그림 3" descr="그리기이(가) 표시된 사진&#10;&#10;자동 생성된 설명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513" y="1793875"/>
            <a:ext cx="4410075" cy="440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33627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12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32813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  <p:pic>
        <p:nvPicPr>
          <p:cNvPr id="9" name="Picture 224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" y="8366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545378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chemeClr val="bg1">
                <a:lumMod val="95000"/>
              </a:schemeClr>
            </a:gs>
            <a:gs pos="100000">
              <a:schemeClr val="accent5">
                <a:lumMod val="75000"/>
              </a:schemeClr>
            </a:gs>
          </a:gsLst>
        </a:gra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20330</TotalTime>
  <Words>903</Words>
  <Application>Microsoft Office PowerPoint</Application>
  <PresentationFormat>화면 슬라이드 쇼(4:3)</PresentationFormat>
  <Paragraphs>170</Paragraphs>
  <Slides>12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1" baseType="lpstr">
      <vt:lpstr>ＭＳ Ｐゴシック</vt:lpstr>
      <vt:lpstr>ZapfDingbats</vt:lpstr>
      <vt:lpstr>Arial</vt:lpstr>
      <vt:lpstr>Comic Sans MS</vt:lpstr>
      <vt:lpstr>Gill Sans MT</vt:lpstr>
      <vt:lpstr>Tahoma</vt:lpstr>
      <vt:lpstr>Times New Roman</vt:lpstr>
      <vt:lpstr>Wingdings</vt:lpstr>
      <vt:lpstr>Default Design</vt:lpstr>
      <vt:lpstr>PowerPoint 프레젠테이션</vt:lpstr>
      <vt:lpstr>PowerPoint 프레젠테이션</vt:lpstr>
      <vt:lpstr>Making routing scalable</vt:lpstr>
      <vt:lpstr>Internet approach to scalable routing</vt:lpstr>
      <vt:lpstr>Interconnected ASes</vt:lpstr>
      <vt:lpstr>Inter-AS tasks</vt:lpstr>
      <vt:lpstr>Intra-AS Routing</vt:lpstr>
      <vt:lpstr>OSPF (Open Shortest Path First)</vt:lpstr>
      <vt:lpstr>OSPF “advanced” features</vt:lpstr>
      <vt:lpstr>Hierarchical OSPF</vt:lpstr>
      <vt:lpstr>Hierarchical OSPF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4</dc:title>
  <dc:creator>Jim Kurose and Keith Ross</dc:creator>
  <cp:lastModifiedBy>mjchoi</cp:lastModifiedBy>
  <cp:revision>514</cp:revision>
  <dcterms:created xsi:type="dcterms:W3CDTF">1999-10-08T19:08:27Z</dcterms:created>
  <dcterms:modified xsi:type="dcterms:W3CDTF">2020-09-11T06:16:12Z</dcterms:modified>
</cp:coreProperties>
</file>