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778" r:id="rId2"/>
    <p:sldId id="818" r:id="rId3"/>
    <p:sldId id="819" r:id="rId4"/>
    <p:sldId id="820" r:id="rId5"/>
    <p:sldId id="821" r:id="rId6"/>
    <p:sldId id="822" r:id="rId7"/>
    <p:sldId id="823" r:id="rId8"/>
    <p:sldId id="824" r:id="rId9"/>
    <p:sldId id="825" r:id="rId10"/>
    <p:sldId id="826" r:id="rId11"/>
    <p:sldId id="827" r:id="rId12"/>
    <p:sldId id="828" r:id="rId13"/>
    <p:sldId id="829" r:id="rId14"/>
    <p:sldId id="830" r:id="rId15"/>
    <p:sldId id="831" r:id="rId16"/>
    <p:sldId id="832" r:id="rId17"/>
    <p:sldId id="833" r:id="rId18"/>
    <p:sldId id="834" r:id="rId19"/>
    <p:sldId id="835" r:id="rId20"/>
    <p:sldId id="836" r:id="rId21"/>
    <p:sldId id="837" r:id="rId22"/>
    <p:sldId id="838" r:id="rId23"/>
    <p:sldId id="839" r:id="rId24"/>
    <p:sldId id="840" r:id="rId25"/>
    <p:sldId id="841" r:id="rId26"/>
    <p:sldId id="842" r:id="rId27"/>
    <p:sldId id="843" r:id="rId28"/>
    <p:sldId id="844" r:id="rId29"/>
    <p:sldId id="845" r:id="rId30"/>
    <p:sldId id="846" r:id="rId31"/>
    <p:sldId id="847" r:id="rId32"/>
    <p:sldId id="848" r:id="rId33"/>
    <p:sldId id="849" r:id="rId34"/>
    <p:sldId id="850" r:id="rId35"/>
    <p:sldId id="851" r:id="rId36"/>
    <p:sldId id="852" r:id="rId37"/>
    <p:sldId id="853" r:id="rId38"/>
    <p:sldId id="854" r:id="rId39"/>
    <p:sldId id="875" r:id="rId40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DDDDDD"/>
    <a:srgbClr val="FFCCFF"/>
    <a:srgbClr val="000099"/>
    <a:srgbClr val="FF0000"/>
    <a:srgbClr val="008000"/>
    <a:srgbClr val="66CC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84075" autoAdjust="0"/>
  </p:normalViewPr>
  <p:slideViewPr>
    <p:cSldViewPr snapToGrid="0">
      <p:cViewPr varScale="1">
        <p:scale>
          <a:sx n="97" d="100"/>
          <a:sy n="97" d="100"/>
        </p:scale>
        <p:origin x="200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91292653-6D28-1A4E-9097-8CD0CA4FA9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4161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ACCD5E27-021E-054B-84DE-C100B224ED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4115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5D8AFE1-5C1D-B844-AF97-3AD4EA9342E3}" type="slidenum">
              <a:rPr lang="en-US" i="0" smtClean="0">
                <a:latin typeface="Times New Roman" charset="0"/>
              </a:rPr>
              <a:pPr>
                <a:defRPr/>
              </a:pPr>
              <a:t>2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8DC36F2B-1838-7D43-A1F0-2700684F567E}" type="slidenum">
              <a:rPr lang="en-US" i="0" smtClean="0">
                <a:latin typeface="Times New Roman" charset="0"/>
              </a:rPr>
              <a:pPr>
                <a:defRPr/>
              </a:pPr>
              <a:t>3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993F18A6-DDE2-554F-A5B0-9BC3DAAE2CDF}" type="slidenum">
              <a:rPr lang="en-US" i="0" smtClean="0">
                <a:latin typeface="Times New Roman" charset="0"/>
              </a:rPr>
              <a:pPr>
                <a:defRPr/>
              </a:pPr>
              <a:t>4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410934A6-469E-5846-AA37-F91A0F6B127C}" type="slidenum">
              <a:rPr lang="en-US" i="0" smtClean="0">
                <a:latin typeface="Times New Roman" charset="0"/>
              </a:rPr>
              <a:pPr>
                <a:defRPr/>
              </a:pPr>
              <a:t>5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BCCFCE89-56C3-414D-BFB3-B0D9ACE8FC6D}" type="slidenum">
              <a:rPr lang="en-US" i="0" smtClean="0">
                <a:latin typeface="Times New Roman" charset="0"/>
              </a:rPr>
              <a:pPr>
                <a:defRPr/>
              </a:pPr>
              <a:t>6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FBDDC76-7329-B84A-8E56-FF1317E0AB5F}" type="slidenum">
              <a:rPr lang="en-US" i="0" smtClean="0">
                <a:latin typeface="Times New Roman" charset="0"/>
              </a:rPr>
              <a:pPr>
                <a:defRPr/>
              </a:pPr>
              <a:t>7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887D3B6C-C169-0741-98AD-F565A816F2E9}" type="slidenum">
              <a:rPr lang="en-US" i="0" smtClean="0">
                <a:latin typeface="Times New Roman" charset="0"/>
              </a:rPr>
              <a:pPr>
                <a:defRPr/>
              </a:pPr>
              <a:t>8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C6C6E3BF-3995-EA4B-8E4D-B37DD4BAD334}" type="slidenum">
              <a:rPr lang="en-US" i="0" smtClean="0">
                <a:latin typeface="Times New Roman" charset="0"/>
              </a:rPr>
              <a:pPr>
                <a:defRPr/>
              </a:pPr>
              <a:t>9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B0CA0556-2E55-7E49-9536-F0455F7DC450}" type="slidenum">
              <a:rPr lang="en-US" i="0" smtClean="0">
                <a:latin typeface="Times New Roman" charset="0"/>
              </a:rPr>
              <a:pPr>
                <a:defRPr/>
              </a:pPr>
              <a:t>10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EB62942-464A-BE4C-976A-09A7C59A25EA}" type="slidenum">
              <a:rPr lang="en-US" i="0" smtClean="0">
                <a:latin typeface="Times New Roman" charset="0"/>
              </a:rPr>
              <a:pPr>
                <a:defRPr/>
              </a:pPr>
              <a:t>11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499BDC0E-1826-674A-906D-54708681E955}" type="slidenum">
              <a:rPr lang="en-US" i="0" smtClean="0">
                <a:latin typeface="Times New Roman" charset="0"/>
              </a:rPr>
              <a:pPr>
                <a:defRPr/>
              </a:pPr>
              <a:t>12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63CD8A2B-4DCF-D14C-840D-0D433CEF9CD4}" type="slidenum">
              <a:rPr lang="en-US" i="0" smtClean="0">
                <a:latin typeface="Times New Roman" charset="0"/>
              </a:rPr>
              <a:pPr>
                <a:defRPr/>
              </a:pPr>
              <a:t>13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A6368E5B-3379-0245-93F9-05C5621CBCC5}" type="slidenum">
              <a:rPr lang="en-US" i="0" smtClean="0">
                <a:latin typeface="Times New Roman" charset="0"/>
              </a:rPr>
              <a:pPr>
                <a:defRPr/>
              </a:pPr>
              <a:t>14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84BF121E-9906-AC41-BFFB-85364A968541}" type="slidenum">
              <a:rPr lang="en-US" i="0" smtClean="0">
                <a:latin typeface="Times New Roman" charset="0"/>
              </a:rPr>
              <a:pPr>
                <a:defRPr/>
              </a:pPr>
              <a:t>15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CC4DF883-D50D-014F-AA3F-58F969D03B5E}" type="slidenum">
              <a:rPr lang="en-US" i="0" smtClean="0">
                <a:latin typeface="Times New Roman" charset="0"/>
              </a:rPr>
              <a:pPr>
                <a:defRPr/>
              </a:pPr>
              <a:t>16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charset="0"/>
                <a:cs typeface="+mn-cs"/>
              </a:rPr>
              <a:t>Prevail: </a:t>
            </a:r>
            <a:r>
              <a:rPr lang="ko-KR" altLang="en-US" dirty="0">
                <a:latin typeface="Times New Roman" charset="0"/>
                <a:cs typeface="+mn-cs"/>
              </a:rPr>
              <a:t>우세하다</a:t>
            </a:r>
            <a:r>
              <a:rPr lang="en-US" altLang="ko-KR" dirty="0">
                <a:latin typeface="Times New Roman" charset="0"/>
                <a:cs typeface="+mn-cs"/>
              </a:rPr>
              <a:t>. </a:t>
            </a:r>
            <a:r>
              <a:rPr lang="ko-KR" altLang="en-US" dirty="0">
                <a:latin typeface="Times New Roman" charset="0"/>
                <a:cs typeface="+mn-cs"/>
              </a:rPr>
              <a:t>지배적이다</a:t>
            </a:r>
            <a:r>
              <a:rPr lang="en-US" altLang="ko-KR" dirty="0">
                <a:latin typeface="Times New Roman" charset="0"/>
                <a:cs typeface="+mn-cs"/>
              </a:rPr>
              <a:t>.</a:t>
            </a: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2ED44080-A1C1-6D48-9090-593E79365BAF}" type="slidenum">
              <a:rPr lang="en-US" i="0" smtClean="0">
                <a:latin typeface="Times New Roman" charset="0"/>
              </a:rPr>
              <a:pPr>
                <a:defRPr/>
              </a:pPr>
              <a:t>17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CEFE8A98-A037-0E46-97CD-719E6DC48C9A}" type="slidenum">
              <a:rPr lang="en-US" i="0" smtClean="0">
                <a:latin typeface="Times New Roman" charset="0"/>
              </a:rPr>
              <a:pPr>
                <a:defRPr/>
              </a:pPr>
              <a:t>18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C643D48F-8711-C346-AC55-69781208CC1B}" type="slidenum">
              <a:rPr lang="en-US" i="0" smtClean="0">
                <a:latin typeface="Times New Roman" charset="0"/>
              </a:rPr>
              <a:pPr>
                <a:defRPr/>
              </a:pPr>
              <a:t>19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B795F41B-3CEF-8149-ABBA-878664839912}" type="slidenum">
              <a:rPr lang="en-US" i="0" smtClean="0">
                <a:latin typeface="Times New Roman" charset="0"/>
              </a:rPr>
              <a:pPr>
                <a:defRPr/>
              </a:pPr>
              <a:t>20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66954268-D528-7442-800B-9664DDD7601B}" type="slidenum">
              <a:rPr lang="en-US" i="0" smtClean="0">
                <a:latin typeface="Times New Roman" charset="0"/>
              </a:rPr>
              <a:pPr>
                <a:defRPr/>
              </a:pPr>
              <a:t>23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4433DD6-D70A-8E47-B310-554B6E789C8D}" type="slidenum">
              <a:rPr lang="en-US" i="0" smtClean="0">
                <a:latin typeface="Times New Roman" charset="0"/>
              </a:rPr>
              <a:pPr>
                <a:defRPr/>
              </a:pPr>
              <a:t>24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233626DD-24C9-E94F-AE99-A71BBB1A5D74}" type="slidenum">
              <a:rPr lang="en-US" i="0" smtClean="0">
                <a:latin typeface="Times New Roman" charset="0"/>
              </a:rPr>
              <a:pPr>
                <a:defRPr/>
              </a:pPr>
              <a:t>25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8CC6F2D1-A888-7345-8BF4-5577B25D9EB8}" type="slidenum">
              <a:rPr lang="en-US" i="0" smtClean="0">
                <a:latin typeface="Times New Roman" charset="0"/>
              </a:rPr>
              <a:pPr>
                <a:defRPr/>
              </a:pPr>
              <a:t>26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5899F814-C6BF-1141-85EA-782526095993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27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46E67162-D420-CA40-8110-1AA35398323B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28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04905453-E051-BC4D-8DD5-BD2AF7AD00B3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29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561E5BF8-A926-074D-815E-F2F393FDB438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30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C65E8E46-FAA0-DA4A-9B36-C2794ABD15BF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31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A7CA331A-DC94-1B42-A2A9-C17C57FED148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32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CA0263EC-9FC8-3E46-A8F2-77E357E79E36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33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Network Layer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4-</a:t>
            </a:r>
            <a:fld id="{7EFC9773-7379-5049-A6C9-0C8EEEC5C54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13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572125" y="6486525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 Link Layer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81975" y="6486525"/>
            <a:ext cx="676275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5-</a:t>
            </a:r>
            <a:fld id="{9AB7E571-4613-BD47-B8AF-E4769FE4BBE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070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572125" y="6486525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 Link Layer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81975" y="6486525"/>
            <a:ext cx="676275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5-</a:t>
            </a:r>
            <a:fld id="{D0626857-DD43-9D46-91D4-DEBFBA1258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814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572125" y="6486525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 Link Layer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81975" y="6486525"/>
            <a:ext cx="676275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5-</a:t>
            </a:r>
            <a:fld id="{B3616EB6-F471-2047-976B-63D7811A01E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332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100000"/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Arial"/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5" Type="http://schemas.openxmlformats.org/officeDocument/2006/relationships/image" Target="../media/image25.png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4"/>
          <p:cNvSpPr>
            <a:spLocks noChangeArrowheads="1"/>
          </p:cNvSpPr>
          <p:nvPr/>
        </p:nvSpPr>
        <p:spPr bwMode="auto">
          <a:xfrm>
            <a:off x="5608638" y="3489325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ts val="3063"/>
              </a:lnSpc>
            </a:pPr>
            <a:r>
              <a:rPr lang="en-US" sz="2800" i="1" dirty="0">
                <a:solidFill>
                  <a:srgbClr val="008000"/>
                </a:solidFill>
                <a:cs typeface="Arial" charset="0"/>
              </a:rPr>
              <a:t>Computer Networking: A Top Down Approach </a:t>
            </a:r>
            <a:br>
              <a:rPr lang="en-US" sz="2800" dirty="0">
                <a:solidFill>
                  <a:srgbClr val="008000"/>
                </a:solidFill>
                <a:cs typeface="Arial" charset="0"/>
              </a:rPr>
            </a:br>
            <a:endParaRPr lang="en-US" sz="2000" dirty="0">
              <a:solidFill>
                <a:srgbClr val="008000"/>
              </a:solidFill>
              <a:cs typeface="Arial" charset="0"/>
            </a:endParaRPr>
          </a:p>
        </p:txBody>
      </p:sp>
      <p:sp>
        <p:nvSpPr>
          <p:cNvPr id="40962" name="Text Box 6"/>
          <p:cNvSpPr txBox="1">
            <a:spLocks noChangeArrowheads="1"/>
          </p:cNvSpPr>
          <p:nvPr/>
        </p:nvSpPr>
        <p:spPr bwMode="auto">
          <a:xfrm>
            <a:off x="369888" y="3241675"/>
            <a:ext cx="5378450" cy="148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dirty="0"/>
              <a:t>A note on the use of these Powerpoint slides:</a:t>
            </a:r>
          </a:p>
          <a:p>
            <a:r>
              <a:rPr lang="en-US" sz="1200" dirty="0"/>
              <a:t>We</a:t>
            </a:r>
            <a:r>
              <a:rPr lang="ja-JP" altLang="en-US" sz="1200" dirty="0"/>
              <a:t>’</a:t>
            </a:r>
            <a:r>
              <a:rPr lang="en-US" altLang="ja-JP" sz="1200" dirty="0"/>
              <a:t>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altLang="ja-JP" sz="1200" i="1" dirty="0"/>
              <a:t>lot</a:t>
            </a:r>
            <a:r>
              <a:rPr lang="en-US" altLang="ja-JP" sz="1200" dirty="0"/>
              <a:t>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sz="1400" dirty="0"/>
          </a:p>
        </p:txBody>
      </p:sp>
      <p:sp>
        <p:nvSpPr>
          <p:cNvPr id="29702" name="Text Box 7"/>
          <p:cNvSpPr txBox="1">
            <a:spLocks noChangeArrowheads="1"/>
          </p:cNvSpPr>
          <p:nvPr/>
        </p:nvSpPr>
        <p:spPr bwMode="auto">
          <a:xfrm>
            <a:off x="390525" y="4370388"/>
            <a:ext cx="5378450" cy="209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endParaRPr lang="en-US" sz="1400" dirty="0">
              <a:latin typeface="Gill Sans MT" charset="0"/>
            </a:endParaRP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/>
              <a:t>If you use these slides (e.g., in a class) that you mention their source (after all, we</a:t>
            </a:r>
            <a:r>
              <a:rPr lang="ja-JP" altLang="en-US" sz="1200" dirty="0"/>
              <a:t>’</a:t>
            </a:r>
            <a:r>
              <a:rPr lang="en-US" altLang="ja-JP" sz="1200" dirty="0"/>
              <a:t>d like people to use our book!)</a:t>
            </a: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/>
              <a:t>If you post any slides on a www site, that you note that they are adapted from (or perhaps identical to) our slides, and note our copyright of this material.</a:t>
            </a:r>
          </a:p>
          <a:p>
            <a:pPr>
              <a:buClr>
                <a:schemeClr val="accent2"/>
              </a:buClr>
              <a:buFont typeface="Wingdings" charset="0"/>
              <a:buChar char="q"/>
              <a:defRPr/>
            </a:pPr>
            <a:endParaRPr lang="en-US" sz="1200" dirty="0"/>
          </a:p>
          <a:p>
            <a:pPr>
              <a:lnSpc>
                <a:spcPct val="85000"/>
              </a:lnSpc>
              <a:buClr>
                <a:schemeClr val="accent2"/>
              </a:buClr>
              <a:buFont typeface="Wingdings" charset="0"/>
              <a:buNone/>
              <a:defRPr/>
            </a:pPr>
            <a:r>
              <a:rPr lang="en-US" sz="1200" dirty="0"/>
              <a:t>Thanks and enjoy!  JFK/KWR</a:t>
            </a:r>
          </a:p>
          <a:p>
            <a:pPr>
              <a:lnSpc>
                <a:spcPct val="85000"/>
              </a:lnSpc>
              <a:defRPr/>
            </a:pPr>
            <a:endParaRPr lang="en-US" sz="1200" dirty="0"/>
          </a:p>
          <a:p>
            <a:pPr>
              <a:defRPr/>
            </a:pPr>
            <a:r>
              <a:rPr lang="en-US" sz="1200" dirty="0"/>
              <a:t>     All material copyright 1996-2016</a:t>
            </a:r>
          </a:p>
          <a:p>
            <a:pPr>
              <a:defRPr/>
            </a:pPr>
            <a:r>
              <a:rPr lang="en-US" sz="1200" dirty="0"/>
              <a:t>     J.F Kurose and K.W. Ross, All Rights Reserved</a:t>
            </a:r>
          </a:p>
        </p:txBody>
      </p:sp>
      <p:pic>
        <p:nvPicPr>
          <p:cNvPr id="40964" name="Picture 8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6146800"/>
            <a:ext cx="187325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Rectangle 4"/>
          <p:cNvSpPr>
            <a:spLocks noChangeArrowheads="1"/>
          </p:cNvSpPr>
          <p:nvPr/>
        </p:nvSpPr>
        <p:spPr bwMode="auto">
          <a:xfrm>
            <a:off x="5634038" y="4510088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dirty="0">
                <a:solidFill>
                  <a:srgbClr val="008000"/>
                </a:solidFill>
                <a:cs typeface="Arial" charset="0"/>
              </a:rPr>
              <a:t>7</a:t>
            </a:r>
            <a:r>
              <a:rPr lang="en-US" baseline="30000" dirty="0">
                <a:solidFill>
                  <a:srgbClr val="008000"/>
                </a:solidFill>
                <a:cs typeface="Arial" charset="0"/>
              </a:rPr>
              <a:t>th</a:t>
            </a:r>
            <a:r>
              <a:rPr lang="en-US" dirty="0">
                <a:solidFill>
                  <a:srgbClr val="008000"/>
                </a:solidFill>
                <a:cs typeface="Arial" charset="0"/>
              </a:rPr>
              <a:t> Edition, </a:t>
            </a:r>
            <a:r>
              <a:rPr lang="en-US" dirty="0">
                <a:solidFill>
                  <a:srgbClr val="008000"/>
                </a:solidFill>
              </a:rPr>
              <a:t>Global Edition </a:t>
            </a:r>
            <a:br>
              <a:rPr lang="en-US" dirty="0">
                <a:solidFill>
                  <a:srgbClr val="008000"/>
                </a:solidFill>
                <a:cs typeface="Arial" charset="0"/>
              </a:rPr>
            </a:br>
            <a:r>
              <a:rPr lang="en-US" dirty="0">
                <a:solidFill>
                  <a:srgbClr val="008000"/>
                </a:solidFill>
                <a:cs typeface="Arial" charset="0"/>
              </a:rPr>
              <a:t>Jim Kurose, Keith Ross</a:t>
            </a:r>
            <a:br>
              <a:rPr lang="en-US">
                <a:solidFill>
                  <a:srgbClr val="008000"/>
                </a:solidFill>
                <a:cs typeface="Arial" charset="0"/>
              </a:rPr>
            </a:br>
            <a:r>
              <a:rPr lang="en-US" sz="1400">
                <a:solidFill>
                  <a:srgbClr val="008000"/>
                </a:solidFill>
                <a:cs typeface="Arial" charset="0"/>
              </a:rPr>
              <a:t>Pearson</a:t>
            </a:r>
            <a:br>
              <a:rPr lang="en-US" sz="1400" dirty="0">
                <a:solidFill>
                  <a:srgbClr val="008000"/>
                </a:solidFill>
                <a:cs typeface="Arial" charset="0"/>
              </a:rPr>
            </a:br>
            <a:r>
              <a:rPr lang="en-US" sz="1400" dirty="0">
                <a:solidFill>
                  <a:srgbClr val="008000"/>
                </a:solidFill>
                <a:cs typeface="Arial" charset="0"/>
              </a:rPr>
              <a:t>April 2016</a:t>
            </a:r>
          </a:p>
        </p:txBody>
      </p:sp>
      <p:sp>
        <p:nvSpPr>
          <p:cNvPr id="40967" name="Rectangle 3"/>
          <p:cNvSpPr>
            <a:spLocks noChangeArrowheads="1"/>
          </p:cNvSpPr>
          <p:nvPr/>
        </p:nvSpPr>
        <p:spPr bwMode="auto">
          <a:xfrm>
            <a:off x="371475" y="715963"/>
            <a:ext cx="4487863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Chapter 6</a:t>
            </a:r>
            <a:br>
              <a:rPr lang="en-US" sz="4800" dirty="0">
                <a:solidFill>
                  <a:srgbClr val="000099"/>
                </a:solidFill>
                <a:latin typeface="Gill Sans MT" charset="0"/>
                <a:cs typeface="Arial" charset="0"/>
              </a:rPr>
            </a:b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The Link Layer </a:t>
            </a:r>
          </a:p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and LANs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</a:t>
            </a:fld>
            <a:endParaRPr lang="en-US" sz="1200" dirty="0">
              <a:latin typeface="Tahoma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pic>
        <p:nvPicPr>
          <p:cNvPr id="14" name="Picture 1" descr="kurose7e_cover_smal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5712715" y="325438"/>
            <a:ext cx="3082733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9" descr="underline_base"/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389188"/>
            <a:ext cx="3890962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4019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11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layer, </a:t>
            </a:r>
            <a:r>
              <a:rPr lang="en-US" sz="4000" dirty="0">
                <a:latin typeface="Gill Sans MT" charset="0"/>
                <a:cs typeface="+mj-cs"/>
              </a:rPr>
              <a:t>LAN</a:t>
            </a:r>
            <a:r>
              <a:rPr lang="en-US" dirty="0">
                <a:latin typeface="Gill Sans MT" charset="0"/>
                <a:cs typeface="+mj-cs"/>
              </a:rPr>
              <a:t>s: outline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6.1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introduction, services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6.2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error detection, correction 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6.3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multiple access protocols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6.4 LANs</a:t>
            </a:r>
          </a:p>
          <a:p>
            <a:pPr lvl="1"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</a:rPr>
              <a:t>addressing, ARP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Ethernet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switches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VLANS</a:t>
            </a: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6.5</a:t>
            </a:r>
            <a:r>
              <a:rPr lang="en-US" dirty="0">
                <a:latin typeface="Gill Sans MT" charset="0"/>
                <a:cs typeface="+mn-cs"/>
              </a:rPr>
              <a:t> link virtualization: MPLS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6.6</a:t>
            </a:r>
            <a:r>
              <a:rPr lang="en-US" dirty="0">
                <a:latin typeface="Gill Sans MT" charset="0"/>
                <a:cs typeface="+mn-cs"/>
              </a:rPr>
              <a:t> data center networking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6.7</a:t>
            </a:r>
            <a:r>
              <a:rPr lang="en-US" dirty="0">
                <a:latin typeface="Gill Sans MT" charset="0"/>
                <a:cs typeface="+mn-cs"/>
              </a:rPr>
              <a:t> a day in the life of a web request</a:t>
            </a:r>
          </a:p>
          <a:p>
            <a:pPr marL="457200" indent="-457200">
              <a:buFont typeface="Wingdings" charset="0"/>
              <a:buNone/>
              <a:defRPr/>
            </a:pPr>
            <a:endParaRPr lang="en-US" sz="2600" dirty="0">
              <a:latin typeface="Gill Sans MT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737497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MAC</a:t>
            </a:r>
            <a:r>
              <a:rPr lang="en-US" dirty="0">
                <a:latin typeface="Gill Sans MT" charset="0"/>
                <a:cs typeface="+mj-cs"/>
              </a:rPr>
              <a:t> addresses and </a:t>
            </a:r>
            <a:r>
              <a:rPr lang="en-US" sz="4000" dirty="0">
                <a:latin typeface="Gill Sans MT" charset="0"/>
                <a:cs typeface="+mj-cs"/>
              </a:rPr>
              <a:t>ARP</a:t>
            </a:r>
          </a:p>
        </p:txBody>
      </p:sp>
      <p:sp>
        <p:nvSpPr>
          <p:cNvPr id="399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247063" cy="46482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32-bit IP address: </a:t>
            </a:r>
          </a:p>
          <a:p>
            <a:pPr lvl="1">
              <a:defRPr/>
            </a:pPr>
            <a:r>
              <a:rPr lang="en-US" i="1" dirty="0">
                <a:latin typeface="Gill Sans MT" charset="0"/>
              </a:rPr>
              <a:t>network-layer</a:t>
            </a:r>
            <a:r>
              <a:rPr lang="en-US" dirty="0">
                <a:latin typeface="Gill Sans MT" charset="0"/>
              </a:rPr>
              <a:t> address for interface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used for layer 3 (network layer) forwarding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MAC (or LAN or physical or Ethernet) address:</a:t>
            </a:r>
            <a:r>
              <a:rPr lang="en-US" dirty="0">
                <a:solidFill>
                  <a:srgbClr val="FF0000"/>
                </a:solidFill>
                <a:latin typeface="Gill Sans MT" charset="0"/>
                <a:cs typeface="+mn-cs"/>
              </a:rPr>
              <a:t> 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function:</a:t>
            </a:r>
            <a:r>
              <a:rPr lang="en-US" dirty="0">
                <a:solidFill>
                  <a:schemeClr val="accent2"/>
                </a:solidFill>
                <a:latin typeface="Gill Sans MT" charset="0"/>
              </a:rPr>
              <a:t> </a:t>
            </a:r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used ‘locally” to get frame from one interface to another physically-connected interface (same network, in IP-addressing sense)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Gill Sans MT" charset="0"/>
              </a:rPr>
              <a:t>48 bit MAC address (for most LANs) burned in NIC ROM, also sometimes software settable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Gill Sans MT" charset="0"/>
              </a:rPr>
              <a:t>e.g.: 1A-2F-BB-76-09-AD</a:t>
            </a:r>
          </a:p>
          <a:p>
            <a:pPr lvl="1">
              <a:lnSpc>
                <a:spcPct val="90000"/>
              </a:lnSpc>
              <a:defRPr/>
            </a:pPr>
            <a:endParaRPr lang="en-US" dirty="0">
              <a:latin typeface="Gill Sans MT" charset="0"/>
            </a:endParaRPr>
          </a:p>
        </p:txBody>
      </p:sp>
      <p:pic>
        <p:nvPicPr>
          <p:cNvPr id="121861" name="Picture 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1028700"/>
            <a:ext cx="54848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3" name="Text Box 6"/>
          <p:cNvSpPr txBox="1">
            <a:spLocks noChangeArrowheads="1"/>
          </p:cNvSpPr>
          <p:nvPr/>
        </p:nvSpPr>
        <p:spPr bwMode="auto">
          <a:xfrm>
            <a:off x="812141" y="5591175"/>
            <a:ext cx="374464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i="0" dirty="0">
                <a:solidFill>
                  <a:srgbClr val="000099"/>
                </a:solidFill>
                <a:latin typeface="Arial" charset="0"/>
                <a:cs typeface="+mn-cs"/>
              </a:rPr>
              <a:t>hexadecimal (base 16) notation</a:t>
            </a:r>
          </a:p>
          <a:p>
            <a:pPr algn="ctr">
              <a:defRPr/>
            </a:pPr>
            <a:r>
              <a:rPr lang="en-US" i="0" dirty="0">
                <a:solidFill>
                  <a:srgbClr val="000099"/>
                </a:solidFill>
                <a:latin typeface="Arial" charset="0"/>
                <a:cs typeface="+mn-cs"/>
              </a:rPr>
              <a:t>(each </a:t>
            </a:r>
            <a:r>
              <a:rPr lang="ja-JP" altLang="en-US" i="0" dirty="0">
                <a:solidFill>
                  <a:srgbClr val="000099"/>
                </a:solidFill>
                <a:latin typeface="Arial" charset="0"/>
                <a:cs typeface="+mn-cs"/>
              </a:rPr>
              <a:t>“</a:t>
            </a:r>
            <a:r>
              <a:rPr lang="en-US" i="0" dirty="0">
                <a:solidFill>
                  <a:srgbClr val="000099"/>
                </a:solidFill>
                <a:latin typeface="Arial" charset="0"/>
                <a:cs typeface="+mn-cs"/>
              </a:rPr>
              <a:t>numeral</a:t>
            </a:r>
            <a:r>
              <a:rPr lang="ja-JP" altLang="en-US" i="0" dirty="0">
                <a:solidFill>
                  <a:srgbClr val="000099"/>
                </a:solidFill>
                <a:latin typeface="Arial" charset="0"/>
                <a:cs typeface="+mn-cs"/>
              </a:rPr>
              <a:t>”</a:t>
            </a:r>
            <a:r>
              <a:rPr lang="en-US" i="0" dirty="0">
                <a:solidFill>
                  <a:srgbClr val="000099"/>
                </a:solidFill>
                <a:latin typeface="Arial" charset="0"/>
                <a:cs typeface="+mn-cs"/>
              </a:rPr>
              <a:t> represents 4 bits)</a:t>
            </a:r>
          </a:p>
        </p:txBody>
      </p:sp>
      <p:sp>
        <p:nvSpPr>
          <p:cNvPr id="39944" name="Line 7"/>
          <p:cNvSpPr>
            <a:spLocks noChangeShapeType="1"/>
          </p:cNvSpPr>
          <p:nvPr/>
        </p:nvSpPr>
        <p:spPr bwMode="auto">
          <a:xfrm flipV="1">
            <a:off x="2116138" y="5326063"/>
            <a:ext cx="188912" cy="33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</a:t>
            </a:fld>
            <a:endParaRPr lang="en-US" sz="1200" dirty="0">
              <a:latin typeface="Tahoma" charset="0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964745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3566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LAN addresses and ARP</a:t>
            </a:r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585788" y="1309688"/>
            <a:ext cx="6899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800" i="0" dirty="0">
                <a:latin typeface="Gill Sans MT" charset="0"/>
                <a:cs typeface="+mn-cs"/>
              </a:rPr>
              <a:t>each adapter on LAN has unique </a:t>
            </a:r>
            <a:r>
              <a:rPr lang="en-US" sz="2800" dirty="0">
                <a:solidFill>
                  <a:srgbClr val="CC0000"/>
                </a:solidFill>
                <a:latin typeface="Gill Sans MT" charset="0"/>
                <a:cs typeface="+mn-cs"/>
              </a:rPr>
              <a:t>LAN</a:t>
            </a:r>
            <a:r>
              <a:rPr lang="en-US" sz="2800" i="0" dirty="0">
                <a:latin typeface="Gill Sans MT" charset="0"/>
                <a:cs typeface="+mn-cs"/>
              </a:rPr>
              <a:t> address</a:t>
            </a:r>
          </a:p>
        </p:txBody>
      </p:sp>
      <p:sp>
        <p:nvSpPr>
          <p:cNvPr id="40966" name="Text Box 18"/>
          <p:cNvSpPr txBox="1">
            <a:spLocks noChangeArrowheads="1"/>
          </p:cNvSpPr>
          <p:nvPr/>
        </p:nvSpPr>
        <p:spPr bwMode="auto">
          <a:xfrm>
            <a:off x="6918325" y="3890963"/>
            <a:ext cx="958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adapter</a:t>
            </a:r>
          </a:p>
        </p:txBody>
      </p:sp>
      <p:sp>
        <p:nvSpPr>
          <p:cNvPr id="123910" name="Freeform 8"/>
          <p:cNvSpPr>
            <a:spLocks/>
          </p:cNvSpPr>
          <p:nvPr/>
        </p:nvSpPr>
        <p:spPr bwMode="auto">
          <a:xfrm>
            <a:off x="2152650" y="3262313"/>
            <a:ext cx="2046288" cy="2049462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0968" name="Line 19"/>
          <p:cNvSpPr>
            <a:spLocks noChangeShapeType="1"/>
          </p:cNvSpPr>
          <p:nvPr/>
        </p:nvSpPr>
        <p:spPr bwMode="auto">
          <a:xfrm>
            <a:off x="1300163" y="3940175"/>
            <a:ext cx="901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69" name="Line 20"/>
          <p:cNvSpPr>
            <a:spLocks noChangeShapeType="1"/>
          </p:cNvSpPr>
          <p:nvPr/>
        </p:nvSpPr>
        <p:spPr bwMode="auto">
          <a:xfrm>
            <a:off x="3309938" y="2808288"/>
            <a:ext cx="0" cy="655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0" name="Line 21"/>
          <p:cNvSpPr>
            <a:spLocks noChangeShapeType="1"/>
          </p:cNvSpPr>
          <p:nvPr/>
        </p:nvSpPr>
        <p:spPr bwMode="auto">
          <a:xfrm flipH="1">
            <a:off x="4173538" y="4108450"/>
            <a:ext cx="796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1" name="Line 22"/>
          <p:cNvSpPr>
            <a:spLocks noChangeShapeType="1"/>
          </p:cNvSpPr>
          <p:nvPr/>
        </p:nvSpPr>
        <p:spPr bwMode="auto">
          <a:xfrm flipV="1">
            <a:off x="3271838" y="5113338"/>
            <a:ext cx="0" cy="438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2" name="Text Box 24"/>
          <p:cNvSpPr txBox="1">
            <a:spLocks noChangeArrowheads="1"/>
          </p:cNvSpPr>
          <p:nvPr/>
        </p:nvSpPr>
        <p:spPr bwMode="auto">
          <a:xfrm>
            <a:off x="3630613" y="2513013"/>
            <a:ext cx="17811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1A-2F-BB-76-09-AD</a:t>
            </a:r>
          </a:p>
        </p:txBody>
      </p:sp>
      <p:sp>
        <p:nvSpPr>
          <p:cNvPr id="40973" name="Line 25"/>
          <p:cNvSpPr>
            <a:spLocks noChangeShapeType="1"/>
          </p:cNvSpPr>
          <p:nvPr/>
        </p:nvSpPr>
        <p:spPr bwMode="auto">
          <a:xfrm flipH="1" flipV="1">
            <a:off x="3449638" y="2652713"/>
            <a:ext cx="257175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4" name="Line 26"/>
          <p:cNvSpPr>
            <a:spLocks noChangeShapeType="1"/>
          </p:cNvSpPr>
          <p:nvPr/>
        </p:nvSpPr>
        <p:spPr bwMode="auto">
          <a:xfrm flipV="1">
            <a:off x="4999038" y="4289425"/>
            <a:ext cx="0" cy="373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5" name="Text Box 27"/>
          <p:cNvSpPr txBox="1">
            <a:spLocks noChangeArrowheads="1"/>
          </p:cNvSpPr>
          <p:nvPr/>
        </p:nvSpPr>
        <p:spPr bwMode="auto">
          <a:xfrm>
            <a:off x="4479925" y="4662488"/>
            <a:ext cx="17399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58-23-D7-FA-20-B0</a:t>
            </a:r>
          </a:p>
        </p:txBody>
      </p:sp>
      <p:sp>
        <p:nvSpPr>
          <p:cNvPr id="40976" name="Line 28"/>
          <p:cNvSpPr>
            <a:spLocks noChangeShapeType="1"/>
          </p:cNvSpPr>
          <p:nvPr/>
        </p:nvSpPr>
        <p:spPr bwMode="auto">
          <a:xfrm flipH="1">
            <a:off x="3375025" y="5667375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7" name="Text Box 29"/>
          <p:cNvSpPr txBox="1">
            <a:spLocks noChangeArrowheads="1"/>
          </p:cNvSpPr>
          <p:nvPr/>
        </p:nvSpPr>
        <p:spPr bwMode="auto">
          <a:xfrm>
            <a:off x="3797300" y="5551488"/>
            <a:ext cx="17494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0C-C4-11-6F-E3-98</a:t>
            </a:r>
          </a:p>
        </p:txBody>
      </p:sp>
      <p:sp>
        <p:nvSpPr>
          <p:cNvPr id="40978" name="Line 30"/>
          <p:cNvSpPr>
            <a:spLocks noChangeShapeType="1"/>
          </p:cNvSpPr>
          <p:nvPr/>
        </p:nvSpPr>
        <p:spPr bwMode="auto">
          <a:xfrm flipV="1">
            <a:off x="1236663" y="4095750"/>
            <a:ext cx="0" cy="373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9" name="Text Box 31"/>
          <p:cNvSpPr txBox="1">
            <a:spLocks noChangeArrowheads="1"/>
          </p:cNvSpPr>
          <p:nvPr/>
        </p:nvSpPr>
        <p:spPr bwMode="auto">
          <a:xfrm>
            <a:off x="319088" y="4470400"/>
            <a:ext cx="168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71-65-F7-2B-08-53</a:t>
            </a:r>
          </a:p>
        </p:txBody>
      </p:sp>
      <p:sp>
        <p:nvSpPr>
          <p:cNvPr id="40980" name="Text Box 32"/>
          <p:cNvSpPr txBox="1">
            <a:spLocks noChangeArrowheads="1"/>
          </p:cNvSpPr>
          <p:nvPr/>
        </p:nvSpPr>
        <p:spPr bwMode="auto">
          <a:xfrm>
            <a:off x="2636838" y="3621088"/>
            <a:ext cx="10858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   LAN</a:t>
            </a:r>
          </a:p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(wired or</a:t>
            </a:r>
          </a:p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wireless)</a:t>
            </a:r>
          </a:p>
        </p:txBody>
      </p:sp>
      <p:sp>
        <p:nvSpPr>
          <p:cNvPr id="526373" name="Rectangle 37"/>
          <p:cNvSpPr>
            <a:spLocks noChangeArrowheads="1"/>
          </p:cNvSpPr>
          <p:nvPr/>
        </p:nvSpPr>
        <p:spPr bwMode="auto">
          <a:xfrm>
            <a:off x="6727825" y="3941763"/>
            <a:ext cx="160338" cy="255587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Comic Sans MS" pitchFamily="66" charset="0"/>
              <a:ea typeface="+mn-ea"/>
              <a:cs typeface="+mn-cs"/>
            </a:endParaRPr>
          </a:p>
        </p:txBody>
      </p:sp>
      <p:grpSp>
        <p:nvGrpSpPr>
          <p:cNvPr id="123925" name="Group 51"/>
          <p:cNvGrpSpPr>
            <a:grpSpLocks/>
          </p:cNvGrpSpPr>
          <p:nvPr/>
        </p:nvGrpSpPr>
        <p:grpSpPr bwMode="auto">
          <a:xfrm>
            <a:off x="423863" y="3562350"/>
            <a:ext cx="922337" cy="658813"/>
            <a:chOff x="267" y="2244"/>
            <a:chExt cx="581" cy="415"/>
          </a:xfrm>
        </p:grpSpPr>
        <p:sp>
          <p:nvSpPr>
            <p:cNvPr id="526372" name="Rectangle 36"/>
            <p:cNvSpPr>
              <a:spLocks noChangeArrowheads="1"/>
            </p:cNvSpPr>
            <p:nvPr/>
          </p:nvSpPr>
          <p:spPr bwMode="auto">
            <a:xfrm rot="-5400000">
              <a:off x="717" y="2400"/>
              <a:ext cx="101" cy="16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23943" name="Group 38"/>
            <p:cNvGrpSpPr>
              <a:grpSpLocks/>
            </p:cNvGrpSpPr>
            <p:nvPr/>
          </p:nvGrpSpPr>
          <p:grpSpPr bwMode="auto">
            <a:xfrm>
              <a:off x="267" y="2244"/>
              <a:ext cx="512" cy="415"/>
              <a:chOff x="-44" y="1473"/>
              <a:chExt cx="981" cy="1105"/>
            </a:xfrm>
          </p:grpSpPr>
          <p:pic>
            <p:nvPicPr>
              <p:cNvPr id="123944" name="Picture 39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3945" name="Freeform 40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23926" name="Group 50"/>
          <p:cNvGrpSpPr>
            <a:grpSpLocks/>
          </p:cNvGrpSpPr>
          <p:nvPr/>
        </p:nvGrpSpPr>
        <p:grpSpPr bwMode="auto">
          <a:xfrm>
            <a:off x="2744788" y="5559425"/>
            <a:ext cx="812800" cy="833438"/>
            <a:chOff x="1729" y="3502"/>
            <a:chExt cx="512" cy="525"/>
          </a:xfrm>
        </p:grpSpPr>
        <p:sp>
          <p:nvSpPr>
            <p:cNvPr id="526370" name="Rectangle 34"/>
            <p:cNvSpPr>
              <a:spLocks noChangeArrowheads="1"/>
            </p:cNvSpPr>
            <p:nvPr/>
          </p:nvSpPr>
          <p:spPr bwMode="auto">
            <a:xfrm>
              <a:off x="2021" y="3502"/>
              <a:ext cx="101" cy="16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23939" name="Group 41"/>
            <p:cNvGrpSpPr>
              <a:grpSpLocks/>
            </p:cNvGrpSpPr>
            <p:nvPr/>
          </p:nvGrpSpPr>
          <p:grpSpPr bwMode="auto">
            <a:xfrm>
              <a:off x="1729" y="3612"/>
              <a:ext cx="512" cy="415"/>
              <a:chOff x="-44" y="1473"/>
              <a:chExt cx="981" cy="1105"/>
            </a:xfrm>
          </p:grpSpPr>
          <p:pic>
            <p:nvPicPr>
              <p:cNvPr id="123940" name="Picture 4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3941" name="Freeform 43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23927" name="Group 52"/>
          <p:cNvGrpSpPr>
            <a:grpSpLocks/>
          </p:cNvGrpSpPr>
          <p:nvPr/>
        </p:nvGrpSpPr>
        <p:grpSpPr bwMode="auto">
          <a:xfrm>
            <a:off x="2770188" y="2025650"/>
            <a:ext cx="812800" cy="776288"/>
            <a:chOff x="1745" y="1276"/>
            <a:chExt cx="512" cy="489"/>
          </a:xfrm>
        </p:grpSpPr>
        <p:sp>
          <p:nvSpPr>
            <p:cNvPr id="526350" name="Rectangle 14"/>
            <p:cNvSpPr>
              <a:spLocks noChangeArrowheads="1"/>
            </p:cNvSpPr>
            <p:nvPr/>
          </p:nvSpPr>
          <p:spPr bwMode="auto">
            <a:xfrm>
              <a:off x="2039" y="1604"/>
              <a:ext cx="101" cy="16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23935" name="Group 44"/>
            <p:cNvGrpSpPr>
              <a:grpSpLocks/>
            </p:cNvGrpSpPr>
            <p:nvPr/>
          </p:nvGrpSpPr>
          <p:grpSpPr bwMode="auto">
            <a:xfrm>
              <a:off x="1745" y="1276"/>
              <a:ext cx="512" cy="415"/>
              <a:chOff x="-44" y="1473"/>
              <a:chExt cx="981" cy="1105"/>
            </a:xfrm>
          </p:grpSpPr>
          <p:pic>
            <p:nvPicPr>
              <p:cNvPr id="123936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3937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23928" name="Group 53"/>
          <p:cNvGrpSpPr>
            <a:grpSpLocks/>
          </p:cNvGrpSpPr>
          <p:nvPr/>
        </p:nvGrpSpPr>
        <p:grpSpPr bwMode="auto">
          <a:xfrm>
            <a:off x="4868863" y="3836988"/>
            <a:ext cx="812800" cy="658812"/>
            <a:chOff x="3067" y="2417"/>
            <a:chExt cx="512" cy="415"/>
          </a:xfrm>
        </p:grpSpPr>
        <p:sp>
          <p:nvSpPr>
            <p:cNvPr id="526371" name="Rectangle 35"/>
            <p:cNvSpPr>
              <a:spLocks noChangeArrowheads="1"/>
            </p:cNvSpPr>
            <p:nvPr/>
          </p:nvSpPr>
          <p:spPr bwMode="auto">
            <a:xfrm rot="-5400000">
              <a:off x="3162" y="2514"/>
              <a:ext cx="101" cy="16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23931" name="Group 47"/>
            <p:cNvGrpSpPr>
              <a:grpSpLocks/>
            </p:cNvGrpSpPr>
            <p:nvPr/>
          </p:nvGrpSpPr>
          <p:grpSpPr bwMode="auto">
            <a:xfrm>
              <a:off x="3067" y="2417"/>
              <a:ext cx="512" cy="415"/>
              <a:chOff x="-44" y="1473"/>
              <a:chExt cx="981" cy="1105"/>
            </a:xfrm>
          </p:grpSpPr>
          <p:pic>
            <p:nvPicPr>
              <p:cNvPr id="123932" name="Picture 4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3933" name="Freeform 49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pic>
        <p:nvPicPr>
          <p:cNvPr id="123929" name="Picture 20" descr="underline_base"/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953223"/>
            <a:ext cx="54848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4</a:t>
            </a:fld>
            <a:endParaRPr lang="en-US" sz="1200" dirty="0">
              <a:latin typeface="Tahoma" charset="0"/>
            </a:endParaRPr>
          </a:p>
        </p:txBody>
      </p:sp>
      <p:sp>
        <p:nvSpPr>
          <p:cNvPr id="4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478891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55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946873"/>
            <a:ext cx="54848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3566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LAN addresses (more)</a:t>
            </a:r>
          </a:p>
        </p:txBody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MAC address allocation administered by IEEE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manufacturer buys portion of MAC address space (to assure uniqueness)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analogy: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MAC address: like Social Security Number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IP address: like postal address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 MAC flat address  </a:t>
            </a:r>
            <a:r>
              <a:rPr lang="en-US" dirty="0">
                <a:latin typeface="MS Mincho" charset="0"/>
                <a:ea typeface="MS Mincho" charset="0"/>
                <a:cs typeface="MS Mincho" charset="0"/>
              </a:rPr>
              <a:t>➜</a:t>
            </a:r>
            <a:r>
              <a:rPr lang="en-US" dirty="0">
                <a:latin typeface="Gill Sans MT" charset="0"/>
                <a:cs typeface="+mn-cs"/>
              </a:rPr>
              <a:t> portability 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can move LAN card from one LAN to another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IP hierarchical address </a:t>
            </a:r>
            <a:r>
              <a:rPr lang="en-US" i="1" dirty="0">
                <a:latin typeface="Gill Sans MT" charset="0"/>
                <a:cs typeface="+mn-cs"/>
              </a:rPr>
              <a:t>not</a:t>
            </a:r>
            <a:r>
              <a:rPr lang="en-US" dirty="0">
                <a:latin typeface="Gill Sans MT" charset="0"/>
                <a:cs typeface="+mn-cs"/>
              </a:rPr>
              <a:t> portable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 address depends on IP subnet to which node is attached</a:t>
            </a:r>
          </a:p>
          <a:p>
            <a:pPr>
              <a:defRPr/>
            </a:pPr>
            <a:endParaRPr lang="en-US" sz="3200" dirty="0">
              <a:latin typeface="Gill Sans MT" charset="0"/>
              <a:cs typeface="+mn-cs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5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226437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03" name="Picture 40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13" y="919163"/>
            <a:ext cx="7313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3" name="Rectangle 3"/>
          <p:cNvSpPr>
            <a:spLocks noGrp="1" noChangeArrowheads="1"/>
          </p:cNvSpPr>
          <p:nvPr>
            <p:ph type="title"/>
          </p:nvPr>
        </p:nvSpPr>
        <p:spPr>
          <a:xfrm>
            <a:off x="501650" y="241300"/>
            <a:ext cx="8191500" cy="9017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ARP: address resolution protocol</a:t>
            </a:r>
          </a:p>
        </p:txBody>
      </p:sp>
      <p:sp>
        <p:nvSpPr>
          <p:cNvPr id="39936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886325" y="2119313"/>
            <a:ext cx="3990975" cy="3881437"/>
          </a:xfrm>
        </p:spPr>
        <p:txBody>
          <a:bodyPr/>
          <a:lstStyle/>
          <a:p>
            <a:pPr marL="0" indent="0">
              <a:buFont typeface="Wingdings" charset="0"/>
              <a:buNone/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ARP table: </a:t>
            </a:r>
            <a:r>
              <a:rPr lang="en-US" sz="2400" dirty="0">
                <a:latin typeface="Gill Sans MT" charset="0"/>
                <a:cs typeface="+mn-cs"/>
              </a:rPr>
              <a:t>each IP node (host, router) on LAN has table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IP/MAC address mappings for some LAN nodes:</a:t>
            </a:r>
          </a:p>
          <a:p>
            <a:pPr>
              <a:buFont typeface="Wingdings" charset="0"/>
              <a:buNone/>
              <a:defRPr/>
            </a:pPr>
            <a:r>
              <a:rPr lang="en-US" sz="1800" dirty="0">
                <a:latin typeface="Gill Sans MT" charset="0"/>
                <a:cs typeface="+mn-cs"/>
              </a:rPr>
              <a:t>          </a:t>
            </a:r>
            <a:r>
              <a:rPr lang="en-US" sz="1800" dirty="0">
                <a:solidFill>
                  <a:srgbClr val="CC0000"/>
                </a:solidFill>
                <a:latin typeface="Gill Sans MT" charset="0"/>
                <a:cs typeface="+mn-cs"/>
              </a:rPr>
              <a:t>&lt; IP address; MAC address; TTL&gt;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TTL (Time To Live): time after which address mapping will be forgotten (typically 20 min)</a:t>
            </a:r>
          </a:p>
        </p:txBody>
      </p:sp>
      <p:grpSp>
        <p:nvGrpSpPr>
          <p:cNvPr id="128006" name="Group 41"/>
          <p:cNvGrpSpPr>
            <a:grpSpLocks/>
          </p:cNvGrpSpPr>
          <p:nvPr/>
        </p:nvGrpSpPr>
        <p:grpSpPr bwMode="auto">
          <a:xfrm>
            <a:off x="406400" y="1298575"/>
            <a:ext cx="4146550" cy="1277938"/>
            <a:chOff x="145" y="937"/>
            <a:chExt cx="2612" cy="805"/>
          </a:xfrm>
        </p:grpSpPr>
        <p:sp>
          <p:nvSpPr>
            <p:cNvPr id="43056" name="Text Box 6"/>
            <p:cNvSpPr txBox="1">
              <a:spLocks noChangeArrowheads="1"/>
            </p:cNvSpPr>
            <p:nvPr/>
          </p:nvSpPr>
          <p:spPr bwMode="auto">
            <a:xfrm>
              <a:off x="232" y="947"/>
              <a:ext cx="2525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2400" dirty="0">
                  <a:solidFill>
                    <a:srgbClr val="CC0000"/>
                  </a:solidFill>
                  <a:latin typeface="Arial" charset="0"/>
                  <a:cs typeface="+mn-cs"/>
                </a:rPr>
                <a:t>Question:</a:t>
              </a:r>
              <a:r>
                <a:rPr lang="en-US" sz="2400" i="0" dirty="0">
                  <a:latin typeface="Arial" charset="0"/>
                  <a:cs typeface="+mn-cs"/>
                </a:rPr>
                <a:t> how to determine</a:t>
              </a:r>
            </a:p>
            <a:p>
              <a:pPr>
                <a:defRPr/>
              </a:pPr>
              <a:r>
                <a:rPr lang="en-US" sz="2400" i="0" dirty="0">
                  <a:latin typeface="Arial" charset="0"/>
                  <a:cs typeface="+mn-cs"/>
                </a:rPr>
                <a:t>interface’s MAC address, knowing its IP address?</a:t>
              </a:r>
            </a:p>
          </p:txBody>
        </p:sp>
        <p:sp>
          <p:nvSpPr>
            <p:cNvPr id="43057" name="Rectangle 7"/>
            <p:cNvSpPr>
              <a:spLocks noChangeArrowheads="1"/>
            </p:cNvSpPr>
            <p:nvPr/>
          </p:nvSpPr>
          <p:spPr bwMode="auto">
            <a:xfrm>
              <a:off x="145" y="937"/>
              <a:ext cx="2609" cy="805"/>
            </a:xfrm>
            <a:prstGeom prst="rect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128007" name="Freeform 10"/>
          <p:cNvSpPr>
            <a:spLocks/>
          </p:cNvSpPr>
          <p:nvPr/>
        </p:nvSpPr>
        <p:spPr bwMode="auto">
          <a:xfrm>
            <a:off x="1800225" y="3944938"/>
            <a:ext cx="1393825" cy="1525587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3017" name="Line 18"/>
          <p:cNvSpPr>
            <a:spLocks noChangeShapeType="1"/>
          </p:cNvSpPr>
          <p:nvPr/>
        </p:nvSpPr>
        <p:spPr bwMode="auto">
          <a:xfrm>
            <a:off x="1357313" y="4449763"/>
            <a:ext cx="476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18" name="Line 19"/>
          <p:cNvSpPr>
            <a:spLocks noChangeShapeType="1"/>
          </p:cNvSpPr>
          <p:nvPr/>
        </p:nvSpPr>
        <p:spPr bwMode="auto">
          <a:xfrm>
            <a:off x="2587625" y="3606800"/>
            <a:ext cx="0" cy="488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19" name="Line 20"/>
          <p:cNvSpPr>
            <a:spLocks noChangeShapeType="1"/>
          </p:cNvSpPr>
          <p:nvPr/>
        </p:nvSpPr>
        <p:spPr bwMode="auto">
          <a:xfrm flipH="1">
            <a:off x="3176588" y="4575175"/>
            <a:ext cx="447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0" name="Line 21"/>
          <p:cNvSpPr>
            <a:spLocks noChangeShapeType="1"/>
          </p:cNvSpPr>
          <p:nvPr/>
        </p:nvSpPr>
        <p:spPr bwMode="auto">
          <a:xfrm flipV="1">
            <a:off x="2562225" y="5322888"/>
            <a:ext cx="0" cy="327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1" name="Text Box 22"/>
          <p:cNvSpPr txBox="1">
            <a:spLocks noChangeArrowheads="1"/>
          </p:cNvSpPr>
          <p:nvPr/>
        </p:nvSpPr>
        <p:spPr bwMode="auto">
          <a:xfrm>
            <a:off x="2806700" y="3386138"/>
            <a:ext cx="17811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1A-2F-BB-76-09-AD</a:t>
            </a:r>
          </a:p>
        </p:txBody>
      </p:sp>
      <p:sp>
        <p:nvSpPr>
          <p:cNvPr id="43022" name="Line 23"/>
          <p:cNvSpPr>
            <a:spLocks noChangeShapeType="1"/>
          </p:cNvSpPr>
          <p:nvPr/>
        </p:nvSpPr>
        <p:spPr bwMode="auto">
          <a:xfrm flipH="1" flipV="1">
            <a:off x="2678113" y="3538538"/>
            <a:ext cx="204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3" name="Line 24"/>
          <p:cNvSpPr>
            <a:spLocks noChangeShapeType="1"/>
          </p:cNvSpPr>
          <p:nvPr/>
        </p:nvSpPr>
        <p:spPr bwMode="auto">
          <a:xfrm flipV="1">
            <a:off x="3633788" y="4651375"/>
            <a:ext cx="0" cy="373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4" name="Text Box 25"/>
          <p:cNvSpPr txBox="1">
            <a:spLocks noChangeArrowheads="1"/>
          </p:cNvSpPr>
          <p:nvPr/>
        </p:nvSpPr>
        <p:spPr bwMode="auto">
          <a:xfrm>
            <a:off x="3187700" y="4953000"/>
            <a:ext cx="17399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58-23-D7-FA-20-B0</a:t>
            </a:r>
          </a:p>
        </p:txBody>
      </p:sp>
      <p:sp>
        <p:nvSpPr>
          <p:cNvPr id="43025" name="Line 26"/>
          <p:cNvSpPr>
            <a:spLocks noChangeShapeType="1"/>
          </p:cNvSpPr>
          <p:nvPr/>
        </p:nvSpPr>
        <p:spPr bwMode="auto">
          <a:xfrm flipH="1">
            <a:off x="2632075" y="5735638"/>
            <a:ext cx="246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6" name="Text Box 27"/>
          <p:cNvSpPr txBox="1">
            <a:spLocks noChangeArrowheads="1"/>
          </p:cNvSpPr>
          <p:nvPr/>
        </p:nvSpPr>
        <p:spPr bwMode="auto">
          <a:xfrm>
            <a:off x="2816225" y="5578475"/>
            <a:ext cx="17494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0C-C4-11-6F-E3-98</a:t>
            </a:r>
          </a:p>
        </p:txBody>
      </p:sp>
      <p:sp>
        <p:nvSpPr>
          <p:cNvPr id="43027" name="Line 28"/>
          <p:cNvSpPr>
            <a:spLocks noChangeShapeType="1"/>
          </p:cNvSpPr>
          <p:nvPr/>
        </p:nvSpPr>
        <p:spPr bwMode="auto">
          <a:xfrm flipV="1">
            <a:off x="1320800" y="4552950"/>
            <a:ext cx="0" cy="331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8" name="Text Box 29"/>
          <p:cNvSpPr txBox="1">
            <a:spLocks noChangeArrowheads="1"/>
          </p:cNvSpPr>
          <p:nvPr/>
        </p:nvSpPr>
        <p:spPr bwMode="auto">
          <a:xfrm>
            <a:off x="166688" y="4811713"/>
            <a:ext cx="168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71-65-F7-2B-08-53</a:t>
            </a:r>
          </a:p>
        </p:txBody>
      </p:sp>
      <p:sp>
        <p:nvSpPr>
          <p:cNvPr id="43029" name="Text Box 30"/>
          <p:cNvSpPr txBox="1">
            <a:spLocks noChangeArrowheads="1"/>
          </p:cNvSpPr>
          <p:nvPr/>
        </p:nvSpPr>
        <p:spPr bwMode="auto">
          <a:xfrm>
            <a:off x="2012950" y="4430713"/>
            <a:ext cx="819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   LAN</a:t>
            </a:r>
          </a:p>
        </p:txBody>
      </p:sp>
      <p:sp>
        <p:nvSpPr>
          <p:cNvPr id="43030" name="Text Box 31"/>
          <p:cNvSpPr txBox="1">
            <a:spLocks noChangeArrowheads="1"/>
          </p:cNvSpPr>
          <p:nvPr/>
        </p:nvSpPr>
        <p:spPr bwMode="auto">
          <a:xfrm>
            <a:off x="363538" y="3665538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137.196.7.23</a:t>
            </a:r>
          </a:p>
        </p:txBody>
      </p:sp>
      <p:sp>
        <p:nvSpPr>
          <p:cNvPr id="43031" name="Line 32"/>
          <p:cNvSpPr>
            <a:spLocks noChangeShapeType="1"/>
          </p:cNvSpPr>
          <p:nvPr/>
        </p:nvSpPr>
        <p:spPr bwMode="auto">
          <a:xfrm>
            <a:off x="1009650" y="3921125"/>
            <a:ext cx="0" cy="246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32" name="Text Box 33"/>
          <p:cNvSpPr txBox="1">
            <a:spLocks noChangeArrowheads="1"/>
          </p:cNvSpPr>
          <p:nvPr/>
        </p:nvSpPr>
        <p:spPr bwMode="auto">
          <a:xfrm>
            <a:off x="2944813" y="2987675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137.196.7.78</a:t>
            </a:r>
          </a:p>
        </p:txBody>
      </p:sp>
      <p:sp>
        <p:nvSpPr>
          <p:cNvPr id="43033" name="Line 34"/>
          <p:cNvSpPr>
            <a:spLocks noChangeShapeType="1"/>
          </p:cNvSpPr>
          <p:nvPr/>
        </p:nvSpPr>
        <p:spPr bwMode="auto">
          <a:xfrm flipH="1" flipV="1">
            <a:off x="2774950" y="3125788"/>
            <a:ext cx="234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34" name="Line 35"/>
          <p:cNvSpPr>
            <a:spLocks noChangeShapeType="1"/>
          </p:cNvSpPr>
          <p:nvPr/>
        </p:nvSpPr>
        <p:spPr bwMode="auto">
          <a:xfrm>
            <a:off x="3954463" y="4121150"/>
            <a:ext cx="0" cy="246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35" name="Text Box 36"/>
          <p:cNvSpPr txBox="1">
            <a:spLocks noChangeArrowheads="1"/>
          </p:cNvSpPr>
          <p:nvPr/>
        </p:nvSpPr>
        <p:spPr bwMode="auto">
          <a:xfrm>
            <a:off x="3344863" y="3887788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137.196.7.14</a:t>
            </a:r>
          </a:p>
        </p:txBody>
      </p:sp>
      <p:sp>
        <p:nvSpPr>
          <p:cNvPr id="43036" name="Line 38"/>
          <p:cNvSpPr>
            <a:spLocks noChangeShapeType="1"/>
          </p:cNvSpPr>
          <p:nvPr/>
        </p:nvSpPr>
        <p:spPr bwMode="auto">
          <a:xfrm>
            <a:off x="2136775" y="6002338"/>
            <a:ext cx="231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37" name="Text Box 39"/>
          <p:cNvSpPr txBox="1">
            <a:spLocks noChangeArrowheads="1"/>
          </p:cNvSpPr>
          <p:nvPr/>
        </p:nvSpPr>
        <p:spPr bwMode="auto">
          <a:xfrm>
            <a:off x="955675" y="5848350"/>
            <a:ext cx="12176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137.196.7.88</a:t>
            </a:r>
          </a:p>
        </p:txBody>
      </p:sp>
      <p:sp>
        <p:nvSpPr>
          <p:cNvPr id="399403" name="Rectangle 43"/>
          <p:cNvSpPr>
            <a:spLocks noChangeArrowheads="1"/>
          </p:cNvSpPr>
          <p:nvPr/>
        </p:nvSpPr>
        <p:spPr bwMode="auto">
          <a:xfrm rot="-5400000">
            <a:off x="3659982" y="4482306"/>
            <a:ext cx="127000" cy="195263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Comic Sans MS" pitchFamily="66" charset="0"/>
              <a:ea typeface="+mn-ea"/>
              <a:cs typeface="+mn-cs"/>
            </a:endParaRPr>
          </a:p>
        </p:txBody>
      </p:sp>
      <p:grpSp>
        <p:nvGrpSpPr>
          <p:cNvPr id="128030" name="Group 44"/>
          <p:cNvGrpSpPr>
            <a:grpSpLocks/>
          </p:cNvGrpSpPr>
          <p:nvPr/>
        </p:nvGrpSpPr>
        <p:grpSpPr bwMode="auto">
          <a:xfrm>
            <a:off x="3562350" y="4357688"/>
            <a:ext cx="598488" cy="520700"/>
            <a:chOff x="-44" y="1473"/>
            <a:chExt cx="981" cy="1105"/>
          </a:xfrm>
        </p:grpSpPr>
        <p:pic>
          <p:nvPicPr>
            <p:cNvPr id="12804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04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28031" name="Group 47"/>
          <p:cNvGrpSpPr>
            <a:grpSpLocks/>
          </p:cNvGrpSpPr>
          <p:nvPr/>
        </p:nvGrpSpPr>
        <p:grpSpPr bwMode="auto">
          <a:xfrm>
            <a:off x="657225" y="4160838"/>
            <a:ext cx="709613" cy="520700"/>
            <a:chOff x="267" y="2244"/>
            <a:chExt cx="581" cy="415"/>
          </a:xfrm>
        </p:grpSpPr>
        <p:sp>
          <p:nvSpPr>
            <p:cNvPr id="399408" name="Rectangle 48"/>
            <p:cNvSpPr>
              <a:spLocks noChangeArrowheads="1"/>
            </p:cNvSpPr>
            <p:nvPr/>
          </p:nvSpPr>
          <p:spPr bwMode="auto">
            <a:xfrm rot="-5400000">
              <a:off x="717" y="2400"/>
              <a:ext cx="101" cy="16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28042" name="Group 49"/>
            <p:cNvGrpSpPr>
              <a:grpSpLocks/>
            </p:cNvGrpSpPr>
            <p:nvPr/>
          </p:nvGrpSpPr>
          <p:grpSpPr bwMode="auto">
            <a:xfrm>
              <a:off x="267" y="2244"/>
              <a:ext cx="512" cy="415"/>
              <a:chOff x="-44" y="1473"/>
              <a:chExt cx="981" cy="1105"/>
            </a:xfrm>
          </p:grpSpPr>
          <p:pic>
            <p:nvPicPr>
              <p:cNvPr id="128043" name="Picture 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8044" name="Freeform 51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28032" name="Group 52"/>
          <p:cNvGrpSpPr>
            <a:grpSpLocks/>
          </p:cNvGrpSpPr>
          <p:nvPr/>
        </p:nvGrpSpPr>
        <p:grpSpPr bwMode="auto">
          <a:xfrm>
            <a:off x="2157413" y="3048000"/>
            <a:ext cx="631825" cy="554038"/>
            <a:chOff x="1745" y="1276"/>
            <a:chExt cx="512" cy="489"/>
          </a:xfrm>
        </p:grpSpPr>
        <p:sp>
          <p:nvSpPr>
            <p:cNvPr id="399413" name="Rectangle 53"/>
            <p:cNvSpPr>
              <a:spLocks noChangeArrowheads="1"/>
            </p:cNvSpPr>
            <p:nvPr/>
          </p:nvSpPr>
          <p:spPr bwMode="auto">
            <a:xfrm>
              <a:off x="2040" y="1604"/>
              <a:ext cx="100" cy="16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28038" name="Group 54"/>
            <p:cNvGrpSpPr>
              <a:grpSpLocks/>
            </p:cNvGrpSpPr>
            <p:nvPr/>
          </p:nvGrpSpPr>
          <p:grpSpPr bwMode="auto">
            <a:xfrm>
              <a:off x="1745" y="1276"/>
              <a:ext cx="512" cy="415"/>
              <a:chOff x="-44" y="1473"/>
              <a:chExt cx="981" cy="1105"/>
            </a:xfrm>
          </p:grpSpPr>
          <p:pic>
            <p:nvPicPr>
              <p:cNvPr id="128039" name="Picture 5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8040" name="Freeform 5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sp>
        <p:nvSpPr>
          <p:cNvPr id="399418" name="Rectangle 58"/>
          <p:cNvSpPr>
            <a:spLocks noChangeArrowheads="1"/>
          </p:cNvSpPr>
          <p:nvPr/>
        </p:nvSpPr>
        <p:spPr bwMode="auto">
          <a:xfrm>
            <a:off x="2501900" y="5645150"/>
            <a:ext cx="123825" cy="182563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Comic Sans MS" pitchFamily="66" charset="0"/>
              <a:ea typeface="+mn-ea"/>
              <a:cs typeface="+mn-cs"/>
            </a:endParaRPr>
          </a:p>
        </p:txBody>
      </p:sp>
      <p:grpSp>
        <p:nvGrpSpPr>
          <p:cNvPr id="128034" name="Group 59"/>
          <p:cNvGrpSpPr>
            <a:grpSpLocks/>
          </p:cNvGrpSpPr>
          <p:nvPr/>
        </p:nvGrpSpPr>
        <p:grpSpPr bwMode="auto">
          <a:xfrm>
            <a:off x="2166938" y="5784850"/>
            <a:ext cx="584200" cy="469900"/>
            <a:chOff x="-44" y="1473"/>
            <a:chExt cx="981" cy="1105"/>
          </a:xfrm>
        </p:grpSpPr>
        <p:pic>
          <p:nvPicPr>
            <p:cNvPr id="128035" name="Picture 60" descr="desktop_computer_stylized_medium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036" name="Freeform 6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5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6</a:t>
            </a:fld>
            <a:endParaRPr lang="en-US" sz="1200" dirty="0">
              <a:latin typeface="Tahoma" charset="0"/>
            </a:endParaRPr>
          </a:p>
        </p:txBody>
      </p:sp>
      <p:sp>
        <p:nvSpPr>
          <p:cNvPr id="5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684276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66675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ARP protocol: same LAN</a:t>
            </a:r>
          </a:p>
        </p:txBody>
      </p:sp>
      <p:sp>
        <p:nvSpPr>
          <p:cNvPr id="4403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06413" y="1277938"/>
            <a:ext cx="3810000" cy="4648200"/>
          </a:xfrm>
        </p:spPr>
        <p:txBody>
          <a:bodyPr/>
          <a:lstStyle/>
          <a:p>
            <a:pPr marL="231775" indent="-231775">
              <a:defRPr/>
            </a:pPr>
            <a:r>
              <a:rPr lang="en-US" sz="2400" dirty="0">
                <a:latin typeface="Gill Sans MT" charset="0"/>
                <a:cs typeface="+mn-cs"/>
              </a:rPr>
              <a:t>A wants to send datagram to B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B</a:t>
            </a:r>
            <a:r>
              <a:rPr lang="ja-JP" altLang="en-US" sz="2000" dirty="0">
                <a:latin typeface="Gill Sans MT" charset="0"/>
              </a:rPr>
              <a:t>’</a:t>
            </a:r>
            <a:r>
              <a:rPr lang="en-US" sz="2000" dirty="0">
                <a:latin typeface="Gill Sans MT" charset="0"/>
              </a:rPr>
              <a:t>s MAC address not in A</a:t>
            </a:r>
            <a:r>
              <a:rPr lang="ja-JP" altLang="en-US" sz="2000" dirty="0">
                <a:latin typeface="Gill Sans MT" charset="0"/>
              </a:rPr>
              <a:t>’</a:t>
            </a:r>
            <a:r>
              <a:rPr lang="en-US" sz="2000" dirty="0">
                <a:latin typeface="Gill Sans MT" charset="0"/>
              </a:rPr>
              <a:t>s ARP table.</a:t>
            </a:r>
          </a:p>
          <a:p>
            <a:pPr marL="231775" indent="-231775">
              <a:defRPr/>
            </a:pPr>
            <a:r>
              <a:rPr lang="en-US" sz="2400" dirty="0">
                <a:latin typeface="Gill Sans MT" charset="0"/>
                <a:cs typeface="+mn-cs"/>
              </a:rPr>
              <a:t>A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broadcasts</a:t>
            </a:r>
            <a:r>
              <a:rPr lang="en-US" sz="2400" dirty="0">
                <a:latin typeface="Gill Sans MT" charset="0"/>
                <a:cs typeface="+mn-cs"/>
              </a:rPr>
              <a:t> ARP query packet, containing B's IP address 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destination MAC address = FF-FF-FF-FF-FF-FF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all nodes on LAN receive ARP query </a:t>
            </a:r>
          </a:p>
          <a:p>
            <a:pPr marL="231775" indent="-231775">
              <a:defRPr/>
            </a:pPr>
            <a:r>
              <a:rPr lang="en-US" sz="2400" dirty="0">
                <a:latin typeface="Gill Sans MT" charset="0"/>
                <a:cs typeface="+mn-cs"/>
              </a:rPr>
              <a:t>B receives ARP packet, replies to A with its (B's) MAC address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frame sent to A</a:t>
            </a:r>
            <a:r>
              <a:rPr lang="ja-JP" altLang="en-US" sz="2000" dirty="0">
                <a:latin typeface="Gill Sans MT" charset="0"/>
              </a:rPr>
              <a:t>’</a:t>
            </a:r>
            <a:r>
              <a:rPr lang="en-US" sz="2000" dirty="0">
                <a:latin typeface="Gill Sans MT" charset="0"/>
              </a:rPr>
              <a:t>s MAC address (unicast)</a:t>
            </a:r>
          </a:p>
          <a:p>
            <a:pPr>
              <a:defRPr/>
            </a:pPr>
            <a:endParaRPr lang="en-US" sz="2400" dirty="0">
              <a:latin typeface="Gill Sans MT" charset="0"/>
              <a:cs typeface="+mn-cs"/>
            </a:endParaRPr>
          </a:p>
        </p:txBody>
      </p:sp>
      <p:sp>
        <p:nvSpPr>
          <p:cNvPr id="40038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995863" y="1878013"/>
            <a:ext cx="3810000" cy="4648200"/>
          </a:xfrm>
        </p:spPr>
        <p:txBody>
          <a:bodyPr/>
          <a:lstStyle/>
          <a:p>
            <a:pPr marL="231775" indent="-231775">
              <a:defRPr/>
            </a:pPr>
            <a:r>
              <a:rPr lang="en-US" sz="2400" dirty="0">
                <a:latin typeface="Gill Sans MT" charset="0"/>
                <a:cs typeface="+mn-cs"/>
              </a:rPr>
              <a:t>A caches (saves) IP-to-MAC address pair in its ARP table until information becomes old (times out)</a:t>
            </a:r>
            <a:r>
              <a:rPr lang="en-US" sz="2000" dirty="0">
                <a:latin typeface="Gill Sans MT" charset="0"/>
                <a:cs typeface="+mn-cs"/>
              </a:rPr>
              <a:t> 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soft state: information that times out (goes away) unless refreshed</a:t>
            </a:r>
          </a:p>
          <a:p>
            <a:pPr marL="231775" indent="-231775">
              <a:defRPr/>
            </a:pPr>
            <a:r>
              <a:rPr lang="en-US" sz="2400" dirty="0">
                <a:latin typeface="Gill Sans MT" charset="0"/>
                <a:cs typeface="+mn-cs"/>
              </a:rPr>
              <a:t>ARP is </a:t>
            </a:r>
            <a:r>
              <a:rPr lang="ja-JP" altLang="en-US" sz="2400" dirty="0">
                <a:latin typeface="Gill Sans MT" charset="0"/>
                <a:cs typeface="+mn-cs"/>
              </a:rPr>
              <a:t>“</a:t>
            </a:r>
            <a:r>
              <a:rPr lang="en-US" sz="2400" dirty="0">
                <a:latin typeface="Gill Sans MT" charset="0"/>
                <a:cs typeface="+mn-cs"/>
              </a:rPr>
              <a:t>plug-and-play</a:t>
            </a:r>
            <a:r>
              <a:rPr lang="ja-JP" altLang="en-US" sz="2400" dirty="0">
                <a:latin typeface="Gill Sans MT" charset="0"/>
                <a:cs typeface="+mn-cs"/>
              </a:rPr>
              <a:t>”</a:t>
            </a:r>
            <a:r>
              <a:rPr lang="en-US" sz="2400" dirty="0">
                <a:latin typeface="Gill Sans MT" charset="0"/>
                <a:cs typeface="+mn-cs"/>
              </a:rPr>
              <a:t>: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nodes create their ARP tables </a:t>
            </a:r>
            <a:r>
              <a:rPr lang="en-US" sz="2000" i="1" dirty="0">
                <a:latin typeface="Gill Sans MT" charset="0"/>
              </a:rPr>
              <a:t>without intervention from net administrator</a:t>
            </a:r>
          </a:p>
        </p:txBody>
      </p:sp>
      <p:pic>
        <p:nvPicPr>
          <p:cNvPr id="130054" name="Picture 19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876300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7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428723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52425" y="1057275"/>
            <a:ext cx="8675688" cy="1081088"/>
          </a:xfrm>
        </p:spPr>
        <p:txBody>
          <a:bodyPr/>
          <a:lstStyle/>
          <a:p>
            <a:pPr marL="111125" indent="-111125">
              <a:buFont typeface="Wingdings" charset="0"/>
              <a:buNone/>
              <a:defRPr/>
            </a:pPr>
            <a:r>
              <a:rPr lang="en-US" sz="2400" dirty="0">
                <a:latin typeface="Gill Sans MT" charset="0"/>
                <a:cs typeface="+mn-cs"/>
              </a:rPr>
              <a:t>walkthrough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: send datagram from A to B via R</a:t>
            </a:r>
          </a:p>
          <a:p>
            <a:pPr marL="457200" lvl="1" indent="-225425">
              <a:buFont typeface="Wingdings" charset="2"/>
              <a:buChar char="§"/>
              <a:defRPr/>
            </a:pPr>
            <a:r>
              <a:rPr lang="en-US" dirty="0"/>
              <a:t>focus on addressing – at IP (datagram) and MAC layer (frame)</a:t>
            </a:r>
          </a:p>
          <a:p>
            <a:pPr marL="457200" lvl="1" indent="-225425">
              <a:buFont typeface="Wingdings" charset="2"/>
              <a:buChar char="§"/>
              <a:defRPr/>
            </a:pPr>
            <a:r>
              <a:rPr lang="en-US" dirty="0"/>
              <a:t>assume A knows B</a:t>
            </a:r>
            <a:r>
              <a:rPr lang="ja-JP" altLang="en-US" dirty="0"/>
              <a:t>’</a:t>
            </a:r>
            <a:r>
              <a:rPr lang="en-US" dirty="0"/>
              <a:t>s IP address</a:t>
            </a:r>
          </a:p>
          <a:p>
            <a:pPr marL="457200" lvl="1" indent="-225425">
              <a:buFont typeface="Wingdings" charset="2"/>
              <a:buChar char="§"/>
              <a:defRPr/>
            </a:pPr>
            <a:r>
              <a:rPr lang="en-US" dirty="0"/>
              <a:t>assume A knows IP address of first hop router, R (how?)</a:t>
            </a:r>
          </a:p>
          <a:p>
            <a:pPr marL="457200" lvl="1" indent="-225425">
              <a:buFont typeface="Wingdings" charset="2"/>
              <a:buChar char="§"/>
              <a:defRPr/>
            </a:pPr>
            <a:r>
              <a:rPr lang="en-US" dirty="0"/>
              <a:t>assume A knows R</a:t>
            </a:r>
            <a:r>
              <a:rPr lang="ja-JP" altLang="en-US" dirty="0"/>
              <a:t>’</a:t>
            </a:r>
            <a:r>
              <a:rPr lang="en-US" dirty="0"/>
              <a:t>s MAC address (how?)</a:t>
            </a:r>
          </a:p>
        </p:txBody>
      </p:sp>
      <p:sp>
        <p:nvSpPr>
          <p:cNvPr id="45061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010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Addressing: routing to another LAN</a:t>
            </a:r>
          </a:p>
        </p:txBody>
      </p:sp>
      <p:grpSp>
        <p:nvGrpSpPr>
          <p:cNvPr id="132101" name="Group 4"/>
          <p:cNvGrpSpPr>
            <a:grpSpLocks/>
          </p:cNvGrpSpPr>
          <p:nvPr/>
        </p:nvGrpSpPr>
        <p:grpSpPr bwMode="auto">
          <a:xfrm>
            <a:off x="709613" y="3962400"/>
            <a:ext cx="8221662" cy="2349500"/>
            <a:chOff x="709613" y="3962400"/>
            <a:chExt cx="8221662" cy="2349500"/>
          </a:xfrm>
        </p:grpSpPr>
        <p:grpSp>
          <p:nvGrpSpPr>
            <p:cNvPr id="132103" name="Group 99"/>
            <p:cNvGrpSpPr>
              <a:grpSpLocks/>
            </p:cNvGrpSpPr>
            <p:nvPr/>
          </p:nvGrpSpPr>
          <p:grpSpPr bwMode="auto"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132162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2164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2165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02" name="Rectangle 43"/>
              <p:cNvSpPr>
                <a:spLocks noChangeArrowheads="1"/>
              </p:cNvSpPr>
              <p:nvPr/>
            </p:nvSpPr>
            <p:spPr bwMode="auto">
              <a:xfrm rot="16200000">
                <a:off x="7439930" y="4308572"/>
                <a:ext cx="126470" cy="19607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2104" name="Group 2"/>
            <p:cNvGrpSpPr>
              <a:grpSpLocks/>
            </p:cNvGrpSpPr>
            <p:nvPr/>
          </p:nvGrpSpPr>
          <p:grpSpPr bwMode="auto">
            <a:xfrm>
              <a:off x="1046480" y="3962400"/>
              <a:ext cx="1026163" cy="761428"/>
              <a:chOff x="1046480" y="3962400"/>
              <a:chExt cx="1026163" cy="761428"/>
            </a:xfrm>
          </p:grpSpPr>
          <p:sp>
            <p:nvSpPr>
              <p:cNvPr id="64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887" y="4300538"/>
                <a:ext cx="111125" cy="24765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2159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2160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2161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710660" name="Text Box 4"/>
            <p:cNvSpPr txBox="1">
              <a:spLocks noChangeArrowheads="1"/>
            </p:cNvSpPr>
            <p:nvPr/>
          </p:nvSpPr>
          <p:spPr bwMode="auto"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R</a:t>
              </a:r>
              <a:endParaRPr lang="en-US" i="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067" name="Text Box 21"/>
            <p:cNvSpPr txBox="1">
              <a:spLocks noChangeArrowheads="1"/>
            </p:cNvSpPr>
            <p:nvPr/>
          </p:nvSpPr>
          <p:spPr bwMode="auto"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1A-23-F9-CD-06-9B</a:t>
              </a:r>
            </a:p>
          </p:txBody>
        </p:sp>
        <p:sp>
          <p:nvSpPr>
            <p:cNvPr id="45068" name="Text Box 22"/>
            <p:cNvSpPr txBox="1">
              <a:spLocks noChangeArrowheads="1"/>
            </p:cNvSpPr>
            <p:nvPr/>
          </p:nvSpPr>
          <p:spPr bwMode="auto"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222.222.222.220</a:t>
              </a:r>
            </a:p>
          </p:txBody>
        </p:sp>
        <p:grpSp>
          <p:nvGrpSpPr>
            <p:cNvPr id="132108" name="Group 23"/>
            <p:cNvGrpSpPr>
              <a:grpSpLocks/>
            </p:cNvGrpSpPr>
            <p:nvPr/>
          </p:nvGrpSpPr>
          <p:grpSpPr bwMode="auto"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45117" name="Text Box 24"/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111.111.111.110</a:t>
                </a:r>
              </a:p>
            </p:txBody>
          </p:sp>
          <p:sp>
            <p:nvSpPr>
              <p:cNvPr id="45118" name="Text Box 25"/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E6-E9-00-17-BB-4B</a:t>
                </a:r>
              </a:p>
            </p:txBody>
          </p:sp>
        </p:grpSp>
        <p:sp>
          <p:nvSpPr>
            <p:cNvPr id="45070" name="Text Box 26"/>
            <p:cNvSpPr txBox="1">
              <a:spLocks noChangeArrowheads="1"/>
            </p:cNvSpPr>
            <p:nvPr/>
          </p:nvSpPr>
          <p:spPr bwMode="auto"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CC-49-DE-D0-AB-7D</a:t>
              </a:r>
            </a:p>
          </p:txBody>
        </p:sp>
        <p:sp>
          <p:nvSpPr>
            <p:cNvPr id="45071" name="Text Box 27"/>
            <p:cNvSpPr txBox="1">
              <a:spLocks noChangeArrowheads="1"/>
            </p:cNvSpPr>
            <p:nvPr/>
          </p:nvSpPr>
          <p:spPr bwMode="auto">
            <a:xfrm>
              <a:off x="942975" y="5854700"/>
              <a:ext cx="1322388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111.111.111.112</a:t>
              </a:r>
            </a:p>
          </p:txBody>
        </p:sp>
        <p:sp>
          <p:nvSpPr>
            <p:cNvPr id="45072" name="Text Box 30"/>
            <p:cNvSpPr txBox="1">
              <a:spLocks noChangeArrowheads="1"/>
            </p:cNvSpPr>
            <p:nvPr/>
          </p:nvSpPr>
          <p:spPr bwMode="auto">
            <a:xfrm>
              <a:off x="709613" y="4741863"/>
              <a:ext cx="1322387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111.111.111.111</a:t>
              </a:r>
            </a:p>
          </p:txBody>
        </p:sp>
        <p:sp>
          <p:nvSpPr>
            <p:cNvPr id="45073" name="Text Box 33"/>
            <p:cNvSpPr txBox="1">
              <a:spLocks noChangeArrowheads="1"/>
            </p:cNvSpPr>
            <p:nvPr/>
          </p:nvSpPr>
          <p:spPr bwMode="auto"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74-29-9C-E8-FF-55</a:t>
              </a:r>
            </a:p>
          </p:txBody>
        </p:sp>
        <p:sp>
          <p:nvSpPr>
            <p:cNvPr id="132113" name="Freeform 39"/>
            <p:cNvSpPr>
              <a:spLocks/>
            </p:cNvSpPr>
            <p:nvPr/>
          </p:nvSpPr>
          <p:spPr bwMode="auto">
            <a:xfrm>
              <a:off x="2365375" y="4437063"/>
              <a:ext cx="839788" cy="1069975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5075" name="Line 40"/>
            <p:cNvSpPr>
              <a:spLocks noChangeShapeType="1"/>
            </p:cNvSpPr>
            <p:nvPr/>
          </p:nvSpPr>
          <p:spPr bwMode="auto">
            <a:xfrm>
              <a:off x="2062163" y="4416425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76" name="Line 41"/>
            <p:cNvSpPr>
              <a:spLocks noChangeShapeType="1"/>
            </p:cNvSpPr>
            <p:nvPr/>
          </p:nvSpPr>
          <p:spPr bwMode="auto">
            <a:xfrm flipV="1">
              <a:off x="2185988" y="5360988"/>
              <a:ext cx="231775" cy="255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77" name="Line 42"/>
            <p:cNvSpPr>
              <a:spLocks noChangeShapeType="1"/>
            </p:cNvSpPr>
            <p:nvPr/>
          </p:nvSpPr>
          <p:spPr bwMode="auto">
            <a:xfrm>
              <a:off x="3184525" y="4954588"/>
              <a:ext cx="584200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78" name="Line 44"/>
            <p:cNvSpPr>
              <a:spLocks noChangeShapeType="1"/>
            </p:cNvSpPr>
            <p:nvPr/>
          </p:nvSpPr>
          <p:spPr bwMode="auto">
            <a:xfrm flipV="1">
              <a:off x="2101850" y="5711825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79" name="Line 45"/>
            <p:cNvSpPr>
              <a:spLocks noChangeShapeType="1"/>
            </p:cNvSpPr>
            <p:nvPr/>
          </p:nvSpPr>
          <p:spPr bwMode="auto">
            <a:xfrm flipH="1" flipV="1">
              <a:off x="1976438" y="4489450"/>
              <a:ext cx="0" cy="398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80" name="Line 46"/>
            <p:cNvSpPr>
              <a:spLocks noChangeShapeType="1"/>
            </p:cNvSpPr>
            <p:nvPr/>
          </p:nvSpPr>
          <p:spPr bwMode="auto">
            <a:xfrm>
              <a:off x="3854450" y="5021263"/>
              <a:ext cx="0" cy="750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81" name="Line 47"/>
            <p:cNvSpPr>
              <a:spLocks noChangeShapeType="1"/>
            </p:cNvSpPr>
            <p:nvPr/>
          </p:nvSpPr>
          <p:spPr bwMode="auto">
            <a:xfrm flipH="1" flipV="1">
              <a:off x="4935538" y="5011738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710714" name="Text Box 58"/>
            <p:cNvSpPr txBox="1">
              <a:spLocks noChangeArrowheads="1"/>
            </p:cNvSpPr>
            <p:nvPr/>
          </p:nvSpPr>
          <p:spPr bwMode="auto"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5083" name="Line 60"/>
            <p:cNvSpPr>
              <a:spLocks noChangeShapeType="1"/>
            </p:cNvSpPr>
            <p:nvPr/>
          </p:nvSpPr>
          <p:spPr bwMode="auto">
            <a:xfrm>
              <a:off x="5045075" y="4921250"/>
              <a:ext cx="1198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32123" name="Group 63"/>
            <p:cNvGrpSpPr>
              <a:grpSpLocks/>
            </p:cNvGrpSpPr>
            <p:nvPr/>
          </p:nvGrpSpPr>
          <p:grpSpPr bwMode="auto">
            <a:xfrm>
              <a:off x="7372350" y="4845050"/>
              <a:ext cx="1558925" cy="460375"/>
              <a:chOff x="4351" y="2786"/>
              <a:chExt cx="982" cy="290"/>
            </a:xfrm>
          </p:grpSpPr>
          <p:sp>
            <p:nvSpPr>
              <p:cNvPr id="45115" name="Text Box 64"/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222.222.222.222</a:t>
                </a:r>
              </a:p>
            </p:txBody>
          </p:sp>
          <p:sp>
            <p:nvSpPr>
              <p:cNvPr id="45116" name="Text Box 65"/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982" cy="1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49-BD-D2-C7-56-2A</a:t>
                </a:r>
              </a:p>
            </p:txBody>
          </p:sp>
        </p:grpSp>
        <p:sp>
          <p:nvSpPr>
            <p:cNvPr id="45085" name="Line 67"/>
            <p:cNvSpPr>
              <a:spLocks noChangeShapeType="1"/>
            </p:cNvSpPr>
            <p:nvPr/>
          </p:nvSpPr>
          <p:spPr bwMode="auto">
            <a:xfrm flipV="1">
              <a:off x="6943725" y="4416425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86" name="Line 68"/>
            <p:cNvSpPr>
              <a:spLocks noChangeShapeType="1"/>
            </p:cNvSpPr>
            <p:nvPr/>
          </p:nvSpPr>
          <p:spPr bwMode="auto">
            <a:xfrm flipH="1" flipV="1">
              <a:off x="7469188" y="4492625"/>
              <a:ext cx="11112" cy="388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87" name="Text Box 71"/>
            <p:cNvSpPr txBox="1">
              <a:spLocks noChangeArrowheads="1"/>
            </p:cNvSpPr>
            <p:nvPr/>
          </p:nvSpPr>
          <p:spPr bwMode="auto"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222.222.222.221</a:t>
              </a:r>
            </a:p>
          </p:txBody>
        </p:sp>
        <p:sp>
          <p:nvSpPr>
            <p:cNvPr id="45088" name="Text Box 72"/>
            <p:cNvSpPr txBox="1">
              <a:spLocks noChangeArrowheads="1"/>
            </p:cNvSpPr>
            <p:nvPr/>
          </p:nvSpPr>
          <p:spPr bwMode="auto"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88-B2-2F-54-1A-0F</a:t>
              </a:r>
            </a:p>
          </p:txBody>
        </p:sp>
        <p:sp>
          <p:nvSpPr>
            <p:cNvPr id="45089" name="Line 73"/>
            <p:cNvSpPr>
              <a:spLocks noChangeShapeType="1"/>
            </p:cNvSpPr>
            <p:nvPr/>
          </p:nvSpPr>
          <p:spPr bwMode="auto">
            <a:xfrm flipH="1" flipV="1">
              <a:off x="6873875" y="5313363"/>
              <a:ext cx="254000" cy="250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90" name="Line 74"/>
            <p:cNvSpPr>
              <a:spLocks noChangeShapeType="1"/>
            </p:cNvSpPr>
            <p:nvPr/>
          </p:nvSpPr>
          <p:spPr bwMode="auto">
            <a:xfrm flipH="1">
              <a:off x="7208838" y="5654675"/>
              <a:ext cx="4762" cy="201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32130" name="Freeform 75"/>
            <p:cNvSpPr>
              <a:spLocks/>
            </p:cNvSpPr>
            <p:nvPr/>
          </p:nvSpPr>
          <p:spPr bwMode="auto">
            <a:xfrm>
              <a:off x="6203950" y="4440238"/>
              <a:ext cx="765175" cy="1081088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710732" name="Text Box 76"/>
            <p:cNvSpPr txBox="1">
              <a:spLocks noChangeArrowheads="1"/>
            </p:cNvSpPr>
            <p:nvPr/>
          </p:nvSpPr>
          <p:spPr bwMode="auto">
            <a:xfrm>
              <a:off x="8307388" y="4073525"/>
              <a:ext cx="357187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B</a:t>
              </a:r>
            </a:p>
          </p:txBody>
        </p:sp>
        <p:grpSp>
          <p:nvGrpSpPr>
            <p:cNvPr id="132132" name="Group 3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132150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2152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5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2153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90" name="Rectangle 43"/>
              <p:cNvSpPr>
                <a:spLocks noChangeArrowheads="1"/>
              </p:cNvSpPr>
              <p:nvPr/>
            </p:nvSpPr>
            <p:spPr bwMode="auto">
              <a:xfrm rot="16200000">
                <a:off x="7438232" y="4309268"/>
                <a:ext cx="127000" cy="195263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2133" name="Group 1"/>
            <p:cNvGrpSpPr>
              <a:grpSpLocks/>
            </p:cNvGrpSpPr>
            <p:nvPr/>
          </p:nvGrpSpPr>
          <p:grpSpPr bwMode="auto">
            <a:xfrm>
              <a:off x="3757931" y="4714240"/>
              <a:ext cx="1291589" cy="426719"/>
              <a:chOff x="4011931" y="3379152"/>
              <a:chExt cx="1262062" cy="390207"/>
            </a:xfrm>
          </p:grpSpPr>
          <p:sp>
            <p:nvSpPr>
              <p:cNvPr id="77" name="Rectangle 43"/>
              <p:cNvSpPr>
                <a:spLocks noChangeArrowheads="1"/>
              </p:cNvSpPr>
              <p:nvPr/>
            </p:nvSpPr>
            <p:spPr bwMode="auto">
              <a:xfrm rot="16200000">
                <a:off x="5112705" y="3476529"/>
                <a:ext cx="127747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2140" name="Group 1185"/>
              <p:cNvGrpSpPr>
                <a:grpSpLocks/>
              </p:cNvGrpSpPr>
              <p:nvPr/>
            </p:nvGrpSpPr>
            <p:grpSpPr bwMode="auto"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132142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sp>
              <p:nvSpPr>
                <p:cNvPr id="132143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sp>
              <p:nvSpPr>
                <p:cNvPr id="132144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grpSp>
              <p:nvGrpSpPr>
                <p:cNvPr id="132145" name="Group 1189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132148" name="Freeform 1190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32149" name="Freeform 1191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45107" name="Line 119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5108" name="Line 119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91" name="Rectangle 43"/>
              <p:cNvSpPr>
                <a:spLocks noChangeArrowheads="1"/>
              </p:cNvSpPr>
              <p:nvPr/>
            </p:nvSpPr>
            <p:spPr bwMode="auto">
              <a:xfrm rot="16200000">
                <a:off x="4046200" y="3485965"/>
                <a:ext cx="126295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2134" name="Group 93"/>
            <p:cNvGrpSpPr>
              <a:grpSpLocks/>
            </p:cNvGrpSpPr>
            <p:nvPr/>
          </p:nvGrpSpPr>
          <p:grpSpPr bwMode="auto">
            <a:xfrm>
              <a:off x="1483360" y="5313680"/>
              <a:ext cx="701043" cy="517588"/>
              <a:chOff x="1046480" y="3962400"/>
              <a:chExt cx="1026163" cy="761428"/>
            </a:xfrm>
          </p:grpSpPr>
          <p:sp>
            <p:nvSpPr>
              <p:cNvPr id="95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438" y="4298853"/>
                <a:ext cx="109762" cy="24863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2136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2137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6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2138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</p:grpSp>
      <p:pic>
        <p:nvPicPr>
          <p:cNvPr id="132102" name="Picture 15" descr="underline_base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79456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8</a:t>
            </a:fld>
            <a:endParaRPr lang="en-US" sz="1200" dirty="0">
              <a:latin typeface="Tahoma" charset="0"/>
            </a:endParaRPr>
          </a:p>
        </p:txBody>
      </p:sp>
      <p:sp>
        <p:nvSpPr>
          <p:cNvPr id="7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45307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145" name="Group 94"/>
          <p:cNvGrpSpPr>
            <a:grpSpLocks/>
          </p:cNvGrpSpPr>
          <p:nvPr/>
        </p:nvGrpSpPr>
        <p:grpSpPr bwMode="auto">
          <a:xfrm>
            <a:off x="709613" y="3962400"/>
            <a:ext cx="8221662" cy="2349500"/>
            <a:chOff x="709613" y="3962400"/>
            <a:chExt cx="8221662" cy="2349500"/>
          </a:xfrm>
        </p:grpSpPr>
        <p:grpSp>
          <p:nvGrpSpPr>
            <p:cNvPr id="134183" name="Group 95"/>
            <p:cNvGrpSpPr>
              <a:grpSpLocks/>
            </p:cNvGrpSpPr>
            <p:nvPr/>
          </p:nvGrpSpPr>
          <p:grpSpPr bwMode="auto"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134242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4244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4245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56" name="Rectangle 43"/>
              <p:cNvSpPr>
                <a:spLocks noChangeArrowheads="1"/>
              </p:cNvSpPr>
              <p:nvPr/>
            </p:nvSpPr>
            <p:spPr bwMode="auto">
              <a:xfrm rot="16200000">
                <a:off x="7439930" y="4308572"/>
                <a:ext cx="126470" cy="19607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4184" name="Group 96"/>
            <p:cNvGrpSpPr>
              <a:grpSpLocks/>
            </p:cNvGrpSpPr>
            <p:nvPr/>
          </p:nvGrpSpPr>
          <p:grpSpPr bwMode="auto">
            <a:xfrm>
              <a:off x="1046480" y="3962400"/>
              <a:ext cx="1026163" cy="761428"/>
              <a:chOff x="1046480" y="3962400"/>
              <a:chExt cx="1026163" cy="761428"/>
            </a:xfrm>
          </p:grpSpPr>
          <p:sp>
            <p:nvSpPr>
              <p:cNvPr id="151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887" y="4300538"/>
                <a:ext cx="111125" cy="24765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4239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4240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4241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98" name="Text Box 4"/>
            <p:cNvSpPr txBox="1">
              <a:spLocks noChangeArrowheads="1"/>
            </p:cNvSpPr>
            <p:nvPr/>
          </p:nvSpPr>
          <p:spPr bwMode="auto"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R</a:t>
              </a:r>
              <a:endParaRPr lang="en-US" i="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123" name="Text Box 21"/>
            <p:cNvSpPr txBox="1">
              <a:spLocks noChangeArrowheads="1"/>
            </p:cNvSpPr>
            <p:nvPr/>
          </p:nvSpPr>
          <p:spPr bwMode="auto"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1A-23-F9-CD-06-9B</a:t>
              </a:r>
            </a:p>
          </p:txBody>
        </p:sp>
        <p:sp>
          <p:nvSpPr>
            <p:cNvPr id="46124" name="Text Box 22"/>
            <p:cNvSpPr txBox="1">
              <a:spLocks noChangeArrowheads="1"/>
            </p:cNvSpPr>
            <p:nvPr/>
          </p:nvSpPr>
          <p:spPr bwMode="auto"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222.222.222.220</a:t>
              </a:r>
            </a:p>
          </p:txBody>
        </p:sp>
        <p:grpSp>
          <p:nvGrpSpPr>
            <p:cNvPr id="134188" name="Group 23"/>
            <p:cNvGrpSpPr>
              <a:grpSpLocks/>
            </p:cNvGrpSpPr>
            <p:nvPr/>
          </p:nvGrpSpPr>
          <p:grpSpPr bwMode="auto"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46173" name="Text Box 24"/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111.111.111.110</a:t>
                </a:r>
              </a:p>
            </p:txBody>
          </p:sp>
          <p:sp>
            <p:nvSpPr>
              <p:cNvPr id="46174" name="Text Box 25"/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E6-E9-00-17-BB-4B</a:t>
                </a:r>
              </a:p>
            </p:txBody>
          </p:sp>
        </p:grpSp>
        <p:sp>
          <p:nvSpPr>
            <p:cNvPr id="46126" name="Text Box 26"/>
            <p:cNvSpPr txBox="1">
              <a:spLocks noChangeArrowheads="1"/>
            </p:cNvSpPr>
            <p:nvPr/>
          </p:nvSpPr>
          <p:spPr bwMode="auto"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CC-49-DE-D0-AB-7D</a:t>
              </a:r>
            </a:p>
          </p:txBody>
        </p:sp>
        <p:sp>
          <p:nvSpPr>
            <p:cNvPr id="46127" name="Text Box 27"/>
            <p:cNvSpPr txBox="1">
              <a:spLocks noChangeArrowheads="1"/>
            </p:cNvSpPr>
            <p:nvPr/>
          </p:nvSpPr>
          <p:spPr bwMode="auto">
            <a:xfrm>
              <a:off x="942975" y="5854700"/>
              <a:ext cx="1322388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111.111.111.112</a:t>
              </a:r>
            </a:p>
          </p:txBody>
        </p:sp>
        <p:sp>
          <p:nvSpPr>
            <p:cNvPr id="46128" name="Text Box 30"/>
            <p:cNvSpPr txBox="1">
              <a:spLocks noChangeArrowheads="1"/>
            </p:cNvSpPr>
            <p:nvPr/>
          </p:nvSpPr>
          <p:spPr bwMode="auto">
            <a:xfrm>
              <a:off x="709613" y="4741863"/>
              <a:ext cx="1322387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111.111.111.111</a:t>
              </a:r>
            </a:p>
          </p:txBody>
        </p:sp>
        <p:sp>
          <p:nvSpPr>
            <p:cNvPr id="46129" name="Text Box 33"/>
            <p:cNvSpPr txBox="1">
              <a:spLocks noChangeArrowheads="1"/>
            </p:cNvSpPr>
            <p:nvPr/>
          </p:nvSpPr>
          <p:spPr bwMode="auto"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74-29-9C-E8-FF-55</a:t>
              </a:r>
            </a:p>
          </p:txBody>
        </p:sp>
        <p:sp>
          <p:nvSpPr>
            <p:cNvPr id="134193" name="Freeform 39"/>
            <p:cNvSpPr>
              <a:spLocks/>
            </p:cNvSpPr>
            <p:nvPr/>
          </p:nvSpPr>
          <p:spPr bwMode="auto">
            <a:xfrm>
              <a:off x="2365375" y="4437063"/>
              <a:ext cx="839788" cy="1069975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6131" name="Line 40"/>
            <p:cNvSpPr>
              <a:spLocks noChangeShapeType="1"/>
            </p:cNvSpPr>
            <p:nvPr/>
          </p:nvSpPr>
          <p:spPr bwMode="auto">
            <a:xfrm>
              <a:off x="2062163" y="4416425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32" name="Line 41"/>
            <p:cNvSpPr>
              <a:spLocks noChangeShapeType="1"/>
            </p:cNvSpPr>
            <p:nvPr/>
          </p:nvSpPr>
          <p:spPr bwMode="auto">
            <a:xfrm flipV="1">
              <a:off x="2185988" y="5360988"/>
              <a:ext cx="231775" cy="255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33" name="Line 42"/>
            <p:cNvSpPr>
              <a:spLocks noChangeShapeType="1"/>
            </p:cNvSpPr>
            <p:nvPr/>
          </p:nvSpPr>
          <p:spPr bwMode="auto">
            <a:xfrm>
              <a:off x="3184525" y="4954588"/>
              <a:ext cx="584200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34" name="Line 44"/>
            <p:cNvSpPr>
              <a:spLocks noChangeShapeType="1"/>
            </p:cNvSpPr>
            <p:nvPr/>
          </p:nvSpPr>
          <p:spPr bwMode="auto">
            <a:xfrm flipV="1">
              <a:off x="2101850" y="5711825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35" name="Line 45"/>
            <p:cNvSpPr>
              <a:spLocks noChangeShapeType="1"/>
            </p:cNvSpPr>
            <p:nvPr/>
          </p:nvSpPr>
          <p:spPr bwMode="auto">
            <a:xfrm flipH="1" flipV="1">
              <a:off x="1976438" y="4489450"/>
              <a:ext cx="0" cy="398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36" name="Line 46"/>
            <p:cNvSpPr>
              <a:spLocks noChangeShapeType="1"/>
            </p:cNvSpPr>
            <p:nvPr/>
          </p:nvSpPr>
          <p:spPr bwMode="auto">
            <a:xfrm>
              <a:off x="3854450" y="5021263"/>
              <a:ext cx="0" cy="750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37" name="Line 47"/>
            <p:cNvSpPr>
              <a:spLocks noChangeShapeType="1"/>
            </p:cNvSpPr>
            <p:nvPr/>
          </p:nvSpPr>
          <p:spPr bwMode="auto">
            <a:xfrm flipH="1" flipV="1">
              <a:off x="4935538" y="5011738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14" name="Text Box 58"/>
            <p:cNvSpPr txBox="1">
              <a:spLocks noChangeArrowheads="1"/>
            </p:cNvSpPr>
            <p:nvPr/>
          </p:nvSpPr>
          <p:spPr bwMode="auto"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6139" name="Line 60"/>
            <p:cNvSpPr>
              <a:spLocks noChangeShapeType="1"/>
            </p:cNvSpPr>
            <p:nvPr/>
          </p:nvSpPr>
          <p:spPr bwMode="auto">
            <a:xfrm>
              <a:off x="5045075" y="4921250"/>
              <a:ext cx="1198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34203" name="Group 63"/>
            <p:cNvGrpSpPr>
              <a:grpSpLocks/>
            </p:cNvGrpSpPr>
            <p:nvPr/>
          </p:nvGrpSpPr>
          <p:grpSpPr bwMode="auto">
            <a:xfrm>
              <a:off x="7372350" y="4845050"/>
              <a:ext cx="1558925" cy="460375"/>
              <a:chOff x="4351" y="2786"/>
              <a:chExt cx="982" cy="290"/>
            </a:xfrm>
          </p:grpSpPr>
          <p:sp>
            <p:nvSpPr>
              <p:cNvPr id="46171" name="Text Box 64"/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222.222.222.222</a:t>
                </a:r>
              </a:p>
            </p:txBody>
          </p:sp>
          <p:sp>
            <p:nvSpPr>
              <p:cNvPr id="46172" name="Text Box 65"/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982" cy="1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49-BD-D2-C7-56-2A</a:t>
                </a:r>
              </a:p>
            </p:txBody>
          </p:sp>
        </p:grpSp>
        <p:sp>
          <p:nvSpPr>
            <p:cNvPr id="46141" name="Line 67"/>
            <p:cNvSpPr>
              <a:spLocks noChangeShapeType="1"/>
            </p:cNvSpPr>
            <p:nvPr/>
          </p:nvSpPr>
          <p:spPr bwMode="auto">
            <a:xfrm flipV="1">
              <a:off x="6943725" y="4416425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42" name="Line 68"/>
            <p:cNvSpPr>
              <a:spLocks noChangeShapeType="1"/>
            </p:cNvSpPr>
            <p:nvPr/>
          </p:nvSpPr>
          <p:spPr bwMode="auto">
            <a:xfrm flipH="1" flipV="1">
              <a:off x="7469188" y="4492625"/>
              <a:ext cx="11112" cy="388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43" name="Text Box 71"/>
            <p:cNvSpPr txBox="1">
              <a:spLocks noChangeArrowheads="1"/>
            </p:cNvSpPr>
            <p:nvPr/>
          </p:nvSpPr>
          <p:spPr bwMode="auto"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222.222.222.221</a:t>
              </a:r>
            </a:p>
          </p:txBody>
        </p:sp>
        <p:sp>
          <p:nvSpPr>
            <p:cNvPr id="46144" name="Text Box 72"/>
            <p:cNvSpPr txBox="1">
              <a:spLocks noChangeArrowheads="1"/>
            </p:cNvSpPr>
            <p:nvPr/>
          </p:nvSpPr>
          <p:spPr bwMode="auto"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88-B2-2F-54-1A-0F</a:t>
              </a:r>
            </a:p>
          </p:txBody>
        </p:sp>
        <p:sp>
          <p:nvSpPr>
            <p:cNvPr id="46145" name="Line 73"/>
            <p:cNvSpPr>
              <a:spLocks noChangeShapeType="1"/>
            </p:cNvSpPr>
            <p:nvPr/>
          </p:nvSpPr>
          <p:spPr bwMode="auto">
            <a:xfrm flipH="1" flipV="1">
              <a:off x="6873875" y="5313363"/>
              <a:ext cx="254000" cy="250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46" name="Line 74"/>
            <p:cNvSpPr>
              <a:spLocks noChangeShapeType="1"/>
            </p:cNvSpPr>
            <p:nvPr/>
          </p:nvSpPr>
          <p:spPr bwMode="auto">
            <a:xfrm flipH="1">
              <a:off x="7208838" y="5654675"/>
              <a:ext cx="4762" cy="201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34210" name="Freeform 75"/>
            <p:cNvSpPr>
              <a:spLocks/>
            </p:cNvSpPr>
            <p:nvPr/>
          </p:nvSpPr>
          <p:spPr bwMode="auto">
            <a:xfrm>
              <a:off x="6203950" y="4440238"/>
              <a:ext cx="765175" cy="1081088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24" name="Text Box 76"/>
            <p:cNvSpPr txBox="1">
              <a:spLocks noChangeArrowheads="1"/>
            </p:cNvSpPr>
            <p:nvPr/>
          </p:nvSpPr>
          <p:spPr bwMode="auto">
            <a:xfrm>
              <a:off x="8307388" y="4073525"/>
              <a:ext cx="357187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B</a:t>
              </a:r>
            </a:p>
          </p:txBody>
        </p:sp>
        <p:grpSp>
          <p:nvGrpSpPr>
            <p:cNvPr id="134212" name="Group 124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134230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4232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5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4233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44" name="Rectangle 43"/>
              <p:cNvSpPr>
                <a:spLocks noChangeArrowheads="1"/>
              </p:cNvSpPr>
              <p:nvPr/>
            </p:nvSpPr>
            <p:spPr bwMode="auto">
              <a:xfrm rot="16200000">
                <a:off x="7438232" y="4309268"/>
                <a:ext cx="127000" cy="195263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4213" name="Group 125"/>
            <p:cNvGrpSpPr>
              <a:grpSpLocks/>
            </p:cNvGrpSpPr>
            <p:nvPr/>
          </p:nvGrpSpPr>
          <p:grpSpPr bwMode="auto">
            <a:xfrm>
              <a:off x="3757931" y="4714240"/>
              <a:ext cx="1291589" cy="426719"/>
              <a:chOff x="4011931" y="3379152"/>
              <a:chExt cx="1262062" cy="390207"/>
            </a:xfrm>
          </p:grpSpPr>
          <p:sp>
            <p:nvSpPr>
              <p:cNvPr id="132" name="Rectangle 43"/>
              <p:cNvSpPr>
                <a:spLocks noChangeArrowheads="1"/>
              </p:cNvSpPr>
              <p:nvPr/>
            </p:nvSpPr>
            <p:spPr bwMode="auto">
              <a:xfrm rot="16200000">
                <a:off x="5112705" y="3476529"/>
                <a:ext cx="127747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4220" name="Group 1185"/>
              <p:cNvGrpSpPr>
                <a:grpSpLocks/>
              </p:cNvGrpSpPr>
              <p:nvPr/>
            </p:nvGrpSpPr>
            <p:grpSpPr bwMode="auto"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134222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sp>
              <p:nvSpPr>
                <p:cNvPr id="134223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sp>
              <p:nvSpPr>
                <p:cNvPr id="134224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grpSp>
              <p:nvGrpSpPr>
                <p:cNvPr id="134225" name="Group 1189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134228" name="Freeform 1190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34229" name="Freeform 1191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46163" name="Line 119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6164" name="Line 119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134" name="Rectangle 43"/>
              <p:cNvSpPr>
                <a:spLocks noChangeArrowheads="1"/>
              </p:cNvSpPr>
              <p:nvPr/>
            </p:nvSpPr>
            <p:spPr bwMode="auto">
              <a:xfrm rot="16200000">
                <a:off x="4046200" y="3485965"/>
                <a:ext cx="126295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4214" name="Group 126"/>
            <p:cNvGrpSpPr>
              <a:grpSpLocks/>
            </p:cNvGrpSpPr>
            <p:nvPr/>
          </p:nvGrpSpPr>
          <p:grpSpPr bwMode="auto">
            <a:xfrm>
              <a:off x="1483360" y="5313680"/>
              <a:ext cx="701043" cy="517588"/>
              <a:chOff x="1046480" y="3962400"/>
              <a:chExt cx="1026163" cy="761428"/>
            </a:xfrm>
          </p:grpSpPr>
          <p:sp>
            <p:nvSpPr>
              <p:cNvPr id="128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438" y="4298853"/>
                <a:ext cx="109762" cy="24863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4216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4217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6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4218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712857" name="AutoShape 153"/>
          <p:cNvSpPr>
            <a:spLocks noChangeArrowheads="1"/>
          </p:cNvSpPr>
          <p:nvPr/>
        </p:nvSpPr>
        <p:spPr bwMode="auto">
          <a:xfrm>
            <a:off x="2387600" y="3086100"/>
            <a:ext cx="314325" cy="792163"/>
          </a:xfrm>
          <a:prstGeom prst="downArrow">
            <a:avLst>
              <a:gd name="adj1" fmla="val 50000"/>
              <a:gd name="adj2" fmla="val 63005"/>
            </a:avLst>
          </a:prstGeom>
          <a:gradFill rotWithShape="1">
            <a:gsLst>
              <a:gs pos="0">
                <a:schemeClr val="bg1"/>
              </a:gs>
              <a:gs pos="100000">
                <a:srgbClr val="FF0000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010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Addressing: routing to another LAN</a:t>
            </a:r>
          </a:p>
        </p:txBody>
      </p:sp>
      <p:grpSp>
        <p:nvGrpSpPr>
          <p:cNvPr id="712834" name="Group 130"/>
          <p:cNvGrpSpPr>
            <a:grpSpLocks/>
          </p:cNvGrpSpPr>
          <p:nvPr/>
        </p:nvGrpSpPr>
        <p:grpSpPr bwMode="auto">
          <a:xfrm>
            <a:off x="534988" y="2686050"/>
            <a:ext cx="976312" cy="1460500"/>
            <a:chOff x="337" y="1692"/>
            <a:chExt cx="615" cy="920"/>
          </a:xfrm>
        </p:grpSpPr>
        <p:sp>
          <p:nvSpPr>
            <p:cNvPr id="134176" name="Freeform 65"/>
            <p:cNvSpPr>
              <a:spLocks/>
            </p:cNvSpPr>
            <p:nvPr/>
          </p:nvSpPr>
          <p:spPr bwMode="auto">
            <a:xfrm>
              <a:off x="348" y="1709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6114" name="Rectangle 67"/>
            <p:cNvSpPr>
              <a:spLocks noChangeArrowheads="1"/>
            </p:cNvSpPr>
            <p:nvPr/>
          </p:nvSpPr>
          <p:spPr bwMode="auto">
            <a:xfrm>
              <a:off x="344" y="1711"/>
              <a:ext cx="493" cy="79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15" name="Text Box 68"/>
            <p:cNvSpPr txBox="1">
              <a:spLocks noChangeArrowheads="1"/>
            </p:cNvSpPr>
            <p:nvPr/>
          </p:nvSpPr>
          <p:spPr bwMode="auto">
            <a:xfrm>
              <a:off x="413" y="1692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IP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Eth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Phy</a:t>
              </a:r>
            </a:p>
          </p:txBody>
        </p:sp>
        <p:sp>
          <p:nvSpPr>
            <p:cNvPr id="46116" name="Line 69"/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17" name="Line 70"/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18" name="Line 71"/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19" name="Line 72"/>
            <p:cNvSpPr>
              <a:spLocks noChangeShapeType="1"/>
            </p:cNvSpPr>
            <p:nvPr/>
          </p:nvSpPr>
          <p:spPr bwMode="auto">
            <a:xfrm>
              <a:off x="337" y="2345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712855" name="Group 151"/>
          <p:cNvGrpSpPr>
            <a:grpSpLocks/>
          </p:cNvGrpSpPr>
          <p:nvPr/>
        </p:nvGrpSpPr>
        <p:grpSpPr bwMode="auto">
          <a:xfrm>
            <a:off x="1893888" y="2643188"/>
            <a:ext cx="2011362" cy="760412"/>
            <a:chOff x="1197" y="1665"/>
            <a:chExt cx="1267" cy="479"/>
          </a:xfrm>
        </p:grpSpPr>
        <p:grpSp>
          <p:nvGrpSpPr>
            <p:cNvPr id="134171" name="Group 150"/>
            <p:cNvGrpSpPr>
              <a:grpSpLocks/>
            </p:cNvGrpSpPr>
            <p:nvPr/>
          </p:nvGrpSpPr>
          <p:grpSpPr bwMode="auto"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46110" name="Rectangle 123"/>
              <p:cNvSpPr>
                <a:spLocks noChangeArrowheads="1"/>
              </p:cNvSpPr>
              <p:nvPr/>
            </p:nvSpPr>
            <p:spPr bwMode="auto">
              <a:xfrm>
                <a:off x="1231" y="1991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6111" name="Line 124"/>
              <p:cNvSpPr>
                <a:spLocks noChangeShapeType="1"/>
              </p:cNvSpPr>
              <p:nvPr/>
            </p:nvSpPr>
            <p:spPr bwMode="auto">
              <a:xfrm>
                <a:off x="1337" y="1990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6112" name="Line 125"/>
              <p:cNvSpPr>
                <a:spLocks noChangeShapeType="1"/>
              </p:cNvSpPr>
              <p:nvPr/>
            </p:nvSpPr>
            <p:spPr bwMode="auto">
              <a:xfrm>
                <a:off x="1427" y="1992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46109" name="Text Box 126"/>
            <p:cNvSpPr txBox="1">
              <a:spLocks noChangeArrowheads="1"/>
            </p:cNvSpPr>
            <p:nvPr/>
          </p:nvSpPr>
          <p:spPr bwMode="auto">
            <a:xfrm>
              <a:off x="1197" y="1665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IP src: 111.111.111.111</a:t>
              </a:r>
            </a:p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   IP dest: 222.222.222.222</a:t>
              </a:r>
            </a:p>
          </p:txBody>
        </p:sp>
      </p:grpSp>
      <p:grpSp>
        <p:nvGrpSpPr>
          <p:cNvPr id="712845" name="Group 141"/>
          <p:cNvGrpSpPr>
            <a:grpSpLocks/>
          </p:cNvGrpSpPr>
          <p:nvPr/>
        </p:nvGrpSpPr>
        <p:grpSpPr bwMode="auto">
          <a:xfrm>
            <a:off x="2027238" y="2903538"/>
            <a:ext cx="146050" cy="385762"/>
            <a:chOff x="1272" y="1762"/>
            <a:chExt cx="92" cy="243"/>
          </a:xfrm>
        </p:grpSpPr>
        <p:sp>
          <p:nvSpPr>
            <p:cNvPr id="46106" name="Line 127"/>
            <p:cNvSpPr>
              <a:spLocks noChangeShapeType="1"/>
            </p:cNvSpPr>
            <p:nvPr/>
          </p:nvSpPr>
          <p:spPr bwMode="auto">
            <a:xfrm>
              <a:off x="1272" y="1762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07" name="Line 128"/>
            <p:cNvSpPr>
              <a:spLocks noChangeShapeType="1"/>
            </p:cNvSpPr>
            <p:nvPr/>
          </p:nvSpPr>
          <p:spPr bwMode="auto">
            <a:xfrm>
              <a:off x="1364" y="1878"/>
              <a:ext cx="0" cy="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712847" name="Rectangle 143"/>
          <p:cNvSpPr>
            <a:spLocks noChangeArrowheads="1"/>
          </p:cNvSpPr>
          <p:nvPr/>
        </p:nvSpPr>
        <p:spPr bwMode="auto">
          <a:xfrm>
            <a:off x="706438" y="1084263"/>
            <a:ext cx="7772400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Gill Sans MT" charset="0"/>
                <a:cs typeface="+mn-cs"/>
              </a:rPr>
              <a:t>A creates IP datagram with IP source A, destination B </a:t>
            </a:r>
          </a:p>
        </p:txBody>
      </p:sp>
      <p:sp>
        <p:nvSpPr>
          <p:cNvPr id="712848" name="Rectangle 144"/>
          <p:cNvSpPr>
            <a:spLocks noChangeArrowheads="1"/>
          </p:cNvSpPr>
          <p:nvPr/>
        </p:nvSpPr>
        <p:spPr bwMode="auto">
          <a:xfrm>
            <a:off x="719138" y="1441450"/>
            <a:ext cx="7772400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Gill Sans MT" charset="0"/>
                <a:cs typeface="+mn-cs"/>
              </a:rPr>
              <a:t>A creates link-layer frame with R's MAC address as destination address, frame contains A-to-B IP datagram</a:t>
            </a:r>
            <a:endParaRPr lang="en-US" sz="2800" i="0" dirty="0">
              <a:latin typeface="Gill Sans MT" charset="0"/>
              <a:cs typeface="+mn-cs"/>
            </a:endParaRPr>
          </a:p>
        </p:txBody>
      </p:sp>
      <p:grpSp>
        <p:nvGrpSpPr>
          <p:cNvPr id="712856" name="Group 152"/>
          <p:cNvGrpSpPr>
            <a:grpSpLocks/>
          </p:cNvGrpSpPr>
          <p:nvPr/>
        </p:nvGrpSpPr>
        <p:grpSpPr bwMode="auto">
          <a:xfrm>
            <a:off x="1477963" y="2244725"/>
            <a:ext cx="2443162" cy="1519238"/>
            <a:chOff x="931" y="1414"/>
            <a:chExt cx="1539" cy="957"/>
          </a:xfrm>
        </p:grpSpPr>
        <p:sp>
          <p:nvSpPr>
            <p:cNvPr id="46094" name="Text Box 135"/>
            <p:cNvSpPr txBox="1">
              <a:spLocks noChangeArrowheads="1"/>
            </p:cNvSpPr>
            <p:nvPr/>
          </p:nvSpPr>
          <p:spPr bwMode="auto"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MAC src: 74-29-9C-E8-FF-55</a:t>
              </a:r>
            </a:p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   MAC dest: </a:t>
              </a:r>
              <a:r>
                <a:rPr lang="en-US" sz="1200" i="0" dirty="0">
                  <a:solidFill>
                    <a:srgbClr val="FF0000"/>
                  </a:solidFill>
                  <a:latin typeface="Arial" charset="0"/>
                  <a:cs typeface="+mn-cs"/>
                </a:rPr>
                <a:t>E6-E9-00-17-BB-4B</a:t>
              </a:r>
            </a:p>
          </p:txBody>
        </p:sp>
        <p:grpSp>
          <p:nvGrpSpPr>
            <p:cNvPr id="134158" name="Group 145"/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46100" name="Rectangle 138"/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6101" name="Rectangle 132"/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6102" name="Line 133"/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6103" name="Line 134"/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6104" name="Line 139"/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6105" name="Line 140"/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46096" name="Line 146"/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097" name="Line 147"/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098" name="Line 148"/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099" name="Line 149"/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pic>
        <p:nvPicPr>
          <p:cNvPr id="134156" name="Picture 15" descr="underline_base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79456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9</a:t>
            </a:fld>
            <a:endParaRPr lang="en-US" sz="1200" dirty="0">
              <a:latin typeface="Tahoma" charset="0"/>
            </a:endParaRPr>
          </a:p>
        </p:txBody>
      </p:sp>
      <p:sp>
        <p:nvSpPr>
          <p:cNvPr id="10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482771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2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12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12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712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7128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2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12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2857" grpId="0" animBg="1"/>
      <p:bldP spid="712847" grpId="0"/>
      <p:bldP spid="71284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193" name="Group 163"/>
          <p:cNvGrpSpPr>
            <a:grpSpLocks/>
          </p:cNvGrpSpPr>
          <p:nvPr/>
        </p:nvGrpSpPr>
        <p:grpSpPr bwMode="auto">
          <a:xfrm>
            <a:off x="709613" y="3962400"/>
            <a:ext cx="8221662" cy="2349500"/>
            <a:chOff x="709613" y="3962400"/>
            <a:chExt cx="8221662" cy="2349500"/>
          </a:xfrm>
        </p:grpSpPr>
        <p:grpSp>
          <p:nvGrpSpPr>
            <p:cNvPr id="136236" name="Group 164"/>
            <p:cNvGrpSpPr>
              <a:grpSpLocks/>
            </p:cNvGrpSpPr>
            <p:nvPr/>
          </p:nvGrpSpPr>
          <p:grpSpPr bwMode="auto"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136295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6297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6298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225" name="Rectangle 43"/>
              <p:cNvSpPr>
                <a:spLocks noChangeArrowheads="1"/>
              </p:cNvSpPr>
              <p:nvPr/>
            </p:nvSpPr>
            <p:spPr bwMode="auto">
              <a:xfrm rot="16200000">
                <a:off x="7439930" y="4308572"/>
                <a:ext cx="126470" cy="19607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6237" name="Group 165"/>
            <p:cNvGrpSpPr>
              <a:grpSpLocks/>
            </p:cNvGrpSpPr>
            <p:nvPr/>
          </p:nvGrpSpPr>
          <p:grpSpPr bwMode="auto">
            <a:xfrm>
              <a:off x="1046480" y="3962400"/>
              <a:ext cx="1026163" cy="761428"/>
              <a:chOff x="1046480" y="3962400"/>
              <a:chExt cx="1026163" cy="761428"/>
            </a:xfrm>
          </p:grpSpPr>
          <p:sp>
            <p:nvSpPr>
              <p:cNvPr id="220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887" y="4300538"/>
                <a:ext cx="111125" cy="24765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6292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6293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6294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167" name="Text Box 4"/>
            <p:cNvSpPr txBox="1">
              <a:spLocks noChangeArrowheads="1"/>
            </p:cNvSpPr>
            <p:nvPr/>
          </p:nvSpPr>
          <p:spPr bwMode="auto"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R</a:t>
              </a:r>
              <a:endParaRPr lang="en-US" i="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152" name="Text Box 21"/>
            <p:cNvSpPr txBox="1">
              <a:spLocks noChangeArrowheads="1"/>
            </p:cNvSpPr>
            <p:nvPr/>
          </p:nvSpPr>
          <p:spPr bwMode="auto"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1A-23-F9-CD-06-9B</a:t>
              </a:r>
            </a:p>
          </p:txBody>
        </p:sp>
        <p:sp>
          <p:nvSpPr>
            <p:cNvPr id="47153" name="Text Box 22"/>
            <p:cNvSpPr txBox="1">
              <a:spLocks noChangeArrowheads="1"/>
            </p:cNvSpPr>
            <p:nvPr/>
          </p:nvSpPr>
          <p:spPr bwMode="auto"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222.222.222.220</a:t>
              </a:r>
            </a:p>
          </p:txBody>
        </p:sp>
        <p:grpSp>
          <p:nvGrpSpPr>
            <p:cNvPr id="136241" name="Group 23"/>
            <p:cNvGrpSpPr>
              <a:grpSpLocks/>
            </p:cNvGrpSpPr>
            <p:nvPr/>
          </p:nvGrpSpPr>
          <p:grpSpPr bwMode="auto"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47202" name="Text Box 24"/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111.111.111.110</a:t>
                </a:r>
              </a:p>
            </p:txBody>
          </p:sp>
          <p:sp>
            <p:nvSpPr>
              <p:cNvPr id="47203" name="Text Box 25"/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E6-E9-00-17-BB-4B</a:t>
                </a:r>
              </a:p>
            </p:txBody>
          </p:sp>
        </p:grpSp>
        <p:sp>
          <p:nvSpPr>
            <p:cNvPr id="47155" name="Text Box 26"/>
            <p:cNvSpPr txBox="1">
              <a:spLocks noChangeArrowheads="1"/>
            </p:cNvSpPr>
            <p:nvPr/>
          </p:nvSpPr>
          <p:spPr bwMode="auto"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CC-49-DE-D0-AB-7D</a:t>
              </a:r>
            </a:p>
          </p:txBody>
        </p:sp>
        <p:sp>
          <p:nvSpPr>
            <p:cNvPr id="47156" name="Text Box 27"/>
            <p:cNvSpPr txBox="1">
              <a:spLocks noChangeArrowheads="1"/>
            </p:cNvSpPr>
            <p:nvPr/>
          </p:nvSpPr>
          <p:spPr bwMode="auto">
            <a:xfrm>
              <a:off x="942975" y="5854700"/>
              <a:ext cx="1322388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111.111.111.112</a:t>
              </a:r>
            </a:p>
          </p:txBody>
        </p:sp>
        <p:sp>
          <p:nvSpPr>
            <p:cNvPr id="47157" name="Text Box 30"/>
            <p:cNvSpPr txBox="1">
              <a:spLocks noChangeArrowheads="1"/>
            </p:cNvSpPr>
            <p:nvPr/>
          </p:nvSpPr>
          <p:spPr bwMode="auto">
            <a:xfrm>
              <a:off x="709613" y="4741863"/>
              <a:ext cx="1322387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111.111.111.111</a:t>
              </a:r>
            </a:p>
          </p:txBody>
        </p:sp>
        <p:sp>
          <p:nvSpPr>
            <p:cNvPr id="47158" name="Text Box 33"/>
            <p:cNvSpPr txBox="1">
              <a:spLocks noChangeArrowheads="1"/>
            </p:cNvSpPr>
            <p:nvPr/>
          </p:nvSpPr>
          <p:spPr bwMode="auto"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74-29-9C-E8-FF-55</a:t>
              </a:r>
            </a:p>
          </p:txBody>
        </p:sp>
        <p:sp>
          <p:nvSpPr>
            <p:cNvPr id="136246" name="Freeform 39"/>
            <p:cNvSpPr>
              <a:spLocks/>
            </p:cNvSpPr>
            <p:nvPr/>
          </p:nvSpPr>
          <p:spPr bwMode="auto">
            <a:xfrm>
              <a:off x="2365375" y="4437063"/>
              <a:ext cx="839788" cy="1069975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7160" name="Line 40"/>
            <p:cNvSpPr>
              <a:spLocks noChangeShapeType="1"/>
            </p:cNvSpPr>
            <p:nvPr/>
          </p:nvSpPr>
          <p:spPr bwMode="auto">
            <a:xfrm>
              <a:off x="2062163" y="4416425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61" name="Line 41"/>
            <p:cNvSpPr>
              <a:spLocks noChangeShapeType="1"/>
            </p:cNvSpPr>
            <p:nvPr/>
          </p:nvSpPr>
          <p:spPr bwMode="auto">
            <a:xfrm flipV="1">
              <a:off x="2185988" y="5360988"/>
              <a:ext cx="231775" cy="255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62" name="Line 42"/>
            <p:cNvSpPr>
              <a:spLocks noChangeShapeType="1"/>
            </p:cNvSpPr>
            <p:nvPr/>
          </p:nvSpPr>
          <p:spPr bwMode="auto">
            <a:xfrm>
              <a:off x="3184525" y="4954588"/>
              <a:ext cx="584200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63" name="Line 44"/>
            <p:cNvSpPr>
              <a:spLocks noChangeShapeType="1"/>
            </p:cNvSpPr>
            <p:nvPr/>
          </p:nvSpPr>
          <p:spPr bwMode="auto">
            <a:xfrm flipV="1">
              <a:off x="2101850" y="5711825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64" name="Line 45"/>
            <p:cNvSpPr>
              <a:spLocks noChangeShapeType="1"/>
            </p:cNvSpPr>
            <p:nvPr/>
          </p:nvSpPr>
          <p:spPr bwMode="auto">
            <a:xfrm flipH="1" flipV="1">
              <a:off x="1976438" y="4489450"/>
              <a:ext cx="0" cy="398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65" name="Line 46"/>
            <p:cNvSpPr>
              <a:spLocks noChangeShapeType="1"/>
            </p:cNvSpPr>
            <p:nvPr/>
          </p:nvSpPr>
          <p:spPr bwMode="auto">
            <a:xfrm>
              <a:off x="3854450" y="5021263"/>
              <a:ext cx="0" cy="750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66" name="Line 47"/>
            <p:cNvSpPr>
              <a:spLocks noChangeShapeType="1"/>
            </p:cNvSpPr>
            <p:nvPr/>
          </p:nvSpPr>
          <p:spPr bwMode="auto">
            <a:xfrm flipH="1" flipV="1">
              <a:off x="4935538" y="5011738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83" name="Text Box 58"/>
            <p:cNvSpPr txBox="1">
              <a:spLocks noChangeArrowheads="1"/>
            </p:cNvSpPr>
            <p:nvPr/>
          </p:nvSpPr>
          <p:spPr bwMode="auto"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7168" name="Line 60"/>
            <p:cNvSpPr>
              <a:spLocks noChangeShapeType="1"/>
            </p:cNvSpPr>
            <p:nvPr/>
          </p:nvSpPr>
          <p:spPr bwMode="auto">
            <a:xfrm>
              <a:off x="5045075" y="4921250"/>
              <a:ext cx="1198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36256" name="Group 63"/>
            <p:cNvGrpSpPr>
              <a:grpSpLocks/>
            </p:cNvGrpSpPr>
            <p:nvPr/>
          </p:nvGrpSpPr>
          <p:grpSpPr bwMode="auto">
            <a:xfrm>
              <a:off x="7372350" y="4845050"/>
              <a:ext cx="1558925" cy="460375"/>
              <a:chOff x="4351" y="2786"/>
              <a:chExt cx="982" cy="290"/>
            </a:xfrm>
          </p:grpSpPr>
          <p:sp>
            <p:nvSpPr>
              <p:cNvPr id="47200" name="Text Box 64"/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222.222.222.222</a:t>
                </a:r>
              </a:p>
            </p:txBody>
          </p:sp>
          <p:sp>
            <p:nvSpPr>
              <p:cNvPr id="47201" name="Text Box 65"/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982" cy="1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49-BD-D2-C7-56-2A</a:t>
                </a:r>
              </a:p>
            </p:txBody>
          </p:sp>
        </p:grpSp>
        <p:sp>
          <p:nvSpPr>
            <p:cNvPr id="47170" name="Line 67"/>
            <p:cNvSpPr>
              <a:spLocks noChangeShapeType="1"/>
            </p:cNvSpPr>
            <p:nvPr/>
          </p:nvSpPr>
          <p:spPr bwMode="auto">
            <a:xfrm flipV="1">
              <a:off x="6943725" y="4416425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71" name="Line 68"/>
            <p:cNvSpPr>
              <a:spLocks noChangeShapeType="1"/>
            </p:cNvSpPr>
            <p:nvPr/>
          </p:nvSpPr>
          <p:spPr bwMode="auto">
            <a:xfrm flipH="1" flipV="1">
              <a:off x="7469188" y="4492625"/>
              <a:ext cx="11112" cy="388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72" name="Text Box 71"/>
            <p:cNvSpPr txBox="1">
              <a:spLocks noChangeArrowheads="1"/>
            </p:cNvSpPr>
            <p:nvPr/>
          </p:nvSpPr>
          <p:spPr bwMode="auto"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222.222.222.221</a:t>
              </a:r>
            </a:p>
          </p:txBody>
        </p:sp>
        <p:sp>
          <p:nvSpPr>
            <p:cNvPr id="47173" name="Text Box 72"/>
            <p:cNvSpPr txBox="1">
              <a:spLocks noChangeArrowheads="1"/>
            </p:cNvSpPr>
            <p:nvPr/>
          </p:nvSpPr>
          <p:spPr bwMode="auto"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88-B2-2F-54-1A-0F</a:t>
              </a:r>
            </a:p>
          </p:txBody>
        </p:sp>
        <p:sp>
          <p:nvSpPr>
            <p:cNvPr id="47174" name="Line 73"/>
            <p:cNvSpPr>
              <a:spLocks noChangeShapeType="1"/>
            </p:cNvSpPr>
            <p:nvPr/>
          </p:nvSpPr>
          <p:spPr bwMode="auto">
            <a:xfrm flipH="1" flipV="1">
              <a:off x="6873875" y="5313363"/>
              <a:ext cx="254000" cy="250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75" name="Line 74"/>
            <p:cNvSpPr>
              <a:spLocks noChangeShapeType="1"/>
            </p:cNvSpPr>
            <p:nvPr/>
          </p:nvSpPr>
          <p:spPr bwMode="auto">
            <a:xfrm flipH="1">
              <a:off x="7208838" y="5654675"/>
              <a:ext cx="4762" cy="201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36263" name="Freeform 75"/>
            <p:cNvSpPr>
              <a:spLocks/>
            </p:cNvSpPr>
            <p:nvPr/>
          </p:nvSpPr>
          <p:spPr bwMode="auto">
            <a:xfrm>
              <a:off x="6203950" y="4440238"/>
              <a:ext cx="765175" cy="1081088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93" name="Text Box 76"/>
            <p:cNvSpPr txBox="1">
              <a:spLocks noChangeArrowheads="1"/>
            </p:cNvSpPr>
            <p:nvPr/>
          </p:nvSpPr>
          <p:spPr bwMode="auto">
            <a:xfrm>
              <a:off x="8307388" y="4073525"/>
              <a:ext cx="357187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B</a:t>
              </a:r>
            </a:p>
          </p:txBody>
        </p:sp>
        <p:grpSp>
          <p:nvGrpSpPr>
            <p:cNvPr id="136265" name="Group 193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136283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6285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5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6286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213" name="Rectangle 43"/>
              <p:cNvSpPr>
                <a:spLocks noChangeArrowheads="1"/>
              </p:cNvSpPr>
              <p:nvPr/>
            </p:nvSpPr>
            <p:spPr bwMode="auto">
              <a:xfrm rot="16200000">
                <a:off x="7438232" y="4309268"/>
                <a:ext cx="127000" cy="195263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6266" name="Group 194"/>
            <p:cNvGrpSpPr>
              <a:grpSpLocks/>
            </p:cNvGrpSpPr>
            <p:nvPr/>
          </p:nvGrpSpPr>
          <p:grpSpPr bwMode="auto">
            <a:xfrm>
              <a:off x="3757931" y="4714240"/>
              <a:ext cx="1291589" cy="426719"/>
              <a:chOff x="4011931" y="3379152"/>
              <a:chExt cx="1262062" cy="390207"/>
            </a:xfrm>
          </p:grpSpPr>
          <p:sp>
            <p:nvSpPr>
              <p:cNvPr id="201" name="Rectangle 43"/>
              <p:cNvSpPr>
                <a:spLocks noChangeArrowheads="1"/>
              </p:cNvSpPr>
              <p:nvPr/>
            </p:nvSpPr>
            <p:spPr bwMode="auto">
              <a:xfrm rot="16200000">
                <a:off x="5112705" y="3476529"/>
                <a:ext cx="127747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6273" name="Group 1185"/>
              <p:cNvGrpSpPr>
                <a:grpSpLocks/>
              </p:cNvGrpSpPr>
              <p:nvPr/>
            </p:nvGrpSpPr>
            <p:grpSpPr bwMode="auto"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136275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sp>
              <p:nvSpPr>
                <p:cNvPr id="136276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sp>
              <p:nvSpPr>
                <p:cNvPr id="136277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grpSp>
              <p:nvGrpSpPr>
                <p:cNvPr id="136278" name="Group 1189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136281" name="Freeform 1190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36282" name="Freeform 1191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47192" name="Line 119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7193" name="Line 119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203" name="Rectangle 43"/>
              <p:cNvSpPr>
                <a:spLocks noChangeArrowheads="1"/>
              </p:cNvSpPr>
              <p:nvPr/>
            </p:nvSpPr>
            <p:spPr bwMode="auto">
              <a:xfrm rot="16200000">
                <a:off x="4046200" y="3485965"/>
                <a:ext cx="126295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6267" name="Group 195"/>
            <p:cNvGrpSpPr>
              <a:grpSpLocks/>
            </p:cNvGrpSpPr>
            <p:nvPr/>
          </p:nvGrpSpPr>
          <p:grpSpPr bwMode="auto">
            <a:xfrm>
              <a:off x="1483360" y="5313680"/>
              <a:ext cx="701043" cy="517588"/>
              <a:chOff x="1046480" y="3962400"/>
              <a:chExt cx="1026163" cy="761428"/>
            </a:xfrm>
          </p:grpSpPr>
          <p:sp>
            <p:nvSpPr>
              <p:cNvPr id="197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438" y="4298853"/>
                <a:ext cx="109762" cy="24863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6269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6270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6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6271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47109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010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Addressing: routing to another LAN</a:t>
            </a:r>
          </a:p>
        </p:txBody>
      </p:sp>
      <p:grpSp>
        <p:nvGrpSpPr>
          <p:cNvPr id="714811" name="Group 59"/>
          <p:cNvGrpSpPr>
            <a:grpSpLocks/>
          </p:cNvGrpSpPr>
          <p:nvPr/>
        </p:nvGrpSpPr>
        <p:grpSpPr bwMode="auto">
          <a:xfrm>
            <a:off x="534988" y="2686050"/>
            <a:ext cx="976312" cy="1460500"/>
            <a:chOff x="337" y="1692"/>
            <a:chExt cx="615" cy="920"/>
          </a:xfrm>
        </p:grpSpPr>
        <p:sp>
          <p:nvSpPr>
            <p:cNvPr id="136229" name="Freeform 60"/>
            <p:cNvSpPr>
              <a:spLocks/>
            </p:cNvSpPr>
            <p:nvPr/>
          </p:nvSpPr>
          <p:spPr bwMode="auto">
            <a:xfrm>
              <a:off x="348" y="1709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7143" name="Rectangle 61"/>
            <p:cNvSpPr>
              <a:spLocks noChangeArrowheads="1"/>
            </p:cNvSpPr>
            <p:nvPr/>
          </p:nvSpPr>
          <p:spPr bwMode="auto">
            <a:xfrm>
              <a:off x="344" y="1711"/>
              <a:ext cx="493" cy="79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44" name="Text Box 62"/>
            <p:cNvSpPr txBox="1">
              <a:spLocks noChangeArrowheads="1"/>
            </p:cNvSpPr>
            <p:nvPr/>
          </p:nvSpPr>
          <p:spPr bwMode="auto">
            <a:xfrm>
              <a:off x="413" y="1692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IP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Eth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Phy</a:t>
              </a:r>
            </a:p>
          </p:txBody>
        </p:sp>
        <p:sp>
          <p:nvSpPr>
            <p:cNvPr id="47145" name="Line 63"/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46" name="Line 64"/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47" name="Line 65"/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48" name="Line 66"/>
            <p:cNvSpPr>
              <a:spLocks noChangeShapeType="1"/>
            </p:cNvSpPr>
            <p:nvPr/>
          </p:nvSpPr>
          <p:spPr bwMode="auto">
            <a:xfrm>
              <a:off x="337" y="2345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47111" name="Rectangle 76"/>
          <p:cNvSpPr>
            <a:spLocks noChangeArrowheads="1"/>
          </p:cNvSpPr>
          <p:nvPr/>
        </p:nvSpPr>
        <p:spPr bwMode="auto">
          <a:xfrm>
            <a:off x="706438" y="1084263"/>
            <a:ext cx="77724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Gill Sans MT" charset="0"/>
                <a:cs typeface="+mn-cs"/>
              </a:rPr>
              <a:t>frame sent from A to R</a:t>
            </a:r>
          </a:p>
        </p:txBody>
      </p:sp>
      <p:grpSp>
        <p:nvGrpSpPr>
          <p:cNvPr id="714820" name="Group 68"/>
          <p:cNvGrpSpPr>
            <a:grpSpLocks/>
          </p:cNvGrpSpPr>
          <p:nvPr/>
        </p:nvGrpSpPr>
        <p:grpSpPr bwMode="auto">
          <a:xfrm>
            <a:off x="2713038" y="3265488"/>
            <a:ext cx="1096962" cy="244475"/>
            <a:chOff x="1231" y="1990"/>
            <a:chExt cx="691" cy="154"/>
          </a:xfrm>
        </p:grpSpPr>
        <p:sp>
          <p:nvSpPr>
            <p:cNvPr id="47139" name="Rectangle 69"/>
            <p:cNvSpPr>
              <a:spLocks noChangeArrowheads="1"/>
            </p:cNvSpPr>
            <p:nvPr/>
          </p:nvSpPr>
          <p:spPr bwMode="auto">
            <a:xfrm>
              <a:off x="1231" y="1991"/>
              <a:ext cx="691" cy="15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40" name="Line 70"/>
            <p:cNvSpPr>
              <a:spLocks noChangeShapeType="1"/>
            </p:cNvSpPr>
            <p:nvPr/>
          </p:nvSpPr>
          <p:spPr bwMode="auto">
            <a:xfrm>
              <a:off x="1337" y="1990"/>
              <a:ext cx="0" cy="15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41" name="Line 71"/>
            <p:cNvSpPr>
              <a:spLocks noChangeShapeType="1"/>
            </p:cNvSpPr>
            <p:nvPr/>
          </p:nvSpPr>
          <p:spPr bwMode="auto">
            <a:xfrm>
              <a:off x="1427" y="1992"/>
              <a:ext cx="0" cy="15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714852" name="Group 100"/>
          <p:cNvGrpSpPr>
            <a:grpSpLocks/>
          </p:cNvGrpSpPr>
          <p:nvPr/>
        </p:nvGrpSpPr>
        <p:grpSpPr bwMode="auto">
          <a:xfrm>
            <a:off x="3952875" y="2767013"/>
            <a:ext cx="895350" cy="2038350"/>
            <a:chOff x="2823" y="1545"/>
            <a:chExt cx="564" cy="1284"/>
          </a:xfrm>
        </p:grpSpPr>
        <p:sp>
          <p:nvSpPr>
            <p:cNvPr id="136221" name="Freeform 93"/>
            <p:cNvSpPr>
              <a:spLocks/>
            </p:cNvSpPr>
            <p:nvPr/>
          </p:nvSpPr>
          <p:spPr bwMode="auto">
            <a:xfrm>
              <a:off x="2823" y="2265"/>
              <a:ext cx="564" cy="56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4" h="564">
                  <a:moveTo>
                    <a:pt x="564" y="0"/>
                  </a:moveTo>
                  <a:lnTo>
                    <a:pt x="287" y="564"/>
                  </a:lnTo>
                  <a:lnTo>
                    <a:pt x="0" y="0"/>
                  </a:lnTo>
                  <a:lnTo>
                    <a:pt x="56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7135" name="Rectangle 94"/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36" name="Text Box 95"/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IP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Eth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Phy</a:t>
              </a:r>
            </a:p>
          </p:txBody>
        </p:sp>
        <p:sp>
          <p:nvSpPr>
            <p:cNvPr id="47137" name="Line 98"/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38" name="Line 99"/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714853" name="Rectangle 101"/>
          <p:cNvSpPr>
            <a:spLocks noChangeArrowheads="1"/>
          </p:cNvSpPr>
          <p:nvPr/>
        </p:nvSpPr>
        <p:spPr bwMode="auto">
          <a:xfrm>
            <a:off x="709613" y="1439863"/>
            <a:ext cx="77724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Gill Sans MT" charset="0"/>
                <a:cs typeface="+mn-cs"/>
              </a:rPr>
              <a:t>frame received at R, datagram removed, passed up to IP</a:t>
            </a:r>
          </a:p>
        </p:txBody>
      </p:sp>
      <p:grpSp>
        <p:nvGrpSpPr>
          <p:cNvPr id="714883" name="Group 131"/>
          <p:cNvGrpSpPr>
            <a:grpSpLocks/>
          </p:cNvGrpSpPr>
          <p:nvPr/>
        </p:nvGrpSpPr>
        <p:grpSpPr bwMode="auto">
          <a:xfrm>
            <a:off x="1477963" y="2244725"/>
            <a:ext cx="2443162" cy="1519238"/>
            <a:chOff x="931" y="1414"/>
            <a:chExt cx="1539" cy="957"/>
          </a:xfrm>
        </p:grpSpPr>
        <p:sp>
          <p:nvSpPr>
            <p:cNvPr id="47121" name="Text Box 79"/>
            <p:cNvSpPr txBox="1">
              <a:spLocks noChangeArrowheads="1"/>
            </p:cNvSpPr>
            <p:nvPr/>
          </p:nvSpPr>
          <p:spPr bwMode="auto"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MAC src: 74-29-9C-E8-FF-55</a:t>
              </a:r>
            </a:p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   MAC dest: E6-E9-00-17-BB-4B</a:t>
              </a:r>
            </a:p>
          </p:txBody>
        </p:sp>
        <p:grpSp>
          <p:nvGrpSpPr>
            <p:cNvPr id="136209" name="Group 80"/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47128" name="Rectangle 81"/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129" name="Rectangle 82"/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130" name="Line 83"/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131" name="Line 84"/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132" name="Line 85"/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133" name="Line 86"/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47123" name="Line 87"/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24" name="Line 88"/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25" name="Line 89"/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26" name="Line 90"/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27" name="Text Box 130"/>
            <p:cNvSpPr txBox="1">
              <a:spLocks noChangeArrowheads="1"/>
            </p:cNvSpPr>
            <p:nvPr/>
          </p:nvSpPr>
          <p:spPr bwMode="auto">
            <a:xfrm>
              <a:off x="1193" y="1665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IP src: 111.111.111.111</a:t>
              </a:r>
            </a:p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   IP dest: 222.222.222.222</a:t>
              </a:r>
            </a:p>
          </p:txBody>
        </p:sp>
      </p:grpSp>
      <p:grpSp>
        <p:nvGrpSpPr>
          <p:cNvPr id="714898" name="Group 146"/>
          <p:cNvGrpSpPr>
            <a:grpSpLocks/>
          </p:cNvGrpSpPr>
          <p:nvPr/>
        </p:nvGrpSpPr>
        <p:grpSpPr bwMode="auto">
          <a:xfrm>
            <a:off x="2667000" y="2435225"/>
            <a:ext cx="2011363" cy="979488"/>
            <a:chOff x="4493" y="1480"/>
            <a:chExt cx="1267" cy="617"/>
          </a:xfrm>
        </p:grpSpPr>
        <p:sp>
          <p:nvSpPr>
            <p:cNvPr id="47118" name="Line 143"/>
            <p:cNvSpPr>
              <a:spLocks noChangeShapeType="1"/>
            </p:cNvSpPr>
            <p:nvPr/>
          </p:nvSpPr>
          <p:spPr bwMode="auto">
            <a:xfrm flipH="1" flipV="1">
              <a:off x="4576" y="1627"/>
              <a:ext cx="2" cy="4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19" name="Line 144"/>
            <p:cNvSpPr>
              <a:spLocks noChangeShapeType="1"/>
            </p:cNvSpPr>
            <p:nvPr/>
          </p:nvSpPr>
          <p:spPr bwMode="auto">
            <a:xfrm>
              <a:off x="4668" y="1739"/>
              <a:ext cx="2" cy="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20" name="Text Box 145"/>
            <p:cNvSpPr txBox="1">
              <a:spLocks noChangeArrowheads="1"/>
            </p:cNvSpPr>
            <p:nvPr/>
          </p:nvSpPr>
          <p:spPr bwMode="auto">
            <a:xfrm>
              <a:off x="4493" y="1480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IP src: 111.111.111.111</a:t>
              </a:r>
            </a:p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   IP dest: 222.222.222.222</a:t>
              </a:r>
            </a:p>
          </p:txBody>
        </p:sp>
      </p:grpSp>
      <p:pic>
        <p:nvPicPr>
          <p:cNvPr id="136204" name="Picture 15" descr="underline_base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7635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10</a:t>
            </a:fld>
            <a:endParaRPr lang="en-US" sz="1200" dirty="0">
              <a:latin typeface="Tahoma" charset="0"/>
            </a:endParaRPr>
          </a:p>
        </p:txBody>
      </p:sp>
      <p:sp>
        <p:nvSpPr>
          <p:cNvPr id="10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976709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71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8.33333E-7 0.13334 L 0.04045 0.16297 L 0.08629 0.16297 L 0.08524 0.01482 " pathEditMode="relative" rAng="0" ptsTypes="AAAAA">
                                      <p:cBhvr>
                                        <p:cTn id="11" dur="2000" fill="hold"/>
                                        <p:tgtEl>
                                          <p:spTgt spid="7148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06" y="8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7148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4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1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" dur="500"/>
                                        <p:tgtEl>
                                          <p:spTgt spid="7148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4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714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485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241" name="Group 100"/>
          <p:cNvGrpSpPr>
            <a:grpSpLocks/>
          </p:cNvGrpSpPr>
          <p:nvPr/>
        </p:nvGrpSpPr>
        <p:grpSpPr bwMode="auto">
          <a:xfrm>
            <a:off x="709613" y="3962400"/>
            <a:ext cx="8221662" cy="2349500"/>
            <a:chOff x="709613" y="3962400"/>
            <a:chExt cx="8221662" cy="2349500"/>
          </a:xfrm>
        </p:grpSpPr>
        <p:grpSp>
          <p:nvGrpSpPr>
            <p:cNvPr id="138285" name="Group 101"/>
            <p:cNvGrpSpPr>
              <a:grpSpLocks/>
            </p:cNvGrpSpPr>
            <p:nvPr/>
          </p:nvGrpSpPr>
          <p:grpSpPr bwMode="auto"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138344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8346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8347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62" name="Rectangle 43"/>
              <p:cNvSpPr>
                <a:spLocks noChangeArrowheads="1"/>
              </p:cNvSpPr>
              <p:nvPr/>
            </p:nvSpPr>
            <p:spPr bwMode="auto">
              <a:xfrm rot="16200000">
                <a:off x="7439930" y="4308572"/>
                <a:ext cx="126470" cy="19607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8286" name="Group 102"/>
            <p:cNvGrpSpPr>
              <a:grpSpLocks/>
            </p:cNvGrpSpPr>
            <p:nvPr/>
          </p:nvGrpSpPr>
          <p:grpSpPr bwMode="auto">
            <a:xfrm>
              <a:off x="1046480" y="3962400"/>
              <a:ext cx="1026163" cy="761428"/>
              <a:chOff x="1046480" y="3962400"/>
              <a:chExt cx="1026163" cy="761428"/>
            </a:xfrm>
          </p:grpSpPr>
          <p:sp>
            <p:nvSpPr>
              <p:cNvPr id="157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887" y="4300538"/>
                <a:ext cx="111125" cy="24765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8341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8342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8343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104" name="Text Box 4"/>
            <p:cNvSpPr txBox="1">
              <a:spLocks noChangeArrowheads="1"/>
            </p:cNvSpPr>
            <p:nvPr/>
          </p:nvSpPr>
          <p:spPr bwMode="auto"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R</a:t>
              </a:r>
              <a:endParaRPr lang="en-US" i="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177" name="Text Box 21"/>
            <p:cNvSpPr txBox="1">
              <a:spLocks noChangeArrowheads="1"/>
            </p:cNvSpPr>
            <p:nvPr/>
          </p:nvSpPr>
          <p:spPr bwMode="auto"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1A-23-F9-CD-06-9B</a:t>
              </a:r>
            </a:p>
          </p:txBody>
        </p:sp>
        <p:sp>
          <p:nvSpPr>
            <p:cNvPr id="48178" name="Text Box 22"/>
            <p:cNvSpPr txBox="1">
              <a:spLocks noChangeArrowheads="1"/>
            </p:cNvSpPr>
            <p:nvPr/>
          </p:nvSpPr>
          <p:spPr bwMode="auto"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222.222.222.220</a:t>
              </a:r>
            </a:p>
          </p:txBody>
        </p:sp>
        <p:grpSp>
          <p:nvGrpSpPr>
            <p:cNvPr id="138290" name="Group 23"/>
            <p:cNvGrpSpPr>
              <a:grpSpLocks/>
            </p:cNvGrpSpPr>
            <p:nvPr/>
          </p:nvGrpSpPr>
          <p:grpSpPr bwMode="auto"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48227" name="Text Box 24"/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111.111.111.110</a:t>
                </a:r>
              </a:p>
            </p:txBody>
          </p:sp>
          <p:sp>
            <p:nvSpPr>
              <p:cNvPr id="48228" name="Text Box 25"/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E6-E9-00-17-BB-4B</a:t>
                </a:r>
              </a:p>
            </p:txBody>
          </p:sp>
        </p:grpSp>
        <p:sp>
          <p:nvSpPr>
            <p:cNvPr id="48180" name="Text Box 26"/>
            <p:cNvSpPr txBox="1">
              <a:spLocks noChangeArrowheads="1"/>
            </p:cNvSpPr>
            <p:nvPr/>
          </p:nvSpPr>
          <p:spPr bwMode="auto"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CC-49-DE-D0-AB-7D</a:t>
              </a:r>
            </a:p>
          </p:txBody>
        </p:sp>
        <p:sp>
          <p:nvSpPr>
            <p:cNvPr id="48181" name="Text Box 27"/>
            <p:cNvSpPr txBox="1">
              <a:spLocks noChangeArrowheads="1"/>
            </p:cNvSpPr>
            <p:nvPr/>
          </p:nvSpPr>
          <p:spPr bwMode="auto">
            <a:xfrm>
              <a:off x="942975" y="5854700"/>
              <a:ext cx="1322388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111.111.111.112</a:t>
              </a:r>
            </a:p>
          </p:txBody>
        </p:sp>
        <p:sp>
          <p:nvSpPr>
            <p:cNvPr id="48182" name="Text Box 30"/>
            <p:cNvSpPr txBox="1">
              <a:spLocks noChangeArrowheads="1"/>
            </p:cNvSpPr>
            <p:nvPr/>
          </p:nvSpPr>
          <p:spPr bwMode="auto">
            <a:xfrm>
              <a:off x="709613" y="4741863"/>
              <a:ext cx="1322387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111.111.111.111</a:t>
              </a:r>
            </a:p>
          </p:txBody>
        </p:sp>
        <p:sp>
          <p:nvSpPr>
            <p:cNvPr id="48183" name="Text Box 33"/>
            <p:cNvSpPr txBox="1">
              <a:spLocks noChangeArrowheads="1"/>
            </p:cNvSpPr>
            <p:nvPr/>
          </p:nvSpPr>
          <p:spPr bwMode="auto"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74-29-9C-E8-FF-55</a:t>
              </a:r>
            </a:p>
          </p:txBody>
        </p:sp>
        <p:sp>
          <p:nvSpPr>
            <p:cNvPr id="138295" name="Freeform 39"/>
            <p:cNvSpPr>
              <a:spLocks/>
            </p:cNvSpPr>
            <p:nvPr/>
          </p:nvSpPr>
          <p:spPr bwMode="auto">
            <a:xfrm>
              <a:off x="2365375" y="4437063"/>
              <a:ext cx="839788" cy="1069975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8185" name="Line 40"/>
            <p:cNvSpPr>
              <a:spLocks noChangeShapeType="1"/>
            </p:cNvSpPr>
            <p:nvPr/>
          </p:nvSpPr>
          <p:spPr bwMode="auto">
            <a:xfrm>
              <a:off x="2062163" y="4416425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86" name="Line 41"/>
            <p:cNvSpPr>
              <a:spLocks noChangeShapeType="1"/>
            </p:cNvSpPr>
            <p:nvPr/>
          </p:nvSpPr>
          <p:spPr bwMode="auto">
            <a:xfrm flipV="1">
              <a:off x="2185988" y="5360988"/>
              <a:ext cx="231775" cy="255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87" name="Line 42"/>
            <p:cNvSpPr>
              <a:spLocks noChangeShapeType="1"/>
            </p:cNvSpPr>
            <p:nvPr/>
          </p:nvSpPr>
          <p:spPr bwMode="auto">
            <a:xfrm>
              <a:off x="3184525" y="4954588"/>
              <a:ext cx="584200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88" name="Line 44"/>
            <p:cNvSpPr>
              <a:spLocks noChangeShapeType="1"/>
            </p:cNvSpPr>
            <p:nvPr/>
          </p:nvSpPr>
          <p:spPr bwMode="auto">
            <a:xfrm flipV="1">
              <a:off x="2101850" y="5711825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89" name="Line 45"/>
            <p:cNvSpPr>
              <a:spLocks noChangeShapeType="1"/>
            </p:cNvSpPr>
            <p:nvPr/>
          </p:nvSpPr>
          <p:spPr bwMode="auto">
            <a:xfrm flipH="1" flipV="1">
              <a:off x="1976438" y="4489450"/>
              <a:ext cx="0" cy="398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90" name="Line 46"/>
            <p:cNvSpPr>
              <a:spLocks noChangeShapeType="1"/>
            </p:cNvSpPr>
            <p:nvPr/>
          </p:nvSpPr>
          <p:spPr bwMode="auto">
            <a:xfrm>
              <a:off x="3854450" y="5021263"/>
              <a:ext cx="0" cy="750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91" name="Line 47"/>
            <p:cNvSpPr>
              <a:spLocks noChangeShapeType="1"/>
            </p:cNvSpPr>
            <p:nvPr/>
          </p:nvSpPr>
          <p:spPr bwMode="auto">
            <a:xfrm flipH="1" flipV="1">
              <a:off x="4935538" y="5011738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20" name="Text Box 58"/>
            <p:cNvSpPr txBox="1">
              <a:spLocks noChangeArrowheads="1"/>
            </p:cNvSpPr>
            <p:nvPr/>
          </p:nvSpPr>
          <p:spPr bwMode="auto"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8193" name="Line 60"/>
            <p:cNvSpPr>
              <a:spLocks noChangeShapeType="1"/>
            </p:cNvSpPr>
            <p:nvPr/>
          </p:nvSpPr>
          <p:spPr bwMode="auto">
            <a:xfrm>
              <a:off x="5045075" y="4921250"/>
              <a:ext cx="1198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38305" name="Group 63"/>
            <p:cNvGrpSpPr>
              <a:grpSpLocks/>
            </p:cNvGrpSpPr>
            <p:nvPr/>
          </p:nvGrpSpPr>
          <p:grpSpPr bwMode="auto">
            <a:xfrm>
              <a:off x="7372350" y="4845050"/>
              <a:ext cx="1558925" cy="460375"/>
              <a:chOff x="4351" y="2786"/>
              <a:chExt cx="982" cy="290"/>
            </a:xfrm>
          </p:grpSpPr>
          <p:sp>
            <p:nvSpPr>
              <p:cNvPr id="48225" name="Text Box 64"/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222.222.222.222</a:t>
                </a:r>
              </a:p>
            </p:txBody>
          </p:sp>
          <p:sp>
            <p:nvSpPr>
              <p:cNvPr id="48226" name="Text Box 65"/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982" cy="1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49-BD-D2-C7-56-2A</a:t>
                </a:r>
              </a:p>
            </p:txBody>
          </p:sp>
        </p:grpSp>
        <p:sp>
          <p:nvSpPr>
            <p:cNvPr id="48195" name="Line 67"/>
            <p:cNvSpPr>
              <a:spLocks noChangeShapeType="1"/>
            </p:cNvSpPr>
            <p:nvPr/>
          </p:nvSpPr>
          <p:spPr bwMode="auto">
            <a:xfrm flipV="1">
              <a:off x="6943725" y="4416425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96" name="Line 68"/>
            <p:cNvSpPr>
              <a:spLocks noChangeShapeType="1"/>
            </p:cNvSpPr>
            <p:nvPr/>
          </p:nvSpPr>
          <p:spPr bwMode="auto">
            <a:xfrm flipH="1" flipV="1">
              <a:off x="7469188" y="4492625"/>
              <a:ext cx="11112" cy="388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97" name="Text Box 71"/>
            <p:cNvSpPr txBox="1">
              <a:spLocks noChangeArrowheads="1"/>
            </p:cNvSpPr>
            <p:nvPr/>
          </p:nvSpPr>
          <p:spPr bwMode="auto"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222.222.222.221</a:t>
              </a:r>
            </a:p>
          </p:txBody>
        </p:sp>
        <p:sp>
          <p:nvSpPr>
            <p:cNvPr id="48198" name="Text Box 72"/>
            <p:cNvSpPr txBox="1">
              <a:spLocks noChangeArrowheads="1"/>
            </p:cNvSpPr>
            <p:nvPr/>
          </p:nvSpPr>
          <p:spPr bwMode="auto"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88-B2-2F-54-1A-0F</a:t>
              </a:r>
            </a:p>
          </p:txBody>
        </p:sp>
        <p:sp>
          <p:nvSpPr>
            <p:cNvPr id="48199" name="Line 73"/>
            <p:cNvSpPr>
              <a:spLocks noChangeShapeType="1"/>
            </p:cNvSpPr>
            <p:nvPr/>
          </p:nvSpPr>
          <p:spPr bwMode="auto">
            <a:xfrm flipH="1" flipV="1">
              <a:off x="6873875" y="5313363"/>
              <a:ext cx="254000" cy="250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200" name="Line 74"/>
            <p:cNvSpPr>
              <a:spLocks noChangeShapeType="1"/>
            </p:cNvSpPr>
            <p:nvPr/>
          </p:nvSpPr>
          <p:spPr bwMode="auto">
            <a:xfrm flipH="1">
              <a:off x="7208838" y="5654675"/>
              <a:ext cx="4762" cy="201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38312" name="Freeform 75"/>
            <p:cNvSpPr>
              <a:spLocks/>
            </p:cNvSpPr>
            <p:nvPr/>
          </p:nvSpPr>
          <p:spPr bwMode="auto">
            <a:xfrm>
              <a:off x="6203950" y="4440238"/>
              <a:ext cx="765175" cy="1081088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30" name="Text Box 76"/>
            <p:cNvSpPr txBox="1">
              <a:spLocks noChangeArrowheads="1"/>
            </p:cNvSpPr>
            <p:nvPr/>
          </p:nvSpPr>
          <p:spPr bwMode="auto">
            <a:xfrm>
              <a:off x="8307388" y="4073525"/>
              <a:ext cx="357187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B</a:t>
              </a:r>
            </a:p>
          </p:txBody>
        </p:sp>
        <p:grpSp>
          <p:nvGrpSpPr>
            <p:cNvPr id="138314" name="Group 130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138332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8334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5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8335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50" name="Rectangle 43"/>
              <p:cNvSpPr>
                <a:spLocks noChangeArrowheads="1"/>
              </p:cNvSpPr>
              <p:nvPr/>
            </p:nvSpPr>
            <p:spPr bwMode="auto">
              <a:xfrm rot="16200000">
                <a:off x="7438232" y="4309268"/>
                <a:ext cx="127000" cy="195263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8315" name="Group 131"/>
            <p:cNvGrpSpPr>
              <a:grpSpLocks/>
            </p:cNvGrpSpPr>
            <p:nvPr/>
          </p:nvGrpSpPr>
          <p:grpSpPr bwMode="auto">
            <a:xfrm>
              <a:off x="3757931" y="4714240"/>
              <a:ext cx="1291589" cy="426719"/>
              <a:chOff x="4011931" y="3379152"/>
              <a:chExt cx="1262062" cy="390207"/>
            </a:xfrm>
          </p:grpSpPr>
          <p:sp>
            <p:nvSpPr>
              <p:cNvPr id="138" name="Rectangle 43"/>
              <p:cNvSpPr>
                <a:spLocks noChangeArrowheads="1"/>
              </p:cNvSpPr>
              <p:nvPr/>
            </p:nvSpPr>
            <p:spPr bwMode="auto">
              <a:xfrm rot="16200000">
                <a:off x="5112705" y="3476529"/>
                <a:ext cx="127747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8322" name="Group 1185"/>
              <p:cNvGrpSpPr>
                <a:grpSpLocks/>
              </p:cNvGrpSpPr>
              <p:nvPr/>
            </p:nvGrpSpPr>
            <p:grpSpPr bwMode="auto"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138324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sp>
              <p:nvSpPr>
                <p:cNvPr id="138325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sp>
              <p:nvSpPr>
                <p:cNvPr id="138326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grpSp>
              <p:nvGrpSpPr>
                <p:cNvPr id="138327" name="Group 1189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138330" name="Freeform 1190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38331" name="Freeform 1191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48217" name="Line 119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8218" name="Line 119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140" name="Rectangle 43"/>
              <p:cNvSpPr>
                <a:spLocks noChangeArrowheads="1"/>
              </p:cNvSpPr>
              <p:nvPr/>
            </p:nvSpPr>
            <p:spPr bwMode="auto">
              <a:xfrm rot="16200000">
                <a:off x="4046200" y="3485965"/>
                <a:ext cx="126295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8316" name="Group 132"/>
            <p:cNvGrpSpPr>
              <a:grpSpLocks/>
            </p:cNvGrpSpPr>
            <p:nvPr/>
          </p:nvGrpSpPr>
          <p:grpSpPr bwMode="auto">
            <a:xfrm>
              <a:off x="1483360" y="5313680"/>
              <a:ext cx="701043" cy="517588"/>
              <a:chOff x="1046480" y="3962400"/>
              <a:chExt cx="1026163" cy="761428"/>
            </a:xfrm>
          </p:grpSpPr>
          <p:sp>
            <p:nvSpPr>
              <p:cNvPr id="134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438" y="4298853"/>
                <a:ext cx="109762" cy="24863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8318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8319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6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8320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718850" name="AutoShape 2"/>
          <p:cNvSpPr>
            <a:spLocks noChangeArrowheads="1"/>
          </p:cNvSpPr>
          <p:nvPr/>
        </p:nvSpPr>
        <p:spPr bwMode="auto">
          <a:xfrm>
            <a:off x="5710238" y="3144838"/>
            <a:ext cx="314325" cy="792162"/>
          </a:xfrm>
          <a:prstGeom prst="downArrow">
            <a:avLst>
              <a:gd name="adj1" fmla="val 50000"/>
              <a:gd name="adj2" fmla="val 63005"/>
            </a:avLst>
          </a:prstGeom>
          <a:gradFill rotWithShape="1">
            <a:gsLst>
              <a:gs pos="0">
                <a:schemeClr val="bg1"/>
              </a:gs>
              <a:gs pos="100000">
                <a:srgbClr val="FF0000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8134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010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Addressing: routing to another LAN</a:t>
            </a:r>
          </a:p>
        </p:txBody>
      </p:sp>
      <p:grpSp>
        <p:nvGrpSpPr>
          <p:cNvPr id="138246" name="Group 67"/>
          <p:cNvGrpSpPr>
            <a:grpSpLocks/>
          </p:cNvGrpSpPr>
          <p:nvPr/>
        </p:nvGrpSpPr>
        <p:grpSpPr bwMode="auto">
          <a:xfrm>
            <a:off x="5216525" y="2701925"/>
            <a:ext cx="2011363" cy="760413"/>
            <a:chOff x="1197" y="1665"/>
            <a:chExt cx="1267" cy="479"/>
          </a:xfrm>
        </p:grpSpPr>
        <p:grpSp>
          <p:nvGrpSpPr>
            <p:cNvPr id="138280" name="Group 68"/>
            <p:cNvGrpSpPr>
              <a:grpSpLocks/>
            </p:cNvGrpSpPr>
            <p:nvPr/>
          </p:nvGrpSpPr>
          <p:grpSpPr bwMode="auto"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48171" name="Rectangle 69"/>
              <p:cNvSpPr>
                <a:spLocks noChangeArrowheads="1"/>
              </p:cNvSpPr>
              <p:nvPr/>
            </p:nvSpPr>
            <p:spPr bwMode="auto">
              <a:xfrm>
                <a:off x="1231" y="1991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8172" name="Line 70"/>
              <p:cNvSpPr>
                <a:spLocks noChangeShapeType="1"/>
              </p:cNvSpPr>
              <p:nvPr/>
            </p:nvSpPr>
            <p:spPr bwMode="auto">
              <a:xfrm>
                <a:off x="1337" y="1990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8173" name="Line 71"/>
              <p:cNvSpPr>
                <a:spLocks noChangeShapeType="1"/>
              </p:cNvSpPr>
              <p:nvPr/>
            </p:nvSpPr>
            <p:spPr bwMode="auto">
              <a:xfrm>
                <a:off x="1427" y="1992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48170" name="Text Box 72"/>
            <p:cNvSpPr txBox="1">
              <a:spLocks noChangeArrowheads="1"/>
            </p:cNvSpPr>
            <p:nvPr/>
          </p:nvSpPr>
          <p:spPr bwMode="auto">
            <a:xfrm>
              <a:off x="1197" y="1665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IP src: 111.111.111.111</a:t>
              </a:r>
            </a:p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   IP dest: 222.222.222.222</a:t>
              </a:r>
            </a:p>
          </p:txBody>
        </p:sp>
      </p:grpSp>
      <p:grpSp>
        <p:nvGrpSpPr>
          <p:cNvPr id="718921" name="Group 73"/>
          <p:cNvGrpSpPr>
            <a:grpSpLocks/>
          </p:cNvGrpSpPr>
          <p:nvPr/>
        </p:nvGrpSpPr>
        <p:grpSpPr bwMode="auto">
          <a:xfrm>
            <a:off x="5340350" y="2952750"/>
            <a:ext cx="146050" cy="385763"/>
            <a:chOff x="1272" y="1762"/>
            <a:chExt cx="92" cy="243"/>
          </a:xfrm>
        </p:grpSpPr>
        <p:sp>
          <p:nvSpPr>
            <p:cNvPr id="48167" name="Line 74"/>
            <p:cNvSpPr>
              <a:spLocks noChangeShapeType="1"/>
            </p:cNvSpPr>
            <p:nvPr/>
          </p:nvSpPr>
          <p:spPr bwMode="auto">
            <a:xfrm>
              <a:off x="1272" y="1762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68" name="Line 75"/>
            <p:cNvSpPr>
              <a:spLocks noChangeShapeType="1"/>
            </p:cNvSpPr>
            <p:nvPr/>
          </p:nvSpPr>
          <p:spPr bwMode="auto">
            <a:xfrm>
              <a:off x="1364" y="1878"/>
              <a:ext cx="0" cy="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718924" name="Rectangle 76"/>
          <p:cNvSpPr>
            <a:spLocks noChangeArrowheads="1"/>
          </p:cNvSpPr>
          <p:nvPr/>
        </p:nvSpPr>
        <p:spPr bwMode="auto">
          <a:xfrm>
            <a:off x="706438" y="1084263"/>
            <a:ext cx="7772400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Gill Sans MT" charset="0"/>
                <a:cs typeface="+mn-cs"/>
              </a:rPr>
              <a:t>R forwards datagram with IP source A, destination B </a:t>
            </a:r>
          </a:p>
        </p:txBody>
      </p:sp>
      <p:sp>
        <p:nvSpPr>
          <p:cNvPr id="718925" name="Rectangle 77"/>
          <p:cNvSpPr>
            <a:spLocks noChangeArrowheads="1"/>
          </p:cNvSpPr>
          <p:nvPr/>
        </p:nvSpPr>
        <p:spPr bwMode="auto">
          <a:xfrm>
            <a:off x="719138" y="1441450"/>
            <a:ext cx="7772400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Gill Sans MT" charset="0"/>
                <a:cs typeface="+mn-cs"/>
              </a:rPr>
              <a:t>R creates link-layer frame with B's MAC address as destination address, frame contains A-to-B IP datagram</a:t>
            </a:r>
            <a:endParaRPr lang="en-US" sz="2800" i="0" dirty="0">
              <a:latin typeface="Gill Sans MT" charset="0"/>
              <a:cs typeface="+mn-cs"/>
            </a:endParaRPr>
          </a:p>
        </p:txBody>
      </p:sp>
      <p:grpSp>
        <p:nvGrpSpPr>
          <p:cNvPr id="718926" name="Group 78"/>
          <p:cNvGrpSpPr>
            <a:grpSpLocks/>
          </p:cNvGrpSpPr>
          <p:nvPr/>
        </p:nvGrpSpPr>
        <p:grpSpPr bwMode="auto">
          <a:xfrm>
            <a:off x="4791075" y="2293938"/>
            <a:ext cx="2428876" cy="1519237"/>
            <a:chOff x="931" y="1414"/>
            <a:chExt cx="1530" cy="957"/>
          </a:xfrm>
        </p:grpSpPr>
        <p:sp>
          <p:nvSpPr>
            <p:cNvPr id="48155" name="Text Box 79"/>
            <p:cNvSpPr txBox="1">
              <a:spLocks noChangeArrowheads="1"/>
            </p:cNvSpPr>
            <p:nvPr/>
          </p:nvSpPr>
          <p:spPr bwMode="auto">
            <a:xfrm>
              <a:off x="931" y="1414"/>
              <a:ext cx="153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MAC src: </a:t>
              </a:r>
              <a:r>
                <a:rPr lang="en-US" sz="1200" i="0" dirty="0">
                  <a:solidFill>
                    <a:srgbClr val="FF0000"/>
                  </a:solidFill>
                  <a:latin typeface="Arial" charset="0"/>
                  <a:cs typeface="+mn-cs"/>
                </a:rPr>
                <a:t>1A-23-F9-CD-06-9B</a:t>
              </a:r>
            </a:p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  MAC dest: </a:t>
              </a:r>
              <a:r>
                <a:rPr lang="en-US" sz="1200" i="0" dirty="0">
                  <a:solidFill>
                    <a:srgbClr val="FF0000"/>
                  </a:solidFill>
                  <a:latin typeface="Arial" charset="0"/>
                  <a:cs typeface="+mn-cs"/>
                </a:rPr>
                <a:t>49-BD-D2-C7-56-2A</a:t>
              </a:r>
            </a:p>
            <a:p>
              <a:pPr>
                <a:defRPr/>
              </a:pPr>
              <a:endParaRPr lang="en-US" sz="1200" i="0" dirty="0">
                <a:solidFill>
                  <a:srgbClr val="FF0000"/>
                </a:solidFill>
                <a:latin typeface="Arial" charset="0"/>
                <a:cs typeface="+mn-cs"/>
              </a:endParaRPr>
            </a:p>
          </p:txBody>
        </p:sp>
        <p:grpSp>
          <p:nvGrpSpPr>
            <p:cNvPr id="138267" name="Group 80"/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48161" name="Rectangle 81"/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8162" name="Rectangle 82"/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8163" name="Line 83"/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8164" name="Line 84"/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8165" name="Line 85"/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8166" name="Line 86"/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48157" name="Line 87"/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58" name="Line 88"/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59" name="Line 89"/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60" name="Line 90"/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138251" name="Group 91"/>
          <p:cNvGrpSpPr>
            <a:grpSpLocks/>
          </p:cNvGrpSpPr>
          <p:nvPr/>
        </p:nvGrpSpPr>
        <p:grpSpPr bwMode="auto">
          <a:xfrm>
            <a:off x="3952875" y="2767013"/>
            <a:ext cx="895350" cy="2038350"/>
            <a:chOff x="2823" y="1545"/>
            <a:chExt cx="564" cy="1284"/>
          </a:xfrm>
        </p:grpSpPr>
        <p:sp>
          <p:nvSpPr>
            <p:cNvPr id="138261" name="Freeform 92"/>
            <p:cNvSpPr>
              <a:spLocks/>
            </p:cNvSpPr>
            <p:nvPr/>
          </p:nvSpPr>
          <p:spPr bwMode="auto">
            <a:xfrm>
              <a:off x="2823" y="2265"/>
              <a:ext cx="564" cy="56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4" h="564">
                  <a:moveTo>
                    <a:pt x="564" y="0"/>
                  </a:moveTo>
                  <a:lnTo>
                    <a:pt x="287" y="564"/>
                  </a:lnTo>
                  <a:lnTo>
                    <a:pt x="0" y="0"/>
                  </a:lnTo>
                  <a:lnTo>
                    <a:pt x="56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8151" name="Rectangle 93"/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52" name="Text Box 94"/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IP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Eth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Phy</a:t>
              </a:r>
            </a:p>
          </p:txBody>
        </p:sp>
        <p:sp>
          <p:nvSpPr>
            <p:cNvPr id="48153" name="Line 95"/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54" name="Line 96"/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138252" name="Group 113"/>
          <p:cNvGrpSpPr>
            <a:grpSpLocks/>
          </p:cNvGrpSpPr>
          <p:nvPr/>
        </p:nvGrpSpPr>
        <p:grpSpPr bwMode="auto">
          <a:xfrm>
            <a:off x="8061325" y="2478088"/>
            <a:ext cx="928688" cy="1954212"/>
            <a:chOff x="250" y="1380"/>
            <a:chExt cx="585" cy="1231"/>
          </a:xfrm>
        </p:grpSpPr>
        <p:sp>
          <p:nvSpPr>
            <p:cNvPr id="138254" name="Freeform 106"/>
            <p:cNvSpPr>
              <a:spLocks/>
            </p:cNvSpPr>
            <p:nvPr/>
          </p:nvSpPr>
          <p:spPr bwMode="auto">
            <a:xfrm>
              <a:off x="250" y="1414"/>
              <a:ext cx="582" cy="1197"/>
            </a:xfrm>
            <a:custGeom>
              <a:avLst/>
              <a:gdLst>
                <a:gd name="T0" fmla="*/ 582 w 582"/>
                <a:gd name="T1" fmla="*/ 781 h 1197"/>
                <a:gd name="T2" fmla="*/ 0 w 582"/>
                <a:gd name="T3" fmla="*/ 1197 h 1197"/>
                <a:gd name="T4" fmla="*/ 83 w 582"/>
                <a:gd name="T5" fmla="*/ 0 h 1197"/>
                <a:gd name="T6" fmla="*/ 582 w 582"/>
                <a:gd name="T7" fmla="*/ 781 h 11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2" h="1197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8144" name="Rectangle 107"/>
            <p:cNvSpPr>
              <a:spLocks noChangeArrowheads="1"/>
            </p:cNvSpPr>
            <p:nvPr/>
          </p:nvSpPr>
          <p:spPr bwMode="auto">
            <a:xfrm>
              <a:off x="338" y="1399"/>
              <a:ext cx="493" cy="79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45" name="Text Box 108"/>
            <p:cNvSpPr txBox="1">
              <a:spLocks noChangeArrowheads="1"/>
            </p:cNvSpPr>
            <p:nvPr/>
          </p:nvSpPr>
          <p:spPr bwMode="auto"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IP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Eth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Phy</a:t>
              </a:r>
            </a:p>
          </p:txBody>
        </p:sp>
        <p:sp>
          <p:nvSpPr>
            <p:cNvPr id="48146" name="Line 109"/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47" name="Line 110"/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48" name="Line 111"/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49" name="Line 112"/>
            <p:cNvSpPr>
              <a:spLocks noChangeShapeType="1"/>
            </p:cNvSpPr>
            <p:nvPr/>
          </p:nvSpPr>
          <p:spPr bwMode="auto">
            <a:xfrm>
              <a:off x="330" y="16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pic>
        <p:nvPicPr>
          <p:cNvPr id="138253" name="Picture 15" descr="underline_base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7635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11</a:t>
            </a:fld>
            <a:endParaRPr lang="en-US" sz="1200" dirty="0">
              <a:latin typeface="Tahoma" charset="0"/>
            </a:endParaRPr>
          </a:p>
        </p:txBody>
      </p:sp>
      <p:sp>
        <p:nvSpPr>
          <p:cNvPr id="1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054974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718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7189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18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850" grpId="0" animBg="1"/>
      <p:bldP spid="718924" grpId="0"/>
      <p:bldP spid="7189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289" name="Group 101"/>
          <p:cNvGrpSpPr>
            <a:grpSpLocks/>
          </p:cNvGrpSpPr>
          <p:nvPr/>
        </p:nvGrpSpPr>
        <p:grpSpPr bwMode="auto">
          <a:xfrm>
            <a:off x="709613" y="3962400"/>
            <a:ext cx="8221662" cy="2349500"/>
            <a:chOff x="709613" y="3962400"/>
            <a:chExt cx="8221662" cy="2349500"/>
          </a:xfrm>
        </p:grpSpPr>
        <p:grpSp>
          <p:nvGrpSpPr>
            <p:cNvPr id="140334" name="Group 102"/>
            <p:cNvGrpSpPr>
              <a:grpSpLocks/>
            </p:cNvGrpSpPr>
            <p:nvPr/>
          </p:nvGrpSpPr>
          <p:grpSpPr bwMode="auto"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140393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40395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40396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63" name="Rectangle 43"/>
              <p:cNvSpPr>
                <a:spLocks noChangeArrowheads="1"/>
              </p:cNvSpPr>
              <p:nvPr/>
            </p:nvSpPr>
            <p:spPr bwMode="auto">
              <a:xfrm rot="16200000">
                <a:off x="7439930" y="4308572"/>
                <a:ext cx="126470" cy="19607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0335" name="Group 103"/>
            <p:cNvGrpSpPr>
              <a:grpSpLocks/>
            </p:cNvGrpSpPr>
            <p:nvPr/>
          </p:nvGrpSpPr>
          <p:grpSpPr bwMode="auto">
            <a:xfrm>
              <a:off x="1046480" y="3962400"/>
              <a:ext cx="1026163" cy="761428"/>
              <a:chOff x="1046480" y="3962400"/>
              <a:chExt cx="1026163" cy="761428"/>
            </a:xfrm>
          </p:grpSpPr>
          <p:sp>
            <p:nvSpPr>
              <p:cNvPr id="158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887" y="4300538"/>
                <a:ext cx="111125" cy="24765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40390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40391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40392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105" name="Text Box 4"/>
            <p:cNvSpPr txBox="1">
              <a:spLocks noChangeArrowheads="1"/>
            </p:cNvSpPr>
            <p:nvPr/>
          </p:nvSpPr>
          <p:spPr bwMode="auto"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R</a:t>
              </a:r>
              <a:endParaRPr lang="en-US" i="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202" name="Text Box 21"/>
            <p:cNvSpPr txBox="1">
              <a:spLocks noChangeArrowheads="1"/>
            </p:cNvSpPr>
            <p:nvPr/>
          </p:nvSpPr>
          <p:spPr bwMode="auto"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1A-23-F9-CD-06-9B</a:t>
              </a:r>
            </a:p>
          </p:txBody>
        </p:sp>
        <p:sp>
          <p:nvSpPr>
            <p:cNvPr id="49203" name="Text Box 22"/>
            <p:cNvSpPr txBox="1">
              <a:spLocks noChangeArrowheads="1"/>
            </p:cNvSpPr>
            <p:nvPr/>
          </p:nvSpPr>
          <p:spPr bwMode="auto"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222.222.222.220</a:t>
              </a:r>
            </a:p>
          </p:txBody>
        </p:sp>
        <p:grpSp>
          <p:nvGrpSpPr>
            <p:cNvPr id="140339" name="Group 23"/>
            <p:cNvGrpSpPr>
              <a:grpSpLocks/>
            </p:cNvGrpSpPr>
            <p:nvPr/>
          </p:nvGrpSpPr>
          <p:grpSpPr bwMode="auto"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49252" name="Text Box 24"/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111.111.111.110</a:t>
                </a:r>
              </a:p>
            </p:txBody>
          </p:sp>
          <p:sp>
            <p:nvSpPr>
              <p:cNvPr id="49253" name="Text Box 25"/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E6-E9-00-17-BB-4B</a:t>
                </a:r>
              </a:p>
            </p:txBody>
          </p:sp>
        </p:grpSp>
        <p:sp>
          <p:nvSpPr>
            <p:cNvPr id="49205" name="Text Box 26"/>
            <p:cNvSpPr txBox="1">
              <a:spLocks noChangeArrowheads="1"/>
            </p:cNvSpPr>
            <p:nvPr/>
          </p:nvSpPr>
          <p:spPr bwMode="auto"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CC-49-DE-D0-AB-7D</a:t>
              </a:r>
            </a:p>
          </p:txBody>
        </p:sp>
        <p:sp>
          <p:nvSpPr>
            <p:cNvPr id="49206" name="Text Box 27"/>
            <p:cNvSpPr txBox="1">
              <a:spLocks noChangeArrowheads="1"/>
            </p:cNvSpPr>
            <p:nvPr/>
          </p:nvSpPr>
          <p:spPr bwMode="auto">
            <a:xfrm>
              <a:off x="942975" y="5854700"/>
              <a:ext cx="1322388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111.111.111.112</a:t>
              </a:r>
            </a:p>
          </p:txBody>
        </p:sp>
        <p:sp>
          <p:nvSpPr>
            <p:cNvPr id="49207" name="Text Box 30"/>
            <p:cNvSpPr txBox="1">
              <a:spLocks noChangeArrowheads="1"/>
            </p:cNvSpPr>
            <p:nvPr/>
          </p:nvSpPr>
          <p:spPr bwMode="auto">
            <a:xfrm>
              <a:off x="709613" y="4741863"/>
              <a:ext cx="1322387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111.111.111.111</a:t>
              </a:r>
            </a:p>
          </p:txBody>
        </p:sp>
        <p:sp>
          <p:nvSpPr>
            <p:cNvPr id="49208" name="Text Box 33"/>
            <p:cNvSpPr txBox="1">
              <a:spLocks noChangeArrowheads="1"/>
            </p:cNvSpPr>
            <p:nvPr/>
          </p:nvSpPr>
          <p:spPr bwMode="auto"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74-29-9C-E8-FF-55</a:t>
              </a:r>
            </a:p>
          </p:txBody>
        </p:sp>
        <p:sp>
          <p:nvSpPr>
            <p:cNvPr id="140344" name="Freeform 39"/>
            <p:cNvSpPr>
              <a:spLocks/>
            </p:cNvSpPr>
            <p:nvPr/>
          </p:nvSpPr>
          <p:spPr bwMode="auto">
            <a:xfrm>
              <a:off x="2365375" y="4437063"/>
              <a:ext cx="839788" cy="1069975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9210" name="Line 40"/>
            <p:cNvSpPr>
              <a:spLocks noChangeShapeType="1"/>
            </p:cNvSpPr>
            <p:nvPr/>
          </p:nvSpPr>
          <p:spPr bwMode="auto">
            <a:xfrm>
              <a:off x="2062163" y="4416425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11" name="Line 41"/>
            <p:cNvSpPr>
              <a:spLocks noChangeShapeType="1"/>
            </p:cNvSpPr>
            <p:nvPr/>
          </p:nvSpPr>
          <p:spPr bwMode="auto">
            <a:xfrm flipV="1">
              <a:off x="2185988" y="5360988"/>
              <a:ext cx="231775" cy="255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12" name="Line 42"/>
            <p:cNvSpPr>
              <a:spLocks noChangeShapeType="1"/>
            </p:cNvSpPr>
            <p:nvPr/>
          </p:nvSpPr>
          <p:spPr bwMode="auto">
            <a:xfrm>
              <a:off x="3184525" y="4954588"/>
              <a:ext cx="584200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13" name="Line 44"/>
            <p:cNvSpPr>
              <a:spLocks noChangeShapeType="1"/>
            </p:cNvSpPr>
            <p:nvPr/>
          </p:nvSpPr>
          <p:spPr bwMode="auto">
            <a:xfrm flipV="1">
              <a:off x="2101850" y="5711825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14" name="Line 45"/>
            <p:cNvSpPr>
              <a:spLocks noChangeShapeType="1"/>
            </p:cNvSpPr>
            <p:nvPr/>
          </p:nvSpPr>
          <p:spPr bwMode="auto">
            <a:xfrm flipH="1" flipV="1">
              <a:off x="1976438" y="4489450"/>
              <a:ext cx="0" cy="398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15" name="Line 46"/>
            <p:cNvSpPr>
              <a:spLocks noChangeShapeType="1"/>
            </p:cNvSpPr>
            <p:nvPr/>
          </p:nvSpPr>
          <p:spPr bwMode="auto">
            <a:xfrm>
              <a:off x="3854450" y="5021263"/>
              <a:ext cx="0" cy="750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16" name="Line 47"/>
            <p:cNvSpPr>
              <a:spLocks noChangeShapeType="1"/>
            </p:cNvSpPr>
            <p:nvPr/>
          </p:nvSpPr>
          <p:spPr bwMode="auto">
            <a:xfrm flipH="1" flipV="1">
              <a:off x="4935538" y="5011738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21" name="Text Box 58"/>
            <p:cNvSpPr txBox="1">
              <a:spLocks noChangeArrowheads="1"/>
            </p:cNvSpPr>
            <p:nvPr/>
          </p:nvSpPr>
          <p:spPr bwMode="auto"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9218" name="Line 60"/>
            <p:cNvSpPr>
              <a:spLocks noChangeShapeType="1"/>
            </p:cNvSpPr>
            <p:nvPr/>
          </p:nvSpPr>
          <p:spPr bwMode="auto">
            <a:xfrm>
              <a:off x="5045075" y="4921250"/>
              <a:ext cx="1198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40354" name="Group 63"/>
            <p:cNvGrpSpPr>
              <a:grpSpLocks/>
            </p:cNvGrpSpPr>
            <p:nvPr/>
          </p:nvGrpSpPr>
          <p:grpSpPr bwMode="auto">
            <a:xfrm>
              <a:off x="7372350" y="4845050"/>
              <a:ext cx="1558925" cy="460375"/>
              <a:chOff x="4351" y="2786"/>
              <a:chExt cx="982" cy="290"/>
            </a:xfrm>
          </p:grpSpPr>
          <p:sp>
            <p:nvSpPr>
              <p:cNvPr id="49250" name="Text Box 64"/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222.222.222.222</a:t>
                </a:r>
              </a:p>
            </p:txBody>
          </p:sp>
          <p:sp>
            <p:nvSpPr>
              <p:cNvPr id="49251" name="Text Box 65"/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982" cy="1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49-BD-D2-C7-56-2A</a:t>
                </a:r>
              </a:p>
            </p:txBody>
          </p:sp>
        </p:grpSp>
        <p:sp>
          <p:nvSpPr>
            <p:cNvPr id="49220" name="Line 67"/>
            <p:cNvSpPr>
              <a:spLocks noChangeShapeType="1"/>
            </p:cNvSpPr>
            <p:nvPr/>
          </p:nvSpPr>
          <p:spPr bwMode="auto">
            <a:xfrm flipV="1">
              <a:off x="6943725" y="4416425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21" name="Line 68"/>
            <p:cNvSpPr>
              <a:spLocks noChangeShapeType="1"/>
            </p:cNvSpPr>
            <p:nvPr/>
          </p:nvSpPr>
          <p:spPr bwMode="auto">
            <a:xfrm flipH="1" flipV="1">
              <a:off x="7469188" y="4492625"/>
              <a:ext cx="11112" cy="388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22" name="Text Box 71"/>
            <p:cNvSpPr txBox="1">
              <a:spLocks noChangeArrowheads="1"/>
            </p:cNvSpPr>
            <p:nvPr/>
          </p:nvSpPr>
          <p:spPr bwMode="auto"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222.222.222.221</a:t>
              </a:r>
            </a:p>
          </p:txBody>
        </p:sp>
        <p:sp>
          <p:nvSpPr>
            <p:cNvPr id="49223" name="Text Box 72"/>
            <p:cNvSpPr txBox="1">
              <a:spLocks noChangeArrowheads="1"/>
            </p:cNvSpPr>
            <p:nvPr/>
          </p:nvSpPr>
          <p:spPr bwMode="auto"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88-B2-2F-54-1A-0F</a:t>
              </a:r>
            </a:p>
          </p:txBody>
        </p:sp>
        <p:sp>
          <p:nvSpPr>
            <p:cNvPr id="49224" name="Line 73"/>
            <p:cNvSpPr>
              <a:spLocks noChangeShapeType="1"/>
            </p:cNvSpPr>
            <p:nvPr/>
          </p:nvSpPr>
          <p:spPr bwMode="auto">
            <a:xfrm flipH="1" flipV="1">
              <a:off x="6873875" y="5313363"/>
              <a:ext cx="254000" cy="250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25" name="Line 74"/>
            <p:cNvSpPr>
              <a:spLocks noChangeShapeType="1"/>
            </p:cNvSpPr>
            <p:nvPr/>
          </p:nvSpPr>
          <p:spPr bwMode="auto">
            <a:xfrm flipH="1">
              <a:off x="7208838" y="5654675"/>
              <a:ext cx="4762" cy="201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40361" name="Freeform 75"/>
            <p:cNvSpPr>
              <a:spLocks/>
            </p:cNvSpPr>
            <p:nvPr/>
          </p:nvSpPr>
          <p:spPr bwMode="auto">
            <a:xfrm>
              <a:off x="6203950" y="4440238"/>
              <a:ext cx="765175" cy="1081088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31" name="Text Box 76"/>
            <p:cNvSpPr txBox="1">
              <a:spLocks noChangeArrowheads="1"/>
            </p:cNvSpPr>
            <p:nvPr/>
          </p:nvSpPr>
          <p:spPr bwMode="auto">
            <a:xfrm>
              <a:off x="8307388" y="4073525"/>
              <a:ext cx="357187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B</a:t>
              </a:r>
            </a:p>
          </p:txBody>
        </p:sp>
        <p:grpSp>
          <p:nvGrpSpPr>
            <p:cNvPr id="140363" name="Group 131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140381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40383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5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40384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51" name="Rectangle 43"/>
              <p:cNvSpPr>
                <a:spLocks noChangeArrowheads="1"/>
              </p:cNvSpPr>
              <p:nvPr/>
            </p:nvSpPr>
            <p:spPr bwMode="auto">
              <a:xfrm rot="16200000">
                <a:off x="7438232" y="4309268"/>
                <a:ext cx="127000" cy="195263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0364" name="Group 132"/>
            <p:cNvGrpSpPr>
              <a:grpSpLocks/>
            </p:cNvGrpSpPr>
            <p:nvPr/>
          </p:nvGrpSpPr>
          <p:grpSpPr bwMode="auto">
            <a:xfrm>
              <a:off x="3757931" y="4714240"/>
              <a:ext cx="1291589" cy="426719"/>
              <a:chOff x="4011931" y="3379152"/>
              <a:chExt cx="1262062" cy="390207"/>
            </a:xfrm>
          </p:grpSpPr>
          <p:sp>
            <p:nvSpPr>
              <p:cNvPr id="139" name="Rectangle 43"/>
              <p:cNvSpPr>
                <a:spLocks noChangeArrowheads="1"/>
              </p:cNvSpPr>
              <p:nvPr/>
            </p:nvSpPr>
            <p:spPr bwMode="auto">
              <a:xfrm rot="16200000">
                <a:off x="5112705" y="3476529"/>
                <a:ext cx="127747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40371" name="Group 1185"/>
              <p:cNvGrpSpPr>
                <a:grpSpLocks/>
              </p:cNvGrpSpPr>
              <p:nvPr/>
            </p:nvGrpSpPr>
            <p:grpSpPr bwMode="auto"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140373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sp>
              <p:nvSpPr>
                <p:cNvPr id="140374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sp>
              <p:nvSpPr>
                <p:cNvPr id="140375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grpSp>
              <p:nvGrpSpPr>
                <p:cNvPr id="140376" name="Group 1189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140379" name="Freeform 1190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40380" name="Freeform 1191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49242" name="Line 119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243" name="Line 119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141" name="Rectangle 43"/>
              <p:cNvSpPr>
                <a:spLocks noChangeArrowheads="1"/>
              </p:cNvSpPr>
              <p:nvPr/>
            </p:nvSpPr>
            <p:spPr bwMode="auto">
              <a:xfrm rot="16200000">
                <a:off x="4046200" y="3485965"/>
                <a:ext cx="126295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0365" name="Group 133"/>
            <p:cNvGrpSpPr>
              <a:grpSpLocks/>
            </p:cNvGrpSpPr>
            <p:nvPr/>
          </p:nvGrpSpPr>
          <p:grpSpPr bwMode="auto">
            <a:xfrm>
              <a:off x="1483360" y="5313680"/>
              <a:ext cx="701043" cy="517588"/>
              <a:chOff x="1046480" y="3962400"/>
              <a:chExt cx="1026163" cy="761428"/>
            </a:xfrm>
          </p:grpSpPr>
          <p:sp>
            <p:nvSpPr>
              <p:cNvPr id="135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438" y="4298853"/>
                <a:ext cx="109762" cy="24863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40367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40368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6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40369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49157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010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Addressing: routing to another LAN</a:t>
            </a:r>
          </a:p>
        </p:txBody>
      </p:sp>
      <p:sp>
        <p:nvSpPr>
          <p:cNvPr id="720966" name="Rectangle 70"/>
          <p:cNvSpPr>
            <a:spLocks noChangeArrowheads="1"/>
          </p:cNvSpPr>
          <p:nvPr/>
        </p:nvSpPr>
        <p:spPr bwMode="auto">
          <a:xfrm>
            <a:off x="706438" y="1084263"/>
            <a:ext cx="7772400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Gill Sans MT" charset="0"/>
                <a:cs typeface="+mn-cs"/>
              </a:rPr>
              <a:t>R forwards datagram with IP source A, destination B </a:t>
            </a:r>
          </a:p>
        </p:txBody>
      </p:sp>
      <p:sp>
        <p:nvSpPr>
          <p:cNvPr id="720967" name="Rectangle 71"/>
          <p:cNvSpPr>
            <a:spLocks noChangeArrowheads="1"/>
          </p:cNvSpPr>
          <p:nvPr/>
        </p:nvSpPr>
        <p:spPr bwMode="auto">
          <a:xfrm>
            <a:off x="719138" y="1441450"/>
            <a:ext cx="7772400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Gill Sans MT" charset="0"/>
                <a:cs typeface="+mn-cs"/>
              </a:rPr>
              <a:t>R creates link-layer frame with B's MAC address as destination address, frame contains A-to-B IP datagram</a:t>
            </a:r>
            <a:endParaRPr lang="en-US" sz="2800" i="0" dirty="0">
              <a:latin typeface="Gill Sans MT" charset="0"/>
              <a:cs typeface="+mn-cs"/>
            </a:endParaRPr>
          </a:p>
        </p:txBody>
      </p:sp>
      <p:grpSp>
        <p:nvGrpSpPr>
          <p:cNvPr id="720995" name="Group 99"/>
          <p:cNvGrpSpPr>
            <a:grpSpLocks/>
          </p:cNvGrpSpPr>
          <p:nvPr/>
        </p:nvGrpSpPr>
        <p:grpSpPr bwMode="auto">
          <a:xfrm>
            <a:off x="4791075" y="2293938"/>
            <a:ext cx="2436813" cy="1643062"/>
            <a:chOff x="3018" y="1445"/>
            <a:chExt cx="1535" cy="1035"/>
          </a:xfrm>
        </p:grpSpPr>
        <p:sp>
          <p:nvSpPr>
            <p:cNvPr id="49176" name="AutoShape 2"/>
            <p:cNvSpPr>
              <a:spLocks noChangeArrowheads="1"/>
            </p:cNvSpPr>
            <p:nvPr/>
          </p:nvSpPr>
          <p:spPr bwMode="auto">
            <a:xfrm>
              <a:off x="3597" y="1981"/>
              <a:ext cx="198" cy="499"/>
            </a:xfrm>
            <a:prstGeom prst="downArrow">
              <a:avLst>
                <a:gd name="adj1" fmla="val 50000"/>
                <a:gd name="adj2" fmla="val 63005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5400000" scaled="1"/>
            </a:gra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40312" name="Group 61"/>
            <p:cNvGrpSpPr>
              <a:grpSpLocks/>
            </p:cNvGrpSpPr>
            <p:nvPr/>
          </p:nvGrpSpPr>
          <p:grpSpPr bwMode="auto">
            <a:xfrm>
              <a:off x="3286" y="1702"/>
              <a:ext cx="1267" cy="479"/>
              <a:chOff x="1197" y="1665"/>
              <a:chExt cx="1267" cy="479"/>
            </a:xfrm>
          </p:grpSpPr>
          <p:grpSp>
            <p:nvGrpSpPr>
              <p:cNvPr id="140329" name="Group 62"/>
              <p:cNvGrpSpPr>
                <a:grpSpLocks/>
              </p:cNvGrpSpPr>
              <p:nvPr/>
            </p:nvGrpSpPr>
            <p:grpSpPr bwMode="auto">
              <a:xfrm>
                <a:off x="1231" y="1990"/>
                <a:ext cx="691" cy="154"/>
                <a:chOff x="1231" y="1990"/>
                <a:chExt cx="691" cy="154"/>
              </a:xfrm>
            </p:grpSpPr>
            <p:sp>
              <p:nvSpPr>
                <p:cNvPr id="49196" name="Rectangle 63"/>
                <p:cNvSpPr>
                  <a:spLocks noChangeArrowheads="1"/>
                </p:cNvSpPr>
                <p:nvPr/>
              </p:nvSpPr>
              <p:spPr bwMode="auto">
                <a:xfrm>
                  <a:off x="1231" y="1991"/>
                  <a:ext cx="691" cy="153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197" name="Line 64"/>
                <p:cNvSpPr>
                  <a:spLocks noChangeShapeType="1"/>
                </p:cNvSpPr>
                <p:nvPr/>
              </p:nvSpPr>
              <p:spPr bwMode="auto">
                <a:xfrm>
                  <a:off x="1337" y="1990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198" name="Line 65"/>
                <p:cNvSpPr>
                  <a:spLocks noChangeShapeType="1"/>
                </p:cNvSpPr>
                <p:nvPr/>
              </p:nvSpPr>
              <p:spPr bwMode="auto">
                <a:xfrm>
                  <a:off x="1427" y="1992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49195" name="Text Box 66"/>
              <p:cNvSpPr txBox="1">
                <a:spLocks noChangeArrowheads="1"/>
              </p:cNvSpPr>
              <p:nvPr/>
            </p:nvSpPr>
            <p:spPr bwMode="auto">
              <a:xfrm>
                <a:off x="1197" y="1665"/>
                <a:ext cx="126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IP src: 111.111.111.111</a:t>
                </a:r>
              </a:p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   IP dest: 222.222.222.222</a:t>
                </a:r>
              </a:p>
            </p:txBody>
          </p:sp>
        </p:grpSp>
        <p:grpSp>
          <p:nvGrpSpPr>
            <p:cNvPr id="140313" name="Group 67"/>
            <p:cNvGrpSpPr>
              <a:grpSpLocks/>
            </p:cNvGrpSpPr>
            <p:nvPr/>
          </p:nvGrpSpPr>
          <p:grpSpPr bwMode="auto">
            <a:xfrm>
              <a:off x="3364" y="1860"/>
              <a:ext cx="92" cy="243"/>
              <a:chOff x="1272" y="1762"/>
              <a:chExt cx="92" cy="243"/>
            </a:xfrm>
          </p:grpSpPr>
          <p:sp>
            <p:nvSpPr>
              <p:cNvPr id="49192" name="Line 68"/>
              <p:cNvSpPr>
                <a:spLocks noChangeShapeType="1"/>
              </p:cNvSpPr>
              <p:nvPr/>
            </p:nvSpPr>
            <p:spPr bwMode="auto">
              <a:xfrm>
                <a:off x="1272" y="1762"/>
                <a:ext cx="0" cy="2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9193" name="Line 69"/>
              <p:cNvSpPr>
                <a:spLocks noChangeShapeType="1"/>
              </p:cNvSpPr>
              <p:nvPr/>
            </p:nvSpPr>
            <p:spPr bwMode="auto">
              <a:xfrm>
                <a:off x="1364" y="1878"/>
                <a:ext cx="0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40314" name="Group 72"/>
            <p:cNvGrpSpPr>
              <a:grpSpLocks/>
            </p:cNvGrpSpPr>
            <p:nvPr/>
          </p:nvGrpSpPr>
          <p:grpSpPr bwMode="auto">
            <a:xfrm>
              <a:off x="3018" y="1445"/>
              <a:ext cx="1530" cy="957"/>
              <a:chOff x="931" y="1414"/>
              <a:chExt cx="1530" cy="957"/>
            </a:xfrm>
          </p:grpSpPr>
          <p:sp>
            <p:nvSpPr>
              <p:cNvPr id="49180" name="Text Box 73"/>
              <p:cNvSpPr txBox="1">
                <a:spLocks noChangeArrowheads="1"/>
              </p:cNvSpPr>
              <p:nvPr/>
            </p:nvSpPr>
            <p:spPr bwMode="auto">
              <a:xfrm>
                <a:off x="931" y="1414"/>
                <a:ext cx="1530" cy="4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MAC src: </a:t>
                </a:r>
                <a:r>
                  <a:rPr lang="en-US" sz="1200" i="0" dirty="0">
                    <a:solidFill>
                      <a:srgbClr val="FF0000"/>
                    </a:solidFill>
                    <a:latin typeface="Arial" charset="0"/>
                    <a:cs typeface="+mn-cs"/>
                  </a:rPr>
                  <a:t>1A-23-F9-CD-06-9B</a:t>
                </a:r>
              </a:p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  MAC dest: </a:t>
                </a:r>
                <a:r>
                  <a:rPr lang="en-US" sz="1200" i="0" dirty="0">
                    <a:solidFill>
                      <a:srgbClr val="FF0000"/>
                    </a:solidFill>
                    <a:latin typeface="Arial" charset="0"/>
                    <a:cs typeface="+mn-cs"/>
                  </a:rPr>
                  <a:t>49-BD-D2-C7-56-2A</a:t>
                </a:r>
              </a:p>
              <a:p>
                <a:pPr>
                  <a:defRPr/>
                </a:pPr>
                <a:endParaRPr lang="en-US" sz="1200" i="0" dirty="0">
                  <a:solidFill>
                    <a:srgbClr val="FF0000"/>
                  </a:solidFill>
                  <a:latin typeface="Arial" charset="0"/>
                  <a:cs typeface="+mn-cs"/>
                </a:endParaRPr>
              </a:p>
            </p:txBody>
          </p:sp>
          <p:grpSp>
            <p:nvGrpSpPr>
              <p:cNvPr id="140316" name="Group 74"/>
              <p:cNvGrpSpPr>
                <a:grpSpLocks/>
              </p:cNvGrpSpPr>
              <p:nvPr/>
            </p:nvGrpSpPr>
            <p:grpSpPr bwMode="auto">
              <a:xfrm>
                <a:off x="981" y="2182"/>
                <a:ext cx="1049" cy="189"/>
                <a:chOff x="2829" y="2040"/>
                <a:chExt cx="1049" cy="189"/>
              </a:xfrm>
            </p:grpSpPr>
            <p:sp>
              <p:nvSpPr>
                <p:cNvPr id="49186" name="Rectangle 75"/>
                <p:cNvSpPr>
                  <a:spLocks noChangeArrowheads="1"/>
                </p:cNvSpPr>
                <p:nvPr/>
              </p:nvSpPr>
              <p:spPr bwMode="auto">
                <a:xfrm>
                  <a:off x="2829" y="2042"/>
                  <a:ext cx="1049" cy="185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187" name="Rectangle 76"/>
                <p:cNvSpPr>
                  <a:spLocks noChangeArrowheads="1"/>
                </p:cNvSpPr>
                <p:nvPr/>
              </p:nvSpPr>
              <p:spPr bwMode="auto">
                <a:xfrm>
                  <a:off x="3078" y="2060"/>
                  <a:ext cx="691" cy="153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188" name="Line 77"/>
                <p:cNvSpPr>
                  <a:spLocks noChangeShapeType="1"/>
                </p:cNvSpPr>
                <p:nvPr/>
              </p:nvSpPr>
              <p:spPr bwMode="auto">
                <a:xfrm>
                  <a:off x="3180" y="2063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189" name="Line 78"/>
                <p:cNvSpPr>
                  <a:spLocks noChangeShapeType="1"/>
                </p:cNvSpPr>
                <p:nvPr/>
              </p:nvSpPr>
              <p:spPr bwMode="auto">
                <a:xfrm>
                  <a:off x="3276" y="2063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190" name="Line 79"/>
                <p:cNvSpPr>
                  <a:spLocks noChangeShapeType="1"/>
                </p:cNvSpPr>
                <p:nvPr/>
              </p:nvSpPr>
              <p:spPr bwMode="auto">
                <a:xfrm>
                  <a:off x="2910" y="2040"/>
                  <a:ext cx="0" cy="189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191" name="Line 80"/>
                <p:cNvSpPr>
                  <a:spLocks noChangeShapeType="1"/>
                </p:cNvSpPr>
                <p:nvPr/>
              </p:nvSpPr>
              <p:spPr bwMode="auto">
                <a:xfrm>
                  <a:off x="3006" y="2040"/>
                  <a:ext cx="0" cy="189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49182" name="Line 81"/>
              <p:cNvSpPr>
                <a:spLocks noChangeShapeType="1"/>
              </p:cNvSpPr>
              <p:nvPr/>
            </p:nvSpPr>
            <p:spPr bwMode="auto">
              <a:xfrm flipV="1">
                <a:off x="1018" y="1576"/>
                <a:ext cx="2" cy="70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9183" name="Line 82"/>
              <p:cNvSpPr>
                <a:spLocks noChangeShapeType="1"/>
              </p:cNvSpPr>
              <p:nvPr/>
            </p:nvSpPr>
            <p:spPr bwMode="auto">
              <a:xfrm flipV="1">
                <a:off x="1106" y="1680"/>
                <a:ext cx="0" cy="59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9184" name="Line 83"/>
              <p:cNvSpPr>
                <a:spLocks noChangeShapeType="1"/>
              </p:cNvSpPr>
              <p:nvPr/>
            </p:nvSpPr>
            <p:spPr bwMode="auto">
              <a:xfrm flipH="1" flipV="1">
                <a:off x="1276" y="1812"/>
                <a:ext cx="2" cy="4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9185" name="Line 84"/>
              <p:cNvSpPr>
                <a:spLocks noChangeShapeType="1"/>
              </p:cNvSpPr>
              <p:nvPr/>
            </p:nvSpPr>
            <p:spPr bwMode="auto">
              <a:xfrm>
                <a:off x="1368" y="1924"/>
                <a:ext cx="2" cy="3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140296" name="Group 85"/>
          <p:cNvGrpSpPr>
            <a:grpSpLocks/>
          </p:cNvGrpSpPr>
          <p:nvPr/>
        </p:nvGrpSpPr>
        <p:grpSpPr bwMode="auto">
          <a:xfrm>
            <a:off x="3952875" y="2767013"/>
            <a:ext cx="895350" cy="2038350"/>
            <a:chOff x="2823" y="1545"/>
            <a:chExt cx="564" cy="1284"/>
          </a:xfrm>
        </p:grpSpPr>
        <p:sp>
          <p:nvSpPr>
            <p:cNvPr id="140306" name="Freeform 86"/>
            <p:cNvSpPr>
              <a:spLocks/>
            </p:cNvSpPr>
            <p:nvPr/>
          </p:nvSpPr>
          <p:spPr bwMode="auto">
            <a:xfrm>
              <a:off x="2823" y="2265"/>
              <a:ext cx="564" cy="56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4" h="564">
                  <a:moveTo>
                    <a:pt x="564" y="0"/>
                  </a:moveTo>
                  <a:lnTo>
                    <a:pt x="287" y="564"/>
                  </a:lnTo>
                  <a:lnTo>
                    <a:pt x="0" y="0"/>
                  </a:lnTo>
                  <a:lnTo>
                    <a:pt x="56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9172" name="Rectangle 87"/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173" name="Text Box 88"/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IP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Eth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Phy</a:t>
              </a:r>
            </a:p>
          </p:txBody>
        </p:sp>
        <p:sp>
          <p:nvSpPr>
            <p:cNvPr id="49174" name="Line 89"/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175" name="Line 90"/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720987" name="Group 91"/>
          <p:cNvGrpSpPr>
            <a:grpSpLocks/>
          </p:cNvGrpSpPr>
          <p:nvPr/>
        </p:nvGrpSpPr>
        <p:grpSpPr bwMode="auto">
          <a:xfrm>
            <a:off x="8061325" y="2478088"/>
            <a:ext cx="928688" cy="1954212"/>
            <a:chOff x="250" y="1380"/>
            <a:chExt cx="585" cy="1231"/>
          </a:xfrm>
        </p:grpSpPr>
        <p:sp>
          <p:nvSpPr>
            <p:cNvPr id="140299" name="Freeform 92"/>
            <p:cNvSpPr>
              <a:spLocks/>
            </p:cNvSpPr>
            <p:nvPr/>
          </p:nvSpPr>
          <p:spPr bwMode="auto">
            <a:xfrm>
              <a:off x="250" y="1414"/>
              <a:ext cx="582" cy="1197"/>
            </a:xfrm>
            <a:custGeom>
              <a:avLst/>
              <a:gdLst>
                <a:gd name="T0" fmla="*/ 582 w 582"/>
                <a:gd name="T1" fmla="*/ 781 h 1197"/>
                <a:gd name="T2" fmla="*/ 0 w 582"/>
                <a:gd name="T3" fmla="*/ 1197 h 1197"/>
                <a:gd name="T4" fmla="*/ 83 w 582"/>
                <a:gd name="T5" fmla="*/ 0 h 1197"/>
                <a:gd name="T6" fmla="*/ 582 w 582"/>
                <a:gd name="T7" fmla="*/ 781 h 11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2" h="1197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9165" name="Rectangle 93"/>
            <p:cNvSpPr>
              <a:spLocks noChangeArrowheads="1"/>
            </p:cNvSpPr>
            <p:nvPr/>
          </p:nvSpPr>
          <p:spPr bwMode="auto">
            <a:xfrm>
              <a:off x="338" y="1399"/>
              <a:ext cx="493" cy="79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166" name="Text Box 94"/>
            <p:cNvSpPr txBox="1">
              <a:spLocks noChangeArrowheads="1"/>
            </p:cNvSpPr>
            <p:nvPr/>
          </p:nvSpPr>
          <p:spPr bwMode="auto"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IP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Eth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Phy</a:t>
              </a:r>
            </a:p>
          </p:txBody>
        </p:sp>
        <p:sp>
          <p:nvSpPr>
            <p:cNvPr id="49167" name="Line 95"/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168" name="Line 96"/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169" name="Line 97"/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170" name="Line 98"/>
            <p:cNvSpPr>
              <a:spLocks noChangeShapeType="1"/>
            </p:cNvSpPr>
            <p:nvPr/>
          </p:nvSpPr>
          <p:spPr bwMode="auto">
            <a:xfrm>
              <a:off x="330" y="16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pic>
        <p:nvPicPr>
          <p:cNvPr id="140298" name="Picture 15" descr="underline_base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7635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12</a:t>
            </a:fld>
            <a:endParaRPr lang="en-US" sz="1200" dirty="0">
              <a:latin typeface="Tahoma" charset="0"/>
            </a:endParaRPr>
          </a:p>
        </p:txBody>
      </p:sp>
      <p:sp>
        <p:nvSpPr>
          <p:cNvPr id="1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693030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720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3.33333E-6 L 1.94444E-6 0.19838 L 0.11007 0.1199 L 0.11007 -0.03565 " pathEditMode="relative" rAng="0" ptsTypes="AAAA">
                                      <p:cBhvr>
                                        <p:cTn id="18" dur="2000" fill="hold"/>
                                        <p:tgtEl>
                                          <p:spTgt spid="7209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03" y="8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966" grpId="0"/>
      <p:bldP spid="72096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337" name="Group 95"/>
          <p:cNvGrpSpPr>
            <a:grpSpLocks/>
          </p:cNvGrpSpPr>
          <p:nvPr/>
        </p:nvGrpSpPr>
        <p:grpSpPr bwMode="auto">
          <a:xfrm>
            <a:off x="6962095" y="5191351"/>
            <a:ext cx="711200" cy="600075"/>
            <a:chOff x="7179310" y="4033520"/>
            <a:chExt cx="1009650" cy="855028"/>
          </a:xfrm>
        </p:grpSpPr>
        <p:grpSp>
          <p:nvGrpSpPr>
            <p:cNvPr id="142433" name="Group 44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id="142435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2436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156" name="Rectangle 43"/>
            <p:cNvSpPr>
              <a:spLocks noChangeArrowheads="1"/>
            </p:cNvSpPr>
            <p:nvPr/>
          </p:nvSpPr>
          <p:spPr bwMode="auto">
            <a:xfrm rot="16200000">
              <a:off x="7439378" y="4308711"/>
              <a:ext cx="126671" cy="196070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</p:grpSp>
      <p:grpSp>
        <p:nvGrpSpPr>
          <p:cNvPr id="142338" name="Group 96"/>
          <p:cNvGrpSpPr>
            <a:grpSpLocks/>
          </p:cNvGrpSpPr>
          <p:nvPr/>
        </p:nvGrpSpPr>
        <p:grpSpPr bwMode="auto">
          <a:xfrm>
            <a:off x="1028020" y="3799113"/>
            <a:ext cx="1027112" cy="762000"/>
            <a:chOff x="1046480" y="3962400"/>
            <a:chExt cx="1026163" cy="761428"/>
          </a:xfrm>
        </p:grpSpPr>
        <p:sp>
          <p:nvSpPr>
            <p:cNvPr id="151" name="Rectangle 48"/>
            <p:cNvSpPr>
              <a:spLocks noChangeArrowheads="1"/>
            </p:cNvSpPr>
            <p:nvPr/>
          </p:nvSpPr>
          <p:spPr bwMode="auto">
            <a:xfrm rot="16200000">
              <a:off x="1893411" y="4300306"/>
              <a:ext cx="111042" cy="24742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42430" name="Group 49"/>
            <p:cNvGrpSpPr>
              <a:grpSpLocks/>
            </p:cNvGrpSpPr>
            <p:nvPr/>
          </p:nvGrpSpPr>
          <p:grpSpPr bwMode="auto"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id="142431" name="Picture 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2432" name="Freeform 51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sp>
        <p:nvSpPr>
          <p:cNvPr id="98" name="Text Box 4"/>
          <p:cNvSpPr txBox="1">
            <a:spLocks noChangeArrowheads="1"/>
          </p:cNvSpPr>
          <p:nvPr/>
        </p:nvSpPr>
        <p:spPr bwMode="auto">
          <a:xfrm>
            <a:off x="4206195" y="4218213"/>
            <a:ext cx="376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i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</a:t>
            </a:r>
            <a:endParaRPr lang="en-US" i="0" dirty="0">
              <a:latin typeface="+mn-lt"/>
              <a:ea typeface="+mn-ea"/>
              <a:cs typeface="+mn-cs"/>
            </a:endParaRPr>
          </a:p>
        </p:txBody>
      </p:sp>
      <p:sp>
        <p:nvSpPr>
          <p:cNvPr id="50181" name="Text Box 21"/>
          <p:cNvSpPr txBox="1">
            <a:spLocks noChangeArrowheads="1"/>
          </p:cNvSpPr>
          <p:nvPr/>
        </p:nvSpPr>
        <p:spPr bwMode="auto">
          <a:xfrm>
            <a:off x="3850595" y="5215163"/>
            <a:ext cx="15430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i="0" dirty="0">
                <a:latin typeface="Arial" charset="0"/>
                <a:cs typeface="+mn-cs"/>
              </a:rPr>
              <a:t>1A-23-F9-CD-06-9B</a:t>
            </a:r>
          </a:p>
        </p:txBody>
      </p:sp>
      <p:sp>
        <p:nvSpPr>
          <p:cNvPr id="50182" name="Text Box 22"/>
          <p:cNvSpPr txBox="1">
            <a:spLocks noChangeArrowheads="1"/>
          </p:cNvSpPr>
          <p:nvPr/>
        </p:nvSpPr>
        <p:spPr bwMode="auto">
          <a:xfrm>
            <a:off x="3998232" y="5042126"/>
            <a:ext cx="13223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i="0" dirty="0">
                <a:latin typeface="Arial" charset="0"/>
                <a:cs typeface="+mn-cs"/>
              </a:rPr>
              <a:t>222.222.222.220</a:t>
            </a:r>
          </a:p>
        </p:txBody>
      </p:sp>
      <p:grpSp>
        <p:nvGrpSpPr>
          <p:cNvPr id="142342" name="Group 23"/>
          <p:cNvGrpSpPr>
            <a:grpSpLocks/>
          </p:cNvGrpSpPr>
          <p:nvPr/>
        </p:nvGrpSpPr>
        <p:grpSpPr bwMode="auto">
          <a:xfrm>
            <a:off x="3026682" y="5631088"/>
            <a:ext cx="1541463" cy="449263"/>
            <a:chOff x="1934" y="2405"/>
            <a:chExt cx="971" cy="283"/>
          </a:xfrm>
        </p:grpSpPr>
        <p:sp>
          <p:nvSpPr>
            <p:cNvPr id="50268" name="Text Box 24"/>
            <p:cNvSpPr txBox="1">
              <a:spLocks noChangeArrowheads="1"/>
            </p:cNvSpPr>
            <p:nvPr/>
          </p:nvSpPr>
          <p:spPr bwMode="auto">
            <a:xfrm>
              <a:off x="1934" y="2405"/>
              <a:ext cx="833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111.111.111.110</a:t>
              </a:r>
            </a:p>
          </p:txBody>
        </p:sp>
        <p:sp>
          <p:nvSpPr>
            <p:cNvPr id="50269" name="Text Box 25"/>
            <p:cNvSpPr txBox="1">
              <a:spLocks noChangeArrowheads="1"/>
            </p:cNvSpPr>
            <p:nvPr/>
          </p:nvSpPr>
          <p:spPr bwMode="auto">
            <a:xfrm>
              <a:off x="1938" y="2515"/>
              <a:ext cx="967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E6-E9-00-17-BB-4B</a:t>
              </a:r>
            </a:p>
          </p:txBody>
        </p:sp>
      </p:grpSp>
      <p:sp>
        <p:nvSpPr>
          <p:cNvPr id="50184" name="Text Box 26"/>
          <p:cNvSpPr txBox="1">
            <a:spLocks noChangeArrowheads="1"/>
          </p:cNvSpPr>
          <p:nvPr/>
        </p:nvSpPr>
        <p:spPr bwMode="auto">
          <a:xfrm>
            <a:off x="934357" y="5873976"/>
            <a:ext cx="16271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i="0" dirty="0">
                <a:latin typeface="Arial" charset="0"/>
                <a:cs typeface="+mn-cs"/>
              </a:rPr>
              <a:t>CC-49-DE-D0-AB-7D</a:t>
            </a:r>
          </a:p>
        </p:txBody>
      </p:sp>
      <p:sp>
        <p:nvSpPr>
          <p:cNvPr id="50185" name="Text Box 27"/>
          <p:cNvSpPr txBox="1">
            <a:spLocks noChangeArrowheads="1"/>
          </p:cNvSpPr>
          <p:nvPr/>
        </p:nvSpPr>
        <p:spPr bwMode="auto">
          <a:xfrm>
            <a:off x="924832" y="5691413"/>
            <a:ext cx="13223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i="0" dirty="0">
                <a:latin typeface="Arial" charset="0"/>
                <a:cs typeface="+mn-cs"/>
              </a:rPr>
              <a:t>111.111.111.112</a:t>
            </a:r>
          </a:p>
        </p:txBody>
      </p:sp>
      <p:sp>
        <p:nvSpPr>
          <p:cNvPr id="50186" name="Text Box 30"/>
          <p:cNvSpPr txBox="1">
            <a:spLocks noChangeArrowheads="1"/>
          </p:cNvSpPr>
          <p:nvPr/>
        </p:nvSpPr>
        <p:spPr bwMode="auto">
          <a:xfrm>
            <a:off x="691470" y="4578576"/>
            <a:ext cx="132238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i="0" dirty="0">
                <a:latin typeface="Arial" charset="0"/>
                <a:cs typeface="+mn-cs"/>
              </a:rPr>
              <a:t>111.111.111.111</a:t>
            </a:r>
          </a:p>
        </p:txBody>
      </p:sp>
      <p:sp>
        <p:nvSpPr>
          <p:cNvPr id="50187" name="Text Box 33"/>
          <p:cNvSpPr txBox="1">
            <a:spLocks noChangeArrowheads="1"/>
          </p:cNvSpPr>
          <p:nvPr/>
        </p:nvSpPr>
        <p:spPr bwMode="auto">
          <a:xfrm>
            <a:off x="712107" y="4764313"/>
            <a:ext cx="15097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i="0" dirty="0">
                <a:latin typeface="Arial" charset="0"/>
                <a:cs typeface="+mn-cs"/>
              </a:rPr>
              <a:t>74-29-9C-E8-FF-55</a:t>
            </a:r>
          </a:p>
        </p:txBody>
      </p:sp>
      <p:sp>
        <p:nvSpPr>
          <p:cNvPr id="142347" name="Freeform 39"/>
          <p:cNvSpPr>
            <a:spLocks/>
          </p:cNvSpPr>
          <p:nvPr/>
        </p:nvSpPr>
        <p:spPr bwMode="auto">
          <a:xfrm>
            <a:off x="2347232" y="4273776"/>
            <a:ext cx="839788" cy="1069975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00CCFF"/>
          </a:solidFill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50189" name="Line 40"/>
          <p:cNvSpPr>
            <a:spLocks noChangeShapeType="1"/>
          </p:cNvSpPr>
          <p:nvPr/>
        </p:nvSpPr>
        <p:spPr bwMode="auto">
          <a:xfrm>
            <a:off x="2044020" y="4253138"/>
            <a:ext cx="438150" cy="230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90" name="Line 41"/>
          <p:cNvSpPr>
            <a:spLocks noChangeShapeType="1"/>
          </p:cNvSpPr>
          <p:nvPr/>
        </p:nvSpPr>
        <p:spPr bwMode="auto">
          <a:xfrm flipV="1">
            <a:off x="2167845" y="5197701"/>
            <a:ext cx="231775" cy="255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91" name="Line 42"/>
          <p:cNvSpPr>
            <a:spLocks noChangeShapeType="1"/>
          </p:cNvSpPr>
          <p:nvPr/>
        </p:nvSpPr>
        <p:spPr bwMode="auto">
          <a:xfrm>
            <a:off x="3166382" y="4791301"/>
            <a:ext cx="584200" cy="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92" name="Line 44"/>
          <p:cNvSpPr>
            <a:spLocks noChangeShapeType="1"/>
          </p:cNvSpPr>
          <p:nvPr/>
        </p:nvSpPr>
        <p:spPr bwMode="auto">
          <a:xfrm flipV="1">
            <a:off x="2083707" y="5548538"/>
            <a:ext cx="0" cy="163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93" name="Line 45"/>
          <p:cNvSpPr>
            <a:spLocks noChangeShapeType="1"/>
          </p:cNvSpPr>
          <p:nvPr/>
        </p:nvSpPr>
        <p:spPr bwMode="auto">
          <a:xfrm flipH="1" flipV="1">
            <a:off x="1958295" y="4326163"/>
            <a:ext cx="0" cy="398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94" name="Line 46"/>
          <p:cNvSpPr>
            <a:spLocks noChangeShapeType="1"/>
          </p:cNvSpPr>
          <p:nvPr/>
        </p:nvSpPr>
        <p:spPr bwMode="auto">
          <a:xfrm>
            <a:off x="3836307" y="4857976"/>
            <a:ext cx="0" cy="750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95" name="Line 47"/>
          <p:cNvSpPr>
            <a:spLocks noChangeShapeType="1"/>
          </p:cNvSpPr>
          <p:nvPr/>
        </p:nvSpPr>
        <p:spPr bwMode="auto">
          <a:xfrm flipH="1" flipV="1">
            <a:off x="4917395" y="4848451"/>
            <a:ext cx="4762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14" name="Text Box 58"/>
          <p:cNvSpPr txBox="1">
            <a:spLocks noChangeArrowheads="1"/>
          </p:cNvSpPr>
          <p:nvPr/>
        </p:nvSpPr>
        <p:spPr bwMode="auto">
          <a:xfrm>
            <a:off x="700995" y="3992788"/>
            <a:ext cx="3905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i="0" dirty="0">
                <a:solidFill>
                  <a:srgbClr val="FF0000"/>
                </a:solidFill>
                <a:latin typeface="+mj-lt"/>
                <a:ea typeface="+mn-ea"/>
                <a:cs typeface="+mn-cs"/>
              </a:rPr>
              <a:t>A</a:t>
            </a:r>
          </a:p>
        </p:txBody>
      </p:sp>
      <p:sp>
        <p:nvSpPr>
          <p:cNvPr id="50197" name="Line 60"/>
          <p:cNvSpPr>
            <a:spLocks noChangeShapeType="1"/>
          </p:cNvSpPr>
          <p:nvPr/>
        </p:nvSpPr>
        <p:spPr bwMode="auto">
          <a:xfrm>
            <a:off x="5026932" y="4757963"/>
            <a:ext cx="1198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42357" name="Group 63"/>
          <p:cNvGrpSpPr>
            <a:grpSpLocks/>
          </p:cNvGrpSpPr>
          <p:nvPr/>
        </p:nvGrpSpPr>
        <p:grpSpPr bwMode="auto">
          <a:xfrm>
            <a:off x="7354207" y="4681763"/>
            <a:ext cx="1558925" cy="460375"/>
            <a:chOff x="4351" y="2786"/>
            <a:chExt cx="982" cy="290"/>
          </a:xfrm>
        </p:grpSpPr>
        <p:sp>
          <p:nvSpPr>
            <p:cNvPr id="50266" name="Text Box 64"/>
            <p:cNvSpPr txBox="1">
              <a:spLocks noChangeArrowheads="1"/>
            </p:cNvSpPr>
            <p:nvPr/>
          </p:nvSpPr>
          <p:spPr bwMode="auto">
            <a:xfrm>
              <a:off x="4352" y="2786"/>
              <a:ext cx="833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222.222.222.222</a:t>
              </a:r>
            </a:p>
          </p:txBody>
        </p:sp>
        <p:sp>
          <p:nvSpPr>
            <p:cNvPr id="50267" name="Text Box 65"/>
            <p:cNvSpPr txBox="1">
              <a:spLocks noChangeArrowheads="1"/>
            </p:cNvSpPr>
            <p:nvPr/>
          </p:nvSpPr>
          <p:spPr bwMode="auto">
            <a:xfrm>
              <a:off x="4351" y="2904"/>
              <a:ext cx="982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49-BD-D2-C7-56-2A</a:t>
              </a:r>
            </a:p>
          </p:txBody>
        </p:sp>
      </p:grpSp>
      <p:sp>
        <p:nvSpPr>
          <p:cNvPr id="50199" name="Line 67"/>
          <p:cNvSpPr>
            <a:spLocks noChangeShapeType="1"/>
          </p:cNvSpPr>
          <p:nvPr/>
        </p:nvSpPr>
        <p:spPr bwMode="auto">
          <a:xfrm flipV="1">
            <a:off x="6925582" y="4253138"/>
            <a:ext cx="45085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200" name="Line 68"/>
          <p:cNvSpPr>
            <a:spLocks noChangeShapeType="1"/>
          </p:cNvSpPr>
          <p:nvPr/>
        </p:nvSpPr>
        <p:spPr bwMode="auto">
          <a:xfrm flipH="1" flipV="1">
            <a:off x="7451045" y="4329338"/>
            <a:ext cx="11112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201" name="Text Box 71"/>
          <p:cNvSpPr txBox="1">
            <a:spLocks noChangeArrowheads="1"/>
          </p:cNvSpPr>
          <p:nvPr/>
        </p:nvSpPr>
        <p:spPr bwMode="auto">
          <a:xfrm>
            <a:off x="7055757" y="5648551"/>
            <a:ext cx="13223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i="0" dirty="0">
                <a:latin typeface="Arial" charset="0"/>
                <a:cs typeface="+mn-cs"/>
              </a:rPr>
              <a:t>222.222.222.221</a:t>
            </a:r>
          </a:p>
        </p:txBody>
      </p:sp>
      <p:sp>
        <p:nvSpPr>
          <p:cNvPr id="50202" name="Text Box 72"/>
          <p:cNvSpPr txBox="1">
            <a:spLocks noChangeArrowheads="1"/>
          </p:cNvSpPr>
          <p:nvPr/>
        </p:nvSpPr>
        <p:spPr bwMode="auto">
          <a:xfrm>
            <a:off x="7058932" y="5823176"/>
            <a:ext cx="15017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i="0" dirty="0">
                <a:latin typeface="Arial" charset="0"/>
                <a:cs typeface="+mn-cs"/>
              </a:rPr>
              <a:t>88-B2-2F-54-1A-0F</a:t>
            </a:r>
          </a:p>
        </p:txBody>
      </p:sp>
      <p:sp>
        <p:nvSpPr>
          <p:cNvPr id="50203" name="Line 73"/>
          <p:cNvSpPr>
            <a:spLocks noChangeShapeType="1"/>
          </p:cNvSpPr>
          <p:nvPr/>
        </p:nvSpPr>
        <p:spPr bwMode="auto">
          <a:xfrm flipH="1" flipV="1">
            <a:off x="6855732" y="5150076"/>
            <a:ext cx="254000" cy="250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204" name="Line 74"/>
          <p:cNvSpPr>
            <a:spLocks noChangeShapeType="1"/>
          </p:cNvSpPr>
          <p:nvPr/>
        </p:nvSpPr>
        <p:spPr bwMode="auto">
          <a:xfrm flipH="1">
            <a:off x="7190695" y="5491388"/>
            <a:ext cx="4762" cy="201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42364" name="Freeform 75"/>
          <p:cNvSpPr>
            <a:spLocks/>
          </p:cNvSpPr>
          <p:nvPr/>
        </p:nvSpPr>
        <p:spPr bwMode="auto">
          <a:xfrm>
            <a:off x="6185807" y="4276951"/>
            <a:ext cx="765175" cy="1081087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00CCFF"/>
          </a:solidFill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24" name="Text Box 76"/>
          <p:cNvSpPr txBox="1">
            <a:spLocks noChangeArrowheads="1"/>
          </p:cNvSpPr>
          <p:nvPr/>
        </p:nvSpPr>
        <p:spPr bwMode="auto">
          <a:xfrm>
            <a:off x="8289245" y="3910238"/>
            <a:ext cx="35718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i="0" dirty="0">
                <a:solidFill>
                  <a:srgbClr val="FF0000"/>
                </a:solidFill>
                <a:latin typeface="+mj-lt"/>
                <a:ea typeface="+mn-ea"/>
                <a:cs typeface="+mn-cs"/>
              </a:rPr>
              <a:t>B</a:t>
            </a:r>
          </a:p>
        </p:txBody>
      </p:sp>
      <p:grpSp>
        <p:nvGrpSpPr>
          <p:cNvPr id="142366" name="Group 124"/>
          <p:cNvGrpSpPr>
            <a:grpSpLocks/>
          </p:cNvGrpSpPr>
          <p:nvPr/>
        </p:nvGrpSpPr>
        <p:grpSpPr bwMode="auto">
          <a:xfrm>
            <a:off x="7160532" y="3870551"/>
            <a:ext cx="1009650" cy="854075"/>
            <a:chOff x="7179310" y="4033520"/>
            <a:chExt cx="1009650" cy="855028"/>
          </a:xfrm>
        </p:grpSpPr>
        <p:grpSp>
          <p:nvGrpSpPr>
            <p:cNvPr id="142421" name="Group 44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id="142423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2424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144" name="Rectangle 43"/>
            <p:cNvSpPr>
              <a:spLocks noChangeArrowheads="1"/>
            </p:cNvSpPr>
            <p:nvPr/>
          </p:nvSpPr>
          <p:spPr bwMode="auto">
            <a:xfrm rot="16200000">
              <a:off x="7438796" y="4309366"/>
              <a:ext cx="127142" cy="1952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</p:grpSp>
      <p:grpSp>
        <p:nvGrpSpPr>
          <p:cNvPr id="142367" name="Group 125"/>
          <p:cNvGrpSpPr>
            <a:grpSpLocks/>
          </p:cNvGrpSpPr>
          <p:nvPr/>
        </p:nvGrpSpPr>
        <p:grpSpPr bwMode="auto">
          <a:xfrm>
            <a:off x="3739470" y="4551588"/>
            <a:ext cx="1292225" cy="425450"/>
            <a:chOff x="4011931" y="3379152"/>
            <a:chExt cx="1262062" cy="390207"/>
          </a:xfrm>
        </p:grpSpPr>
        <p:sp>
          <p:nvSpPr>
            <p:cNvPr id="132" name="Rectangle 43"/>
            <p:cNvSpPr>
              <a:spLocks noChangeArrowheads="1"/>
            </p:cNvSpPr>
            <p:nvPr/>
          </p:nvSpPr>
          <p:spPr bwMode="auto">
            <a:xfrm rot="16200000">
              <a:off x="5112252" y="3476577"/>
              <a:ext cx="128128" cy="195356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42411" name="Group 1185"/>
            <p:cNvGrpSpPr>
              <a:grpSpLocks/>
            </p:cNvGrpSpPr>
            <p:nvPr/>
          </p:nvGrpSpPr>
          <p:grpSpPr bwMode="auto">
            <a:xfrm>
              <a:off x="4197985" y="3379152"/>
              <a:ext cx="892175" cy="390207"/>
              <a:chOff x="4650" y="1129"/>
              <a:chExt cx="246" cy="95"/>
            </a:xfrm>
          </p:grpSpPr>
          <p:sp>
            <p:nvSpPr>
              <p:cNvPr id="142413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 i="0" dirty="0">
                  <a:latin typeface="Times New Roman" charset="0"/>
                  <a:cs typeface="Arial" charset="0"/>
                </a:endParaRPr>
              </a:p>
            </p:txBody>
          </p:sp>
          <p:sp>
            <p:nvSpPr>
              <p:cNvPr id="142414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 i="0" dirty="0">
                  <a:latin typeface="Times New Roman" charset="0"/>
                  <a:cs typeface="Arial" charset="0"/>
                </a:endParaRPr>
              </a:p>
            </p:txBody>
          </p:sp>
          <p:sp>
            <p:nvSpPr>
              <p:cNvPr id="142415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 i="0" dirty="0">
                  <a:latin typeface="Times New Roman" charset="0"/>
                  <a:cs typeface="Arial" charset="0"/>
                </a:endParaRPr>
              </a:p>
            </p:txBody>
          </p:sp>
          <p:grpSp>
            <p:nvGrpSpPr>
              <p:cNvPr id="142416" name="Group 118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42419" name="Freeform 119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42420" name="Freeform 119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50258" name="Line 119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59" name="Line 119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134" name="Rectangle 43"/>
            <p:cNvSpPr>
              <a:spLocks noChangeArrowheads="1"/>
            </p:cNvSpPr>
            <p:nvPr/>
          </p:nvSpPr>
          <p:spPr bwMode="auto">
            <a:xfrm rot="16200000">
              <a:off x="4046274" y="3486041"/>
              <a:ext cx="126671" cy="195356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</p:grpSp>
      <p:grpSp>
        <p:nvGrpSpPr>
          <p:cNvPr id="142368" name="Group 126"/>
          <p:cNvGrpSpPr>
            <a:grpSpLocks/>
          </p:cNvGrpSpPr>
          <p:nvPr/>
        </p:nvGrpSpPr>
        <p:grpSpPr bwMode="auto">
          <a:xfrm>
            <a:off x="1464582" y="5150076"/>
            <a:ext cx="701675" cy="517525"/>
            <a:chOff x="1046480" y="3962400"/>
            <a:chExt cx="1026163" cy="761428"/>
          </a:xfrm>
        </p:grpSpPr>
        <p:sp>
          <p:nvSpPr>
            <p:cNvPr id="128" name="Rectangle 48"/>
            <p:cNvSpPr>
              <a:spLocks noChangeArrowheads="1"/>
            </p:cNvSpPr>
            <p:nvPr/>
          </p:nvSpPr>
          <p:spPr bwMode="auto">
            <a:xfrm rot="16200000">
              <a:off x="1893548" y="4299487"/>
              <a:ext cx="109776" cy="248414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42407" name="Group 49"/>
            <p:cNvGrpSpPr>
              <a:grpSpLocks/>
            </p:cNvGrpSpPr>
            <p:nvPr/>
          </p:nvGrpSpPr>
          <p:grpSpPr bwMode="auto"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id="142408" name="Picture 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2409" name="Freeform 51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sp>
        <p:nvSpPr>
          <p:cNvPr id="5021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010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Addressing: routing to another LAN</a:t>
            </a:r>
          </a:p>
        </p:txBody>
      </p:sp>
      <p:sp>
        <p:nvSpPr>
          <p:cNvPr id="50213" name="Rectangle 60"/>
          <p:cNvSpPr>
            <a:spLocks noChangeArrowheads="1"/>
          </p:cNvSpPr>
          <p:nvPr/>
        </p:nvSpPr>
        <p:spPr bwMode="auto">
          <a:xfrm>
            <a:off x="706438" y="1084263"/>
            <a:ext cx="7772400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Gill Sans MT" charset="0"/>
                <a:cs typeface="+mn-cs"/>
              </a:rPr>
              <a:t>R forwards datagram with IP source A, destination B </a:t>
            </a:r>
          </a:p>
        </p:txBody>
      </p:sp>
      <p:sp>
        <p:nvSpPr>
          <p:cNvPr id="50214" name="Rectangle 61"/>
          <p:cNvSpPr>
            <a:spLocks noChangeArrowheads="1"/>
          </p:cNvSpPr>
          <p:nvPr/>
        </p:nvSpPr>
        <p:spPr bwMode="auto">
          <a:xfrm>
            <a:off x="700995" y="1405164"/>
            <a:ext cx="7772400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Gill Sans MT" charset="0"/>
                <a:cs typeface="+mn-cs"/>
              </a:rPr>
              <a:t>R creates link-layer frame with B's MAC address as dest, frame contains A-to-B IP datagram</a:t>
            </a:r>
            <a:endParaRPr lang="en-US" sz="2800" i="0" dirty="0">
              <a:latin typeface="Gill Sans MT" charset="0"/>
              <a:cs typeface="+mn-cs"/>
            </a:endParaRPr>
          </a:p>
        </p:txBody>
      </p:sp>
      <p:sp>
        <p:nvSpPr>
          <p:cNvPr id="723007" name="AutoShape 63"/>
          <p:cNvSpPr>
            <a:spLocks noChangeArrowheads="1"/>
          </p:cNvSpPr>
          <p:nvPr/>
        </p:nvSpPr>
        <p:spPr bwMode="auto">
          <a:xfrm>
            <a:off x="6701745" y="2733901"/>
            <a:ext cx="314325" cy="792162"/>
          </a:xfrm>
          <a:prstGeom prst="downArrow">
            <a:avLst>
              <a:gd name="adj1" fmla="val 50000"/>
              <a:gd name="adj2" fmla="val 63005"/>
            </a:avLst>
          </a:prstGeom>
          <a:gradFill rotWithShape="1">
            <a:gsLst>
              <a:gs pos="0">
                <a:schemeClr val="bg1"/>
              </a:gs>
              <a:gs pos="100000">
                <a:srgbClr val="FF0000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42375" name="Group 64"/>
          <p:cNvGrpSpPr>
            <a:grpSpLocks/>
          </p:cNvGrpSpPr>
          <p:nvPr/>
        </p:nvGrpSpPr>
        <p:grpSpPr bwMode="auto">
          <a:xfrm>
            <a:off x="6208032" y="2290988"/>
            <a:ext cx="2011363" cy="760413"/>
            <a:chOff x="1197" y="1665"/>
            <a:chExt cx="1267" cy="479"/>
          </a:xfrm>
        </p:grpSpPr>
        <p:grpSp>
          <p:nvGrpSpPr>
            <p:cNvPr id="142401" name="Group 65"/>
            <p:cNvGrpSpPr>
              <a:grpSpLocks/>
            </p:cNvGrpSpPr>
            <p:nvPr/>
          </p:nvGrpSpPr>
          <p:grpSpPr bwMode="auto"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50244" name="Rectangle 66"/>
              <p:cNvSpPr>
                <a:spLocks noChangeArrowheads="1"/>
              </p:cNvSpPr>
              <p:nvPr/>
            </p:nvSpPr>
            <p:spPr bwMode="auto">
              <a:xfrm>
                <a:off x="1231" y="1991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45" name="Line 67"/>
              <p:cNvSpPr>
                <a:spLocks noChangeShapeType="1"/>
              </p:cNvSpPr>
              <p:nvPr/>
            </p:nvSpPr>
            <p:spPr bwMode="auto">
              <a:xfrm>
                <a:off x="1337" y="1990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46" name="Line 68"/>
              <p:cNvSpPr>
                <a:spLocks noChangeShapeType="1"/>
              </p:cNvSpPr>
              <p:nvPr/>
            </p:nvSpPr>
            <p:spPr bwMode="auto">
              <a:xfrm>
                <a:off x="1427" y="1992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50243" name="Text Box 69"/>
            <p:cNvSpPr txBox="1">
              <a:spLocks noChangeArrowheads="1"/>
            </p:cNvSpPr>
            <p:nvPr/>
          </p:nvSpPr>
          <p:spPr bwMode="auto">
            <a:xfrm>
              <a:off x="1197" y="1665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IP src: 111.111.111.111</a:t>
              </a:r>
            </a:p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   IP dest: 222.222.222.222</a:t>
              </a:r>
            </a:p>
          </p:txBody>
        </p:sp>
      </p:grpSp>
      <p:grpSp>
        <p:nvGrpSpPr>
          <p:cNvPr id="142376" name="Group 70"/>
          <p:cNvGrpSpPr>
            <a:grpSpLocks/>
          </p:cNvGrpSpPr>
          <p:nvPr/>
        </p:nvGrpSpPr>
        <p:grpSpPr bwMode="auto">
          <a:xfrm>
            <a:off x="6331857" y="2541813"/>
            <a:ext cx="146050" cy="385763"/>
            <a:chOff x="1272" y="1762"/>
            <a:chExt cx="92" cy="243"/>
          </a:xfrm>
        </p:grpSpPr>
        <p:sp>
          <p:nvSpPr>
            <p:cNvPr id="50240" name="Line 71"/>
            <p:cNvSpPr>
              <a:spLocks noChangeShapeType="1"/>
            </p:cNvSpPr>
            <p:nvPr/>
          </p:nvSpPr>
          <p:spPr bwMode="auto">
            <a:xfrm>
              <a:off x="1272" y="1762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41" name="Line 72"/>
            <p:cNvSpPr>
              <a:spLocks noChangeShapeType="1"/>
            </p:cNvSpPr>
            <p:nvPr/>
          </p:nvSpPr>
          <p:spPr bwMode="auto">
            <a:xfrm>
              <a:off x="1364" y="1878"/>
              <a:ext cx="0" cy="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723017" name="Group 73"/>
          <p:cNvGrpSpPr>
            <a:grpSpLocks/>
          </p:cNvGrpSpPr>
          <p:nvPr/>
        </p:nvGrpSpPr>
        <p:grpSpPr bwMode="auto">
          <a:xfrm>
            <a:off x="5782582" y="1883001"/>
            <a:ext cx="2428876" cy="1519237"/>
            <a:chOff x="931" y="1414"/>
            <a:chExt cx="1530" cy="957"/>
          </a:xfrm>
        </p:grpSpPr>
        <p:sp>
          <p:nvSpPr>
            <p:cNvPr id="50228" name="Text Box 74"/>
            <p:cNvSpPr txBox="1">
              <a:spLocks noChangeArrowheads="1"/>
            </p:cNvSpPr>
            <p:nvPr/>
          </p:nvSpPr>
          <p:spPr bwMode="auto">
            <a:xfrm>
              <a:off x="931" y="1414"/>
              <a:ext cx="153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MAC src: </a:t>
              </a:r>
              <a:r>
                <a:rPr lang="en-US" sz="1200" i="0" dirty="0">
                  <a:solidFill>
                    <a:srgbClr val="FF0000"/>
                  </a:solidFill>
                  <a:latin typeface="Arial" charset="0"/>
                  <a:cs typeface="+mn-cs"/>
                </a:rPr>
                <a:t>1A-23-F9-CD-06-9B</a:t>
              </a:r>
            </a:p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  MAC dest: </a:t>
              </a:r>
              <a:r>
                <a:rPr lang="en-US" sz="1200" i="0" dirty="0">
                  <a:solidFill>
                    <a:srgbClr val="FF0000"/>
                  </a:solidFill>
                  <a:latin typeface="Arial" charset="0"/>
                  <a:cs typeface="+mn-cs"/>
                </a:rPr>
                <a:t>49-BD-D2-C7-56-2A</a:t>
              </a:r>
            </a:p>
            <a:p>
              <a:pPr>
                <a:defRPr/>
              </a:pPr>
              <a:endParaRPr lang="en-US" sz="1200" i="0" dirty="0">
                <a:solidFill>
                  <a:srgbClr val="FF0000"/>
                </a:solidFill>
                <a:latin typeface="Arial" charset="0"/>
                <a:cs typeface="+mn-cs"/>
              </a:endParaRPr>
            </a:p>
          </p:txBody>
        </p:sp>
        <p:grpSp>
          <p:nvGrpSpPr>
            <p:cNvPr id="142388" name="Group 75"/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50234" name="Rectangle 76"/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35" name="Rectangle 77"/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36" name="Line 78"/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37" name="Line 79"/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38" name="Line 80"/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39" name="Line 81"/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50230" name="Line 82"/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31" name="Line 83"/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32" name="Line 84"/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33" name="Line 85"/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142378" name="Group 92"/>
          <p:cNvGrpSpPr>
            <a:grpSpLocks/>
          </p:cNvGrpSpPr>
          <p:nvPr/>
        </p:nvGrpSpPr>
        <p:grpSpPr bwMode="auto">
          <a:xfrm>
            <a:off x="8043182" y="2314801"/>
            <a:ext cx="928688" cy="1954212"/>
            <a:chOff x="250" y="1380"/>
            <a:chExt cx="585" cy="1231"/>
          </a:xfrm>
        </p:grpSpPr>
        <p:sp>
          <p:nvSpPr>
            <p:cNvPr id="142380" name="Freeform 93"/>
            <p:cNvSpPr>
              <a:spLocks/>
            </p:cNvSpPr>
            <p:nvPr/>
          </p:nvSpPr>
          <p:spPr bwMode="auto">
            <a:xfrm>
              <a:off x="250" y="1414"/>
              <a:ext cx="582" cy="1197"/>
            </a:xfrm>
            <a:custGeom>
              <a:avLst/>
              <a:gdLst>
                <a:gd name="T0" fmla="*/ 582 w 582"/>
                <a:gd name="T1" fmla="*/ 781 h 1197"/>
                <a:gd name="T2" fmla="*/ 0 w 582"/>
                <a:gd name="T3" fmla="*/ 1197 h 1197"/>
                <a:gd name="T4" fmla="*/ 83 w 582"/>
                <a:gd name="T5" fmla="*/ 0 h 1197"/>
                <a:gd name="T6" fmla="*/ 582 w 582"/>
                <a:gd name="T7" fmla="*/ 781 h 11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2" h="1197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50222" name="Rectangle 94"/>
            <p:cNvSpPr>
              <a:spLocks noChangeArrowheads="1"/>
            </p:cNvSpPr>
            <p:nvPr/>
          </p:nvSpPr>
          <p:spPr bwMode="auto">
            <a:xfrm>
              <a:off x="338" y="1399"/>
              <a:ext cx="493" cy="79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23" name="Text Box 95"/>
            <p:cNvSpPr txBox="1">
              <a:spLocks noChangeArrowheads="1"/>
            </p:cNvSpPr>
            <p:nvPr/>
          </p:nvSpPr>
          <p:spPr bwMode="auto"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IP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Eth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Phy</a:t>
              </a:r>
            </a:p>
          </p:txBody>
        </p:sp>
        <p:sp>
          <p:nvSpPr>
            <p:cNvPr id="50224" name="Line 96"/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25" name="Line 97"/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26" name="Line 98"/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27" name="Line 99"/>
            <p:cNvSpPr>
              <a:spLocks noChangeShapeType="1"/>
            </p:cNvSpPr>
            <p:nvPr/>
          </p:nvSpPr>
          <p:spPr bwMode="auto">
            <a:xfrm>
              <a:off x="330" y="16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pic>
        <p:nvPicPr>
          <p:cNvPr id="142379" name="Picture 15" descr="underline_base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783430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13</a:t>
            </a:fld>
            <a:endParaRPr lang="en-US" sz="1200" dirty="0">
              <a:latin typeface="Tahoma" charset="0"/>
            </a:endParaRPr>
          </a:p>
        </p:txBody>
      </p:sp>
      <p:sp>
        <p:nvSpPr>
          <p:cNvPr id="10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sp>
        <p:nvSpPr>
          <p:cNvPr id="104" name="TextBox 1"/>
          <p:cNvSpPr txBox="1">
            <a:spLocks noChangeArrowheads="1"/>
          </p:cNvSpPr>
          <p:nvPr/>
        </p:nvSpPr>
        <p:spPr bwMode="auto">
          <a:xfrm>
            <a:off x="339826" y="6271334"/>
            <a:ext cx="4507165" cy="444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1400" dirty="0"/>
              <a:t>* Check out the online interactive exercises for more examples: h</a:t>
            </a:r>
            <a:r>
              <a:rPr lang="en-US" sz="1200" dirty="0"/>
              <a:t>ttp://gaia.cs.umass.edu/kurose_ross/interactive/</a:t>
            </a:r>
          </a:p>
        </p:txBody>
      </p:sp>
    </p:spTree>
    <p:extLst>
      <p:ext uri="{BB962C8B-B14F-4D97-AF65-F5344CB8AC3E}">
        <p14:creationId xmlns:p14="http://schemas.microsoft.com/office/powerpoint/2010/main" val="119366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7230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7230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300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87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layer, </a:t>
            </a:r>
            <a:r>
              <a:rPr lang="en-US" sz="4000" dirty="0">
                <a:latin typeface="Gill Sans MT" charset="0"/>
                <a:cs typeface="+mj-cs"/>
              </a:rPr>
              <a:t>LAN</a:t>
            </a:r>
            <a:r>
              <a:rPr lang="en-US" dirty="0">
                <a:latin typeface="Gill Sans MT" charset="0"/>
                <a:cs typeface="+mj-cs"/>
              </a:rPr>
              <a:t>s: outline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6.1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introduction, services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6.2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error detection, correction 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6.3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multiple access protocols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6.4 LANs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addressing, ARP</a:t>
            </a:r>
          </a:p>
          <a:p>
            <a:pPr lvl="1"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</a:rPr>
              <a:t>Ethernet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switches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VLANS</a:t>
            </a: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6.5</a:t>
            </a:r>
            <a:r>
              <a:rPr lang="en-US" dirty="0">
                <a:latin typeface="Gill Sans MT" charset="0"/>
                <a:cs typeface="+mn-cs"/>
              </a:rPr>
              <a:t> link virtualization: MPLS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6.6</a:t>
            </a:r>
            <a:r>
              <a:rPr lang="en-US" dirty="0">
                <a:latin typeface="Gill Sans MT" charset="0"/>
                <a:cs typeface="+mn-cs"/>
              </a:rPr>
              <a:t> data center networking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6.7</a:t>
            </a:r>
            <a:r>
              <a:rPr lang="en-US" dirty="0">
                <a:latin typeface="Gill Sans MT" charset="0"/>
                <a:cs typeface="+mn-cs"/>
              </a:rPr>
              <a:t> a day in the life of a web request</a:t>
            </a:r>
          </a:p>
          <a:p>
            <a:pPr marL="457200" indent="-457200">
              <a:buFont typeface="Wingdings" charset="0"/>
              <a:buNone/>
              <a:defRPr/>
            </a:pPr>
            <a:endParaRPr lang="en-US" sz="2600" dirty="0">
              <a:latin typeface="Gill Sans MT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14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4064824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Ethernet</a:t>
            </a:r>
          </a:p>
        </p:txBody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8188" y="1276350"/>
            <a:ext cx="7519987" cy="21336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ja-JP" altLang="en-US" sz="2400" dirty="0">
                <a:latin typeface="Gill Sans MT" charset="0"/>
                <a:cs typeface="+mn-cs"/>
              </a:rPr>
              <a:t>“</a:t>
            </a:r>
            <a:r>
              <a:rPr lang="en-US" sz="2400" dirty="0">
                <a:latin typeface="Gill Sans MT" charset="0"/>
                <a:cs typeface="+mn-cs"/>
              </a:rPr>
              <a:t>dominant</a:t>
            </a:r>
            <a:r>
              <a:rPr lang="ja-JP" altLang="en-US" sz="2400" dirty="0">
                <a:latin typeface="Gill Sans MT" charset="0"/>
                <a:cs typeface="+mn-cs"/>
              </a:rPr>
              <a:t>”</a:t>
            </a:r>
            <a:r>
              <a:rPr lang="en-US" sz="2400" dirty="0">
                <a:latin typeface="Gill Sans MT" charset="0"/>
                <a:cs typeface="+mn-cs"/>
              </a:rPr>
              <a:t> wired LAN technology: 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single chip, multiple speeds (e.g., Broadcom  BCM5761)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first widely used LAN technology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simpler, cheap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kept up with speed race: 10 Mbps – 10 Gbps </a:t>
            </a:r>
            <a:endParaRPr lang="en-US" dirty="0">
              <a:latin typeface="Gill Sans MT" charset="0"/>
              <a:cs typeface="+mn-cs"/>
            </a:endParaRPr>
          </a:p>
          <a:p>
            <a:pPr>
              <a:defRPr/>
            </a:pPr>
            <a:endParaRPr lang="en-US" dirty="0">
              <a:latin typeface="Gill Sans MT" charset="0"/>
              <a:cs typeface="+mn-cs"/>
            </a:endParaRPr>
          </a:p>
        </p:txBody>
      </p:sp>
      <p:pic>
        <p:nvPicPr>
          <p:cNvPr id="146437" name="Picture 4" descr="551 metcalfe-ene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0" y="3635375"/>
            <a:ext cx="4752975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1" name="Text Box 5"/>
          <p:cNvSpPr txBox="1">
            <a:spLocks noChangeArrowheads="1"/>
          </p:cNvSpPr>
          <p:nvPr/>
        </p:nvSpPr>
        <p:spPr bwMode="auto">
          <a:xfrm>
            <a:off x="4289425" y="6086475"/>
            <a:ext cx="31305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>
                <a:latin typeface="Arial"/>
                <a:cs typeface="Arial"/>
              </a:rPr>
              <a:t>Metcalfe</a:t>
            </a:r>
            <a:r>
              <a:rPr lang="ja-JP" altLang="en-US" dirty="0">
                <a:latin typeface="Arial"/>
                <a:cs typeface="Arial"/>
              </a:rPr>
              <a:t>’</a:t>
            </a:r>
            <a:r>
              <a:rPr lang="en-US" dirty="0">
                <a:latin typeface="Arial"/>
                <a:cs typeface="Arial"/>
              </a:rPr>
              <a:t>s Ethernet sketch</a:t>
            </a:r>
          </a:p>
        </p:txBody>
      </p:sp>
      <p:pic>
        <p:nvPicPr>
          <p:cNvPr id="146439" name="Picture 24" descr="underline_base"/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13" y="877888"/>
            <a:ext cx="1970087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15</a:t>
            </a:fld>
            <a:endParaRPr lang="en-US" sz="1200" dirty="0">
              <a:latin typeface="Tahoma" charset="0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128821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481" name="Picture 19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796925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2" name="Rectangle 4"/>
          <p:cNvSpPr>
            <a:spLocks noGrp="1" noChangeArrowheads="1"/>
          </p:cNvSpPr>
          <p:nvPr>
            <p:ph type="title"/>
          </p:nvPr>
        </p:nvSpPr>
        <p:spPr>
          <a:xfrm>
            <a:off x="5461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Ethernet: physical topology</a:t>
            </a:r>
          </a:p>
        </p:txBody>
      </p:sp>
      <p:sp>
        <p:nvSpPr>
          <p:cNvPr id="53253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508000" y="1103313"/>
            <a:ext cx="8297863" cy="2449512"/>
          </a:xfrm>
        </p:spPr>
        <p:txBody>
          <a:bodyPr/>
          <a:lstStyle/>
          <a:p>
            <a:pPr>
              <a:lnSpc>
                <a:spcPct val="75000"/>
              </a:lnSpc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bus: </a:t>
            </a:r>
            <a:r>
              <a:rPr lang="en-US" dirty="0">
                <a:latin typeface="Gill Sans MT" charset="0"/>
                <a:cs typeface="+mn-cs"/>
              </a:rPr>
              <a:t>popular through mid 90s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all nodes in same collision domain (can collide with each other)</a:t>
            </a:r>
          </a:p>
          <a:p>
            <a:pPr>
              <a:lnSpc>
                <a:spcPct val="75000"/>
              </a:lnSpc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star: </a:t>
            </a:r>
            <a:r>
              <a:rPr lang="en-US" dirty="0">
                <a:latin typeface="Gill Sans MT" charset="0"/>
                <a:cs typeface="+mn-cs"/>
              </a:rPr>
              <a:t>prevails today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active </a:t>
            </a:r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switch</a:t>
            </a:r>
            <a:r>
              <a:rPr lang="en-US" dirty="0">
                <a:solidFill>
                  <a:srgbClr val="CC0000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in center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>
                <a:latin typeface="Gill Sans MT" charset="0"/>
              </a:rPr>
              <a:t>each </a:t>
            </a:r>
            <a:r>
              <a:rPr lang="ja-JP" altLang="en-US" dirty="0">
                <a:latin typeface="Gill Sans MT" charset="0"/>
              </a:rPr>
              <a:t>“</a:t>
            </a:r>
            <a:r>
              <a:rPr lang="en-US" dirty="0">
                <a:latin typeface="Gill Sans MT" charset="0"/>
              </a:rPr>
              <a:t>spoke</a:t>
            </a:r>
            <a:r>
              <a:rPr lang="ja-JP" altLang="en-US" dirty="0">
                <a:latin typeface="Gill Sans MT" charset="0"/>
              </a:rPr>
              <a:t>”</a:t>
            </a:r>
            <a:r>
              <a:rPr lang="en-US" dirty="0">
                <a:latin typeface="Gill Sans MT" charset="0"/>
              </a:rPr>
              <a:t> runs a (separate) Ethernet protocol (nodes do not collide with each other)</a:t>
            </a:r>
          </a:p>
        </p:txBody>
      </p:sp>
      <p:sp>
        <p:nvSpPr>
          <p:cNvPr id="53254" name="Line 17"/>
          <p:cNvSpPr>
            <a:spLocks noChangeShapeType="1"/>
          </p:cNvSpPr>
          <p:nvPr/>
        </p:nvSpPr>
        <p:spPr bwMode="auto">
          <a:xfrm>
            <a:off x="5316538" y="5110163"/>
            <a:ext cx="974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55" name="Line 18"/>
          <p:cNvSpPr>
            <a:spLocks noChangeShapeType="1"/>
          </p:cNvSpPr>
          <p:nvPr/>
        </p:nvSpPr>
        <p:spPr bwMode="auto">
          <a:xfrm>
            <a:off x="6556375" y="4518025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56" name="Line 19"/>
          <p:cNvSpPr>
            <a:spLocks noChangeShapeType="1"/>
          </p:cNvSpPr>
          <p:nvPr/>
        </p:nvSpPr>
        <p:spPr bwMode="auto">
          <a:xfrm flipH="1">
            <a:off x="6746875" y="5126038"/>
            <a:ext cx="1003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57" name="Line 20"/>
          <p:cNvSpPr>
            <a:spLocks noChangeShapeType="1"/>
          </p:cNvSpPr>
          <p:nvPr/>
        </p:nvSpPr>
        <p:spPr bwMode="auto">
          <a:xfrm flipV="1">
            <a:off x="6556375" y="5251450"/>
            <a:ext cx="12700" cy="709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58" name="Text Box 23"/>
          <p:cNvSpPr txBox="1">
            <a:spLocks noChangeArrowheads="1"/>
          </p:cNvSpPr>
          <p:nvPr/>
        </p:nvSpPr>
        <p:spPr bwMode="auto">
          <a:xfrm>
            <a:off x="5464175" y="5486400"/>
            <a:ext cx="75406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i="0" dirty="0">
                <a:latin typeface="Arial" charset="0"/>
                <a:cs typeface="Arial" charset="0"/>
              </a:rPr>
              <a:t>switch</a:t>
            </a:r>
          </a:p>
        </p:txBody>
      </p:sp>
      <p:sp>
        <p:nvSpPr>
          <p:cNvPr id="53259" name="Line 24"/>
          <p:cNvSpPr>
            <a:spLocks noChangeShapeType="1"/>
          </p:cNvSpPr>
          <p:nvPr/>
        </p:nvSpPr>
        <p:spPr bwMode="auto">
          <a:xfrm flipV="1">
            <a:off x="5834063" y="5275263"/>
            <a:ext cx="417512" cy="239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0" name="Line 32"/>
          <p:cNvSpPr>
            <a:spLocks noChangeShapeType="1"/>
          </p:cNvSpPr>
          <p:nvPr/>
        </p:nvSpPr>
        <p:spPr bwMode="auto">
          <a:xfrm flipH="1">
            <a:off x="2160588" y="4102100"/>
            <a:ext cx="752475" cy="1468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1" name="Line 33"/>
          <p:cNvSpPr>
            <a:spLocks noChangeShapeType="1"/>
          </p:cNvSpPr>
          <p:nvPr/>
        </p:nvSpPr>
        <p:spPr bwMode="auto">
          <a:xfrm>
            <a:off x="2132013" y="4879975"/>
            <a:ext cx="392112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2" name="Line 34"/>
          <p:cNvSpPr>
            <a:spLocks noChangeShapeType="1"/>
          </p:cNvSpPr>
          <p:nvPr/>
        </p:nvSpPr>
        <p:spPr bwMode="auto">
          <a:xfrm>
            <a:off x="1914525" y="5434013"/>
            <a:ext cx="307975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3" name="Line 35"/>
          <p:cNvSpPr>
            <a:spLocks noChangeShapeType="1"/>
          </p:cNvSpPr>
          <p:nvPr/>
        </p:nvSpPr>
        <p:spPr bwMode="auto">
          <a:xfrm flipV="1">
            <a:off x="2632075" y="4648200"/>
            <a:ext cx="287338" cy="14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4" name="Line 37"/>
          <p:cNvSpPr>
            <a:spLocks noChangeShapeType="1"/>
          </p:cNvSpPr>
          <p:nvPr/>
        </p:nvSpPr>
        <p:spPr bwMode="auto">
          <a:xfrm>
            <a:off x="2424113" y="4275138"/>
            <a:ext cx="39211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5" name="Line 38"/>
          <p:cNvSpPr>
            <a:spLocks noChangeShapeType="1"/>
          </p:cNvSpPr>
          <p:nvPr/>
        </p:nvSpPr>
        <p:spPr bwMode="auto">
          <a:xfrm>
            <a:off x="2424113" y="4275138"/>
            <a:ext cx="39211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6" name="Line 39"/>
          <p:cNvSpPr>
            <a:spLocks noChangeShapeType="1"/>
          </p:cNvSpPr>
          <p:nvPr/>
        </p:nvSpPr>
        <p:spPr bwMode="auto">
          <a:xfrm>
            <a:off x="2314575" y="5324475"/>
            <a:ext cx="307975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7" name="Text Box 41"/>
          <p:cNvSpPr txBox="1">
            <a:spLocks noChangeArrowheads="1"/>
          </p:cNvSpPr>
          <p:nvPr/>
        </p:nvSpPr>
        <p:spPr bwMode="auto">
          <a:xfrm>
            <a:off x="1430338" y="5908675"/>
            <a:ext cx="218598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 dirty="0">
                <a:solidFill>
                  <a:srgbClr val="CC0000"/>
                </a:solidFill>
                <a:latin typeface="Arial" charset="0"/>
                <a:cs typeface="Arial" charset="0"/>
              </a:rPr>
              <a:t>bus: </a:t>
            </a:r>
            <a:r>
              <a:rPr lang="en-US" i="0" dirty="0">
                <a:latin typeface="Arial" charset="0"/>
                <a:cs typeface="Arial" charset="0"/>
              </a:rPr>
              <a:t>coaxial cable</a:t>
            </a:r>
          </a:p>
        </p:txBody>
      </p:sp>
      <p:sp>
        <p:nvSpPr>
          <p:cNvPr id="53268" name="Text Box 42"/>
          <p:cNvSpPr txBox="1">
            <a:spLocks noChangeArrowheads="1"/>
          </p:cNvSpPr>
          <p:nvPr/>
        </p:nvSpPr>
        <p:spPr bwMode="auto">
          <a:xfrm>
            <a:off x="4989513" y="5691188"/>
            <a:ext cx="7747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 dirty="0">
                <a:solidFill>
                  <a:srgbClr val="CC0000"/>
                </a:solidFill>
                <a:latin typeface="Arial" charset="0"/>
                <a:cs typeface="Arial" charset="0"/>
              </a:rPr>
              <a:t>star</a:t>
            </a:r>
          </a:p>
        </p:txBody>
      </p:sp>
      <p:grpSp>
        <p:nvGrpSpPr>
          <p:cNvPr id="148501" name="Group 37"/>
          <p:cNvGrpSpPr>
            <a:grpSpLocks/>
          </p:cNvGrpSpPr>
          <p:nvPr/>
        </p:nvGrpSpPr>
        <p:grpSpPr bwMode="auto">
          <a:xfrm>
            <a:off x="2733675" y="4398963"/>
            <a:ext cx="711200" cy="601662"/>
            <a:chOff x="7179310" y="4033520"/>
            <a:chExt cx="1009650" cy="855028"/>
          </a:xfrm>
        </p:grpSpPr>
        <p:grpSp>
          <p:nvGrpSpPr>
            <p:cNvPr id="148542" name="Group 44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id="14854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854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40" name="Rectangle 43"/>
            <p:cNvSpPr>
              <a:spLocks noChangeArrowheads="1"/>
            </p:cNvSpPr>
            <p:nvPr/>
          </p:nvSpPr>
          <p:spPr bwMode="auto">
            <a:xfrm rot="16200000">
              <a:off x="7438418" y="4308853"/>
              <a:ext cx="128593" cy="19607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</p:grpSp>
      <p:grpSp>
        <p:nvGrpSpPr>
          <p:cNvPr id="148502" name="Group 42"/>
          <p:cNvGrpSpPr>
            <a:grpSpLocks/>
          </p:cNvGrpSpPr>
          <p:nvPr/>
        </p:nvGrpSpPr>
        <p:grpSpPr bwMode="auto">
          <a:xfrm>
            <a:off x="1757363" y="3962400"/>
            <a:ext cx="701675" cy="517525"/>
            <a:chOff x="1046480" y="3962400"/>
            <a:chExt cx="1026163" cy="761428"/>
          </a:xfrm>
        </p:grpSpPr>
        <p:sp>
          <p:nvSpPr>
            <p:cNvPr id="44" name="Rectangle 48"/>
            <p:cNvSpPr>
              <a:spLocks noChangeArrowheads="1"/>
            </p:cNvSpPr>
            <p:nvPr/>
          </p:nvSpPr>
          <p:spPr bwMode="auto">
            <a:xfrm rot="16200000">
              <a:off x="1893547" y="4299487"/>
              <a:ext cx="109777" cy="248416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48539" name="Group 49"/>
            <p:cNvGrpSpPr>
              <a:grpSpLocks/>
            </p:cNvGrpSpPr>
            <p:nvPr/>
          </p:nvGrpSpPr>
          <p:grpSpPr bwMode="auto"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id="148540" name="Picture 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8541" name="Freeform 51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48503" name="Group 47"/>
          <p:cNvGrpSpPr>
            <a:grpSpLocks/>
          </p:cNvGrpSpPr>
          <p:nvPr/>
        </p:nvGrpSpPr>
        <p:grpSpPr bwMode="auto">
          <a:xfrm>
            <a:off x="1473200" y="4551363"/>
            <a:ext cx="701675" cy="517525"/>
            <a:chOff x="1046480" y="3962400"/>
            <a:chExt cx="1026163" cy="761428"/>
          </a:xfrm>
        </p:grpSpPr>
        <p:sp>
          <p:nvSpPr>
            <p:cNvPr id="49" name="Rectangle 48"/>
            <p:cNvSpPr>
              <a:spLocks noChangeArrowheads="1"/>
            </p:cNvSpPr>
            <p:nvPr/>
          </p:nvSpPr>
          <p:spPr bwMode="auto">
            <a:xfrm rot="16200000">
              <a:off x="1893548" y="4299487"/>
              <a:ext cx="109776" cy="248414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48535" name="Group 49"/>
            <p:cNvGrpSpPr>
              <a:grpSpLocks/>
            </p:cNvGrpSpPr>
            <p:nvPr/>
          </p:nvGrpSpPr>
          <p:grpSpPr bwMode="auto"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id="148536" name="Picture 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8537" name="Freeform 51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48504" name="Group 52"/>
          <p:cNvGrpSpPr>
            <a:grpSpLocks/>
          </p:cNvGrpSpPr>
          <p:nvPr/>
        </p:nvGrpSpPr>
        <p:grpSpPr bwMode="auto">
          <a:xfrm>
            <a:off x="1279525" y="5110163"/>
            <a:ext cx="701675" cy="517525"/>
            <a:chOff x="1046480" y="3962400"/>
            <a:chExt cx="1026163" cy="761428"/>
          </a:xfrm>
        </p:grpSpPr>
        <p:sp>
          <p:nvSpPr>
            <p:cNvPr id="54" name="Rectangle 53"/>
            <p:cNvSpPr>
              <a:spLocks noChangeArrowheads="1"/>
            </p:cNvSpPr>
            <p:nvPr/>
          </p:nvSpPr>
          <p:spPr bwMode="auto">
            <a:xfrm rot="16200000">
              <a:off x="1893548" y="4299487"/>
              <a:ext cx="109776" cy="248414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48531" name="Group 54"/>
            <p:cNvGrpSpPr>
              <a:grpSpLocks/>
            </p:cNvGrpSpPr>
            <p:nvPr/>
          </p:nvGrpSpPr>
          <p:grpSpPr bwMode="auto"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id="148532" name="Picture 5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8533" name="Freeform 5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48505" name="Group 57"/>
          <p:cNvGrpSpPr>
            <a:grpSpLocks/>
          </p:cNvGrpSpPr>
          <p:nvPr/>
        </p:nvGrpSpPr>
        <p:grpSpPr bwMode="auto">
          <a:xfrm>
            <a:off x="2447925" y="5070475"/>
            <a:ext cx="711200" cy="600075"/>
            <a:chOff x="7179310" y="4033520"/>
            <a:chExt cx="1009650" cy="855028"/>
          </a:xfrm>
        </p:grpSpPr>
        <p:grpSp>
          <p:nvGrpSpPr>
            <p:cNvPr id="148526" name="Group 44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id="14852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8529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60" name="Rectangle 43"/>
            <p:cNvSpPr>
              <a:spLocks noChangeArrowheads="1"/>
            </p:cNvSpPr>
            <p:nvPr/>
          </p:nvSpPr>
          <p:spPr bwMode="auto">
            <a:xfrm rot="16200000">
              <a:off x="7439379" y="4308711"/>
              <a:ext cx="126671" cy="19607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</p:grpSp>
      <p:grpSp>
        <p:nvGrpSpPr>
          <p:cNvPr id="148506" name="Group 62"/>
          <p:cNvGrpSpPr>
            <a:grpSpLocks/>
          </p:cNvGrpSpPr>
          <p:nvPr/>
        </p:nvGrpSpPr>
        <p:grpSpPr bwMode="auto">
          <a:xfrm>
            <a:off x="4419600" y="4687888"/>
            <a:ext cx="914400" cy="690562"/>
            <a:chOff x="1046480" y="3962400"/>
            <a:chExt cx="1026163" cy="761428"/>
          </a:xfrm>
        </p:grpSpPr>
        <p:sp>
          <p:nvSpPr>
            <p:cNvPr id="64" name="Rectangle 48"/>
            <p:cNvSpPr>
              <a:spLocks noChangeArrowheads="1"/>
            </p:cNvSpPr>
            <p:nvPr/>
          </p:nvSpPr>
          <p:spPr bwMode="auto">
            <a:xfrm rot="16200000">
              <a:off x="1893689" y="4299817"/>
              <a:ext cx="110275" cy="24763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48523" name="Group 49"/>
            <p:cNvGrpSpPr>
              <a:grpSpLocks/>
            </p:cNvGrpSpPr>
            <p:nvPr/>
          </p:nvGrpSpPr>
          <p:grpSpPr bwMode="auto"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id="148524" name="Picture 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8525" name="Freeform 51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48507" name="Group 67"/>
          <p:cNvGrpSpPr>
            <a:grpSpLocks/>
          </p:cNvGrpSpPr>
          <p:nvPr/>
        </p:nvGrpSpPr>
        <p:grpSpPr bwMode="auto">
          <a:xfrm>
            <a:off x="7548563" y="4779963"/>
            <a:ext cx="854075" cy="741362"/>
            <a:chOff x="7179310" y="4033520"/>
            <a:chExt cx="1009650" cy="855028"/>
          </a:xfrm>
        </p:grpSpPr>
        <p:grpSp>
          <p:nvGrpSpPr>
            <p:cNvPr id="148518" name="Group 44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id="14852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8521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70" name="Rectangle 43"/>
            <p:cNvSpPr>
              <a:spLocks noChangeArrowheads="1"/>
            </p:cNvSpPr>
            <p:nvPr/>
          </p:nvSpPr>
          <p:spPr bwMode="auto">
            <a:xfrm rot="16200000">
              <a:off x="7438954" y="4308497"/>
              <a:ext cx="128163" cy="197050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</p:grpSp>
      <p:sp>
        <p:nvSpPr>
          <p:cNvPr id="75" name="Rectangle 43"/>
          <p:cNvSpPr>
            <a:spLocks noChangeArrowheads="1"/>
          </p:cNvSpPr>
          <p:nvPr/>
        </p:nvSpPr>
        <p:spPr bwMode="auto">
          <a:xfrm>
            <a:off x="6497638" y="4351338"/>
            <a:ext cx="109537" cy="165100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Comic Sans MS" pitchFamily="66" charset="0"/>
              <a:ea typeface="+mn-ea"/>
              <a:cs typeface="+mn-cs"/>
            </a:endParaRPr>
          </a:p>
        </p:txBody>
      </p:sp>
      <p:grpSp>
        <p:nvGrpSpPr>
          <p:cNvPr id="148509" name="Group 44"/>
          <p:cNvGrpSpPr>
            <a:grpSpLocks/>
          </p:cNvGrpSpPr>
          <p:nvPr/>
        </p:nvGrpSpPr>
        <p:grpSpPr bwMode="auto">
          <a:xfrm>
            <a:off x="6116638" y="3784600"/>
            <a:ext cx="852487" cy="741363"/>
            <a:chOff x="-44" y="1473"/>
            <a:chExt cx="981" cy="1105"/>
          </a:xfrm>
        </p:grpSpPr>
        <p:pic>
          <p:nvPicPr>
            <p:cNvPr id="148516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8517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48510" name="Group 1"/>
          <p:cNvGrpSpPr>
            <a:grpSpLocks/>
          </p:cNvGrpSpPr>
          <p:nvPr/>
        </p:nvGrpSpPr>
        <p:grpSpPr bwMode="auto">
          <a:xfrm>
            <a:off x="5943600" y="5926138"/>
            <a:ext cx="854075" cy="835025"/>
            <a:chOff x="8077200" y="3320111"/>
            <a:chExt cx="853440" cy="835329"/>
          </a:xfrm>
        </p:grpSpPr>
        <p:sp>
          <p:nvSpPr>
            <p:cNvPr id="78" name="Rectangle 43"/>
            <p:cNvSpPr>
              <a:spLocks noChangeArrowheads="1"/>
            </p:cNvSpPr>
            <p:nvPr/>
          </p:nvSpPr>
          <p:spPr bwMode="auto">
            <a:xfrm>
              <a:off x="8630826" y="3320111"/>
              <a:ext cx="111042" cy="165160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48513" name="Group 44"/>
            <p:cNvGrpSpPr>
              <a:grpSpLocks/>
            </p:cNvGrpSpPr>
            <p:nvPr/>
          </p:nvGrpSpPr>
          <p:grpSpPr bwMode="auto">
            <a:xfrm>
              <a:off x="8077200" y="3413760"/>
              <a:ext cx="853440" cy="741680"/>
              <a:chOff x="-44" y="1473"/>
              <a:chExt cx="981" cy="1105"/>
            </a:xfrm>
          </p:grpSpPr>
          <p:pic>
            <p:nvPicPr>
              <p:cNvPr id="14851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851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pic>
        <p:nvPicPr>
          <p:cNvPr id="53279" name="Picture 3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6338" y="4962525"/>
            <a:ext cx="603250" cy="341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6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16</a:t>
            </a:fld>
            <a:endParaRPr lang="en-US" sz="1200" dirty="0">
              <a:latin typeface="Tahoma" charset="0"/>
            </a:endParaRPr>
          </a:p>
        </p:txBody>
      </p:sp>
      <p:sp>
        <p:nvSpPr>
          <p:cNvPr id="6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4159960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46075"/>
            <a:ext cx="7772400" cy="6096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Ethernet frame structure</a:t>
            </a:r>
          </a:p>
        </p:txBody>
      </p:sp>
      <p:sp>
        <p:nvSpPr>
          <p:cNvPr id="542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2463" y="1609725"/>
            <a:ext cx="7772400" cy="43434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dirty="0">
                <a:latin typeface="Gill Sans MT" charset="0"/>
                <a:cs typeface="+mn-cs"/>
              </a:rPr>
              <a:t>sending adapter encapsulates IP datagram (or other network layer protocol packet) in 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Ethernet frame</a:t>
            </a:r>
          </a:p>
          <a:p>
            <a:pPr>
              <a:defRPr/>
            </a:pPr>
            <a:endParaRPr lang="en-US" sz="2400" b="1" dirty="0">
              <a:latin typeface="Gill Sans MT" charset="0"/>
              <a:cs typeface="+mn-cs"/>
            </a:endParaRPr>
          </a:p>
          <a:p>
            <a:pPr>
              <a:defRPr/>
            </a:pPr>
            <a:endParaRPr lang="en-US" sz="2400" b="1" dirty="0">
              <a:latin typeface="Gill Sans MT" charset="0"/>
              <a:cs typeface="+mn-cs"/>
            </a:endParaRPr>
          </a:p>
          <a:p>
            <a:pPr>
              <a:buFont typeface="Wingdings" charset="0"/>
              <a:buNone/>
              <a:defRPr/>
            </a:pPr>
            <a:endParaRPr lang="en-US" sz="2400" dirty="0">
              <a:solidFill>
                <a:srgbClr val="FF0000"/>
              </a:solidFill>
              <a:latin typeface="Gill Sans MT" charset="0"/>
              <a:cs typeface="+mn-cs"/>
            </a:endParaRPr>
          </a:p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preamble: 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7 bytes with pattern 10101010 followed by one byte with pattern 10101011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 used to synchronize receiver, sender clock rates</a:t>
            </a:r>
          </a:p>
        </p:txBody>
      </p:sp>
      <p:pic>
        <p:nvPicPr>
          <p:cNvPr id="150533" name="Picture 19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0" y="881063"/>
            <a:ext cx="5942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0534" name="Group 51"/>
          <p:cNvGrpSpPr>
            <a:grpSpLocks/>
          </p:cNvGrpSpPr>
          <p:nvPr/>
        </p:nvGrpSpPr>
        <p:grpSpPr bwMode="auto">
          <a:xfrm>
            <a:off x="1516063" y="2373313"/>
            <a:ext cx="6291262" cy="993775"/>
            <a:chOff x="940711" y="4902593"/>
            <a:chExt cx="6291001" cy="992895"/>
          </a:xfrm>
        </p:grpSpPr>
        <p:sp>
          <p:nvSpPr>
            <p:cNvPr id="150535" name="Line 10"/>
            <p:cNvSpPr>
              <a:spLocks noChangeShapeType="1"/>
            </p:cNvSpPr>
            <p:nvPr/>
          </p:nvSpPr>
          <p:spPr bwMode="auto">
            <a:xfrm>
              <a:off x="3570934" y="5199463"/>
              <a:ext cx="0" cy="2046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0536" name="Rectangle 1"/>
            <p:cNvSpPr>
              <a:spLocks noChangeArrowheads="1"/>
            </p:cNvSpPr>
            <p:nvPr/>
          </p:nvSpPr>
          <p:spPr bwMode="auto">
            <a:xfrm>
              <a:off x="976959" y="5272489"/>
              <a:ext cx="6254753" cy="547846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 dirty="0"/>
            </a:p>
          </p:txBody>
        </p:sp>
        <p:cxnSp>
          <p:nvCxnSpPr>
            <p:cNvPr id="16" name="Straight Connector 3"/>
            <p:cNvCxnSpPr>
              <a:cxnSpLocks noChangeShapeType="1"/>
            </p:cNvCxnSpPr>
            <p:nvPr/>
          </p:nvCxnSpPr>
          <p:spPr bwMode="auto">
            <a:xfrm>
              <a:off x="1970955" y="5262636"/>
              <a:ext cx="0" cy="5503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7" name="Straight Connector 32"/>
            <p:cNvCxnSpPr>
              <a:cxnSpLocks noChangeShapeType="1"/>
            </p:cNvCxnSpPr>
            <p:nvPr/>
          </p:nvCxnSpPr>
          <p:spPr bwMode="auto">
            <a:xfrm>
              <a:off x="2701175" y="5265808"/>
              <a:ext cx="0" cy="583683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8" name="Straight Connector 33"/>
            <p:cNvCxnSpPr>
              <a:cxnSpLocks noChangeShapeType="1"/>
            </p:cNvCxnSpPr>
            <p:nvPr/>
          </p:nvCxnSpPr>
          <p:spPr bwMode="auto">
            <a:xfrm>
              <a:off x="3429808" y="5270567"/>
              <a:ext cx="0" cy="548789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9" name="Straight Connector 34"/>
            <p:cNvCxnSpPr>
              <a:cxnSpLocks noChangeShapeType="1"/>
            </p:cNvCxnSpPr>
            <p:nvPr/>
          </p:nvCxnSpPr>
          <p:spPr bwMode="auto">
            <a:xfrm>
              <a:off x="3683797" y="5265808"/>
              <a:ext cx="0" cy="58051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0" name="Straight Connector 35"/>
            <p:cNvCxnSpPr>
              <a:cxnSpLocks noChangeShapeType="1"/>
            </p:cNvCxnSpPr>
            <p:nvPr/>
          </p:nvCxnSpPr>
          <p:spPr bwMode="auto">
            <a:xfrm>
              <a:off x="5650628" y="5272152"/>
              <a:ext cx="0" cy="62333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50542" name="TextBox 5"/>
            <p:cNvSpPr txBox="1">
              <a:spLocks noChangeArrowheads="1"/>
            </p:cNvSpPr>
            <p:nvPr/>
          </p:nvSpPr>
          <p:spPr bwMode="auto">
            <a:xfrm>
              <a:off x="1910352" y="5332220"/>
              <a:ext cx="844810" cy="410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dest.</a:t>
              </a:r>
            </a:p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address</a:t>
              </a:r>
            </a:p>
          </p:txBody>
        </p:sp>
        <p:sp>
          <p:nvSpPr>
            <p:cNvPr id="150543" name="TextBox 37"/>
            <p:cNvSpPr txBox="1">
              <a:spLocks noChangeArrowheads="1"/>
            </p:cNvSpPr>
            <p:nvPr/>
          </p:nvSpPr>
          <p:spPr bwMode="auto">
            <a:xfrm>
              <a:off x="2673645" y="5340803"/>
              <a:ext cx="844810" cy="410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source</a:t>
              </a:r>
            </a:p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address</a:t>
              </a:r>
            </a:p>
          </p:txBody>
        </p:sp>
        <p:sp>
          <p:nvSpPr>
            <p:cNvPr id="150544" name="TextBox 38"/>
            <p:cNvSpPr txBox="1">
              <a:spLocks noChangeArrowheads="1"/>
            </p:cNvSpPr>
            <p:nvPr/>
          </p:nvSpPr>
          <p:spPr bwMode="auto">
            <a:xfrm>
              <a:off x="4053534" y="5353451"/>
              <a:ext cx="1377407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data (payload)</a:t>
              </a:r>
            </a:p>
          </p:txBody>
        </p:sp>
        <p:sp>
          <p:nvSpPr>
            <p:cNvPr id="150545" name="TextBox 39"/>
            <p:cNvSpPr txBox="1">
              <a:spLocks noChangeArrowheads="1"/>
            </p:cNvSpPr>
            <p:nvPr/>
          </p:nvSpPr>
          <p:spPr bwMode="auto">
            <a:xfrm>
              <a:off x="5941065" y="5431291"/>
              <a:ext cx="855572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CRC</a:t>
              </a:r>
            </a:p>
          </p:txBody>
        </p:sp>
        <p:sp>
          <p:nvSpPr>
            <p:cNvPr id="150546" name="TextBox 40"/>
            <p:cNvSpPr txBox="1">
              <a:spLocks noChangeArrowheads="1"/>
            </p:cNvSpPr>
            <p:nvPr/>
          </p:nvSpPr>
          <p:spPr bwMode="auto">
            <a:xfrm>
              <a:off x="940711" y="5444340"/>
              <a:ext cx="107012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preamble</a:t>
              </a:r>
            </a:p>
          </p:txBody>
        </p:sp>
        <p:sp>
          <p:nvSpPr>
            <p:cNvPr id="150547" name="Text Box 9"/>
            <p:cNvSpPr txBox="1">
              <a:spLocks noChangeArrowheads="1"/>
            </p:cNvSpPr>
            <p:nvPr/>
          </p:nvSpPr>
          <p:spPr bwMode="auto">
            <a:xfrm>
              <a:off x="3321504" y="4902593"/>
              <a:ext cx="77026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600" dirty="0">
                  <a:solidFill>
                    <a:srgbClr val="000000"/>
                  </a:solidFill>
                  <a:latin typeface="Arial" charset="0"/>
                </a:rPr>
                <a:t>type</a:t>
              </a:r>
            </a:p>
          </p:txBody>
        </p:sp>
      </p:grp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17</a:t>
            </a:fld>
            <a:endParaRPr lang="en-US" sz="1200" dirty="0">
              <a:latin typeface="Tahoma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836455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Ethernet frame structure (more)</a:t>
            </a:r>
          </a:p>
        </p:txBody>
      </p:sp>
      <p:sp>
        <p:nvSpPr>
          <p:cNvPr id="553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3875" y="1314450"/>
            <a:ext cx="8272463" cy="3789363"/>
          </a:xfrm>
        </p:spPr>
        <p:txBody>
          <a:bodyPr/>
          <a:lstStyle/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addresses: </a:t>
            </a:r>
            <a:r>
              <a:rPr lang="en-US" dirty="0">
                <a:latin typeface="Gill Sans MT" charset="0"/>
                <a:cs typeface="+mn-cs"/>
              </a:rPr>
              <a:t>6 byte source, destination MAC addresses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if adapter receives frame with matching destination address, or with broadcast address (e.g. ARP packet), it passes data in frame to network layer protocol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otherwise, adapter discards frame</a:t>
            </a: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type: </a:t>
            </a:r>
            <a:r>
              <a:rPr lang="en-US" dirty="0">
                <a:latin typeface="Gill Sans MT" charset="0"/>
                <a:cs typeface="+mn-cs"/>
              </a:rPr>
              <a:t>indicates higher layer protocol (mostly IP but others possible, e.g., Novell IPX, AppleTalk)</a:t>
            </a: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CRC: </a:t>
            </a:r>
            <a:r>
              <a:rPr lang="en-US" dirty="0">
                <a:latin typeface="Gill Sans MT" charset="0"/>
                <a:cs typeface="+mn-cs"/>
              </a:rPr>
              <a:t>cyclic redundancy check at receiver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error detected: frame is dropped</a:t>
            </a:r>
          </a:p>
        </p:txBody>
      </p:sp>
      <p:pic>
        <p:nvPicPr>
          <p:cNvPr id="152581" name="Picture 16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101917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2582" name="Group 8"/>
          <p:cNvGrpSpPr>
            <a:grpSpLocks/>
          </p:cNvGrpSpPr>
          <p:nvPr/>
        </p:nvGrpSpPr>
        <p:grpSpPr bwMode="auto">
          <a:xfrm>
            <a:off x="1412875" y="5040313"/>
            <a:ext cx="6291263" cy="993775"/>
            <a:chOff x="940711" y="4902593"/>
            <a:chExt cx="6291001" cy="992895"/>
          </a:xfrm>
        </p:grpSpPr>
        <p:sp>
          <p:nvSpPr>
            <p:cNvPr id="152583" name="Line 10"/>
            <p:cNvSpPr>
              <a:spLocks noChangeShapeType="1"/>
            </p:cNvSpPr>
            <p:nvPr/>
          </p:nvSpPr>
          <p:spPr bwMode="auto">
            <a:xfrm>
              <a:off x="3570934" y="5199463"/>
              <a:ext cx="0" cy="2046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2584" name="Rectangle 1"/>
            <p:cNvSpPr>
              <a:spLocks noChangeArrowheads="1"/>
            </p:cNvSpPr>
            <p:nvPr/>
          </p:nvSpPr>
          <p:spPr bwMode="auto">
            <a:xfrm>
              <a:off x="976959" y="5272489"/>
              <a:ext cx="6254753" cy="547846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 dirty="0"/>
            </a:p>
          </p:txBody>
        </p:sp>
        <p:cxnSp>
          <p:nvCxnSpPr>
            <p:cNvPr id="12" name="Straight Connector 3"/>
            <p:cNvCxnSpPr>
              <a:cxnSpLocks noChangeShapeType="1"/>
            </p:cNvCxnSpPr>
            <p:nvPr/>
          </p:nvCxnSpPr>
          <p:spPr bwMode="auto">
            <a:xfrm>
              <a:off x="1970956" y="5262636"/>
              <a:ext cx="0" cy="5503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3" name="Straight Connector 32"/>
            <p:cNvCxnSpPr>
              <a:cxnSpLocks noChangeShapeType="1"/>
            </p:cNvCxnSpPr>
            <p:nvPr/>
          </p:nvCxnSpPr>
          <p:spPr bwMode="auto">
            <a:xfrm>
              <a:off x="2701176" y="5265808"/>
              <a:ext cx="0" cy="583683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4" name="Straight Connector 33"/>
            <p:cNvCxnSpPr>
              <a:cxnSpLocks noChangeShapeType="1"/>
            </p:cNvCxnSpPr>
            <p:nvPr/>
          </p:nvCxnSpPr>
          <p:spPr bwMode="auto">
            <a:xfrm>
              <a:off x="3429807" y="5270567"/>
              <a:ext cx="0" cy="548789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" name="Straight Connector 34"/>
            <p:cNvCxnSpPr>
              <a:cxnSpLocks noChangeShapeType="1"/>
            </p:cNvCxnSpPr>
            <p:nvPr/>
          </p:nvCxnSpPr>
          <p:spPr bwMode="auto">
            <a:xfrm>
              <a:off x="3683797" y="5265808"/>
              <a:ext cx="0" cy="58051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6" name="Straight Connector 35"/>
            <p:cNvCxnSpPr>
              <a:cxnSpLocks noChangeShapeType="1"/>
            </p:cNvCxnSpPr>
            <p:nvPr/>
          </p:nvCxnSpPr>
          <p:spPr bwMode="auto">
            <a:xfrm>
              <a:off x="5650628" y="5272152"/>
              <a:ext cx="0" cy="62333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52590" name="TextBox 5"/>
            <p:cNvSpPr txBox="1">
              <a:spLocks noChangeArrowheads="1"/>
            </p:cNvSpPr>
            <p:nvPr/>
          </p:nvSpPr>
          <p:spPr bwMode="auto">
            <a:xfrm>
              <a:off x="1910352" y="5332220"/>
              <a:ext cx="844810" cy="410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dest.</a:t>
              </a:r>
            </a:p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address</a:t>
              </a:r>
            </a:p>
          </p:txBody>
        </p:sp>
        <p:sp>
          <p:nvSpPr>
            <p:cNvPr id="152591" name="TextBox 37"/>
            <p:cNvSpPr txBox="1">
              <a:spLocks noChangeArrowheads="1"/>
            </p:cNvSpPr>
            <p:nvPr/>
          </p:nvSpPr>
          <p:spPr bwMode="auto">
            <a:xfrm>
              <a:off x="2673645" y="5340803"/>
              <a:ext cx="844810" cy="410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source</a:t>
              </a:r>
            </a:p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address</a:t>
              </a:r>
            </a:p>
          </p:txBody>
        </p:sp>
        <p:sp>
          <p:nvSpPr>
            <p:cNvPr id="152592" name="TextBox 38"/>
            <p:cNvSpPr txBox="1">
              <a:spLocks noChangeArrowheads="1"/>
            </p:cNvSpPr>
            <p:nvPr/>
          </p:nvSpPr>
          <p:spPr bwMode="auto">
            <a:xfrm>
              <a:off x="4053534" y="5353451"/>
              <a:ext cx="1377407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data (payload)</a:t>
              </a:r>
            </a:p>
          </p:txBody>
        </p:sp>
        <p:sp>
          <p:nvSpPr>
            <p:cNvPr id="152593" name="TextBox 39"/>
            <p:cNvSpPr txBox="1">
              <a:spLocks noChangeArrowheads="1"/>
            </p:cNvSpPr>
            <p:nvPr/>
          </p:nvSpPr>
          <p:spPr bwMode="auto">
            <a:xfrm>
              <a:off x="5941065" y="5431291"/>
              <a:ext cx="855572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CRC</a:t>
              </a:r>
            </a:p>
          </p:txBody>
        </p:sp>
        <p:sp>
          <p:nvSpPr>
            <p:cNvPr id="152594" name="TextBox 40"/>
            <p:cNvSpPr txBox="1">
              <a:spLocks noChangeArrowheads="1"/>
            </p:cNvSpPr>
            <p:nvPr/>
          </p:nvSpPr>
          <p:spPr bwMode="auto">
            <a:xfrm>
              <a:off x="940711" y="5444340"/>
              <a:ext cx="107012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preamble</a:t>
              </a:r>
            </a:p>
          </p:txBody>
        </p:sp>
        <p:sp>
          <p:nvSpPr>
            <p:cNvPr id="152595" name="Text Box 9"/>
            <p:cNvSpPr txBox="1">
              <a:spLocks noChangeArrowheads="1"/>
            </p:cNvSpPr>
            <p:nvPr/>
          </p:nvSpPr>
          <p:spPr bwMode="auto">
            <a:xfrm>
              <a:off x="3321504" y="4902593"/>
              <a:ext cx="77026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600" dirty="0">
                  <a:solidFill>
                    <a:srgbClr val="000000"/>
                  </a:solidFill>
                  <a:latin typeface="Arial" charset="0"/>
                </a:rPr>
                <a:t>type</a:t>
              </a:r>
            </a:p>
          </p:txBody>
        </p:sp>
      </p:grp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18</a:t>
            </a:fld>
            <a:endParaRPr lang="en-US" sz="1200" dirty="0">
              <a:latin typeface="Tahoma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482735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47063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Ethernet: unreliable, connectionless</a:t>
            </a:r>
          </a:p>
        </p:txBody>
      </p:sp>
      <p:sp>
        <p:nvSpPr>
          <p:cNvPr id="563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261350" cy="4648200"/>
          </a:xfrm>
        </p:spPr>
        <p:txBody>
          <a:bodyPr/>
          <a:lstStyle/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connectionless: </a:t>
            </a:r>
            <a:r>
              <a:rPr lang="en-US" dirty="0">
                <a:latin typeface="Gill Sans MT" charset="0"/>
                <a:cs typeface="+mn-cs"/>
              </a:rPr>
              <a:t>no handshaking between sending and receiving NICs </a:t>
            </a: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unreliable: </a:t>
            </a:r>
            <a:r>
              <a:rPr lang="en-US" dirty="0">
                <a:latin typeface="Gill Sans MT" charset="0"/>
                <a:cs typeface="+mn-cs"/>
              </a:rPr>
              <a:t>receiving NIC doesn't send acks or nacks to sending NIC</a:t>
            </a:r>
          </a:p>
          <a:p>
            <a:pPr lvl="1">
              <a:defRPr/>
            </a:pPr>
            <a:r>
              <a:rPr lang="en-US" sz="2800" dirty="0">
                <a:latin typeface="Gill Sans MT" charset="0"/>
              </a:rPr>
              <a:t>data in dropped frames recovered only if initial sender uses higher layer rdt (e.g., TCP), otherwise dropped data lost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Ethernet</a:t>
            </a:r>
            <a:r>
              <a:rPr lang="ja-JP" altLang="en-US" dirty="0">
                <a:latin typeface="Gill Sans MT" charset="0"/>
                <a:cs typeface="+mn-cs"/>
              </a:rPr>
              <a:t>’</a:t>
            </a:r>
            <a:r>
              <a:rPr lang="en-US" dirty="0">
                <a:latin typeface="Gill Sans MT" charset="0"/>
                <a:cs typeface="+mn-cs"/>
              </a:rPr>
              <a:t>s MAC protocol: unslotted </a:t>
            </a: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CSMA/CD with binary backoff</a:t>
            </a:r>
          </a:p>
        </p:txBody>
      </p:sp>
      <p:pic>
        <p:nvPicPr>
          <p:cNvPr id="154629" name="Picture 16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8" y="1019175"/>
            <a:ext cx="7313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19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712472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95250"/>
            <a:ext cx="8715375" cy="1143000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Gill Sans MT" charset="0"/>
                <a:cs typeface="+mj-cs"/>
              </a:rPr>
              <a:t>802.3 Ethernet standards: link &amp; physical layers</a:t>
            </a:r>
          </a:p>
        </p:txBody>
      </p:sp>
      <p:sp>
        <p:nvSpPr>
          <p:cNvPr id="593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3713" y="1292225"/>
            <a:ext cx="7772400" cy="2100263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many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different Ethernet standards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Gill Sans MT" charset="0"/>
              </a:rPr>
              <a:t>common MAC protocol and frame format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Gill Sans MT" charset="0"/>
              </a:rPr>
              <a:t>different speeds: 2 Mbps, 10 Mbps, 100 Mbps, 1Gbps, 10 Gbps, 40 Gbps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Gill Sans MT" charset="0"/>
              </a:rPr>
              <a:t>different physical layer media: fiber, cable</a:t>
            </a:r>
          </a:p>
          <a:p>
            <a:pPr>
              <a:lnSpc>
                <a:spcPct val="90000"/>
              </a:lnSpc>
              <a:defRPr/>
            </a:pPr>
            <a:endParaRPr lang="en-US" sz="3200" dirty="0">
              <a:latin typeface="Gill Sans MT" charset="0"/>
              <a:cs typeface="+mn-cs"/>
            </a:endParaRPr>
          </a:p>
        </p:txBody>
      </p:sp>
      <p:sp>
        <p:nvSpPr>
          <p:cNvPr id="156677" name="Freeform 39"/>
          <p:cNvSpPr>
            <a:spLocks/>
          </p:cNvSpPr>
          <p:nvPr/>
        </p:nvSpPr>
        <p:spPr bwMode="auto">
          <a:xfrm>
            <a:off x="2873375" y="4075113"/>
            <a:ext cx="1393825" cy="1527175"/>
          </a:xfrm>
          <a:custGeom>
            <a:avLst/>
            <a:gdLst>
              <a:gd name="T0" fmla="*/ 2147483647 w 878"/>
              <a:gd name="T1" fmla="*/ 0 h 962"/>
              <a:gd name="T2" fmla="*/ 0 w 878"/>
              <a:gd name="T3" fmla="*/ 2147483647 h 962"/>
              <a:gd name="T4" fmla="*/ 2147483647 w 878"/>
              <a:gd name="T5" fmla="*/ 2147483647 h 962"/>
              <a:gd name="T6" fmla="*/ 2147483647 w 878"/>
              <a:gd name="T7" fmla="*/ 2147483647 h 962"/>
              <a:gd name="T8" fmla="*/ 2147483647 w 878"/>
              <a:gd name="T9" fmla="*/ 0 h 9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78" h="962">
                <a:moveTo>
                  <a:pt x="851" y="0"/>
                </a:moveTo>
                <a:lnTo>
                  <a:pt x="0" y="622"/>
                </a:lnTo>
                <a:lnTo>
                  <a:pt x="7" y="962"/>
                </a:lnTo>
                <a:lnTo>
                  <a:pt x="878" y="960"/>
                </a:lnTo>
                <a:lnTo>
                  <a:pt x="851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</a:gradFill>
          <a:ln w="9525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56678" name="Group 40"/>
          <p:cNvGrpSpPr>
            <a:grpSpLocks/>
          </p:cNvGrpSpPr>
          <p:nvPr/>
        </p:nvGrpSpPr>
        <p:grpSpPr bwMode="auto">
          <a:xfrm>
            <a:off x="1577975" y="4189413"/>
            <a:ext cx="1300163" cy="1465262"/>
            <a:chOff x="921" y="785"/>
            <a:chExt cx="819" cy="923"/>
          </a:xfrm>
        </p:grpSpPr>
        <p:sp>
          <p:nvSpPr>
            <p:cNvPr id="59419" name="Rectangle 41"/>
            <p:cNvSpPr>
              <a:spLocks noChangeArrowheads="1"/>
            </p:cNvSpPr>
            <p:nvPr/>
          </p:nvSpPr>
          <p:spPr bwMode="auto">
            <a:xfrm>
              <a:off x="924" y="810"/>
              <a:ext cx="816" cy="8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20" name="Text Box 42"/>
            <p:cNvSpPr txBox="1">
              <a:spLocks noChangeArrowheads="1"/>
            </p:cNvSpPr>
            <p:nvPr/>
          </p:nvSpPr>
          <p:spPr bwMode="auto">
            <a:xfrm>
              <a:off x="922" y="785"/>
              <a:ext cx="804" cy="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i="0" dirty="0">
                  <a:latin typeface="Arial" charset="0"/>
                  <a:cs typeface="+mn-cs"/>
                </a:rPr>
                <a:t>application</a:t>
              </a:r>
            </a:p>
            <a:p>
              <a:pPr algn="ctr" eaLnBrk="1" hangingPunct="1">
                <a:defRPr/>
              </a:pPr>
              <a:r>
                <a:rPr lang="en-US" i="0" dirty="0">
                  <a:latin typeface="Arial" charset="0"/>
                  <a:cs typeface="+mn-cs"/>
                </a:rPr>
                <a:t>transport</a:t>
              </a:r>
            </a:p>
            <a:p>
              <a:pPr algn="ctr" eaLnBrk="1" hangingPunct="1">
                <a:defRPr/>
              </a:pPr>
              <a:r>
                <a:rPr lang="en-US" i="0" dirty="0">
                  <a:latin typeface="Arial" charset="0"/>
                  <a:cs typeface="+mn-cs"/>
                </a:rPr>
                <a:t>network</a:t>
              </a:r>
            </a:p>
            <a:p>
              <a:pPr algn="ctr" eaLnBrk="1" hangingPunct="1">
                <a:defRPr/>
              </a:pPr>
              <a:r>
                <a:rPr lang="en-US" i="0" dirty="0">
                  <a:latin typeface="Arial" charset="0"/>
                  <a:cs typeface="+mn-cs"/>
                </a:rPr>
                <a:t>link</a:t>
              </a:r>
            </a:p>
            <a:p>
              <a:pPr algn="ctr" eaLnBrk="1" hangingPunct="1">
                <a:defRPr/>
              </a:pPr>
              <a:r>
                <a:rPr lang="en-US" i="0" dirty="0">
                  <a:latin typeface="Arial" charset="0"/>
                  <a:cs typeface="+mn-cs"/>
                </a:rPr>
                <a:t>physical</a:t>
              </a:r>
            </a:p>
          </p:txBody>
        </p:sp>
        <p:sp>
          <p:nvSpPr>
            <p:cNvPr id="59421" name="Line 43"/>
            <p:cNvSpPr>
              <a:spLocks noChangeShapeType="1"/>
            </p:cNvSpPr>
            <p:nvPr/>
          </p:nvSpPr>
          <p:spPr bwMode="auto">
            <a:xfrm>
              <a:off x="924" y="993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22" name="Line 44"/>
            <p:cNvSpPr>
              <a:spLocks noChangeShapeType="1"/>
            </p:cNvSpPr>
            <p:nvPr/>
          </p:nvSpPr>
          <p:spPr bwMode="auto">
            <a:xfrm>
              <a:off x="924" y="1167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23" name="Line 45"/>
            <p:cNvSpPr>
              <a:spLocks noChangeShapeType="1"/>
            </p:cNvSpPr>
            <p:nvPr/>
          </p:nvSpPr>
          <p:spPr bwMode="auto">
            <a:xfrm>
              <a:off x="921" y="1344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24" name="Line 46"/>
            <p:cNvSpPr>
              <a:spLocks noChangeShapeType="1"/>
            </p:cNvSpPr>
            <p:nvPr/>
          </p:nvSpPr>
          <p:spPr bwMode="auto">
            <a:xfrm>
              <a:off x="926" y="1501"/>
              <a:ext cx="808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25" name="Line 47"/>
            <p:cNvSpPr>
              <a:spLocks noChangeShapeType="1"/>
            </p:cNvSpPr>
            <p:nvPr/>
          </p:nvSpPr>
          <p:spPr bwMode="auto">
            <a:xfrm>
              <a:off x="926" y="1552"/>
              <a:ext cx="0" cy="1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26" name="Line 48"/>
            <p:cNvSpPr>
              <a:spLocks noChangeShapeType="1"/>
            </p:cNvSpPr>
            <p:nvPr/>
          </p:nvSpPr>
          <p:spPr bwMode="auto">
            <a:xfrm>
              <a:off x="1739" y="1541"/>
              <a:ext cx="0" cy="1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59400" name="Rectangle 49"/>
          <p:cNvSpPr>
            <a:spLocks noChangeArrowheads="1"/>
          </p:cNvSpPr>
          <p:nvPr/>
        </p:nvSpPr>
        <p:spPr bwMode="auto">
          <a:xfrm>
            <a:off x="4230688" y="4038600"/>
            <a:ext cx="4195762" cy="15684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9401" name="Line 50"/>
          <p:cNvSpPr>
            <a:spLocks noChangeShapeType="1"/>
          </p:cNvSpPr>
          <p:nvPr/>
        </p:nvSpPr>
        <p:spPr bwMode="auto">
          <a:xfrm flipV="1">
            <a:off x="4244975" y="4703763"/>
            <a:ext cx="4178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9402" name="Text Box 51"/>
          <p:cNvSpPr txBox="1">
            <a:spLocks noChangeArrowheads="1"/>
          </p:cNvSpPr>
          <p:nvPr/>
        </p:nvSpPr>
        <p:spPr bwMode="auto">
          <a:xfrm>
            <a:off x="5413375" y="4079875"/>
            <a:ext cx="17351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600" i="0" dirty="0">
                <a:latin typeface="Arial" charset="0"/>
                <a:cs typeface="+mn-cs"/>
              </a:rPr>
              <a:t>MAC protocol</a:t>
            </a:r>
          </a:p>
          <a:p>
            <a:pPr algn="ctr" eaLnBrk="1" hangingPunct="1">
              <a:defRPr/>
            </a:pPr>
            <a:r>
              <a:rPr lang="en-US" sz="1600" i="0" dirty="0">
                <a:latin typeface="Arial" charset="0"/>
                <a:cs typeface="+mn-cs"/>
              </a:rPr>
              <a:t>and frame format</a:t>
            </a:r>
          </a:p>
        </p:txBody>
      </p:sp>
      <p:sp>
        <p:nvSpPr>
          <p:cNvPr id="59403" name="Text Box 52"/>
          <p:cNvSpPr txBox="1">
            <a:spLocks noChangeArrowheads="1"/>
          </p:cNvSpPr>
          <p:nvPr/>
        </p:nvSpPr>
        <p:spPr bwMode="auto">
          <a:xfrm>
            <a:off x="4398963" y="4794250"/>
            <a:ext cx="125095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latin typeface="Arial" charset="0"/>
                <a:cs typeface="+mn-cs"/>
              </a:rPr>
              <a:t>100BASE-TX</a:t>
            </a:r>
          </a:p>
        </p:txBody>
      </p:sp>
      <p:sp>
        <p:nvSpPr>
          <p:cNvPr id="59404" name="Text Box 53"/>
          <p:cNvSpPr txBox="1">
            <a:spLocks noChangeArrowheads="1"/>
          </p:cNvSpPr>
          <p:nvPr/>
        </p:nvSpPr>
        <p:spPr bwMode="auto">
          <a:xfrm>
            <a:off x="4410075" y="5154613"/>
            <a:ext cx="1230313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latin typeface="Arial" charset="0"/>
                <a:cs typeface="+mn-cs"/>
              </a:rPr>
              <a:t>100BASE-T4</a:t>
            </a:r>
          </a:p>
        </p:txBody>
      </p:sp>
      <p:sp>
        <p:nvSpPr>
          <p:cNvPr id="59405" name="Text Box 54"/>
          <p:cNvSpPr txBox="1">
            <a:spLocks noChangeArrowheads="1"/>
          </p:cNvSpPr>
          <p:nvPr/>
        </p:nvSpPr>
        <p:spPr bwMode="auto">
          <a:xfrm>
            <a:off x="7081838" y="4789488"/>
            <a:ext cx="125095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latin typeface="Arial" charset="0"/>
                <a:cs typeface="+mn-cs"/>
              </a:rPr>
              <a:t>100BASE-FX</a:t>
            </a:r>
          </a:p>
        </p:txBody>
      </p:sp>
      <p:sp>
        <p:nvSpPr>
          <p:cNvPr id="156685" name="Freeform 55"/>
          <p:cNvSpPr>
            <a:spLocks/>
          </p:cNvSpPr>
          <p:nvPr/>
        </p:nvSpPr>
        <p:spPr bwMode="auto">
          <a:xfrm>
            <a:off x="2887663" y="4684713"/>
            <a:ext cx="1393825" cy="611187"/>
          </a:xfrm>
          <a:custGeom>
            <a:avLst/>
            <a:gdLst>
              <a:gd name="T0" fmla="*/ 0 w 878"/>
              <a:gd name="T1" fmla="*/ 2147483647 h 385"/>
              <a:gd name="T2" fmla="*/ 2147483647 w 878"/>
              <a:gd name="T3" fmla="*/ 0 h 38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78" h="385">
                <a:moveTo>
                  <a:pt x="0" y="385"/>
                </a:moveTo>
                <a:lnTo>
                  <a:pt x="878" y="0"/>
                </a:ln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9407" name="Text Box 56"/>
          <p:cNvSpPr txBox="1">
            <a:spLocks noChangeArrowheads="1"/>
          </p:cNvSpPr>
          <p:nvPr/>
        </p:nvSpPr>
        <p:spPr bwMode="auto">
          <a:xfrm>
            <a:off x="5741988" y="4787900"/>
            <a:ext cx="1230312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latin typeface="Arial" charset="0"/>
                <a:cs typeface="+mn-cs"/>
              </a:rPr>
              <a:t>100BASE-T2</a:t>
            </a:r>
          </a:p>
        </p:txBody>
      </p:sp>
      <p:sp>
        <p:nvSpPr>
          <p:cNvPr id="59408" name="Text Box 57"/>
          <p:cNvSpPr txBox="1">
            <a:spLocks noChangeArrowheads="1"/>
          </p:cNvSpPr>
          <p:nvPr/>
        </p:nvSpPr>
        <p:spPr bwMode="auto">
          <a:xfrm>
            <a:off x="5724525" y="5148263"/>
            <a:ext cx="1262063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latin typeface="Arial" charset="0"/>
                <a:cs typeface="+mn-cs"/>
              </a:rPr>
              <a:t>100BASE-SX</a:t>
            </a:r>
          </a:p>
        </p:txBody>
      </p:sp>
      <p:sp>
        <p:nvSpPr>
          <p:cNvPr id="59409" name="Text Box 58"/>
          <p:cNvSpPr txBox="1">
            <a:spLocks noChangeArrowheads="1"/>
          </p:cNvSpPr>
          <p:nvPr/>
        </p:nvSpPr>
        <p:spPr bwMode="auto">
          <a:xfrm>
            <a:off x="7088188" y="5143500"/>
            <a:ext cx="1262062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latin typeface="Arial" charset="0"/>
                <a:cs typeface="+mn-cs"/>
              </a:rPr>
              <a:t>100BASE-BX</a:t>
            </a:r>
          </a:p>
        </p:txBody>
      </p:sp>
      <p:grpSp>
        <p:nvGrpSpPr>
          <p:cNvPr id="412739" name="Group 67"/>
          <p:cNvGrpSpPr>
            <a:grpSpLocks/>
          </p:cNvGrpSpPr>
          <p:nvPr/>
        </p:nvGrpSpPr>
        <p:grpSpPr bwMode="auto">
          <a:xfrm>
            <a:off x="5681663" y="4743450"/>
            <a:ext cx="2768600" cy="1565275"/>
            <a:chOff x="3579" y="2988"/>
            <a:chExt cx="1744" cy="986"/>
          </a:xfrm>
        </p:grpSpPr>
        <p:sp>
          <p:nvSpPr>
            <p:cNvPr id="156695" name="Freeform 59"/>
            <p:cNvSpPr>
              <a:spLocks/>
            </p:cNvSpPr>
            <p:nvPr/>
          </p:nvSpPr>
          <p:spPr bwMode="auto">
            <a:xfrm>
              <a:off x="3579" y="2988"/>
              <a:ext cx="1709" cy="489"/>
            </a:xfrm>
            <a:custGeom>
              <a:avLst/>
              <a:gdLst>
                <a:gd name="T0" fmla="*/ 842 w 1709"/>
                <a:gd name="T1" fmla="*/ 0 h 489"/>
                <a:gd name="T2" fmla="*/ 843 w 1709"/>
                <a:gd name="T3" fmla="*/ 239 h 489"/>
                <a:gd name="T4" fmla="*/ 5 w 1709"/>
                <a:gd name="T5" fmla="*/ 239 h 489"/>
                <a:gd name="T6" fmla="*/ 0 w 1709"/>
                <a:gd name="T7" fmla="*/ 489 h 489"/>
                <a:gd name="T8" fmla="*/ 1709 w 1709"/>
                <a:gd name="T9" fmla="*/ 489 h 489"/>
                <a:gd name="T10" fmla="*/ 1704 w 1709"/>
                <a:gd name="T11" fmla="*/ 0 h 489"/>
                <a:gd name="T12" fmla="*/ 842 w 1709"/>
                <a:gd name="T13" fmla="*/ 0 h 4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09" h="489">
                  <a:moveTo>
                    <a:pt x="842" y="0"/>
                  </a:moveTo>
                  <a:lnTo>
                    <a:pt x="843" y="239"/>
                  </a:lnTo>
                  <a:lnTo>
                    <a:pt x="5" y="239"/>
                  </a:lnTo>
                  <a:lnTo>
                    <a:pt x="0" y="489"/>
                  </a:lnTo>
                  <a:lnTo>
                    <a:pt x="1709" y="489"/>
                  </a:lnTo>
                  <a:cubicBezTo>
                    <a:pt x="1707" y="330"/>
                    <a:pt x="1706" y="159"/>
                    <a:pt x="1704" y="0"/>
                  </a:cubicBezTo>
                  <a:lnTo>
                    <a:pt x="842" y="0"/>
                  </a:lnTo>
                  <a:close/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59417" name="Line 60"/>
            <p:cNvSpPr>
              <a:spLocks noChangeShapeType="1"/>
            </p:cNvSpPr>
            <p:nvPr/>
          </p:nvSpPr>
          <p:spPr bwMode="auto">
            <a:xfrm>
              <a:off x="4410" y="3494"/>
              <a:ext cx="227" cy="29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18" name="Text Box 61"/>
            <p:cNvSpPr txBox="1">
              <a:spLocks noChangeArrowheads="1"/>
            </p:cNvSpPr>
            <p:nvPr/>
          </p:nvSpPr>
          <p:spPr bwMode="auto">
            <a:xfrm>
              <a:off x="4003" y="3741"/>
              <a:ext cx="132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CC0000"/>
                  </a:solidFill>
                  <a:latin typeface="Arial" charset="0"/>
                  <a:cs typeface="Arial" charset="0"/>
                </a:rPr>
                <a:t>fiber physical layer</a:t>
              </a:r>
            </a:p>
          </p:txBody>
        </p:sp>
      </p:grpSp>
      <p:grpSp>
        <p:nvGrpSpPr>
          <p:cNvPr id="412738" name="Group 66"/>
          <p:cNvGrpSpPr>
            <a:grpSpLocks/>
          </p:cNvGrpSpPr>
          <p:nvPr/>
        </p:nvGrpSpPr>
        <p:grpSpPr bwMode="auto">
          <a:xfrm>
            <a:off x="3689350" y="4733925"/>
            <a:ext cx="3303588" cy="1874838"/>
            <a:chOff x="2324" y="2982"/>
            <a:chExt cx="2081" cy="1181"/>
          </a:xfrm>
        </p:grpSpPr>
        <p:sp>
          <p:nvSpPr>
            <p:cNvPr id="156692" name="Freeform 62"/>
            <p:cNvSpPr>
              <a:spLocks/>
            </p:cNvSpPr>
            <p:nvPr/>
          </p:nvSpPr>
          <p:spPr bwMode="auto">
            <a:xfrm>
              <a:off x="2741" y="2982"/>
              <a:ext cx="1664" cy="495"/>
            </a:xfrm>
            <a:custGeom>
              <a:avLst/>
              <a:gdLst>
                <a:gd name="T0" fmla="*/ 1664 w 1664"/>
                <a:gd name="T1" fmla="*/ 0 h 495"/>
                <a:gd name="T2" fmla="*/ 1652 w 1664"/>
                <a:gd name="T3" fmla="*/ 233 h 495"/>
                <a:gd name="T4" fmla="*/ 820 w 1664"/>
                <a:gd name="T5" fmla="*/ 233 h 495"/>
                <a:gd name="T6" fmla="*/ 814 w 1664"/>
                <a:gd name="T7" fmla="*/ 495 h 495"/>
                <a:gd name="T8" fmla="*/ 0 w 1664"/>
                <a:gd name="T9" fmla="*/ 495 h 495"/>
                <a:gd name="T10" fmla="*/ 0 w 1664"/>
                <a:gd name="T11" fmla="*/ 0 h 495"/>
                <a:gd name="T12" fmla="*/ 1664 w 1664"/>
                <a:gd name="T13" fmla="*/ 0 h 4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64" h="495">
                  <a:moveTo>
                    <a:pt x="1664" y="0"/>
                  </a:moveTo>
                  <a:lnTo>
                    <a:pt x="1652" y="233"/>
                  </a:lnTo>
                  <a:lnTo>
                    <a:pt x="820" y="233"/>
                  </a:lnTo>
                  <a:lnTo>
                    <a:pt x="814" y="495"/>
                  </a:lnTo>
                  <a:lnTo>
                    <a:pt x="0" y="495"/>
                  </a:lnTo>
                  <a:lnTo>
                    <a:pt x="0" y="0"/>
                  </a:lnTo>
                  <a:lnTo>
                    <a:pt x="1664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59414" name="Line 63"/>
            <p:cNvSpPr>
              <a:spLocks noChangeShapeType="1"/>
            </p:cNvSpPr>
            <p:nvPr/>
          </p:nvSpPr>
          <p:spPr bwMode="auto">
            <a:xfrm flipH="1">
              <a:off x="2929" y="3503"/>
              <a:ext cx="227" cy="29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15" name="Text Box 65"/>
            <p:cNvSpPr txBox="1">
              <a:spLocks noChangeArrowheads="1"/>
            </p:cNvSpPr>
            <p:nvPr/>
          </p:nvSpPr>
          <p:spPr bwMode="auto">
            <a:xfrm>
              <a:off x="2324" y="3756"/>
              <a:ext cx="1328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99"/>
                  </a:solidFill>
                  <a:latin typeface="Arial" charset="0"/>
                  <a:cs typeface="Arial" charset="0"/>
                </a:rPr>
                <a:t>copper (twister</a:t>
              </a:r>
            </a:p>
            <a:p>
              <a:pPr>
                <a:defRPr/>
              </a:pPr>
              <a:r>
                <a:rPr lang="en-US" i="0" dirty="0">
                  <a:solidFill>
                    <a:srgbClr val="000099"/>
                  </a:solidFill>
                  <a:latin typeface="Arial" charset="0"/>
                  <a:cs typeface="Arial" charset="0"/>
                </a:rPr>
                <a:t>pair) physical layer</a:t>
              </a:r>
            </a:p>
          </p:txBody>
        </p:sp>
      </p:grpSp>
      <p:pic>
        <p:nvPicPr>
          <p:cNvPr id="156691" name="Picture 15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" y="862013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20</a:t>
            </a:fld>
            <a:endParaRPr lang="en-US" sz="1200" dirty="0">
              <a:latin typeface="Tahoma" charset="0"/>
            </a:endParaRPr>
          </a:p>
        </p:txBody>
      </p:sp>
      <p:sp>
        <p:nvSpPr>
          <p:cNvPr id="3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153532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373063" y="83409"/>
            <a:ext cx="7772400" cy="981075"/>
          </a:xfrm>
        </p:spPr>
        <p:txBody>
          <a:bodyPr/>
          <a:lstStyle/>
          <a:p>
            <a:r>
              <a:rPr lang="en-US" altLang="ko-KR" dirty="0"/>
              <a:t>Q &amp; A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3413" y="1360488"/>
            <a:ext cx="4398962" cy="39528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dirty="0"/>
              <a:t>Q &amp; A </a:t>
            </a:r>
            <a:r>
              <a:rPr lang="ko-KR" altLang="en-US" dirty="0"/>
              <a:t>게시판</a:t>
            </a:r>
          </a:p>
        </p:txBody>
      </p:sp>
      <p:pic>
        <p:nvPicPr>
          <p:cNvPr id="33798" name="그림 3" descr="그리기이(가) 표시된 사진&#10;&#10;자동 생성된 설명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513" y="1793875"/>
            <a:ext cx="4410075" cy="440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33627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21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32813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Layer: Control Plane</a:t>
            </a:r>
          </a:p>
        </p:txBody>
      </p:sp>
      <p:pic>
        <p:nvPicPr>
          <p:cNvPr id="9" name="Picture 224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25" y="836613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2684525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4"/>
          <p:cNvSpPr>
            <a:spLocks noChangeArrowheads="1"/>
          </p:cNvSpPr>
          <p:nvPr/>
        </p:nvSpPr>
        <p:spPr bwMode="auto">
          <a:xfrm>
            <a:off x="5608638" y="3489325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ts val="3063"/>
              </a:lnSpc>
            </a:pPr>
            <a:r>
              <a:rPr lang="en-US" sz="2800" i="1" dirty="0">
                <a:solidFill>
                  <a:srgbClr val="008000"/>
                </a:solidFill>
                <a:cs typeface="Arial" charset="0"/>
              </a:rPr>
              <a:t>Computer Networking: A Top Down Approach </a:t>
            </a:r>
            <a:br>
              <a:rPr lang="en-US" sz="2800" dirty="0">
                <a:solidFill>
                  <a:srgbClr val="008000"/>
                </a:solidFill>
                <a:cs typeface="Arial" charset="0"/>
              </a:rPr>
            </a:br>
            <a:endParaRPr lang="en-US" sz="2000" dirty="0">
              <a:solidFill>
                <a:srgbClr val="008000"/>
              </a:solidFill>
              <a:cs typeface="Arial" charset="0"/>
            </a:endParaRPr>
          </a:p>
        </p:txBody>
      </p:sp>
      <p:sp>
        <p:nvSpPr>
          <p:cNvPr id="40962" name="Text Box 6"/>
          <p:cNvSpPr txBox="1">
            <a:spLocks noChangeArrowheads="1"/>
          </p:cNvSpPr>
          <p:nvPr/>
        </p:nvSpPr>
        <p:spPr bwMode="auto">
          <a:xfrm>
            <a:off x="369888" y="3241675"/>
            <a:ext cx="5378450" cy="148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dirty="0"/>
              <a:t>A note on the use of these Powerpoint slides:</a:t>
            </a:r>
          </a:p>
          <a:p>
            <a:r>
              <a:rPr lang="en-US" sz="1200" dirty="0"/>
              <a:t>We</a:t>
            </a:r>
            <a:r>
              <a:rPr lang="ja-JP" altLang="en-US" sz="1200" dirty="0"/>
              <a:t>’</a:t>
            </a:r>
            <a:r>
              <a:rPr lang="en-US" altLang="ja-JP" sz="1200" dirty="0"/>
              <a:t>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altLang="ja-JP" sz="1200" i="1" dirty="0"/>
              <a:t>lot</a:t>
            </a:r>
            <a:r>
              <a:rPr lang="en-US" altLang="ja-JP" sz="1200" dirty="0"/>
              <a:t>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sz="1400" dirty="0"/>
          </a:p>
        </p:txBody>
      </p:sp>
      <p:sp>
        <p:nvSpPr>
          <p:cNvPr id="29702" name="Text Box 7"/>
          <p:cNvSpPr txBox="1">
            <a:spLocks noChangeArrowheads="1"/>
          </p:cNvSpPr>
          <p:nvPr/>
        </p:nvSpPr>
        <p:spPr bwMode="auto">
          <a:xfrm>
            <a:off x="390525" y="4370388"/>
            <a:ext cx="5378450" cy="209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endParaRPr lang="en-US" sz="1400" dirty="0">
              <a:latin typeface="Gill Sans MT" charset="0"/>
            </a:endParaRP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/>
              <a:t>If you use these slides (e.g., in a class) that you mention their source (after all, we</a:t>
            </a:r>
            <a:r>
              <a:rPr lang="ja-JP" altLang="en-US" sz="1200" dirty="0"/>
              <a:t>’</a:t>
            </a:r>
            <a:r>
              <a:rPr lang="en-US" altLang="ja-JP" sz="1200" dirty="0"/>
              <a:t>d like people to use our book!)</a:t>
            </a: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/>
              <a:t>If you post any slides on a www site, that you note that they are adapted from (or perhaps identical to) our slides, and note our copyright of this material.</a:t>
            </a:r>
          </a:p>
          <a:p>
            <a:pPr>
              <a:buClr>
                <a:schemeClr val="accent2"/>
              </a:buClr>
              <a:buFont typeface="Wingdings" charset="0"/>
              <a:buChar char="q"/>
              <a:defRPr/>
            </a:pPr>
            <a:endParaRPr lang="en-US" sz="1200" dirty="0"/>
          </a:p>
          <a:p>
            <a:pPr>
              <a:lnSpc>
                <a:spcPct val="85000"/>
              </a:lnSpc>
              <a:buClr>
                <a:schemeClr val="accent2"/>
              </a:buClr>
              <a:buFont typeface="Wingdings" charset="0"/>
              <a:buNone/>
              <a:defRPr/>
            </a:pPr>
            <a:r>
              <a:rPr lang="en-US" sz="1200" dirty="0"/>
              <a:t>Thanks and enjoy!  JFK/KWR</a:t>
            </a:r>
          </a:p>
          <a:p>
            <a:pPr>
              <a:lnSpc>
                <a:spcPct val="85000"/>
              </a:lnSpc>
              <a:defRPr/>
            </a:pPr>
            <a:endParaRPr lang="en-US" sz="1200" dirty="0"/>
          </a:p>
          <a:p>
            <a:pPr>
              <a:defRPr/>
            </a:pPr>
            <a:r>
              <a:rPr lang="en-US" sz="1200" dirty="0"/>
              <a:t>     All material copyright 1996-2016</a:t>
            </a:r>
          </a:p>
          <a:p>
            <a:pPr>
              <a:defRPr/>
            </a:pPr>
            <a:r>
              <a:rPr lang="en-US" sz="1200" dirty="0"/>
              <a:t>     J.F Kurose and K.W. Ross, All Rights Reserved</a:t>
            </a:r>
          </a:p>
        </p:txBody>
      </p:sp>
      <p:pic>
        <p:nvPicPr>
          <p:cNvPr id="40964" name="Picture 8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6146800"/>
            <a:ext cx="187325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Rectangle 4"/>
          <p:cNvSpPr>
            <a:spLocks noChangeArrowheads="1"/>
          </p:cNvSpPr>
          <p:nvPr/>
        </p:nvSpPr>
        <p:spPr bwMode="auto">
          <a:xfrm>
            <a:off x="5634038" y="4510088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dirty="0">
                <a:solidFill>
                  <a:srgbClr val="008000"/>
                </a:solidFill>
                <a:cs typeface="Arial" charset="0"/>
              </a:rPr>
              <a:t>7</a:t>
            </a:r>
            <a:r>
              <a:rPr lang="en-US" baseline="30000" dirty="0">
                <a:solidFill>
                  <a:srgbClr val="008000"/>
                </a:solidFill>
                <a:cs typeface="Arial" charset="0"/>
              </a:rPr>
              <a:t>th</a:t>
            </a:r>
            <a:r>
              <a:rPr lang="en-US" dirty="0">
                <a:solidFill>
                  <a:srgbClr val="008000"/>
                </a:solidFill>
                <a:cs typeface="Arial" charset="0"/>
              </a:rPr>
              <a:t> Edition, </a:t>
            </a:r>
            <a:r>
              <a:rPr lang="en-US" dirty="0">
                <a:solidFill>
                  <a:srgbClr val="008000"/>
                </a:solidFill>
              </a:rPr>
              <a:t>Global Edition </a:t>
            </a:r>
            <a:br>
              <a:rPr lang="en-US" dirty="0">
                <a:solidFill>
                  <a:srgbClr val="008000"/>
                </a:solidFill>
                <a:cs typeface="Arial" charset="0"/>
              </a:rPr>
            </a:br>
            <a:r>
              <a:rPr lang="en-US" dirty="0">
                <a:solidFill>
                  <a:srgbClr val="008000"/>
                </a:solidFill>
                <a:cs typeface="Arial" charset="0"/>
              </a:rPr>
              <a:t>Jim Kurose, Keith Ross</a:t>
            </a:r>
            <a:br>
              <a:rPr lang="en-US">
                <a:solidFill>
                  <a:srgbClr val="008000"/>
                </a:solidFill>
                <a:cs typeface="Arial" charset="0"/>
              </a:rPr>
            </a:br>
            <a:r>
              <a:rPr lang="en-US" sz="1400">
                <a:solidFill>
                  <a:srgbClr val="008000"/>
                </a:solidFill>
                <a:cs typeface="Arial" charset="0"/>
              </a:rPr>
              <a:t>Pearson</a:t>
            </a:r>
            <a:br>
              <a:rPr lang="en-US" sz="1400" dirty="0">
                <a:solidFill>
                  <a:srgbClr val="008000"/>
                </a:solidFill>
                <a:cs typeface="Arial" charset="0"/>
              </a:rPr>
            </a:br>
            <a:r>
              <a:rPr lang="en-US" sz="1400" dirty="0">
                <a:solidFill>
                  <a:srgbClr val="008000"/>
                </a:solidFill>
                <a:cs typeface="Arial" charset="0"/>
              </a:rPr>
              <a:t>April 2016</a:t>
            </a:r>
          </a:p>
        </p:txBody>
      </p:sp>
      <p:sp>
        <p:nvSpPr>
          <p:cNvPr id="40967" name="Rectangle 3"/>
          <p:cNvSpPr>
            <a:spLocks noChangeArrowheads="1"/>
          </p:cNvSpPr>
          <p:nvPr/>
        </p:nvSpPr>
        <p:spPr bwMode="auto">
          <a:xfrm>
            <a:off x="371475" y="715963"/>
            <a:ext cx="4487863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Chapter 6</a:t>
            </a:r>
            <a:br>
              <a:rPr lang="en-US" sz="4800" dirty="0">
                <a:solidFill>
                  <a:srgbClr val="000099"/>
                </a:solidFill>
                <a:latin typeface="Gill Sans MT" charset="0"/>
                <a:cs typeface="Arial" charset="0"/>
              </a:rPr>
            </a:b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The Link Layer </a:t>
            </a:r>
          </a:p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and LANs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22</a:t>
            </a:fld>
            <a:endParaRPr lang="en-US" sz="1200" dirty="0">
              <a:latin typeface="Tahoma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pic>
        <p:nvPicPr>
          <p:cNvPr id="14" name="Picture 1" descr="kurose7e_cover_smal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5712715" y="325438"/>
            <a:ext cx="3082733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9" descr="underline_base"/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389188"/>
            <a:ext cx="3890962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9249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723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layer, </a:t>
            </a:r>
            <a:r>
              <a:rPr lang="en-US" sz="4000" dirty="0">
                <a:latin typeface="Gill Sans MT" charset="0"/>
                <a:cs typeface="+mj-cs"/>
              </a:rPr>
              <a:t>LAN</a:t>
            </a:r>
            <a:r>
              <a:rPr lang="en-US" dirty="0">
                <a:latin typeface="Gill Sans MT" charset="0"/>
                <a:cs typeface="+mj-cs"/>
              </a:rPr>
              <a:t>s: outline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6.1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introduction, services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6.2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error detection, correction 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6.3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multiple access protocols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6.4 LANs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addressing, ARP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Ethernet</a:t>
            </a:r>
          </a:p>
          <a:p>
            <a:pPr lvl="1"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</a:rPr>
              <a:t>switches</a:t>
            </a:r>
          </a:p>
          <a:p>
            <a:pPr lvl="1"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</a:rPr>
              <a:t>VLANS</a:t>
            </a: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6.5</a:t>
            </a:r>
            <a:r>
              <a:rPr lang="en-US" dirty="0">
                <a:latin typeface="Gill Sans MT" charset="0"/>
                <a:cs typeface="+mn-cs"/>
              </a:rPr>
              <a:t> link virtualization: MPLS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6.6</a:t>
            </a:r>
            <a:r>
              <a:rPr lang="en-US" dirty="0">
                <a:latin typeface="Gill Sans MT" charset="0"/>
                <a:cs typeface="+mn-cs"/>
              </a:rPr>
              <a:t> data center networking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6.7</a:t>
            </a:r>
            <a:r>
              <a:rPr lang="en-US" dirty="0">
                <a:latin typeface="Gill Sans MT" charset="0"/>
                <a:cs typeface="+mn-cs"/>
              </a:rPr>
              <a:t> a day in the life of a web request</a:t>
            </a:r>
          </a:p>
          <a:p>
            <a:pPr marL="457200" indent="-457200">
              <a:buFont typeface="Wingdings" charset="0"/>
              <a:buNone/>
              <a:defRPr/>
            </a:pPr>
            <a:endParaRPr lang="en-US" sz="2600" dirty="0">
              <a:latin typeface="Gill Sans MT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23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7348537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Rectangle 2"/>
          <p:cNvSpPr>
            <a:spLocks noGrp="1" noChangeArrowheads="1"/>
          </p:cNvSpPr>
          <p:nvPr>
            <p:ph type="title"/>
          </p:nvPr>
        </p:nvSpPr>
        <p:spPr>
          <a:xfrm>
            <a:off x="5461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Ethernet switch</a:t>
            </a:r>
          </a:p>
        </p:txBody>
      </p:sp>
      <p:sp>
        <p:nvSpPr>
          <p:cNvPr id="614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6425" y="1071563"/>
            <a:ext cx="8001000" cy="4640262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link-layer device: takes an </a:t>
            </a: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active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role</a:t>
            </a:r>
          </a:p>
          <a:p>
            <a:pPr lvl="1">
              <a:defRPr/>
            </a:pPr>
            <a:r>
              <a:rPr lang="en-US" sz="2800" dirty="0">
                <a:latin typeface="Gill Sans MT" charset="0"/>
              </a:rPr>
              <a:t>store, forward Ethernet frames</a:t>
            </a:r>
          </a:p>
          <a:p>
            <a:pPr lvl="1">
              <a:defRPr/>
            </a:pPr>
            <a:r>
              <a:rPr lang="en-US" sz="2800" dirty="0">
                <a:latin typeface="Gill Sans MT" charset="0"/>
              </a:rPr>
              <a:t>examine incoming frame</a:t>
            </a:r>
            <a:r>
              <a:rPr lang="ja-JP" altLang="en-US" sz="2800">
                <a:latin typeface="Gill Sans MT" charset="0"/>
              </a:rPr>
              <a:t>’</a:t>
            </a:r>
            <a:r>
              <a:rPr lang="en-US" sz="2800" dirty="0">
                <a:latin typeface="Gill Sans MT" charset="0"/>
              </a:rPr>
              <a:t>s MAC address, </a:t>
            </a:r>
            <a:r>
              <a:rPr lang="en-US" sz="2800" dirty="0">
                <a:solidFill>
                  <a:srgbClr val="CC0000"/>
                </a:solidFill>
                <a:latin typeface="Gill Sans MT" charset="0"/>
              </a:rPr>
              <a:t>selectively</a:t>
            </a:r>
            <a:r>
              <a:rPr lang="en-US" sz="2800" dirty="0">
                <a:latin typeface="Gill Sans MT" charset="0"/>
              </a:rPr>
              <a:t> forward  frame to one-or-more outgoing links when frame is to be forwarded on segment, uses CSMA/CD to access segment</a:t>
            </a: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transparent</a:t>
            </a:r>
          </a:p>
          <a:p>
            <a:pPr lvl="1">
              <a:defRPr/>
            </a:pPr>
            <a:r>
              <a:rPr lang="en-US" sz="2800" dirty="0">
                <a:latin typeface="Gill Sans MT" charset="0"/>
              </a:rPr>
              <a:t>hosts are unaware of presence of switches</a:t>
            </a: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plug-and-play, self-learning</a:t>
            </a:r>
          </a:p>
          <a:p>
            <a:pPr lvl="1">
              <a:defRPr/>
            </a:pPr>
            <a:r>
              <a:rPr lang="en-US" sz="2800" dirty="0">
                <a:latin typeface="Gill Sans MT" charset="0"/>
              </a:rPr>
              <a:t>switches do not need to be configured</a:t>
            </a:r>
          </a:p>
          <a:p>
            <a:pPr>
              <a:defRPr/>
            </a:pPr>
            <a:endParaRPr lang="en-US" sz="2400" dirty="0">
              <a:latin typeface="Gill Sans MT" charset="0"/>
              <a:cs typeface="+mn-cs"/>
            </a:endParaRPr>
          </a:p>
        </p:txBody>
      </p:sp>
      <p:pic>
        <p:nvPicPr>
          <p:cNvPr id="160773" name="Picture 2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" y="793750"/>
            <a:ext cx="3656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24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4396369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Rectangle 2"/>
          <p:cNvSpPr>
            <a:spLocks noGrp="1" noChangeArrowheads="1"/>
          </p:cNvSpPr>
          <p:nvPr>
            <p:ph type="title"/>
          </p:nvPr>
        </p:nvSpPr>
        <p:spPr>
          <a:xfrm>
            <a:off x="288925" y="136525"/>
            <a:ext cx="8469313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Switch: </a:t>
            </a:r>
            <a:r>
              <a:rPr lang="en-US" sz="3600" i="1" dirty="0">
                <a:latin typeface="Gill Sans MT" charset="0"/>
                <a:cs typeface="+mj-cs"/>
              </a:rPr>
              <a:t>multiple</a:t>
            </a:r>
            <a:r>
              <a:rPr lang="en-US" sz="3600" dirty="0">
                <a:latin typeface="Gill Sans MT" charset="0"/>
                <a:cs typeface="+mj-cs"/>
              </a:rPr>
              <a:t> simultaneous transmissions</a:t>
            </a:r>
          </a:p>
        </p:txBody>
      </p:sp>
      <p:sp>
        <p:nvSpPr>
          <p:cNvPr id="624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2113" y="1393825"/>
            <a:ext cx="4503737" cy="4576763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hosts have dedicated, direct connection to switch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switches buffer packets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Ethernet protocol used on </a:t>
            </a:r>
            <a:r>
              <a:rPr lang="en-US" sz="2400" i="1" dirty="0">
                <a:latin typeface="Gill Sans MT" charset="0"/>
                <a:cs typeface="+mn-cs"/>
              </a:rPr>
              <a:t>each</a:t>
            </a:r>
            <a:r>
              <a:rPr lang="en-US" sz="2400" dirty="0">
                <a:latin typeface="Gill Sans MT" charset="0"/>
                <a:cs typeface="+mn-cs"/>
              </a:rPr>
              <a:t> incoming link, but no collisions; full duplex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each link is its own collision domain</a:t>
            </a:r>
          </a:p>
          <a:p>
            <a:pPr>
              <a:lnSpc>
                <a:spcPct val="90000"/>
              </a:lnSpc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switching: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A-to-A</a:t>
            </a:r>
            <a:r>
              <a:rPr lang="ja-JP" altLang="en-US" sz="2400" dirty="0">
                <a:latin typeface="Gill Sans MT" charset="0"/>
                <a:cs typeface="+mn-cs"/>
              </a:rPr>
              <a:t>’</a:t>
            </a:r>
            <a:r>
              <a:rPr lang="en-US" sz="2400" dirty="0">
                <a:latin typeface="Gill Sans MT" charset="0"/>
                <a:cs typeface="+mn-cs"/>
              </a:rPr>
              <a:t> and B-to-B</a:t>
            </a:r>
            <a:r>
              <a:rPr lang="ja-JP" altLang="en-US" sz="2400" dirty="0">
                <a:latin typeface="Gill Sans MT" charset="0"/>
                <a:cs typeface="+mn-cs"/>
              </a:rPr>
              <a:t>’</a:t>
            </a:r>
            <a:r>
              <a:rPr lang="en-US" sz="2400" dirty="0">
                <a:latin typeface="Gill Sans MT" charset="0"/>
                <a:cs typeface="+mn-cs"/>
              </a:rPr>
              <a:t> can transmit simultaneously, without collisions </a:t>
            </a:r>
          </a:p>
        </p:txBody>
      </p:sp>
      <p:grpSp>
        <p:nvGrpSpPr>
          <p:cNvPr id="162821" name="Group 1"/>
          <p:cNvGrpSpPr>
            <a:grpSpLocks/>
          </p:cNvGrpSpPr>
          <p:nvPr/>
        </p:nvGrpSpPr>
        <p:grpSpPr bwMode="auto">
          <a:xfrm>
            <a:off x="5106988" y="1425575"/>
            <a:ext cx="3660775" cy="4283075"/>
            <a:chOff x="5106576" y="1425893"/>
            <a:chExt cx="3661504" cy="4282976"/>
          </a:xfrm>
        </p:grpSpPr>
        <p:sp>
          <p:nvSpPr>
            <p:cNvPr id="62472" name="Text Box 34"/>
            <p:cNvSpPr txBox="1">
              <a:spLocks noChangeArrowheads="1"/>
            </p:cNvSpPr>
            <p:nvPr/>
          </p:nvSpPr>
          <p:spPr bwMode="auto">
            <a:xfrm>
              <a:off x="5827445" y="5062772"/>
              <a:ext cx="2710402" cy="6460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switch with six interfaces</a:t>
              </a:r>
            </a:p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(</a:t>
              </a:r>
              <a:r>
                <a:rPr lang="en-US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1,2,3,4,5,6</a:t>
              </a:r>
              <a:r>
                <a:rPr lang="en-US" dirty="0">
                  <a:latin typeface="Arial" charset="0"/>
                  <a:cs typeface="Arial" charset="0"/>
                </a:rPr>
                <a:t>)</a:t>
              </a:r>
              <a:r>
                <a:rPr lang="en-US" i="0" dirty="0">
                  <a:latin typeface="Arial" charset="0"/>
                  <a:cs typeface="Arial" charset="0"/>
                </a:rPr>
                <a:t>  </a:t>
              </a:r>
            </a:p>
          </p:txBody>
        </p:sp>
        <p:grpSp>
          <p:nvGrpSpPr>
            <p:cNvPr id="162824" name="Group 34"/>
            <p:cNvGrpSpPr>
              <a:grpSpLocks/>
            </p:cNvGrpSpPr>
            <p:nvPr/>
          </p:nvGrpSpPr>
          <p:grpSpPr bwMode="auto">
            <a:xfrm>
              <a:off x="5106576" y="1425893"/>
              <a:ext cx="3661504" cy="3600334"/>
              <a:chOff x="731524" y="1819788"/>
              <a:chExt cx="3661504" cy="3600334"/>
            </a:xfrm>
          </p:grpSpPr>
          <p:sp>
            <p:nvSpPr>
              <p:cNvPr id="62474" name="Text Box 23"/>
              <p:cNvSpPr txBox="1">
                <a:spLocks noChangeArrowheads="1"/>
              </p:cNvSpPr>
              <p:nvPr/>
            </p:nvSpPr>
            <p:spPr bwMode="auto">
              <a:xfrm>
                <a:off x="2655957" y="1819788"/>
                <a:ext cx="350907" cy="366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A</a:t>
                </a:r>
              </a:p>
            </p:txBody>
          </p:sp>
          <p:sp>
            <p:nvSpPr>
              <p:cNvPr id="62475" name="Text Box 24"/>
              <p:cNvSpPr txBox="1">
                <a:spLocks noChangeArrowheads="1"/>
              </p:cNvSpPr>
              <p:nvPr/>
            </p:nvSpPr>
            <p:spPr bwMode="auto">
              <a:xfrm>
                <a:off x="2371738" y="5050277"/>
                <a:ext cx="371549" cy="3698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A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2476" name="Text Box 25"/>
              <p:cNvSpPr txBox="1">
                <a:spLocks noChangeArrowheads="1"/>
              </p:cNvSpPr>
              <p:nvPr/>
            </p:nvSpPr>
            <p:spPr bwMode="auto">
              <a:xfrm>
                <a:off x="3988134" y="2419849"/>
                <a:ext cx="338205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B</a:t>
                </a:r>
              </a:p>
            </p:txBody>
          </p:sp>
          <p:sp>
            <p:nvSpPr>
              <p:cNvPr id="62477" name="Text Box 26"/>
              <p:cNvSpPr txBox="1">
                <a:spLocks noChangeArrowheads="1"/>
              </p:cNvSpPr>
              <p:nvPr/>
            </p:nvSpPr>
            <p:spPr bwMode="auto">
              <a:xfrm>
                <a:off x="995101" y="4188283"/>
                <a:ext cx="390603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B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2478" name="Text Box 27"/>
              <p:cNvSpPr txBox="1">
                <a:spLocks noChangeArrowheads="1"/>
              </p:cNvSpPr>
              <p:nvPr/>
            </p:nvSpPr>
            <p:spPr bwMode="auto">
              <a:xfrm>
                <a:off x="3740435" y="4188283"/>
                <a:ext cx="350908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C</a:t>
                </a:r>
              </a:p>
            </p:txBody>
          </p:sp>
          <p:sp>
            <p:nvSpPr>
              <p:cNvPr id="62479" name="Text Box 28"/>
              <p:cNvSpPr txBox="1">
                <a:spLocks noChangeArrowheads="1"/>
              </p:cNvSpPr>
              <p:nvPr/>
            </p:nvSpPr>
            <p:spPr bwMode="auto">
              <a:xfrm>
                <a:off x="1123714" y="2465886"/>
                <a:ext cx="403305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C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2480" name="Line 17"/>
              <p:cNvSpPr>
                <a:spLocks noChangeShapeType="1"/>
              </p:cNvSpPr>
              <p:nvPr/>
            </p:nvSpPr>
            <p:spPr bwMode="auto">
              <a:xfrm>
                <a:off x="1687389" y="3165957"/>
                <a:ext cx="720869" cy="2984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481" name="Line 18"/>
              <p:cNvSpPr>
                <a:spLocks noChangeShapeType="1"/>
              </p:cNvSpPr>
              <p:nvPr/>
            </p:nvSpPr>
            <p:spPr bwMode="auto">
              <a:xfrm>
                <a:off x="2673423" y="2872277"/>
                <a:ext cx="0" cy="5048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482" name="Line 19"/>
              <p:cNvSpPr>
                <a:spLocks noChangeShapeType="1"/>
              </p:cNvSpPr>
              <p:nvPr/>
            </p:nvSpPr>
            <p:spPr bwMode="auto">
              <a:xfrm flipH="1">
                <a:off x="2863961" y="2996099"/>
                <a:ext cx="892353" cy="484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483" name="Line 20"/>
              <p:cNvSpPr>
                <a:spLocks noChangeShapeType="1"/>
              </p:cNvSpPr>
              <p:nvPr/>
            </p:nvSpPr>
            <p:spPr bwMode="auto">
              <a:xfrm flipV="1">
                <a:off x="2673423" y="3605685"/>
                <a:ext cx="12703" cy="7095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62835" name="Group 45"/>
              <p:cNvGrpSpPr>
                <a:grpSpLocks/>
              </p:cNvGrpSpPr>
              <p:nvPr/>
            </p:nvGrpSpPr>
            <p:grpSpPr bwMode="auto">
              <a:xfrm>
                <a:off x="747936" y="2733042"/>
                <a:ext cx="914403" cy="690308"/>
                <a:chOff x="1046480" y="3962400"/>
                <a:chExt cx="1026163" cy="761428"/>
              </a:xfrm>
            </p:grpSpPr>
            <p:sp>
              <p:nvSpPr>
                <p:cNvPr id="80" name="Rectangle 48"/>
                <p:cNvSpPr>
                  <a:spLocks noChangeArrowheads="1"/>
                </p:cNvSpPr>
                <p:nvPr/>
              </p:nvSpPr>
              <p:spPr bwMode="auto">
                <a:xfrm rot="16200000">
                  <a:off x="1893247" y="4299441"/>
                  <a:ext cx="110313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  <p:grpSp>
              <p:nvGrpSpPr>
                <p:cNvPr id="162870" name="Group 49"/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162871" name="Picture 50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3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2872" name="Freeform 51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62836" name="Group 46"/>
              <p:cNvGrpSpPr>
                <a:grpSpLocks/>
              </p:cNvGrpSpPr>
              <p:nvPr/>
            </p:nvGrpSpPr>
            <p:grpSpPr bwMode="auto">
              <a:xfrm>
                <a:off x="3539588" y="2669737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162865" name="Group 44"/>
                <p:cNvGrpSpPr>
                  <a:grpSpLocks/>
                </p:cNvGrpSpPr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162867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2868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77" name="Rectangle 43"/>
                <p:cNvSpPr>
                  <a:spLocks noChangeArrowheads="1"/>
                </p:cNvSpPr>
                <p:nvPr/>
              </p:nvSpPr>
              <p:spPr bwMode="auto">
                <a:xfrm rot="16200000">
                  <a:off x="7440190" y="4309334"/>
                  <a:ext cx="126274" cy="19535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</p:grpSp>
          <p:sp>
            <p:nvSpPr>
              <p:cNvPr id="48" name="Rectangle 43"/>
              <p:cNvSpPr>
                <a:spLocks noChangeArrowheads="1"/>
              </p:cNvSpPr>
              <p:nvPr/>
            </p:nvSpPr>
            <p:spPr bwMode="auto">
              <a:xfrm>
                <a:off x="2614674" y="2705593"/>
                <a:ext cx="109559" cy="165096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62838" name="Group 44"/>
              <p:cNvGrpSpPr>
                <a:grpSpLocks/>
              </p:cNvGrpSpPr>
              <p:nvPr/>
            </p:nvGrpSpPr>
            <p:grpSpPr bwMode="auto">
              <a:xfrm>
                <a:off x="2233637" y="2138292"/>
                <a:ext cx="853440" cy="741680"/>
                <a:chOff x="-44" y="1473"/>
                <a:chExt cx="981" cy="1105"/>
              </a:xfrm>
            </p:grpSpPr>
            <p:pic>
              <p:nvPicPr>
                <p:cNvPr id="162863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2864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grpSp>
            <p:nvGrpSpPr>
              <p:cNvPr id="162839" name="Group 49"/>
              <p:cNvGrpSpPr>
                <a:grpSpLocks/>
              </p:cNvGrpSpPr>
              <p:nvPr/>
            </p:nvGrpSpPr>
            <p:grpSpPr bwMode="auto">
              <a:xfrm>
                <a:off x="2060917" y="4279843"/>
                <a:ext cx="853440" cy="835329"/>
                <a:chOff x="8077200" y="3320111"/>
                <a:chExt cx="853440" cy="835329"/>
              </a:xfrm>
            </p:grpSpPr>
            <p:sp>
              <p:nvSpPr>
                <p:cNvPr id="70" name="Rectangle 43"/>
                <p:cNvSpPr>
                  <a:spLocks noChangeArrowheads="1"/>
                </p:cNvSpPr>
                <p:nvPr/>
              </p:nvSpPr>
              <p:spPr bwMode="auto">
                <a:xfrm>
                  <a:off x="8630957" y="3320624"/>
                  <a:ext cx="111147" cy="165096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  <p:grpSp>
              <p:nvGrpSpPr>
                <p:cNvPr id="162860" name="Group 44"/>
                <p:cNvGrpSpPr>
                  <a:grpSpLocks/>
                </p:cNvGrpSpPr>
                <p:nvPr/>
              </p:nvGrpSpPr>
              <p:grpSpPr bwMode="auto">
                <a:xfrm>
                  <a:off x="8077200" y="3413760"/>
                  <a:ext cx="853440" cy="741680"/>
                  <a:chOff x="-44" y="1473"/>
                  <a:chExt cx="981" cy="1105"/>
                </a:xfrm>
              </p:grpSpPr>
              <p:pic>
                <p:nvPicPr>
                  <p:cNvPr id="162861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2862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</p:grpSp>
          <p:pic>
            <p:nvPicPr>
              <p:cNvPr id="62489" name="Picture 3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4913" y="3316766"/>
                <a:ext cx="603370" cy="3413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pic>
          <p:grpSp>
            <p:nvGrpSpPr>
              <p:cNvPr id="162841" name="Group 51"/>
              <p:cNvGrpSpPr>
                <a:grpSpLocks/>
              </p:cNvGrpSpPr>
              <p:nvPr/>
            </p:nvGrpSpPr>
            <p:grpSpPr bwMode="auto">
              <a:xfrm>
                <a:off x="731524" y="3616962"/>
                <a:ext cx="914403" cy="690308"/>
                <a:chOff x="1046480" y="3962400"/>
                <a:chExt cx="1026163" cy="761428"/>
              </a:xfrm>
            </p:grpSpPr>
            <p:sp>
              <p:nvSpPr>
                <p:cNvPr id="66" name="Rectangle 48"/>
                <p:cNvSpPr>
                  <a:spLocks noChangeArrowheads="1"/>
                </p:cNvSpPr>
                <p:nvPr/>
              </p:nvSpPr>
              <p:spPr bwMode="auto">
                <a:xfrm rot="16200000">
                  <a:off x="1893846" y="4299769"/>
                  <a:ext cx="110314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  <p:grpSp>
              <p:nvGrpSpPr>
                <p:cNvPr id="162856" name="Group 49"/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162857" name="Picture 50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3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2858" name="Freeform 51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62842" name="Group 52"/>
              <p:cNvGrpSpPr>
                <a:grpSpLocks/>
              </p:cNvGrpSpPr>
              <p:nvPr/>
            </p:nvGrpSpPr>
            <p:grpSpPr bwMode="auto">
              <a:xfrm>
                <a:off x="3410634" y="3567725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162851" name="Group 44"/>
                <p:cNvGrpSpPr>
                  <a:grpSpLocks/>
                </p:cNvGrpSpPr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162853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2854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63" name="Rectangle 43"/>
                <p:cNvSpPr>
                  <a:spLocks noChangeArrowheads="1"/>
                </p:cNvSpPr>
                <p:nvPr/>
              </p:nvSpPr>
              <p:spPr bwMode="auto">
                <a:xfrm rot="16200000">
                  <a:off x="7438739" y="4308075"/>
                  <a:ext cx="128105" cy="197237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</p:grpSp>
          <p:sp>
            <p:nvSpPr>
              <p:cNvPr id="62492" name="Line 17"/>
              <p:cNvSpPr>
                <a:spLocks noChangeShapeType="1"/>
              </p:cNvSpPr>
              <p:nvPr/>
            </p:nvSpPr>
            <p:spPr bwMode="auto">
              <a:xfrm flipV="1">
                <a:off x="1660396" y="3600922"/>
                <a:ext cx="744686" cy="4508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493" name="Line 19"/>
              <p:cNvSpPr>
                <a:spLocks noChangeShapeType="1"/>
              </p:cNvSpPr>
              <p:nvPr/>
            </p:nvSpPr>
            <p:spPr bwMode="auto">
              <a:xfrm flipH="1" flipV="1">
                <a:off x="2968756" y="3545361"/>
                <a:ext cx="646242" cy="3381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494" name="Text Box 35"/>
              <p:cNvSpPr txBox="1">
                <a:spLocks noChangeArrowheads="1"/>
              </p:cNvSpPr>
              <p:nvPr/>
            </p:nvSpPr>
            <p:spPr bwMode="auto">
              <a:xfrm>
                <a:off x="2401907" y="3026260"/>
                <a:ext cx="312799" cy="3698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62495" name="Text Box 36"/>
              <p:cNvSpPr txBox="1">
                <a:spLocks noChangeArrowheads="1"/>
              </p:cNvSpPr>
              <p:nvPr/>
            </p:nvSpPr>
            <p:spPr bwMode="auto">
              <a:xfrm>
                <a:off x="2903656" y="3051660"/>
                <a:ext cx="323914" cy="366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2</a:t>
                </a:r>
              </a:p>
            </p:txBody>
          </p:sp>
          <p:sp>
            <p:nvSpPr>
              <p:cNvPr id="62496" name="Text Box 37"/>
              <p:cNvSpPr txBox="1">
                <a:spLocks noChangeArrowheads="1"/>
              </p:cNvSpPr>
              <p:nvPr/>
            </p:nvSpPr>
            <p:spPr bwMode="auto">
              <a:xfrm>
                <a:off x="3125951" y="3710457"/>
                <a:ext cx="322326" cy="3667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3</a:t>
                </a:r>
              </a:p>
            </p:txBody>
          </p:sp>
          <p:sp>
            <p:nvSpPr>
              <p:cNvPr id="62497" name="Text Box 38"/>
              <p:cNvSpPr txBox="1">
                <a:spLocks noChangeArrowheads="1"/>
              </p:cNvSpPr>
              <p:nvPr/>
            </p:nvSpPr>
            <p:spPr bwMode="auto">
              <a:xfrm>
                <a:off x="2640079" y="3654896"/>
                <a:ext cx="323914" cy="366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4</a:t>
                </a:r>
              </a:p>
            </p:txBody>
          </p:sp>
          <p:sp>
            <p:nvSpPr>
              <p:cNvPr id="62498" name="Text Box 39"/>
              <p:cNvSpPr txBox="1">
                <a:spLocks noChangeArrowheads="1"/>
              </p:cNvSpPr>
              <p:nvPr/>
            </p:nvSpPr>
            <p:spPr bwMode="auto">
              <a:xfrm>
                <a:off x="2070052" y="3704108"/>
                <a:ext cx="323914" cy="3667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5</a:t>
                </a:r>
              </a:p>
            </p:txBody>
          </p:sp>
          <p:sp>
            <p:nvSpPr>
              <p:cNvPr id="62499" name="Text Box 40"/>
              <p:cNvSpPr txBox="1">
                <a:spLocks noChangeArrowheads="1"/>
              </p:cNvSpPr>
              <p:nvPr/>
            </p:nvSpPr>
            <p:spPr bwMode="auto">
              <a:xfrm>
                <a:off x="2039884" y="3080234"/>
                <a:ext cx="319151" cy="3698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6</a:t>
                </a:r>
              </a:p>
            </p:txBody>
          </p:sp>
        </p:grpSp>
      </p:grpSp>
      <p:pic>
        <p:nvPicPr>
          <p:cNvPr id="162822" name="Picture 6" descr="underline_bas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962025"/>
            <a:ext cx="8228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25</a:t>
            </a:fld>
            <a:endParaRPr lang="en-US" sz="1200" dirty="0">
              <a:latin typeface="Tahoma" charset="0"/>
            </a:endParaRPr>
          </a:p>
        </p:txBody>
      </p:sp>
      <p:sp>
        <p:nvSpPr>
          <p:cNvPr id="5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8285765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 2"/>
          <p:cNvSpPr>
            <a:spLocks noGrp="1" noChangeArrowheads="1"/>
          </p:cNvSpPr>
          <p:nvPr>
            <p:ph type="title"/>
          </p:nvPr>
        </p:nvSpPr>
        <p:spPr>
          <a:xfrm>
            <a:off x="441325" y="90488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Switch forwarding table</a:t>
            </a:r>
          </a:p>
        </p:txBody>
      </p:sp>
      <p:sp>
        <p:nvSpPr>
          <p:cNvPr id="634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4663" y="1398588"/>
            <a:ext cx="4878387" cy="4805362"/>
          </a:xfrm>
        </p:spPr>
        <p:txBody>
          <a:bodyPr/>
          <a:lstStyle/>
          <a:p>
            <a:pPr marL="0" indent="0">
              <a:lnSpc>
                <a:spcPts val="3000"/>
              </a:lnSpc>
              <a:buFont typeface="Wingdings" charset="0"/>
              <a:buNone/>
              <a:defRPr/>
            </a:pPr>
            <a:r>
              <a:rPr lang="en-US" i="1" u="sng" dirty="0">
                <a:solidFill>
                  <a:srgbClr val="CC0000"/>
                </a:solidFill>
                <a:latin typeface="Gill Sans MT" charset="0"/>
                <a:cs typeface="+mn-cs"/>
              </a:rPr>
              <a:t>Q: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how does switch know A</a:t>
            </a:r>
            <a:r>
              <a:rPr lang="ja-JP" altLang="en-US" dirty="0">
                <a:latin typeface="Gill Sans MT" charset="0"/>
                <a:cs typeface="+mn-cs"/>
              </a:rPr>
              <a:t>’</a:t>
            </a:r>
            <a:r>
              <a:rPr lang="en-US" dirty="0">
                <a:latin typeface="Gill Sans MT" charset="0"/>
                <a:cs typeface="+mn-cs"/>
              </a:rPr>
              <a:t> reachable via interface 4, B</a:t>
            </a:r>
            <a:r>
              <a:rPr lang="ja-JP" altLang="en-US" dirty="0">
                <a:latin typeface="Gill Sans MT" charset="0"/>
                <a:cs typeface="+mn-cs"/>
              </a:rPr>
              <a:t>’</a:t>
            </a:r>
            <a:r>
              <a:rPr lang="en-US" dirty="0">
                <a:latin typeface="Gill Sans MT" charset="0"/>
                <a:cs typeface="+mn-cs"/>
              </a:rPr>
              <a:t> reachable via interface 5?</a:t>
            </a:r>
          </a:p>
        </p:txBody>
      </p:sp>
      <p:grpSp>
        <p:nvGrpSpPr>
          <p:cNvPr id="164869" name="Group 34"/>
          <p:cNvGrpSpPr>
            <a:grpSpLocks/>
          </p:cNvGrpSpPr>
          <p:nvPr/>
        </p:nvGrpSpPr>
        <p:grpSpPr bwMode="auto">
          <a:xfrm>
            <a:off x="5106988" y="1425575"/>
            <a:ext cx="3660775" cy="4283075"/>
            <a:chOff x="5106576" y="1425893"/>
            <a:chExt cx="3661504" cy="4282976"/>
          </a:xfrm>
        </p:grpSpPr>
        <p:sp>
          <p:nvSpPr>
            <p:cNvPr id="63496" name="Text Box 34"/>
            <p:cNvSpPr txBox="1">
              <a:spLocks noChangeArrowheads="1"/>
            </p:cNvSpPr>
            <p:nvPr/>
          </p:nvSpPr>
          <p:spPr bwMode="auto">
            <a:xfrm>
              <a:off x="5827445" y="5062772"/>
              <a:ext cx="2710402" cy="6460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switch with six interfaces</a:t>
              </a:r>
            </a:p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(</a:t>
              </a:r>
              <a:r>
                <a:rPr lang="en-US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1,2,3,4,5,6</a:t>
              </a:r>
              <a:r>
                <a:rPr lang="en-US" dirty="0">
                  <a:latin typeface="Arial" charset="0"/>
                  <a:cs typeface="Arial" charset="0"/>
                </a:rPr>
                <a:t>)</a:t>
              </a:r>
              <a:r>
                <a:rPr lang="en-US" i="0" dirty="0">
                  <a:latin typeface="Arial" charset="0"/>
                  <a:cs typeface="Arial" charset="0"/>
                </a:rPr>
                <a:t>  </a:t>
              </a:r>
            </a:p>
          </p:txBody>
        </p:sp>
        <p:grpSp>
          <p:nvGrpSpPr>
            <p:cNvPr id="164874" name="Group 36"/>
            <p:cNvGrpSpPr>
              <a:grpSpLocks/>
            </p:cNvGrpSpPr>
            <p:nvPr/>
          </p:nvGrpSpPr>
          <p:grpSpPr bwMode="auto">
            <a:xfrm>
              <a:off x="5106576" y="1425893"/>
              <a:ext cx="3661504" cy="3600334"/>
              <a:chOff x="731524" y="1819788"/>
              <a:chExt cx="3661504" cy="3600334"/>
            </a:xfrm>
          </p:grpSpPr>
          <p:sp>
            <p:nvSpPr>
              <p:cNvPr id="63498" name="Text Box 23"/>
              <p:cNvSpPr txBox="1">
                <a:spLocks noChangeArrowheads="1"/>
              </p:cNvSpPr>
              <p:nvPr/>
            </p:nvSpPr>
            <p:spPr bwMode="auto">
              <a:xfrm>
                <a:off x="2655957" y="1819788"/>
                <a:ext cx="350907" cy="366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A</a:t>
                </a:r>
              </a:p>
            </p:txBody>
          </p:sp>
          <p:sp>
            <p:nvSpPr>
              <p:cNvPr id="63499" name="Text Box 24"/>
              <p:cNvSpPr txBox="1">
                <a:spLocks noChangeArrowheads="1"/>
              </p:cNvSpPr>
              <p:nvPr/>
            </p:nvSpPr>
            <p:spPr bwMode="auto">
              <a:xfrm>
                <a:off x="2371738" y="5050277"/>
                <a:ext cx="371549" cy="3698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A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3500" name="Text Box 25"/>
              <p:cNvSpPr txBox="1">
                <a:spLocks noChangeArrowheads="1"/>
              </p:cNvSpPr>
              <p:nvPr/>
            </p:nvSpPr>
            <p:spPr bwMode="auto">
              <a:xfrm>
                <a:off x="3988134" y="2419849"/>
                <a:ext cx="338205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B</a:t>
                </a:r>
              </a:p>
            </p:txBody>
          </p:sp>
          <p:sp>
            <p:nvSpPr>
              <p:cNvPr id="63501" name="Text Box 26"/>
              <p:cNvSpPr txBox="1">
                <a:spLocks noChangeArrowheads="1"/>
              </p:cNvSpPr>
              <p:nvPr/>
            </p:nvSpPr>
            <p:spPr bwMode="auto">
              <a:xfrm>
                <a:off x="995101" y="4188283"/>
                <a:ext cx="390603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B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3502" name="Text Box 27"/>
              <p:cNvSpPr txBox="1">
                <a:spLocks noChangeArrowheads="1"/>
              </p:cNvSpPr>
              <p:nvPr/>
            </p:nvSpPr>
            <p:spPr bwMode="auto">
              <a:xfrm>
                <a:off x="3740435" y="4188283"/>
                <a:ext cx="350908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C</a:t>
                </a:r>
              </a:p>
            </p:txBody>
          </p:sp>
          <p:sp>
            <p:nvSpPr>
              <p:cNvPr id="63503" name="Text Box 28"/>
              <p:cNvSpPr txBox="1">
                <a:spLocks noChangeArrowheads="1"/>
              </p:cNvSpPr>
              <p:nvPr/>
            </p:nvSpPr>
            <p:spPr bwMode="auto">
              <a:xfrm>
                <a:off x="1123714" y="2465886"/>
                <a:ext cx="403305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C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3504" name="Line 17"/>
              <p:cNvSpPr>
                <a:spLocks noChangeShapeType="1"/>
              </p:cNvSpPr>
              <p:nvPr/>
            </p:nvSpPr>
            <p:spPr bwMode="auto">
              <a:xfrm>
                <a:off x="1687389" y="3165957"/>
                <a:ext cx="720869" cy="2984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505" name="Line 18"/>
              <p:cNvSpPr>
                <a:spLocks noChangeShapeType="1"/>
              </p:cNvSpPr>
              <p:nvPr/>
            </p:nvSpPr>
            <p:spPr bwMode="auto">
              <a:xfrm>
                <a:off x="2673423" y="2872277"/>
                <a:ext cx="0" cy="5048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506" name="Line 19"/>
              <p:cNvSpPr>
                <a:spLocks noChangeShapeType="1"/>
              </p:cNvSpPr>
              <p:nvPr/>
            </p:nvSpPr>
            <p:spPr bwMode="auto">
              <a:xfrm flipH="1">
                <a:off x="2863961" y="2996099"/>
                <a:ext cx="892353" cy="484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507" name="Line 20"/>
              <p:cNvSpPr>
                <a:spLocks noChangeShapeType="1"/>
              </p:cNvSpPr>
              <p:nvPr/>
            </p:nvSpPr>
            <p:spPr bwMode="auto">
              <a:xfrm flipV="1">
                <a:off x="2673423" y="3605685"/>
                <a:ext cx="12703" cy="7095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64885" name="Group 47"/>
              <p:cNvGrpSpPr>
                <a:grpSpLocks/>
              </p:cNvGrpSpPr>
              <p:nvPr/>
            </p:nvGrpSpPr>
            <p:grpSpPr bwMode="auto">
              <a:xfrm>
                <a:off x="747936" y="2733042"/>
                <a:ext cx="914403" cy="690308"/>
                <a:chOff x="1046480" y="3962400"/>
                <a:chExt cx="1026163" cy="761428"/>
              </a:xfrm>
            </p:grpSpPr>
            <p:sp>
              <p:nvSpPr>
                <p:cNvPr id="82" name="Rectangle 48"/>
                <p:cNvSpPr>
                  <a:spLocks noChangeArrowheads="1"/>
                </p:cNvSpPr>
                <p:nvPr/>
              </p:nvSpPr>
              <p:spPr bwMode="auto">
                <a:xfrm rot="16200000">
                  <a:off x="1893247" y="4299441"/>
                  <a:ext cx="110313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  <p:grpSp>
              <p:nvGrpSpPr>
                <p:cNvPr id="164920" name="Group 49"/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164921" name="Picture 50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3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4922" name="Freeform 51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64886" name="Group 48"/>
              <p:cNvGrpSpPr>
                <a:grpSpLocks/>
              </p:cNvGrpSpPr>
              <p:nvPr/>
            </p:nvGrpSpPr>
            <p:grpSpPr bwMode="auto">
              <a:xfrm>
                <a:off x="3539588" y="2669737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164915" name="Group 44"/>
                <p:cNvGrpSpPr>
                  <a:grpSpLocks/>
                </p:cNvGrpSpPr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164917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4918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79" name="Rectangle 43"/>
                <p:cNvSpPr>
                  <a:spLocks noChangeArrowheads="1"/>
                </p:cNvSpPr>
                <p:nvPr/>
              </p:nvSpPr>
              <p:spPr bwMode="auto">
                <a:xfrm rot="16200000">
                  <a:off x="7440190" y="4309334"/>
                  <a:ext cx="126274" cy="19535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</p:grpSp>
          <p:sp>
            <p:nvSpPr>
              <p:cNvPr id="50" name="Rectangle 43"/>
              <p:cNvSpPr>
                <a:spLocks noChangeArrowheads="1"/>
              </p:cNvSpPr>
              <p:nvPr/>
            </p:nvSpPr>
            <p:spPr bwMode="auto">
              <a:xfrm>
                <a:off x="2614674" y="2705593"/>
                <a:ext cx="109559" cy="165096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64888" name="Group 44"/>
              <p:cNvGrpSpPr>
                <a:grpSpLocks/>
              </p:cNvGrpSpPr>
              <p:nvPr/>
            </p:nvGrpSpPr>
            <p:grpSpPr bwMode="auto">
              <a:xfrm>
                <a:off x="2233637" y="2138292"/>
                <a:ext cx="853440" cy="741680"/>
                <a:chOff x="-44" y="1473"/>
                <a:chExt cx="981" cy="1105"/>
              </a:xfrm>
            </p:grpSpPr>
            <p:pic>
              <p:nvPicPr>
                <p:cNvPr id="164913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4914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grpSp>
            <p:nvGrpSpPr>
              <p:cNvPr id="164889" name="Group 51"/>
              <p:cNvGrpSpPr>
                <a:grpSpLocks/>
              </p:cNvGrpSpPr>
              <p:nvPr/>
            </p:nvGrpSpPr>
            <p:grpSpPr bwMode="auto">
              <a:xfrm>
                <a:off x="2060917" y="4279843"/>
                <a:ext cx="853440" cy="835329"/>
                <a:chOff x="8077200" y="3320111"/>
                <a:chExt cx="853440" cy="835329"/>
              </a:xfrm>
            </p:grpSpPr>
            <p:sp>
              <p:nvSpPr>
                <p:cNvPr id="72" name="Rectangle 43"/>
                <p:cNvSpPr>
                  <a:spLocks noChangeArrowheads="1"/>
                </p:cNvSpPr>
                <p:nvPr/>
              </p:nvSpPr>
              <p:spPr bwMode="auto">
                <a:xfrm>
                  <a:off x="8630957" y="3320624"/>
                  <a:ext cx="111147" cy="165096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  <p:grpSp>
              <p:nvGrpSpPr>
                <p:cNvPr id="164910" name="Group 44"/>
                <p:cNvGrpSpPr>
                  <a:grpSpLocks/>
                </p:cNvGrpSpPr>
                <p:nvPr/>
              </p:nvGrpSpPr>
              <p:grpSpPr bwMode="auto">
                <a:xfrm>
                  <a:off x="8077200" y="3413760"/>
                  <a:ext cx="853440" cy="741680"/>
                  <a:chOff x="-44" y="1473"/>
                  <a:chExt cx="981" cy="1105"/>
                </a:xfrm>
              </p:grpSpPr>
              <p:pic>
                <p:nvPicPr>
                  <p:cNvPr id="164911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4912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</p:grpSp>
          <p:pic>
            <p:nvPicPr>
              <p:cNvPr id="63513" name="Picture 3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4913" y="3316766"/>
                <a:ext cx="603370" cy="3413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pic>
          <p:grpSp>
            <p:nvGrpSpPr>
              <p:cNvPr id="164891" name="Group 53"/>
              <p:cNvGrpSpPr>
                <a:grpSpLocks/>
              </p:cNvGrpSpPr>
              <p:nvPr/>
            </p:nvGrpSpPr>
            <p:grpSpPr bwMode="auto">
              <a:xfrm>
                <a:off x="731524" y="3616962"/>
                <a:ext cx="914403" cy="690308"/>
                <a:chOff x="1046480" y="3962400"/>
                <a:chExt cx="1026163" cy="761428"/>
              </a:xfrm>
            </p:grpSpPr>
            <p:sp>
              <p:nvSpPr>
                <p:cNvPr id="68" name="Rectangle 48"/>
                <p:cNvSpPr>
                  <a:spLocks noChangeArrowheads="1"/>
                </p:cNvSpPr>
                <p:nvPr/>
              </p:nvSpPr>
              <p:spPr bwMode="auto">
                <a:xfrm rot="16200000">
                  <a:off x="1893846" y="4299769"/>
                  <a:ext cx="110314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  <p:grpSp>
              <p:nvGrpSpPr>
                <p:cNvPr id="164906" name="Group 49"/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164907" name="Picture 50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3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4908" name="Freeform 51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64892" name="Group 54"/>
              <p:cNvGrpSpPr>
                <a:grpSpLocks/>
              </p:cNvGrpSpPr>
              <p:nvPr/>
            </p:nvGrpSpPr>
            <p:grpSpPr bwMode="auto">
              <a:xfrm>
                <a:off x="3410634" y="3567725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164901" name="Group 44"/>
                <p:cNvGrpSpPr>
                  <a:grpSpLocks/>
                </p:cNvGrpSpPr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164903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4904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65" name="Rectangle 43"/>
                <p:cNvSpPr>
                  <a:spLocks noChangeArrowheads="1"/>
                </p:cNvSpPr>
                <p:nvPr/>
              </p:nvSpPr>
              <p:spPr bwMode="auto">
                <a:xfrm rot="16200000">
                  <a:off x="7438739" y="4308075"/>
                  <a:ext cx="128105" cy="197237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</p:grpSp>
          <p:sp>
            <p:nvSpPr>
              <p:cNvPr id="63516" name="Line 17"/>
              <p:cNvSpPr>
                <a:spLocks noChangeShapeType="1"/>
              </p:cNvSpPr>
              <p:nvPr/>
            </p:nvSpPr>
            <p:spPr bwMode="auto">
              <a:xfrm flipV="1">
                <a:off x="1660396" y="3600922"/>
                <a:ext cx="744686" cy="4508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517" name="Line 19"/>
              <p:cNvSpPr>
                <a:spLocks noChangeShapeType="1"/>
              </p:cNvSpPr>
              <p:nvPr/>
            </p:nvSpPr>
            <p:spPr bwMode="auto">
              <a:xfrm flipH="1" flipV="1">
                <a:off x="2968756" y="3545361"/>
                <a:ext cx="646242" cy="3381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518" name="Text Box 35"/>
              <p:cNvSpPr txBox="1">
                <a:spLocks noChangeArrowheads="1"/>
              </p:cNvSpPr>
              <p:nvPr/>
            </p:nvSpPr>
            <p:spPr bwMode="auto">
              <a:xfrm>
                <a:off x="2401907" y="3026260"/>
                <a:ext cx="312799" cy="3698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63519" name="Text Box 36"/>
              <p:cNvSpPr txBox="1">
                <a:spLocks noChangeArrowheads="1"/>
              </p:cNvSpPr>
              <p:nvPr/>
            </p:nvSpPr>
            <p:spPr bwMode="auto">
              <a:xfrm>
                <a:off x="2903656" y="3051660"/>
                <a:ext cx="323914" cy="366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2</a:t>
                </a:r>
              </a:p>
            </p:txBody>
          </p:sp>
          <p:sp>
            <p:nvSpPr>
              <p:cNvPr id="63520" name="Text Box 37"/>
              <p:cNvSpPr txBox="1">
                <a:spLocks noChangeArrowheads="1"/>
              </p:cNvSpPr>
              <p:nvPr/>
            </p:nvSpPr>
            <p:spPr bwMode="auto">
              <a:xfrm>
                <a:off x="3125951" y="3710457"/>
                <a:ext cx="322326" cy="3667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3</a:t>
                </a:r>
              </a:p>
            </p:txBody>
          </p:sp>
          <p:sp>
            <p:nvSpPr>
              <p:cNvPr id="63521" name="Text Box 38"/>
              <p:cNvSpPr txBox="1">
                <a:spLocks noChangeArrowheads="1"/>
              </p:cNvSpPr>
              <p:nvPr/>
            </p:nvSpPr>
            <p:spPr bwMode="auto">
              <a:xfrm>
                <a:off x="2640079" y="3654896"/>
                <a:ext cx="323914" cy="366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4</a:t>
                </a:r>
              </a:p>
            </p:txBody>
          </p:sp>
          <p:sp>
            <p:nvSpPr>
              <p:cNvPr id="63522" name="Text Box 39"/>
              <p:cNvSpPr txBox="1">
                <a:spLocks noChangeArrowheads="1"/>
              </p:cNvSpPr>
              <p:nvPr/>
            </p:nvSpPr>
            <p:spPr bwMode="auto">
              <a:xfrm>
                <a:off x="2070052" y="3704108"/>
                <a:ext cx="323914" cy="3667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5</a:t>
                </a:r>
              </a:p>
            </p:txBody>
          </p:sp>
          <p:sp>
            <p:nvSpPr>
              <p:cNvPr id="63523" name="Text Box 40"/>
              <p:cNvSpPr txBox="1">
                <a:spLocks noChangeArrowheads="1"/>
              </p:cNvSpPr>
              <p:nvPr/>
            </p:nvSpPr>
            <p:spPr bwMode="auto">
              <a:xfrm>
                <a:off x="2039884" y="3080234"/>
                <a:ext cx="319151" cy="3698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6</a:t>
                </a:r>
              </a:p>
            </p:txBody>
          </p:sp>
        </p:grpSp>
      </p:grpSp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477838" y="2566988"/>
            <a:ext cx="4878387" cy="2132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lnSpc>
                <a:spcPts val="3000"/>
              </a:lnSpc>
              <a:buSzPct val="100000"/>
              <a:buFont typeface="Wingdings" charset="2"/>
              <a:buChar char="§"/>
              <a:defRPr/>
            </a:pPr>
            <a:r>
              <a:rPr lang="en-US" i="1" u="sng" dirty="0">
                <a:solidFill>
                  <a:srgbClr val="CC0000"/>
                </a:solidFill>
                <a:latin typeface="Gill Sans MT" charset="0"/>
              </a:rPr>
              <a:t>A:</a:t>
            </a:r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  </a:t>
            </a:r>
            <a:r>
              <a:rPr lang="en-US" dirty="0">
                <a:latin typeface="Gill Sans MT" charset="0"/>
              </a:rPr>
              <a:t>each switch has a </a:t>
            </a:r>
            <a:r>
              <a:rPr lang="en-US" dirty="0">
                <a:solidFill>
                  <a:srgbClr val="CC0000"/>
                </a:solidFill>
                <a:latin typeface="Gill Sans MT" charset="0"/>
              </a:rPr>
              <a:t>switch table,</a:t>
            </a:r>
            <a:r>
              <a:rPr lang="en-US" dirty="0">
                <a:solidFill>
                  <a:srgbClr val="FF0000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each entry: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(MAC address of host, interface to reach host, time stamp)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looks like a routing table!</a:t>
            </a:r>
          </a:p>
        </p:txBody>
      </p:sp>
      <p:pic>
        <p:nvPicPr>
          <p:cNvPr id="164871" name="Picture 22" descr="underline_base"/>
          <p:cNvPicPr>
            <a:picLocks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" y="89852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" name="Rectangle 3"/>
          <p:cNvSpPr txBox="1">
            <a:spLocks noChangeArrowheads="1"/>
          </p:cNvSpPr>
          <p:nvPr/>
        </p:nvSpPr>
        <p:spPr bwMode="auto">
          <a:xfrm>
            <a:off x="536575" y="5043488"/>
            <a:ext cx="5040313" cy="147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lnSpc>
                <a:spcPct val="75000"/>
              </a:lnSpc>
              <a:buFont typeface="Wingdings" charset="0"/>
              <a:buNone/>
              <a:defRPr/>
            </a:pPr>
            <a:r>
              <a:rPr lang="en-US" u="sng" dirty="0">
                <a:solidFill>
                  <a:srgbClr val="CC0000"/>
                </a:solidFill>
                <a:latin typeface="Gill Sans MT" charset="0"/>
              </a:rPr>
              <a:t>Q:</a:t>
            </a:r>
            <a:r>
              <a:rPr lang="en-US" dirty="0">
                <a:solidFill>
                  <a:srgbClr val="CC0000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how are entries created, maintained in switch table? 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something like a routing protocol?</a:t>
            </a:r>
          </a:p>
        </p:txBody>
      </p:sp>
      <p:sp>
        <p:nvSpPr>
          <p:cNvPr id="6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26</a:t>
            </a:fld>
            <a:endParaRPr lang="en-US" sz="1200" dirty="0">
              <a:latin typeface="Tahoma" charset="0"/>
            </a:endParaRPr>
          </a:p>
        </p:txBody>
      </p:sp>
      <p:sp>
        <p:nvSpPr>
          <p:cNvPr id="6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503096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6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913" name="Group 36"/>
          <p:cNvGrpSpPr>
            <a:grpSpLocks/>
          </p:cNvGrpSpPr>
          <p:nvPr/>
        </p:nvGrpSpPr>
        <p:grpSpPr bwMode="auto">
          <a:xfrm>
            <a:off x="4456113" y="1216025"/>
            <a:ext cx="3660775" cy="3600450"/>
            <a:chOff x="731524" y="1819788"/>
            <a:chExt cx="3661504" cy="3600334"/>
          </a:xfrm>
        </p:grpSpPr>
        <p:sp>
          <p:nvSpPr>
            <p:cNvPr id="65565" name="Text Box 23"/>
            <p:cNvSpPr txBox="1">
              <a:spLocks noChangeArrowheads="1"/>
            </p:cNvSpPr>
            <p:nvPr/>
          </p:nvSpPr>
          <p:spPr bwMode="auto">
            <a:xfrm>
              <a:off x="2655957" y="1819788"/>
              <a:ext cx="350907" cy="366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65566" name="Text Box 24"/>
            <p:cNvSpPr txBox="1">
              <a:spLocks noChangeArrowheads="1"/>
            </p:cNvSpPr>
            <p:nvPr/>
          </p:nvSpPr>
          <p:spPr bwMode="auto">
            <a:xfrm>
              <a:off x="2371738" y="5050247"/>
              <a:ext cx="371549" cy="36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  <a:r>
                <a:rPr lang="ja-JP" altLang="en-US" i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5567" name="Text Box 25"/>
            <p:cNvSpPr txBox="1">
              <a:spLocks noChangeArrowheads="1"/>
            </p:cNvSpPr>
            <p:nvPr/>
          </p:nvSpPr>
          <p:spPr bwMode="auto">
            <a:xfrm>
              <a:off x="3988134" y="2419844"/>
              <a:ext cx="338205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65568" name="Text Box 26"/>
            <p:cNvSpPr txBox="1">
              <a:spLocks noChangeArrowheads="1"/>
            </p:cNvSpPr>
            <p:nvPr/>
          </p:nvSpPr>
          <p:spPr bwMode="auto">
            <a:xfrm>
              <a:off x="995101" y="4188262"/>
              <a:ext cx="390603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  <a:r>
                <a:rPr lang="ja-JP" altLang="en-US" i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5569" name="Text Box 27"/>
            <p:cNvSpPr txBox="1">
              <a:spLocks noChangeArrowheads="1"/>
            </p:cNvSpPr>
            <p:nvPr/>
          </p:nvSpPr>
          <p:spPr bwMode="auto">
            <a:xfrm>
              <a:off x="3740435" y="4188262"/>
              <a:ext cx="350908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</a:p>
          </p:txBody>
        </p:sp>
        <p:sp>
          <p:nvSpPr>
            <p:cNvPr id="65570" name="Text Box 28"/>
            <p:cNvSpPr txBox="1">
              <a:spLocks noChangeArrowheads="1"/>
            </p:cNvSpPr>
            <p:nvPr/>
          </p:nvSpPr>
          <p:spPr bwMode="auto">
            <a:xfrm>
              <a:off x="1123714" y="2465880"/>
              <a:ext cx="403305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  <a:r>
                <a:rPr lang="ja-JP" altLang="en-US" i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5571" name="Line 17"/>
            <p:cNvSpPr>
              <a:spLocks noChangeShapeType="1"/>
            </p:cNvSpPr>
            <p:nvPr/>
          </p:nvSpPr>
          <p:spPr bwMode="auto">
            <a:xfrm>
              <a:off x="1687389" y="3165945"/>
              <a:ext cx="720869" cy="298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72" name="Line 18"/>
            <p:cNvSpPr>
              <a:spLocks noChangeShapeType="1"/>
            </p:cNvSpPr>
            <p:nvPr/>
          </p:nvSpPr>
          <p:spPr bwMode="auto">
            <a:xfrm>
              <a:off x="2673423" y="2872267"/>
              <a:ext cx="0" cy="5048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73" name="Line 19"/>
            <p:cNvSpPr>
              <a:spLocks noChangeShapeType="1"/>
            </p:cNvSpPr>
            <p:nvPr/>
          </p:nvSpPr>
          <p:spPr bwMode="auto">
            <a:xfrm flipH="1">
              <a:off x="2863961" y="2996088"/>
              <a:ext cx="892353" cy="484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74" name="Line 20"/>
            <p:cNvSpPr>
              <a:spLocks noChangeShapeType="1"/>
            </p:cNvSpPr>
            <p:nvPr/>
          </p:nvSpPr>
          <p:spPr bwMode="auto">
            <a:xfrm flipV="1">
              <a:off x="2673423" y="3605668"/>
              <a:ext cx="12703" cy="709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66950" name="Group 47"/>
            <p:cNvGrpSpPr>
              <a:grpSpLocks/>
            </p:cNvGrpSpPr>
            <p:nvPr/>
          </p:nvGrpSpPr>
          <p:grpSpPr bwMode="auto">
            <a:xfrm>
              <a:off x="747936" y="2733042"/>
              <a:ext cx="914403" cy="690308"/>
              <a:chOff x="1046480" y="3962400"/>
              <a:chExt cx="1026163" cy="761428"/>
            </a:xfrm>
          </p:grpSpPr>
          <p:sp>
            <p:nvSpPr>
              <p:cNvPr id="100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248" y="4299428"/>
                <a:ext cx="110312" cy="24768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66985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66986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6987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166951" name="Group 48"/>
            <p:cNvGrpSpPr>
              <a:grpSpLocks/>
            </p:cNvGrpSpPr>
            <p:nvPr/>
          </p:nvGrpSpPr>
          <p:grpSpPr bwMode="auto">
            <a:xfrm>
              <a:off x="3539588" y="2669737"/>
              <a:ext cx="853440" cy="741680"/>
              <a:chOff x="7179310" y="4033520"/>
              <a:chExt cx="1009650" cy="855028"/>
            </a:xfrm>
          </p:grpSpPr>
          <p:grpSp>
            <p:nvGrpSpPr>
              <p:cNvPr id="166980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66982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6983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97" name="Rectangle 43"/>
              <p:cNvSpPr>
                <a:spLocks noChangeArrowheads="1"/>
              </p:cNvSpPr>
              <p:nvPr/>
            </p:nvSpPr>
            <p:spPr bwMode="auto">
              <a:xfrm rot="16200000">
                <a:off x="7440190" y="4309323"/>
                <a:ext cx="126273" cy="19535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</p:grpSp>
        <p:sp>
          <p:nvSpPr>
            <p:cNvPr id="68" name="Rectangle 43"/>
            <p:cNvSpPr>
              <a:spLocks noChangeArrowheads="1"/>
            </p:cNvSpPr>
            <p:nvPr/>
          </p:nvSpPr>
          <p:spPr bwMode="auto">
            <a:xfrm>
              <a:off x="2614674" y="2705584"/>
              <a:ext cx="109559" cy="16509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grpSp>
          <p:nvGrpSpPr>
            <p:cNvPr id="166953" name="Group 44"/>
            <p:cNvGrpSpPr>
              <a:grpSpLocks/>
            </p:cNvGrpSpPr>
            <p:nvPr/>
          </p:nvGrpSpPr>
          <p:grpSpPr bwMode="auto">
            <a:xfrm>
              <a:off x="2233637" y="2138292"/>
              <a:ext cx="853440" cy="741680"/>
              <a:chOff x="-44" y="1473"/>
              <a:chExt cx="981" cy="1105"/>
            </a:xfrm>
          </p:grpSpPr>
          <p:pic>
            <p:nvPicPr>
              <p:cNvPr id="16697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6979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66954" name="Group 51"/>
            <p:cNvGrpSpPr>
              <a:grpSpLocks/>
            </p:cNvGrpSpPr>
            <p:nvPr/>
          </p:nvGrpSpPr>
          <p:grpSpPr bwMode="auto">
            <a:xfrm>
              <a:off x="2060917" y="4279843"/>
              <a:ext cx="853440" cy="835329"/>
              <a:chOff x="8077200" y="3320111"/>
              <a:chExt cx="853440" cy="835329"/>
            </a:xfrm>
          </p:grpSpPr>
          <p:sp>
            <p:nvSpPr>
              <p:cNvPr id="90" name="Rectangle 43"/>
              <p:cNvSpPr>
                <a:spLocks noChangeArrowheads="1"/>
              </p:cNvSpPr>
              <p:nvPr/>
            </p:nvSpPr>
            <p:spPr bwMode="auto">
              <a:xfrm>
                <a:off x="8630957" y="3320602"/>
                <a:ext cx="111147" cy="165095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66975" name="Group 44"/>
              <p:cNvGrpSpPr>
                <a:grpSpLocks/>
              </p:cNvGrpSpPr>
              <p:nvPr/>
            </p:nvGrpSpPr>
            <p:grpSpPr bwMode="auto">
              <a:xfrm>
                <a:off x="8077200" y="3413760"/>
                <a:ext cx="853440" cy="741680"/>
                <a:chOff x="-44" y="1473"/>
                <a:chExt cx="981" cy="1105"/>
              </a:xfrm>
            </p:grpSpPr>
            <p:pic>
              <p:nvPicPr>
                <p:cNvPr id="166976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6977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pic>
          <p:nvPicPr>
            <p:cNvPr id="65580" name="Picture 3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4913" y="3316753"/>
              <a:ext cx="603370" cy="3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grpSp>
          <p:nvGrpSpPr>
            <p:cNvPr id="166956" name="Group 53"/>
            <p:cNvGrpSpPr>
              <a:grpSpLocks/>
            </p:cNvGrpSpPr>
            <p:nvPr/>
          </p:nvGrpSpPr>
          <p:grpSpPr bwMode="auto">
            <a:xfrm>
              <a:off x="731524" y="3616962"/>
              <a:ext cx="914403" cy="690308"/>
              <a:chOff x="1046480" y="3962400"/>
              <a:chExt cx="1026163" cy="761428"/>
            </a:xfrm>
          </p:grpSpPr>
          <p:sp>
            <p:nvSpPr>
              <p:cNvPr id="86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846" y="4299747"/>
                <a:ext cx="110313" cy="24768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66971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66972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6973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166957" name="Group 54"/>
            <p:cNvGrpSpPr>
              <a:grpSpLocks/>
            </p:cNvGrpSpPr>
            <p:nvPr/>
          </p:nvGrpSpPr>
          <p:grpSpPr bwMode="auto">
            <a:xfrm>
              <a:off x="3410634" y="3567725"/>
              <a:ext cx="853440" cy="741680"/>
              <a:chOff x="7179310" y="4033520"/>
              <a:chExt cx="1009650" cy="855028"/>
            </a:xfrm>
          </p:grpSpPr>
          <p:grpSp>
            <p:nvGrpSpPr>
              <p:cNvPr id="166966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66968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6969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83" name="Rectangle 43"/>
              <p:cNvSpPr>
                <a:spLocks noChangeArrowheads="1"/>
              </p:cNvSpPr>
              <p:nvPr/>
            </p:nvSpPr>
            <p:spPr bwMode="auto">
              <a:xfrm rot="16200000">
                <a:off x="7438739" y="4308053"/>
                <a:ext cx="128104" cy="197237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</p:grpSp>
        <p:sp>
          <p:nvSpPr>
            <p:cNvPr id="65583" name="Line 17"/>
            <p:cNvSpPr>
              <a:spLocks noChangeShapeType="1"/>
            </p:cNvSpPr>
            <p:nvPr/>
          </p:nvSpPr>
          <p:spPr bwMode="auto">
            <a:xfrm flipV="1">
              <a:off x="1660396" y="3600906"/>
              <a:ext cx="744686" cy="4508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84" name="Line 19"/>
            <p:cNvSpPr>
              <a:spLocks noChangeShapeType="1"/>
            </p:cNvSpPr>
            <p:nvPr/>
          </p:nvSpPr>
          <p:spPr bwMode="auto">
            <a:xfrm flipH="1" flipV="1">
              <a:off x="2968756" y="3545345"/>
              <a:ext cx="646242" cy="338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85" name="Text Box 35"/>
            <p:cNvSpPr txBox="1">
              <a:spLocks noChangeArrowheads="1"/>
            </p:cNvSpPr>
            <p:nvPr/>
          </p:nvSpPr>
          <p:spPr bwMode="auto">
            <a:xfrm>
              <a:off x="2401907" y="3026249"/>
              <a:ext cx="312799" cy="3698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5586" name="Text Box 36"/>
            <p:cNvSpPr txBox="1">
              <a:spLocks noChangeArrowheads="1"/>
            </p:cNvSpPr>
            <p:nvPr/>
          </p:nvSpPr>
          <p:spPr bwMode="auto">
            <a:xfrm>
              <a:off x="2903656" y="3051648"/>
              <a:ext cx="323914" cy="366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65587" name="Text Box 37"/>
            <p:cNvSpPr txBox="1">
              <a:spLocks noChangeArrowheads="1"/>
            </p:cNvSpPr>
            <p:nvPr/>
          </p:nvSpPr>
          <p:spPr bwMode="auto">
            <a:xfrm>
              <a:off x="3125951" y="3710440"/>
              <a:ext cx="322326" cy="366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3</a:t>
              </a:r>
            </a:p>
          </p:txBody>
        </p:sp>
        <p:sp>
          <p:nvSpPr>
            <p:cNvPr id="65588" name="Text Box 38"/>
            <p:cNvSpPr txBox="1">
              <a:spLocks noChangeArrowheads="1"/>
            </p:cNvSpPr>
            <p:nvPr/>
          </p:nvSpPr>
          <p:spPr bwMode="auto">
            <a:xfrm>
              <a:off x="2640079" y="3654879"/>
              <a:ext cx="323914" cy="366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65589" name="Text Box 39"/>
            <p:cNvSpPr txBox="1">
              <a:spLocks noChangeArrowheads="1"/>
            </p:cNvSpPr>
            <p:nvPr/>
          </p:nvSpPr>
          <p:spPr bwMode="auto">
            <a:xfrm>
              <a:off x="2070052" y="3704090"/>
              <a:ext cx="323914" cy="366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5</a:t>
              </a:r>
            </a:p>
          </p:txBody>
        </p:sp>
        <p:sp>
          <p:nvSpPr>
            <p:cNvPr id="65590" name="Text Box 40"/>
            <p:cNvSpPr txBox="1">
              <a:spLocks noChangeArrowheads="1"/>
            </p:cNvSpPr>
            <p:nvPr/>
          </p:nvSpPr>
          <p:spPr bwMode="auto">
            <a:xfrm>
              <a:off x="2039884" y="3080222"/>
              <a:ext cx="319151" cy="3698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6</a:t>
              </a:r>
            </a:p>
          </p:txBody>
        </p:sp>
      </p:grpSp>
      <p:sp>
        <p:nvSpPr>
          <p:cNvPr id="6554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731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Switch: self-learning</a:t>
            </a:r>
          </a:p>
        </p:txBody>
      </p:sp>
      <p:sp>
        <p:nvSpPr>
          <p:cNvPr id="655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9738" y="1339850"/>
            <a:ext cx="3935412" cy="4114800"/>
          </a:xfrm>
        </p:spPr>
        <p:txBody>
          <a:bodyPr/>
          <a:lstStyle/>
          <a:p>
            <a:pPr marL="231775" indent="-231775">
              <a:defRPr/>
            </a:pPr>
            <a:r>
              <a:rPr lang="en-US" sz="2400" dirty="0">
                <a:latin typeface="Gill Sans MT" charset="0"/>
                <a:cs typeface="+mn-cs"/>
              </a:rPr>
              <a:t>switch</a:t>
            </a:r>
            <a:r>
              <a:rPr lang="en-US" sz="2400" dirty="0">
                <a:solidFill>
                  <a:srgbClr val="FF0000"/>
                </a:solidFill>
                <a:latin typeface="Gill Sans MT" charset="0"/>
                <a:cs typeface="+mn-cs"/>
              </a:rPr>
              <a:t> </a:t>
            </a: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learns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which hosts can be reached through which interfaces</a:t>
            </a:r>
          </a:p>
          <a:p>
            <a:pPr marL="681038" lvl="1" indent="-223838">
              <a:defRPr/>
            </a:pPr>
            <a:r>
              <a:rPr lang="en-US" dirty="0">
                <a:latin typeface="Gill Sans MT" charset="0"/>
              </a:rPr>
              <a:t>when frame received, switch </a:t>
            </a:r>
            <a:r>
              <a:rPr lang="ja-JP" altLang="en-US" dirty="0">
                <a:latin typeface="Gill Sans MT" charset="0"/>
              </a:rPr>
              <a:t>“</a:t>
            </a:r>
            <a:r>
              <a:rPr lang="en-US" dirty="0">
                <a:latin typeface="Gill Sans MT" charset="0"/>
              </a:rPr>
              <a:t>learns</a:t>
            </a:r>
            <a:r>
              <a:rPr lang="ja-JP" altLang="en-US" dirty="0">
                <a:latin typeface="Gill Sans MT" charset="0"/>
              </a:rPr>
              <a:t>”</a:t>
            </a:r>
            <a:r>
              <a:rPr lang="en-US" dirty="0">
                <a:latin typeface="Gill Sans MT" charset="0"/>
              </a:rPr>
              <a:t>  location of sender: incoming LAN segment</a:t>
            </a:r>
          </a:p>
          <a:p>
            <a:pPr marL="681038" lvl="1" indent="-223838">
              <a:defRPr/>
            </a:pPr>
            <a:r>
              <a:rPr lang="en-US" dirty="0">
                <a:latin typeface="Gill Sans MT" charset="0"/>
              </a:rPr>
              <a:t>records sender/location pair in switch table</a:t>
            </a:r>
          </a:p>
        </p:txBody>
      </p:sp>
      <p:grpSp>
        <p:nvGrpSpPr>
          <p:cNvPr id="420900" name="Group 36"/>
          <p:cNvGrpSpPr>
            <a:grpSpLocks/>
          </p:cNvGrpSpPr>
          <p:nvPr/>
        </p:nvGrpSpPr>
        <p:grpSpPr bwMode="auto">
          <a:xfrm>
            <a:off x="6778625" y="1223963"/>
            <a:ext cx="1428750" cy="369887"/>
            <a:chOff x="1750" y="3514"/>
            <a:chExt cx="900" cy="233"/>
          </a:xfrm>
        </p:grpSpPr>
        <p:sp>
          <p:nvSpPr>
            <p:cNvPr id="65561" name="Rectangle 32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5562" name="Text Box 33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5563" name="Line 34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64" name="Line 35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420905" name="Group 41"/>
          <p:cNvGrpSpPr>
            <a:grpSpLocks/>
          </p:cNvGrpSpPr>
          <p:nvPr/>
        </p:nvGrpSpPr>
        <p:grpSpPr bwMode="auto">
          <a:xfrm>
            <a:off x="6994525" y="525463"/>
            <a:ext cx="1450975" cy="714375"/>
            <a:chOff x="4406" y="331"/>
            <a:chExt cx="914" cy="450"/>
          </a:xfrm>
        </p:grpSpPr>
        <p:sp>
          <p:nvSpPr>
            <p:cNvPr id="65557" name="Line 37"/>
            <p:cNvSpPr>
              <a:spLocks noChangeShapeType="1"/>
            </p:cNvSpPr>
            <p:nvPr/>
          </p:nvSpPr>
          <p:spPr bwMode="auto">
            <a:xfrm flipV="1">
              <a:off x="4406" y="439"/>
              <a:ext cx="252" cy="3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58" name="Line 38"/>
            <p:cNvSpPr>
              <a:spLocks noChangeShapeType="1"/>
            </p:cNvSpPr>
            <p:nvPr/>
          </p:nvSpPr>
          <p:spPr bwMode="auto">
            <a:xfrm flipV="1">
              <a:off x="4524" y="594"/>
              <a:ext cx="137" cy="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59" name="Text Box 39"/>
            <p:cNvSpPr txBox="1">
              <a:spLocks noChangeArrowheads="1"/>
            </p:cNvSpPr>
            <p:nvPr/>
          </p:nvSpPr>
          <p:spPr bwMode="auto"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Source: A</a:t>
              </a:r>
            </a:p>
          </p:txBody>
        </p:sp>
        <p:sp>
          <p:nvSpPr>
            <p:cNvPr id="65560" name="Text Box 40"/>
            <p:cNvSpPr txBox="1">
              <a:spLocks noChangeArrowheads="1"/>
            </p:cNvSpPr>
            <p:nvPr/>
          </p:nvSpPr>
          <p:spPr bwMode="auto"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Dest: A</a:t>
              </a:r>
              <a:r>
                <a:rPr lang="ja-JP" altLang="en-US" sz="16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sz="16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420911" name="Group 47"/>
          <p:cNvGrpSpPr>
            <a:grpSpLocks/>
          </p:cNvGrpSpPr>
          <p:nvPr/>
        </p:nvGrpSpPr>
        <p:grpSpPr bwMode="auto">
          <a:xfrm>
            <a:off x="3336925" y="4937125"/>
            <a:ext cx="3017838" cy="1444625"/>
            <a:chOff x="3441" y="3154"/>
            <a:chExt cx="1901" cy="910"/>
          </a:xfrm>
        </p:grpSpPr>
        <p:sp>
          <p:nvSpPr>
            <p:cNvPr id="65552" name="Rectangle 43"/>
            <p:cNvSpPr>
              <a:spLocks noChangeArrowheads="1"/>
            </p:cNvSpPr>
            <p:nvPr/>
          </p:nvSpPr>
          <p:spPr bwMode="auto">
            <a:xfrm>
              <a:off x="3449" y="3154"/>
              <a:ext cx="1893" cy="9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5553" name="Text Box 42"/>
            <p:cNvSpPr txBox="1">
              <a:spLocks noChangeArrowheads="1"/>
            </p:cNvSpPr>
            <p:nvPr/>
          </p:nvSpPr>
          <p:spPr bwMode="auto"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MAC addr   interface    TTL</a:t>
              </a:r>
            </a:p>
          </p:txBody>
        </p:sp>
        <p:sp>
          <p:nvSpPr>
            <p:cNvPr id="65554" name="Line 44"/>
            <p:cNvSpPr>
              <a:spLocks noChangeShapeType="1"/>
            </p:cNvSpPr>
            <p:nvPr/>
          </p:nvSpPr>
          <p:spPr bwMode="auto">
            <a:xfrm>
              <a:off x="4226" y="3154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55" name="Line 45"/>
            <p:cNvSpPr>
              <a:spLocks noChangeShapeType="1"/>
            </p:cNvSpPr>
            <p:nvPr/>
          </p:nvSpPr>
          <p:spPr bwMode="auto">
            <a:xfrm>
              <a:off x="4963" y="3157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56" name="Line 46"/>
            <p:cNvSpPr>
              <a:spLocks noChangeShapeType="1"/>
            </p:cNvSpPr>
            <p:nvPr/>
          </p:nvSpPr>
          <p:spPr bwMode="auto">
            <a:xfrm>
              <a:off x="3452" y="3397"/>
              <a:ext cx="18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420912" name="Text Box 48"/>
          <p:cNvSpPr txBox="1">
            <a:spLocks noChangeArrowheads="1"/>
          </p:cNvSpPr>
          <p:nvPr/>
        </p:nvSpPr>
        <p:spPr bwMode="auto">
          <a:xfrm>
            <a:off x="6464300" y="5326063"/>
            <a:ext cx="1724025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Switch table </a:t>
            </a:r>
          </a:p>
          <a:p>
            <a:pPr algn="ctr"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(initially empty)</a:t>
            </a:r>
          </a:p>
        </p:txBody>
      </p:sp>
      <p:grpSp>
        <p:nvGrpSpPr>
          <p:cNvPr id="420917" name="Group 53"/>
          <p:cNvGrpSpPr>
            <a:grpSpLocks/>
          </p:cNvGrpSpPr>
          <p:nvPr/>
        </p:nvGrpSpPr>
        <p:grpSpPr bwMode="auto">
          <a:xfrm>
            <a:off x="3771900" y="5370513"/>
            <a:ext cx="2471738" cy="376237"/>
            <a:chOff x="2376" y="3383"/>
            <a:chExt cx="1557" cy="237"/>
          </a:xfrm>
        </p:grpSpPr>
        <p:sp>
          <p:nvSpPr>
            <p:cNvPr id="65549" name="Text Box 49"/>
            <p:cNvSpPr txBox="1">
              <a:spLocks noChangeArrowheads="1"/>
            </p:cNvSpPr>
            <p:nvPr/>
          </p:nvSpPr>
          <p:spPr bwMode="auto"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65550" name="Text Box 50"/>
            <p:cNvSpPr txBox="1">
              <a:spLocks noChangeArrowheads="1"/>
            </p:cNvSpPr>
            <p:nvPr/>
          </p:nvSpPr>
          <p:spPr bwMode="auto"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5551" name="Text Box 51"/>
            <p:cNvSpPr txBox="1">
              <a:spLocks noChangeArrowheads="1"/>
            </p:cNvSpPr>
            <p:nvPr/>
          </p:nvSpPr>
          <p:spPr bwMode="auto"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60</a:t>
              </a:r>
            </a:p>
          </p:txBody>
        </p:sp>
      </p:grpSp>
      <p:pic>
        <p:nvPicPr>
          <p:cNvPr id="166923" name="Picture 21" descr="underline_base"/>
          <p:cNvPicPr>
            <a:picLocks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898525"/>
            <a:ext cx="5027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27</a:t>
            </a:fld>
            <a:endParaRPr lang="en-US" sz="1200" dirty="0">
              <a:latin typeface="Tahoma" charset="0"/>
            </a:endParaRPr>
          </a:p>
        </p:txBody>
      </p:sp>
      <p:sp>
        <p:nvSpPr>
          <p:cNvPr id="7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836944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2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20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2.59259E-6 L -0.10694 0.11482 L -0.10694 0.24329 " pathEditMode="relative" rAng="0" ptsTypes="AAA">
                                      <p:cBhvr>
                                        <p:cTn id="24" dur="2000" fill="hold"/>
                                        <p:tgtEl>
                                          <p:spTgt spid="4209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47" y="1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20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9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Switch: frame filtering/forwarding</a:t>
            </a:r>
          </a:p>
        </p:txBody>
      </p:sp>
      <p:sp>
        <p:nvSpPr>
          <p:cNvPr id="665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0238" y="1370013"/>
            <a:ext cx="8201025" cy="5095875"/>
          </a:xfrm>
        </p:spPr>
        <p:txBody>
          <a:bodyPr>
            <a:noAutofit/>
          </a:bodyPr>
          <a:lstStyle/>
          <a:p>
            <a:pPr>
              <a:buFont typeface="Wingdings" charset="0"/>
              <a:buNone/>
              <a:defRPr/>
            </a:pPr>
            <a:r>
              <a:rPr lang="en-US" dirty="0">
                <a:latin typeface="Gill Sans MT" charset="0"/>
                <a:cs typeface="+mn-cs"/>
              </a:rPr>
              <a:t>when  frame received at switch:</a:t>
            </a:r>
            <a:br>
              <a:rPr lang="en-US" dirty="0">
                <a:latin typeface="Gill Sans MT" charset="0"/>
                <a:cs typeface="+mn-cs"/>
              </a:rPr>
            </a:br>
            <a:endParaRPr lang="en-US" dirty="0">
              <a:latin typeface="Gill Sans MT" charset="0"/>
              <a:cs typeface="+mn-cs"/>
            </a:endParaRP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1. record incoming link, MAC address of sending host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2. index switch table using MAC destination address</a:t>
            </a:r>
            <a:endParaRPr lang="en-US" b="1" dirty="0">
              <a:solidFill>
                <a:schemeClr val="accent2"/>
              </a:solidFill>
              <a:latin typeface="Gill Sans MT" charset="0"/>
            </a:endParaRPr>
          </a:p>
          <a:p>
            <a:pPr lvl="1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3. if</a:t>
            </a:r>
            <a:r>
              <a:rPr lang="en-US" b="1" dirty="0">
                <a:solidFill>
                  <a:schemeClr val="accent2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entry found for destination</a:t>
            </a:r>
            <a:br>
              <a:rPr lang="en-US" dirty="0">
                <a:latin typeface="Gill Sans MT" charset="0"/>
              </a:rPr>
            </a:br>
            <a:r>
              <a:rPr lang="en-US" dirty="0">
                <a:latin typeface="Gill Sans MT" charset="0"/>
              </a:rPr>
              <a:t>  </a:t>
            </a:r>
            <a:r>
              <a:rPr lang="en-US" dirty="0">
                <a:solidFill>
                  <a:srgbClr val="000099"/>
                </a:solidFill>
                <a:latin typeface="Gill Sans MT" charset="0"/>
              </a:rPr>
              <a:t>then {</a:t>
            </a:r>
          </a:p>
          <a:p>
            <a:pPr lvl="1">
              <a:buFont typeface="Wingdings" charset="0"/>
              <a:buNone/>
              <a:defRPr/>
            </a:pPr>
            <a:r>
              <a:rPr lang="en-US" b="1" dirty="0">
                <a:solidFill>
                  <a:srgbClr val="000099"/>
                </a:solidFill>
                <a:latin typeface="Gill Sans MT" charset="0"/>
              </a:rPr>
              <a:t>     </a:t>
            </a:r>
            <a:r>
              <a:rPr lang="en-US" dirty="0">
                <a:solidFill>
                  <a:srgbClr val="000099"/>
                </a:solidFill>
                <a:latin typeface="Gill Sans MT" charset="0"/>
              </a:rPr>
              <a:t>if</a:t>
            </a:r>
            <a:r>
              <a:rPr lang="en-US" b="1" dirty="0">
                <a:solidFill>
                  <a:schemeClr val="accent2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destination on segment from which frame arrived</a:t>
            </a:r>
            <a:br>
              <a:rPr lang="en-US" dirty="0">
                <a:latin typeface="Gill Sans MT" charset="0"/>
              </a:rPr>
            </a:br>
            <a:r>
              <a:rPr lang="en-US" dirty="0">
                <a:latin typeface="Gill Sans MT" charset="0"/>
              </a:rPr>
              <a:t>       </a:t>
            </a:r>
            <a:r>
              <a:rPr lang="en-US" dirty="0">
                <a:solidFill>
                  <a:srgbClr val="000099"/>
                </a:solidFill>
                <a:latin typeface="Gill Sans MT" charset="0"/>
              </a:rPr>
              <a:t>then</a:t>
            </a:r>
            <a:r>
              <a:rPr lang="en-US" dirty="0">
                <a:latin typeface="Gill Sans MT" charset="0"/>
              </a:rPr>
              <a:t> drop frame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           </a:t>
            </a:r>
            <a:r>
              <a:rPr lang="en-US" dirty="0">
                <a:solidFill>
                  <a:srgbClr val="000099"/>
                </a:solidFill>
                <a:latin typeface="Gill Sans MT" charset="0"/>
              </a:rPr>
              <a:t>else</a:t>
            </a:r>
            <a:r>
              <a:rPr lang="en-US" dirty="0">
                <a:latin typeface="Gill Sans MT" charset="0"/>
              </a:rPr>
              <a:t> forward frame on interface indicated by entry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     </a:t>
            </a:r>
            <a:r>
              <a:rPr lang="en-US" b="1" dirty="0">
                <a:solidFill>
                  <a:schemeClr val="accent2"/>
                </a:solidFill>
                <a:latin typeface="Gill Sans MT" charset="0"/>
              </a:rPr>
              <a:t>  </a:t>
            </a:r>
            <a:r>
              <a:rPr lang="en-US" dirty="0">
                <a:solidFill>
                  <a:srgbClr val="000099"/>
                </a:solidFill>
                <a:latin typeface="Gill Sans MT" charset="0"/>
              </a:rPr>
              <a:t>}</a:t>
            </a:r>
            <a:r>
              <a:rPr lang="en-US" b="1" dirty="0">
                <a:solidFill>
                  <a:schemeClr val="accent2"/>
                </a:solidFill>
                <a:latin typeface="Gill Sans MT" charset="0"/>
              </a:rPr>
              <a:t>   </a:t>
            </a:r>
            <a:endParaRPr lang="en-US" dirty="0">
              <a:latin typeface="Gill Sans MT" charset="0"/>
            </a:endParaRP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      </a:t>
            </a:r>
            <a:r>
              <a:rPr lang="en-US" dirty="0">
                <a:solidFill>
                  <a:srgbClr val="000099"/>
                </a:solidFill>
                <a:latin typeface="Gill Sans MT" charset="0"/>
              </a:rPr>
              <a:t>else</a:t>
            </a:r>
            <a:r>
              <a:rPr lang="en-US" dirty="0">
                <a:latin typeface="Gill Sans MT" charset="0"/>
              </a:rPr>
              <a:t> flood  /* forward on all interfaces except arriving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                          interface */</a:t>
            </a:r>
          </a:p>
          <a:p>
            <a:pPr lvl="3">
              <a:buFontTx/>
              <a:buNone/>
              <a:defRPr/>
            </a:pPr>
            <a:r>
              <a:rPr lang="en-US" sz="2400" dirty="0">
                <a:latin typeface="Times New Roman" charset="0"/>
              </a:rPr>
              <a:t>  </a:t>
            </a:r>
          </a:p>
        </p:txBody>
      </p:sp>
      <p:pic>
        <p:nvPicPr>
          <p:cNvPr id="168965" name="Picture 17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3" y="841375"/>
            <a:ext cx="6856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28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4344695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009" name="Group 36"/>
          <p:cNvGrpSpPr>
            <a:grpSpLocks/>
          </p:cNvGrpSpPr>
          <p:nvPr/>
        </p:nvGrpSpPr>
        <p:grpSpPr bwMode="auto">
          <a:xfrm>
            <a:off x="4456113" y="1216025"/>
            <a:ext cx="3660775" cy="3600450"/>
            <a:chOff x="731524" y="1819788"/>
            <a:chExt cx="3661504" cy="3600334"/>
          </a:xfrm>
        </p:grpSpPr>
        <p:sp>
          <p:nvSpPr>
            <p:cNvPr id="67650" name="Text Box 23"/>
            <p:cNvSpPr txBox="1">
              <a:spLocks noChangeArrowheads="1"/>
            </p:cNvSpPr>
            <p:nvPr/>
          </p:nvSpPr>
          <p:spPr bwMode="auto">
            <a:xfrm>
              <a:off x="2655957" y="1819788"/>
              <a:ext cx="350907" cy="366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67651" name="Text Box 24"/>
            <p:cNvSpPr txBox="1">
              <a:spLocks noChangeArrowheads="1"/>
            </p:cNvSpPr>
            <p:nvPr/>
          </p:nvSpPr>
          <p:spPr bwMode="auto">
            <a:xfrm>
              <a:off x="2371738" y="5050247"/>
              <a:ext cx="371549" cy="36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  <a:r>
                <a:rPr lang="ja-JP" altLang="en-US" i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52" name="Text Box 25"/>
            <p:cNvSpPr txBox="1">
              <a:spLocks noChangeArrowheads="1"/>
            </p:cNvSpPr>
            <p:nvPr/>
          </p:nvSpPr>
          <p:spPr bwMode="auto">
            <a:xfrm>
              <a:off x="3988134" y="2419844"/>
              <a:ext cx="338205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67653" name="Text Box 26"/>
            <p:cNvSpPr txBox="1">
              <a:spLocks noChangeArrowheads="1"/>
            </p:cNvSpPr>
            <p:nvPr/>
          </p:nvSpPr>
          <p:spPr bwMode="auto">
            <a:xfrm>
              <a:off x="995101" y="4188262"/>
              <a:ext cx="390603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  <a:r>
                <a:rPr lang="ja-JP" altLang="en-US" i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54" name="Text Box 27"/>
            <p:cNvSpPr txBox="1">
              <a:spLocks noChangeArrowheads="1"/>
            </p:cNvSpPr>
            <p:nvPr/>
          </p:nvSpPr>
          <p:spPr bwMode="auto">
            <a:xfrm>
              <a:off x="3740435" y="4188262"/>
              <a:ext cx="350908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</a:p>
          </p:txBody>
        </p:sp>
        <p:sp>
          <p:nvSpPr>
            <p:cNvPr id="67655" name="Text Box 28"/>
            <p:cNvSpPr txBox="1">
              <a:spLocks noChangeArrowheads="1"/>
            </p:cNvSpPr>
            <p:nvPr/>
          </p:nvSpPr>
          <p:spPr bwMode="auto">
            <a:xfrm>
              <a:off x="1123714" y="2465880"/>
              <a:ext cx="403305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  <a:r>
                <a:rPr lang="ja-JP" altLang="en-US" i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56" name="Line 17"/>
            <p:cNvSpPr>
              <a:spLocks noChangeShapeType="1"/>
            </p:cNvSpPr>
            <p:nvPr/>
          </p:nvSpPr>
          <p:spPr bwMode="auto">
            <a:xfrm>
              <a:off x="1687389" y="3165945"/>
              <a:ext cx="720869" cy="298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57" name="Line 18"/>
            <p:cNvSpPr>
              <a:spLocks noChangeShapeType="1"/>
            </p:cNvSpPr>
            <p:nvPr/>
          </p:nvSpPr>
          <p:spPr bwMode="auto">
            <a:xfrm>
              <a:off x="2673423" y="2872267"/>
              <a:ext cx="0" cy="5048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58" name="Line 19"/>
            <p:cNvSpPr>
              <a:spLocks noChangeShapeType="1"/>
            </p:cNvSpPr>
            <p:nvPr/>
          </p:nvSpPr>
          <p:spPr bwMode="auto">
            <a:xfrm flipH="1">
              <a:off x="2863961" y="2996088"/>
              <a:ext cx="892353" cy="484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59" name="Line 20"/>
            <p:cNvSpPr>
              <a:spLocks noChangeShapeType="1"/>
            </p:cNvSpPr>
            <p:nvPr/>
          </p:nvSpPr>
          <p:spPr bwMode="auto">
            <a:xfrm flipV="1">
              <a:off x="2673423" y="3605668"/>
              <a:ext cx="12703" cy="709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71083" name="Group 47"/>
            <p:cNvGrpSpPr>
              <a:grpSpLocks/>
            </p:cNvGrpSpPr>
            <p:nvPr/>
          </p:nvGrpSpPr>
          <p:grpSpPr bwMode="auto">
            <a:xfrm>
              <a:off x="747936" y="2733042"/>
              <a:ext cx="914403" cy="690308"/>
              <a:chOff x="1046480" y="3962400"/>
              <a:chExt cx="1026163" cy="761428"/>
            </a:xfrm>
          </p:grpSpPr>
          <p:sp>
            <p:nvSpPr>
              <p:cNvPr id="186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248" y="4299428"/>
                <a:ext cx="110312" cy="24768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71118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71119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1120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171084" name="Group 48"/>
            <p:cNvGrpSpPr>
              <a:grpSpLocks/>
            </p:cNvGrpSpPr>
            <p:nvPr/>
          </p:nvGrpSpPr>
          <p:grpSpPr bwMode="auto">
            <a:xfrm>
              <a:off x="3539588" y="2669737"/>
              <a:ext cx="853440" cy="741680"/>
              <a:chOff x="7179310" y="4033520"/>
              <a:chExt cx="1009650" cy="855028"/>
            </a:xfrm>
          </p:grpSpPr>
          <p:grpSp>
            <p:nvGrpSpPr>
              <p:cNvPr id="171113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71115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1116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83" name="Rectangle 43"/>
              <p:cNvSpPr>
                <a:spLocks noChangeArrowheads="1"/>
              </p:cNvSpPr>
              <p:nvPr/>
            </p:nvSpPr>
            <p:spPr bwMode="auto">
              <a:xfrm rot="16200000">
                <a:off x="7440190" y="4309323"/>
                <a:ext cx="126273" cy="19535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</p:grpSp>
        <p:sp>
          <p:nvSpPr>
            <p:cNvPr id="154" name="Rectangle 43"/>
            <p:cNvSpPr>
              <a:spLocks noChangeArrowheads="1"/>
            </p:cNvSpPr>
            <p:nvPr/>
          </p:nvSpPr>
          <p:spPr bwMode="auto">
            <a:xfrm>
              <a:off x="2614674" y="2705584"/>
              <a:ext cx="109559" cy="16509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grpSp>
          <p:nvGrpSpPr>
            <p:cNvPr id="171086" name="Group 44"/>
            <p:cNvGrpSpPr>
              <a:grpSpLocks/>
            </p:cNvGrpSpPr>
            <p:nvPr/>
          </p:nvGrpSpPr>
          <p:grpSpPr bwMode="auto">
            <a:xfrm>
              <a:off x="2233637" y="2138292"/>
              <a:ext cx="853440" cy="741680"/>
              <a:chOff x="-44" y="1473"/>
              <a:chExt cx="981" cy="1105"/>
            </a:xfrm>
          </p:grpSpPr>
          <p:pic>
            <p:nvPicPr>
              <p:cNvPr id="171111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1112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1087" name="Group 51"/>
            <p:cNvGrpSpPr>
              <a:grpSpLocks/>
            </p:cNvGrpSpPr>
            <p:nvPr/>
          </p:nvGrpSpPr>
          <p:grpSpPr bwMode="auto">
            <a:xfrm>
              <a:off x="2060917" y="4279843"/>
              <a:ext cx="853440" cy="835329"/>
              <a:chOff x="8077200" y="3320111"/>
              <a:chExt cx="853440" cy="835329"/>
            </a:xfrm>
          </p:grpSpPr>
          <p:sp>
            <p:nvSpPr>
              <p:cNvPr id="176" name="Rectangle 43"/>
              <p:cNvSpPr>
                <a:spLocks noChangeArrowheads="1"/>
              </p:cNvSpPr>
              <p:nvPr/>
            </p:nvSpPr>
            <p:spPr bwMode="auto">
              <a:xfrm>
                <a:off x="8630957" y="3320602"/>
                <a:ext cx="111147" cy="165095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71108" name="Group 44"/>
              <p:cNvGrpSpPr>
                <a:grpSpLocks/>
              </p:cNvGrpSpPr>
              <p:nvPr/>
            </p:nvGrpSpPr>
            <p:grpSpPr bwMode="auto">
              <a:xfrm>
                <a:off x="8077200" y="3413760"/>
                <a:ext cx="853440" cy="741680"/>
                <a:chOff x="-44" y="1473"/>
                <a:chExt cx="981" cy="1105"/>
              </a:xfrm>
            </p:grpSpPr>
            <p:pic>
              <p:nvPicPr>
                <p:cNvPr id="171109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1110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pic>
          <p:nvPicPr>
            <p:cNvPr id="67665" name="Picture 3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4913" y="3316753"/>
              <a:ext cx="603370" cy="3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grpSp>
          <p:nvGrpSpPr>
            <p:cNvPr id="171089" name="Group 53"/>
            <p:cNvGrpSpPr>
              <a:grpSpLocks/>
            </p:cNvGrpSpPr>
            <p:nvPr/>
          </p:nvGrpSpPr>
          <p:grpSpPr bwMode="auto">
            <a:xfrm>
              <a:off x="731524" y="3616962"/>
              <a:ext cx="914403" cy="690308"/>
              <a:chOff x="1046480" y="3962400"/>
              <a:chExt cx="1026163" cy="761428"/>
            </a:xfrm>
          </p:grpSpPr>
          <p:sp>
            <p:nvSpPr>
              <p:cNvPr id="172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846" y="4299747"/>
                <a:ext cx="110313" cy="24768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71104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71105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1106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171090" name="Group 54"/>
            <p:cNvGrpSpPr>
              <a:grpSpLocks/>
            </p:cNvGrpSpPr>
            <p:nvPr/>
          </p:nvGrpSpPr>
          <p:grpSpPr bwMode="auto">
            <a:xfrm>
              <a:off x="3410634" y="3567725"/>
              <a:ext cx="853440" cy="741680"/>
              <a:chOff x="7179310" y="4033520"/>
              <a:chExt cx="1009650" cy="855028"/>
            </a:xfrm>
          </p:grpSpPr>
          <p:grpSp>
            <p:nvGrpSpPr>
              <p:cNvPr id="171099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71101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1102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69" name="Rectangle 43"/>
              <p:cNvSpPr>
                <a:spLocks noChangeArrowheads="1"/>
              </p:cNvSpPr>
              <p:nvPr/>
            </p:nvSpPr>
            <p:spPr bwMode="auto">
              <a:xfrm rot="16200000">
                <a:off x="7438739" y="4308053"/>
                <a:ext cx="128104" cy="197237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</p:grpSp>
        <p:sp>
          <p:nvSpPr>
            <p:cNvPr id="67668" name="Line 17"/>
            <p:cNvSpPr>
              <a:spLocks noChangeShapeType="1"/>
            </p:cNvSpPr>
            <p:nvPr/>
          </p:nvSpPr>
          <p:spPr bwMode="auto">
            <a:xfrm flipV="1">
              <a:off x="1660396" y="3600906"/>
              <a:ext cx="744686" cy="4508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69" name="Line 19"/>
            <p:cNvSpPr>
              <a:spLocks noChangeShapeType="1"/>
            </p:cNvSpPr>
            <p:nvPr/>
          </p:nvSpPr>
          <p:spPr bwMode="auto">
            <a:xfrm flipH="1" flipV="1">
              <a:off x="2968756" y="3545345"/>
              <a:ext cx="646242" cy="338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70" name="Text Box 35"/>
            <p:cNvSpPr txBox="1">
              <a:spLocks noChangeArrowheads="1"/>
            </p:cNvSpPr>
            <p:nvPr/>
          </p:nvSpPr>
          <p:spPr bwMode="auto">
            <a:xfrm>
              <a:off x="2401907" y="3026249"/>
              <a:ext cx="312799" cy="3698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7671" name="Text Box 36"/>
            <p:cNvSpPr txBox="1">
              <a:spLocks noChangeArrowheads="1"/>
            </p:cNvSpPr>
            <p:nvPr/>
          </p:nvSpPr>
          <p:spPr bwMode="auto">
            <a:xfrm>
              <a:off x="2903656" y="3051648"/>
              <a:ext cx="323914" cy="366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67672" name="Text Box 37"/>
            <p:cNvSpPr txBox="1">
              <a:spLocks noChangeArrowheads="1"/>
            </p:cNvSpPr>
            <p:nvPr/>
          </p:nvSpPr>
          <p:spPr bwMode="auto">
            <a:xfrm>
              <a:off x="3125951" y="3710440"/>
              <a:ext cx="322326" cy="366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3</a:t>
              </a:r>
            </a:p>
          </p:txBody>
        </p:sp>
        <p:sp>
          <p:nvSpPr>
            <p:cNvPr id="67673" name="Text Box 38"/>
            <p:cNvSpPr txBox="1">
              <a:spLocks noChangeArrowheads="1"/>
            </p:cNvSpPr>
            <p:nvPr/>
          </p:nvSpPr>
          <p:spPr bwMode="auto">
            <a:xfrm>
              <a:off x="2640079" y="3654879"/>
              <a:ext cx="323914" cy="366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67674" name="Text Box 39"/>
            <p:cNvSpPr txBox="1">
              <a:spLocks noChangeArrowheads="1"/>
            </p:cNvSpPr>
            <p:nvPr/>
          </p:nvSpPr>
          <p:spPr bwMode="auto">
            <a:xfrm>
              <a:off x="2070052" y="3704090"/>
              <a:ext cx="323914" cy="366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5</a:t>
              </a:r>
            </a:p>
          </p:txBody>
        </p:sp>
        <p:sp>
          <p:nvSpPr>
            <p:cNvPr id="67675" name="Text Box 40"/>
            <p:cNvSpPr txBox="1">
              <a:spLocks noChangeArrowheads="1"/>
            </p:cNvSpPr>
            <p:nvPr/>
          </p:nvSpPr>
          <p:spPr bwMode="auto">
            <a:xfrm>
              <a:off x="2039884" y="3080222"/>
              <a:ext cx="319151" cy="3698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6</a:t>
              </a:r>
            </a:p>
          </p:txBody>
        </p:sp>
      </p:grpSp>
      <p:sp>
        <p:nvSpPr>
          <p:cNvPr id="67589" name="Rectangle 2"/>
          <p:cNvSpPr>
            <a:spLocks noGrp="1" noChangeArrowheads="1"/>
          </p:cNvSpPr>
          <p:nvPr>
            <p:ph type="title"/>
          </p:nvPr>
        </p:nvSpPr>
        <p:spPr>
          <a:xfrm>
            <a:off x="187325" y="141288"/>
            <a:ext cx="7508875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Self-learning, forwarding: example</a:t>
            </a:r>
          </a:p>
        </p:txBody>
      </p:sp>
      <p:grpSp>
        <p:nvGrpSpPr>
          <p:cNvPr id="685088" name="Group 32"/>
          <p:cNvGrpSpPr>
            <a:grpSpLocks/>
          </p:cNvGrpSpPr>
          <p:nvPr/>
        </p:nvGrpSpPr>
        <p:grpSpPr bwMode="auto">
          <a:xfrm>
            <a:off x="6778625" y="1223963"/>
            <a:ext cx="1428750" cy="369887"/>
            <a:chOff x="1750" y="3514"/>
            <a:chExt cx="900" cy="233"/>
          </a:xfrm>
        </p:grpSpPr>
        <p:sp>
          <p:nvSpPr>
            <p:cNvPr id="67646" name="Rectangle 33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47" name="Text Box 34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48" name="Line 35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49" name="Line 36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685093" name="Group 37"/>
          <p:cNvGrpSpPr>
            <a:grpSpLocks/>
          </p:cNvGrpSpPr>
          <p:nvPr/>
        </p:nvGrpSpPr>
        <p:grpSpPr bwMode="auto">
          <a:xfrm>
            <a:off x="6994525" y="525463"/>
            <a:ext cx="1450975" cy="714375"/>
            <a:chOff x="4406" y="331"/>
            <a:chExt cx="914" cy="450"/>
          </a:xfrm>
        </p:grpSpPr>
        <p:sp>
          <p:nvSpPr>
            <p:cNvPr id="67642" name="Line 38"/>
            <p:cNvSpPr>
              <a:spLocks noChangeShapeType="1"/>
            </p:cNvSpPr>
            <p:nvPr/>
          </p:nvSpPr>
          <p:spPr bwMode="auto">
            <a:xfrm flipV="1">
              <a:off x="4406" y="439"/>
              <a:ext cx="252" cy="3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43" name="Line 39"/>
            <p:cNvSpPr>
              <a:spLocks noChangeShapeType="1"/>
            </p:cNvSpPr>
            <p:nvPr/>
          </p:nvSpPr>
          <p:spPr bwMode="auto">
            <a:xfrm flipV="1">
              <a:off x="4524" y="594"/>
              <a:ext cx="137" cy="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44" name="Text Box 40"/>
            <p:cNvSpPr txBox="1">
              <a:spLocks noChangeArrowheads="1"/>
            </p:cNvSpPr>
            <p:nvPr/>
          </p:nvSpPr>
          <p:spPr bwMode="auto"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Source: A</a:t>
              </a:r>
            </a:p>
          </p:txBody>
        </p:sp>
        <p:sp>
          <p:nvSpPr>
            <p:cNvPr id="67645" name="Text Box 41"/>
            <p:cNvSpPr txBox="1">
              <a:spLocks noChangeArrowheads="1"/>
            </p:cNvSpPr>
            <p:nvPr/>
          </p:nvSpPr>
          <p:spPr bwMode="auto"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Dest: A</a:t>
              </a:r>
              <a:r>
                <a:rPr lang="ja-JP" altLang="en-US" sz="16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sz="16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685098" name="Group 42"/>
          <p:cNvGrpSpPr>
            <a:grpSpLocks/>
          </p:cNvGrpSpPr>
          <p:nvPr/>
        </p:nvGrpSpPr>
        <p:grpSpPr bwMode="auto">
          <a:xfrm>
            <a:off x="3336925" y="4937125"/>
            <a:ext cx="3017838" cy="1444625"/>
            <a:chOff x="3441" y="3154"/>
            <a:chExt cx="1901" cy="910"/>
          </a:xfrm>
        </p:grpSpPr>
        <p:sp>
          <p:nvSpPr>
            <p:cNvPr id="67637" name="Rectangle 43"/>
            <p:cNvSpPr>
              <a:spLocks noChangeArrowheads="1"/>
            </p:cNvSpPr>
            <p:nvPr/>
          </p:nvSpPr>
          <p:spPr bwMode="auto">
            <a:xfrm>
              <a:off x="3449" y="3154"/>
              <a:ext cx="1893" cy="9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38" name="Text Box 44"/>
            <p:cNvSpPr txBox="1">
              <a:spLocks noChangeArrowheads="1"/>
            </p:cNvSpPr>
            <p:nvPr/>
          </p:nvSpPr>
          <p:spPr bwMode="auto"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MAC addr   interface    TTL</a:t>
              </a:r>
            </a:p>
          </p:txBody>
        </p:sp>
        <p:sp>
          <p:nvSpPr>
            <p:cNvPr id="67639" name="Line 45"/>
            <p:cNvSpPr>
              <a:spLocks noChangeShapeType="1"/>
            </p:cNvSpPr>
            <p:nvPr/>
          </p:nvSpPr>
          <p:spPr bwMode="auto">
            <a:xfrm>
              <a:off x="4226" y="3154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40" name="Line 46"/>
            <p:cNvSpPr>
              <a:spLocks noChangeShapeType="1"/>
            </p:cNvSpPr>
            <p:nvPr/>
          </p:nvSpPr>
          <p:spPr bwMode="auto">
            <a:xfrm>
              <a:off x="4963" y="3157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41" name="Line 47"/>
            <p:cNvSpPr>
              <a:spLocks noChangeShapeType="1"/>
            </p:cNvSpPr>
            <p:nvPr/>
          </p:nvSpPr>
          <p:spPr bwMode="auto">
            <a:xfrm>
              <a:off x="3452" y="3397"/>
              <a:ext cx="18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685104" name="Text Box 48"/>
          <p:cNvSpPr txBox="1">
            <a:spLocks noChangeArrowheads="1"/>
          </p:cNvSpPr>
          <p:nvPr/>
        </p:nvSpPr>
        <p:spPr bwMode="auto">
          <a:xfrm>
            <a:off x="6437313" y="5326063"/>
            <a:ext cx="1778000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switch table </a:t>
            </a:r>
          </a:p>
          <a:p>
            <a:pPr algn="ctr"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(initially empty)</a:t>
            </a:r>
          </a:p>
        </p:txBody>
      </p:sp>
      <p:grpSp>
        <p:nvGrpSpPr>
          <p:cNvPr id="685105" name="Group 49"/>
          <p:cNvGrpSpPr>
            <a:grpSpLocks/>
          </p:cNvGrpSpPr>
          <p:nvPr/>
        </p:nvGrpSpPr>
        <p:grpSpPr bwMode="auto">
          <a:xfrm>
            <a:off x="3771900" y="5370513"/>
            <a:ext cx="2471738" cy="376237"/>
            <a:chOff x="2376" y="3383"/>
            <a:chExt cx="1557" cy="237"/>
          </a:xfrm>
        </p:grpSpPr>
        <p:sp>
          <p:nvSpPr>
            <p:cNvPr id="67634" name="Text Box 50"/>
            <p:cNvSpPr txBox="1">
              <a:spLocks noChangeArrowheads="1"/>
            </p:cNvSpPr>
            <p:nvPr/>
          </p:nvSpPr>
          <p:spPr bwMode="auto"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67635" name="Text Box 51"/>
            <p:cNvSpPr txBox="1">
              <a:spLocks noChangeArrowheads="1"/>
            </p:cNvSpPr>
            <p:nvPr/>
          </p:nvSpPr>
          <p:spPr bwMode="auto"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7636" name="Text Box 52"/>
            <p:cNvSpPr txBox="1">
              <a:spLocks noChangeArrowheads="1"/>
            </p:cNvSpPr>
            <p:nvPr/>
          </p:nvSpPr>
          <p:spPr bwMode="auto"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60</a:t>
              </a:r>
            </a:p>
          </p:txBody>
        </p:sp>
      </p:grpSp>
      <p:grpSp>
        <p:nvGrpSpPr>
          <p:cNvPr id="685115" name="Group 59"/>
          <p:cNvGrpSpPr>
            <a:grpSpLocks/>
          </p:cNvGrpSpPr>
          <p:nvPr/>
        </p:nvGrpSpPr>
        <p:grpSpPr bwMode="auto">
          <a:xfrm>
            <a:off x="5799138" y="2881313"/>
            <a:ext cx="1428750" cy="369887"/>
            <a:chOff x="1750" y="3514"/>
            <a:chExt cx="900" cy="233"/>
          </a:xfrm>
        </p:grpSpPr>
        <p:sp>
          <p:nvSpPr>
            <p:cNvPr id="67630" name="Rectangle 60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31" name="Text Box 61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32" name="Line 62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33" name="Line 63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685120" name="Group 64"/>
          <p:cNvGrpSpPr>
            <a:grpSpLocks/>
          </p:cNvGrpSpPr>
          <p:nvPr/>
        </p:nvGrpSpPr>
        <p:grpSpPr bwMode="auto">
          <a:xfrm>
            <a:off x="5799138" y="2879725"/>
            <a:ext cx="1428750" cy="369888"/>
            <a:chOff x="1750" y="3514"/>
            <a:chExt cx="900" cy="233"/>
          </a:xfrm>
        </p:grpSpPr>
        <p:sp>
          <p:nvSpPr>
            <p:cNvPr id="67626" name="Rectangle 65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27" name="Text Box 66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28" name="Line 67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29" name="Line 68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685125" name="Group 69"/>
          <p:cNvGrpSpPr>
            <a:grpSpLocks/>
          </p:cNvGrpSpPr>
          <p:nvPr/>
        </p:nvGrpSpPr>
        <p:grpSpPr bwMode="auto">
          <a:xfrm>
            <a:off x="5799138" y="2882900"/>
            <a:ext cx="1428750" cy="369888"/>
            <a:chOff x="1750" y="3514"/>
            <a:chExt cx="900" cy="233"/>
          </a:xfrm>
        </p:grpSpPr>
        <p:sp>
          <p:nvSpPr>
            <p:cNvPr id="67622" name="Rectangle 70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23" name="Text Box 71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24" name="Line 72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25" name="Line 73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685130" name="Group 74"/>
          <p:cNvGrpSpPr>
            <a:grpSpLocks/>
          </p:cNvGrpSpPr>
          <p:nvPr/>
        </p:nvGrpSpPr>
        <p:grpSpPr bwMode="auto">
          <a:xfrm>
            <a:off x="5799138" y="2882900"/>
            <a:ext cx="1428750" cy="369888"/>
            <a:chOff x="1750" y="3514"/>
            <a:chExt cx="900" cy="233"/>
          </a:xfrm>
        </p:grpSpPr>
        <p:sp>
          <p:nvSpPr>
            <p:cNvPr id="67618" name="Rectangle 75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19" name="Text Box 76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20" name="Line 77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21" name="Line 78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685135" name="Group 79"/>
          <p:cNvGrpSpPr>
            <a:grpSpLocks/>
          </p:cNvGrpSpPr>
          <p:nvPr/>
        </p:nvGrpSpPr>
        <p:grpSpPr bwMode="auto">
          <a:xfrm>
            <a:off x="5795963" y="2879725"/>
            <a:ext cx="1428750" cy="369888"/>
            <a:chOff x="1750" y="3514"/>
            <a:chExt cx="900" cy="233"/>
          </a:xfrm>
        </p:grpSpPr>
        <p:sp>
          <p:nvSpPr>
            <p:cNvPr id="67614" name="Rectangle 80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15" name="Text Box 81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16" name="Line 82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17" name="Line 83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685140" name="Rectangle 84"/>
          <p:cNvSpPr>
            <a:spLocks noGrp="1" noChangeArrowheads="1"/>
          </p:cNvSpPr>
          <p:nvPr>
            <p:ph type="body" idx="1"/>
          </p:nvPr>
        </p:nvSpPr>
        <p:spPr>
          <a:xfrm>
            <a:off x="285750" y="1508125"/>
            <a:ext cx="4044950" cy="944563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frame destination, A’, location unknown:</a:t>
            </a:r>
            <a:endParaRPr lang="en-US" i="1" dirty="0">
              <a:latin typeface="Gill Sans MT" charset="0"/>
              <a:cs typeface="+mn-cs"/>
            </a:endParaRPr>
          </a:p>
        </p:txBody>
      </p:sp>
      <p:sp>
        <p:nvSpPr>
          <p:cNvPr id="685142" name="Text Box 86"/>
          <p:cNvSpPr txBox="1">
            <a:spLocks noChangeArrowheads="1"/>
          </p:cNvSpPr>
          <p:nvPr/>
        </p:nvSpPr>
        <p:spPr bwMode="auto">
          <a:xfrm>
            <a:off x="3349625" y="1847850"/>
            <a:ext cx="83820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800" dirty="0">
                <a:solidFill>
                  <a:srgbClr val="CC0000"/>
                </a:solidFill>
                <a:latin typeface="Gill Sans MT" charset="0"/>
                <a:cs typeface="+mn-cs"/>
              </a:rPr>
              <a:t>flood</a:t>
            </a:r>
          </a:p>
        </p:txBody>
      </p:sp>
      <p:grpSp>
        <p:nvGrpSpPr>
          <p:cNvPr id="685148" name="Group 92"/>
          <p:cNvGrpSpPr>
            <a:grpSpLocks/>
          </p:cNvGrpSpPr>
          <p:nvPr/>
        </p:nvGrpSpPr>
        <p:grpSpPr bwMode="auto">
          <a:xfrm>
            <a:off x="6130925" y="3981450"/>
            <a:ext cx="1428750" cy="369888"/>
            <a:chOff x="730" y="2472"/>
            <a:chExt cx="900" cy="233"/>
          </a:xfrm>
        </p:grpSpPr>
        <p:sp>
          <p:nvSpPr>
            <p:cNvPr id="67610" name="Rectangle 88"/>
            <p:cNvSpPr>
              <a:spLocks noChangeArrowheads="1"/>
            </p:cNvSpPr>
            <p:nvPr/>
          </p:nvSpPr>
          <p:spPr bwMode="auto">
            <a:xfrm>
              <a:off x="751" y="2500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11" name="Text Box 89"/>
            <p:cNvSpPr txBox="1">
              <a:spLocks noChangeArrowheads="1"/>
            </p:cNvSpPr>
            <p:nvPr/>
          </p:nvSpPr>
          <p:spPr bwMode="auto">
            <a:xfrm>
              <a:off x="730" y="2472"/>
              <a:ext cx="35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 A</a:t>
              </a:r>
            </a:p>
          </p:txBody>
        </p:sp>
        <p:sp>
          <p:nvSpPr>
            <p:cNvPr id="67612" name="Line 90"/>
            <p:cNvSpPr>
              <a:spLocks noChangeShapeType="1"/>
            </p:cNvSpPr>
            <p:nvPr/>
          </p:nvSpPr>
          <p:spPr bwMode="auto">
            <a:xfrm>
              <a:off x="937" y="2493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13" name="Line 91"/>
            <p:cNvSpPr>
              <a:spLocks noChangeShapeType="1"/>
            </p:cNvSpPr>
            <p:nvPr/>
          </p:nvSpPr>
          <p:spPr bwMode="auto">
            <a:xfrm>
              <a:off x="1096" y="2498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685149" name="Rectangle 93"/>
          <p:cNvSpPr>
            <a:spLocks noChangeArrowheads="1"/>
          </p:cNvSpPr>
          <p:nvPr/>
        </p:nvSpPr>
        <p:spPr bwMode="auto">
          <a:xfrm>
            <a:off x="300038" y="2425700"/>
            <a:ext cx="4044950" cy="94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79400" indent="-279400"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i="0" dirty="0">
                <a:solidFill>
                  <a:srgbClr val="000000"/>
                </a:solidFill>
                <a:latin typeface="Gill Sans MT" charset="0"/>
                <a:cs typeface="+mn-cs"/>
              </a:rPr>
              <a:t>destination A location known:</a:t>
            </a:r>
            <a:endParaRPr lang="en-US" sz="2800" dirty="0">
              <a:solidFill>
                <a:srgbClr val="FF0000"/>
              </a:solidFill>
              <a:latin typeface="Gill Sans MT" charset="0"/>
              <a:cs typeface="+mn-cs"/>
            </a:endParaRPr>
          </a:p>
        </p:txBody>
      </p:sp>
      <p:grpSp>
        <p:nvGrpSpPr>
          <p:cNvPr id="685150" name="Group 94"/>
          <p:cNvGrpSpPr>
            <a:grpSpLocks/>
          </p:cNvGrpSpPr>
          <p:nvPr/>
        </p:nvGrpSpPr>
        <p:grpSpPr bwMode="auto">
          <a:xfrm>
            <a:off x="3768725" y="5656263"/>
            <a:ext cx="2471738" cy="374650"/>
            <a:chOff x="2376" y="3383"/>
            <a:chExt cx="1557" cy="236"/>
          </a:xfrm>
        </p:grpSpPr>
        <p:sp>
          <p:nvSpPr>
            <p:cNvPr id="67607" name="Text Box 95"/>
            <p:cNvSpPr txBox="1">
              <a:spLocks noChangeArrowheads="1"/>
            </p:cNvSpPr>
            <p:nvPr/>
          </p:nvSpPr>
          <p:spPr bwMode="auto">
            <a:xfrm>
              <a:off x="2376" y="3388"/>
              <a:ext cx="24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  <a:r>
                <a:rPr lang="ja-JP" altLang="en-US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08" name="Text Box 96"/>
            <p:cNvSpPr txBox="1">
              <a:spLocks noChangeArrowheads="1"/>
            </p:cNvSpPr>
            <p:nvPr/>
          </p:nvSpPr>
          <p:spPr bwMode="auto">
            <a:xfrm>
              <a:off x="3133" y="3387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67609" name="Text Box 97"/>
            <p:cNvSpPr txBox="1">
              <a:spLocks noChangeArrowheads="1"/>
            </p:cNvSpPr>
            <p:nvPr/>
          </p:nvSpPr>
          <p:spPr bwMode="auto"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60</a:t>
              </a:r>
            </a:p>
          </p:txBody>
        </p:sp>
      </p:grpSp>
      <p:sp>
        <p:nvSpPr>
          <p:cNvPr id="685154" name="Rectangle 98"/>
          <p:cNvSpPr>
            <a:spLocks noChangeArrowheads="1"/>
          </p:cNvSpPr>
          <p:nvPr/>
        </p:nvSpPr>
        <p:spPr bwMode="auto">
          <a:xfrm>
            <a:off x="619121" y="2884488"/>
            <a:ext cx="3729037" cy="531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ts val="3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en-US" sz="2800" dirty="0">
                <a:solidFill>
                  <a:srgbClr val="CC0000"/>
                </a:solidFill>
                <a:latin typeface="Gill Sans MT" charset="0"/>
                <a:cs typeface="+mn-cs"/>
              </a:rPr>
              <a:t>            selectively send </a:t>
            </a:r>
          </a:p>
          <a:p>
            <a:pPr marL="342900" indent="-342900">
              <a:lnSpc>
                <a:spcPts val="3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en-US" sz="2800" dirty="0">
                <a:solidFill>
                  <a:srgbClr val="CC0000"/>
                </a:solidFill>
                <a:latin typeface="Gill Sans MT" charset="0"/>
                <a:cs typeface="+mn-cs"/>
              </a:rPr>
              <a:t>on just one link</a:t>
            </a:r>
          </a:p>
        </p:txBody>
      </p:sp>
      <p:pic>
        <p:nvPicPr>
          <p:cNvPr id="171029" name="Picture 18" descr="underline_base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919955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29</a:t>
            </a:fld>
            <a:endParaRPr lang="en-US" sz="1200" dirty="0">
              <a:latin typeface="Tahoma" charset="0"/>
            </a:endParaRPr>
          </a:p>
        </p:txBody>
      </p:sp>
      <p:sp>
        <p:nvSpPr>
          <p:cNvPr id="11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964362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5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85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85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2.59259E-6 L -0.10694 0.11482 L -0.10694 0.24329 " pathEditMode="relative" rAng="0" ptsTypes="AAA">
                                      <p:cBhvr>
                                        <p:cTn id="24" dur="2000" fill="hold"/>
                                        <p:tgtEl>
                                          <p:spTgt spid="6850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47" y="1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85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6.2963E-6 L -0.12118 -0.09814 " pathEditMode="relative" ptsTypes="AA">
                                      <p:cBhvr>
                                        <p:cTn id="42" dur="2000" fill="hold"/>
                                        <p:tgtEl>
                                          <p:spTgt spid="685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7.40741E-7 L -0.09532 0.14352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685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74" y="7176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7.40741E-7 L 0.03489 0.15509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685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6" y="7755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7.40741E-7 L 0.16163 0.06667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685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73" y="3333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7037E-6 L 0.11545 -0.10231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68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64" y="-5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68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9 -0.00509 L -0.03767 -0.17014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685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3" y="-8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8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685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611 -0.1588 L -0.03472 -0.32871 " pathEditMode="relative" ptsTypes="AA">
                                      <p:cBhvr>
                                        <p:cTn id="95" dur="2000" fill="hold"/>
                                        <p:tgtEl>
                                          <p:spTgt spid="685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5104" grpId="0"/>
      <p:bldP spid="685140" grpId="0" build="p"/>
      <p:bldP spid="685142" grpId="0"/>
      <p:bldP spid="685149" grpId="0" build="p"/>
      <p:bldP spid="685154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Rectangle 5"/>
          <p:cNvSpPr>
            <a:spLocks noGrp="1" noChangeArrowheads="1"/>
          </p:cNvSpPr>
          <p:nvPr>
            <p:ph type="title"/>
          </p:nvPr>
        </p:nvSpPr>
        <p:spPr>
          <a:xfrm>
            <a:off x="5461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Interconnecting switches</a:t>
            </a:r>
          </a:p>
        </p:txBody>
      </p:sp>
      <p:sp>
        <p:nvSpPr>
          <p:cNvPr id="68613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98500" y="1320800"/>
            <a:ext cx="7881938" cy="68262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dirty="0">
                <a:latin typeface="Gill Sans MT" charset="0"/>
                <a:cs typeface="+mn-cs"/>
              </a:rPr>
              <a:t>self-learning switches can be connected together:</a:t>
            </a:r>
          </a:p>
        </p:txBody>
      </p:sp>
      <p:sp>
        <p:nvSpPr>
          <p:cNvPr id="681030" name="Rectangle 70"/>
          <p:cNvSpPr>
            <a:spLocks noChangeArrowheads="1"/>
          </p:cNvSpPr>
          <p:nvPr/>
        </p:nvSpPr>
        <p:spPr bwMode="auto">
          <a:xfrm>
            <a:off x="690563" y="4535488"/>
            <a:ext cx="7881937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r>
              <a:rPr lang="en-US" sz="2800" i="1" u="sng" dirty="0">
                <a:solidFill>
                  <a:srgbClr val="CC0000"/>
                </a:solidFill>
                <a:latin typeface="Gill Sans MT" charset="0"/>
                <a:cs typeface="+mn-cs"/>
              </a:rPr>
              <a:t>Q:</a:t>
            </a:r>
            <a:r>
              <a:rPr lang="en-US" sz="2800" i="1" dirty="0">
                <a:solidFill>
                  <a:srgbClr val="000000"/>
                </a:solidFill>
                <a:latin typeface="Gill Sans MT" charset="0"/>
                <a:cs typeface="+mn-cs"/>
              </a:rPr>
              <a:t> </a:t>
            </a:r>
            <a:r>
              <a:rPr lang="en-US" sz="2800" i="0" dirty="0">
                <a:solidFill>
                  <a:srgbClr val="000000"/>
                </a:solidFill>
                <a:latin typeface="Gill Sans MT" charset="0"/>
                <a:cs typeface="+mn-cs"/>
              </a:rPr>
              <a:t>sending from A to G - how does S</a:t>
            </a:r>
            <a:r>
              <a:rPr lang="en-US" sz="2800" i="0" baseline="-25000" dirty="0">
                <a:solidFill>
                  <a:srgbClr val="000000"/>
                </a:solidFill>
                <a:latin typeface="Gill Sans MT" charset="0"/>
                <a:cs typeface="+mn-cs"/>
              </a:rPr>
              <a:t>1</a:t>
            </a:r>
            <a:r>
              <a:rPr lang="en-US" sz="2800" i="0" dirty="0">
                <a:solidFill>
                  <a:srgbClr val="000000"/>
                </a:solidFill>
                <a:latin typeface="Gill Sans MT" charset="0"/>
                <a:cs typeface="+mn-cs"/>
              </a:rPr>
              <a:t> know to forward frame destined to G via S</a:t>
            </a:r>
            <a:r>
              <a:rPr lang="en-US" sz="2800" i="0" baseline="-25000" dirty="0">
                <a:solidFill>
                  <a:srgbClr val="000000"/>
                </a:solidFill>
                <a:latin typeface="Gill Sans MT" charset="0"/>
                <a:cs typeface="+mn-cs"/>
              </a:rPr>
              <a:t>4</a:t>
            </a:r>
            <a:r>
              <a:rPr lang="en-US" sz="2800" i="0" dirty="0">
                <a:solidFill>
                  <a:srgbClr val="000000"/>
                </a:solidFill>
                <a:latin typeface="Gill Sans MT" charset="0"/>
                <a:cs typeface="+mn-cs"/>
              </a:rPr>
              <a:t> and S</a:t>
            </a:r>
            <a:r>
              <a:rPr lang="en-US" sz="2800" i="0" baseline="-25000" dirty="0">
                <a:solidFill>
                  <a:srgbClr val="000000"/>
                </a:solidFill>
                <a:latin typeface="Gill Sans MT" charset="0"/>
                <a:cs typeface="+mn-cs"/>
              </a:rPr>
              <a:t>3</a:t>
            </a:r>
            <a:r>
              <a:rPr lang="en-US" sz="2800" i="0" dirty="0">
                <a:solidFill>
                  <a:srgbClr val="000000"/>
                </a:solidFill>
                <a:latin typeface="Gill Sans MT" charset="0"/>
                <a:cs typeface="+mn-cs"/>
              </a:rPr>
              <a:t>?</a:t>
            </a:r>
          </a:p>
          <a:p>
            <a:pPr marL="457200" indent="-2873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i="1" u="sng" dirty="0">
                <a:solidFill>
                  <a:srgbClr val="CC0000"/>
                </a:solidFill>
                <a:latin typeface="Gill Sans MT" charset="0"/>
                <a:cs typeface="+mn-cs"/>
              </a:rPr>
              <a:t>A:</a:t>
            </a:r>
            <a:r>
              <a:rPr lang="en-US" sz="2800" i="1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sz="2800" i="0" dirty="0">
                <a:solidFill>
                  <a:srgbClr val="000000"/>
                </a:solidFill>
                <a:latin typeface="Gill Sans MT" charset="0"/>
                <a:cs typeface="+mn-cs"/>
              </a:rPr>
              <a:t>self learning! (works </a:t>
            </a:r>
            <a:r>
              <a:rPr lang="en-US" sz="2800" dirty="0">
                <a:solidFill>
                  <a:srgbClr val="000000"/>
                </a:solidFill>
                <a:latin typeface="Gill Sans MT" charset="0"/>
                <a:cs typeface="+mn-cs"/>
              </a:rPr>
              <a:t>exactly</a:t>
            </a:r>
            <a:r>
              <a:rPr lang="en-US" sz="2800" i="0" dirty="0">
                <a:solidFill>
                  <a:srgbClr val="000000"/>
                </a:solidFill>
                <a:latin typeface="Gill Sans MT" charset="0"/>
                <a:cs typeface="+mn-cs"/>
              </a:rPr>
              <a:t> the same as in single-switch case!)</a:t>
            </a:r>
          </a:p>
        </p:txBody>
      </p:sp>
      <p:grpSp>
        <p:nvGrpSpPr>
          <p:cNvPr id="173062" name="Group 1"/>
          <p:cNvGrpSpPr>
            <a:grpSpLocks/>
          </p:cNvGrpSpPr>
          <p:nvPr/>
        </p:nvGrpSpPr>
        <p:grpSpPr bwMode="auto">
          <a:xfrm>
            <a:off x="958850" y="2444750"/>
            <a:ext cx="2047875" cy="1358900"/>
            <a:chOff x="958850" y="2444750"/>
            <a:chExt cx="2048416" cy="1358710"/>
          </a:xfrm>
        </p:grpSpPr>
        <p:sp>
          <p:nvSpPr>
            <p:cNvPr id="68657" name="Line 20"/>
            <p:cNvSpPr>
              <a:spLocks noChangeShapeType="1"/>
            </p:cNvSpPr>
            <p:nvPr/>
          </p:nvSpPr>
          <p:spPr bwMode="auto">
            <a:xfrm flipH="1">
              <a:off x="1582903" y="3030456"/>
              <a:ext cx="5557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58" name="Line 21"/>
            <p:cNvSpPr>
              <a:spLocks noChangeShapeType="1"/>
            </p:cNvSpPr>
            <p:nvPr/>
          </p:nvSpPr>
          <p:spPr bwMode="auto">
            <a:xfrm flipH="1">
              <a:off x="1970355" y="3078074"/>
              <a:ext cx="271534" cy="3142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59" name="Line 22"/>
            <p:cNvSpPr>
              <a:spLocks noChangeShapeType="1"/>
            </p:cNvSpPr>
            <p:nvPr/>
          </p:nvSpPr>
          <p:spPr bwMode="auto">
            <a:xfrm>
              <a:off x="2389566" y="3106645"/>
              <a:ext cx="73044" cy="295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60" name="Text Box 64"/>
            <p:cNvSpPr txBox="1">
              <a:spLocks noChangeArrowheads="1"/>
            </p:cNvSpPr>
            <p:nvPr/>
          </p:nvSpPr>
          <p:spPr bwMode="auto">
            <a:xfrm>
              <a:off x="958850" y="2844744"/>
              <a:ext cx="350931" cy="3666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68661" name="Text Box 65"/>
            <p:cNvSpPr txBox="1">
              <a:spLocks noChangeArrowheads="1"/>
            </p:cNvSpPr>
            <p:nvPr/>
          </p:nvSpPr>
          <p:spPr bwMode="auto">
            <a:xfrm>
              <a:off x="1408232" y="3306642"/>
              <a:ext cx="338226" cy="3698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68662" name="Text Box 73"/>
            <p:cNvSpPr txBox="1">
              <a:spLocks noChangeArrowheads="1"/>
            </p:cNvSpPr>
            <p:nvPr/>
          </p:nvSpPr>
          <p:spPr bwMode="auto">
            <a:xfrm>
              <a:off x="2181548" y="2444750"/>
              <a:ext cx="423975" cy="3698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8663" name="Text Box 66"/>
            <p:cNvSpPr txBox="1">
              <a:spLocks noChangeArrowheads="1"/>
            </p:cNvSpPr>
            <p:nvPr/>
          </p:nvSpPr>
          <p:spPr bwMode="auto">
            <a:xfrm>
              <a:off x="2656336" y="3298706"/>
              <a:ext cx="350930" cy="3698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</a:p>
          </p:txBody>
        </p:sp>
        <p:grpSp>
          <p:nvGrpSpPr>
            <p:cNvPr id="173111" name="Group 44"/>
            <p:cNvGrpSpPr>
              <a:grpSpLocks/>
            </p:cNvGrpSpPr>
            <p:nvPr/>
          </p:nvGrpSpPr>
          <p:grpSpPr bwMode="auto"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id="173119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120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112" name="Group 44"/>
            <p:cNvGrpSpPr>
              <a:grpSpLocks/>
            </p:cNvGrpSpPr>
            <p:nvPr/>
          </p:nvGrpSpPr>
          <p:grpSpPr bwMode="auto">
            <a:xfrm>
              <a:off x="1534160" y="3291840"/>
              <a:ext cx="568960" cy="481140"/>
              <a:chOff x="-44" y="1473"/>
              <a:chExt cx="981" cy="1105"/>
            </a:xfrm>
          </p:grpSpPr>
          <p:pic>
            <p:nvPicPr>
              <p:cNvPr id="173117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118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113" name="Group 44"/>
            <p:cNvGrpSpPr>
              <a:grpSpLocks/>
            </p:cNvGrpSpPr>
            <p:nvPr/>
          </p:nvGrpSpPr>
          <p:grpSpPr bwMode="auto">
            <a:xfrm>
              <a:off x="2062480" y="3322320"/>
              <a:ext cx="568960" cy="481140"/>
              <a:chOff x="-44" y="1473"/>
              <a:chExt cx="981" cy="1105"/>
            </a:xfrm>
          </p:grpSpPr>
          <p:pic>
            <p:nvPicPr>
              <p:cNvPr id="173115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116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68667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2379663" y="1984375"/>
            <a:ext cx="4856162" cy="2044700"/>
            <a:chOff x="2379663" y="1984375"/>
            <a:chExt cx="4855711" cy="2044145"/>
          </a:xfrm>
        </p:grpSpPr>
        <p:sp>
          <p:nvSpPr>
            <p:cNvPr id="68618" name="Line 23"/>
            <p:cNvSpPr>
              <a:spLocks noChangeShapeType="1"/>
            </p:cNvSpPr>
            <p:nvPr/>
          </p:nvSpPr>
          <p:spPr bwMode="auto">
            <a:xfrm flipH="1">
              <a:off x="3635258" y="3068344"/>
              <a:ext cx="346043" cy="2158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19" name="Line 24"/>
            <p:cNvSpPr>
              <a:spLocks noChangeShapeType="1"/>
            </p:cNvSpPr>
            <p:nvPr/>
          </p:nvSpPr>
          <p:spPr bwMode="auto">
            <a:xfrm flipH="1">
              <a:off x="3949554" y="3087389"/>
              <a:ext cx="125401" cy="587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0" name="Line 25"/>
            <p:cNvSpPr>
              <a:spLocks noChangeShapeType="1"/>
            </p:cNvSpPr>
            <p:nvPr/>
          </p:nvSpPr>
          <p:spPr bwMode="auto">
            <a:xfrm>
              <a:off x="4254326" y="3030254"/>
              <a:ext cx="230167" cy="3618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1" name="Line 26"/>
            <p:cNvSpPr>
              <a:spLocks noChangeShapeType="1"/>
            </p:cNvSpPr>
            <p:nvPr/>
          </p:nvSpPr>
          <p:spPr bwMode="auto">
            <a:xfrm flipH="1">
              <a:off x="5532145" y="3106433"/>
              <a:ext cx="428585" cy="244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2" name="Line 27"/>
            <p:cNvSpPr>
              <a:spLocks noChangeShapeType="1"/>
            </p:cNvSpPr>
            <p:nvPr/>
          </p:nvSpPr>
          <p:spPr bwMode="auto">
            <a:xfrm flipH="1">
              <a:off x="6035335" y="3077866"/>
              <a:ext cx="9524" cy="4697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3" name="Line 35"/>
            <p:cNvSpPr>
              <a:spLocks noChangeShapeType="1"/>
            </p:cNvSpPr>
            <p:nvPr/>
          </p:nvSpPr>
          <p:spPr bwMode="auto">
            <a:xfrm flipH="1">
              <a:off x="2379663" y="2355749"/>
              <a:ext cx="1517509" cy="5364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4" name="Line 36"/>
            <p:cNvSpPr>
              <a:spLocks noChangeShapeType="1"/>
            </p:cNvSpPr>
            <p:nvPr/>
          </p:nvSpPr>
          <p:spPr bwMode="auto">
            <a:xfrm>
              <a:off x="4200356" y="2322421"/>
              <a:ext cx="0" cy="599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5" name="Line 37"/>
            <p:cNvSpPr>
              <a:spLocks noChangeShapeType="1"/>
            </p:cNvSpPr>
            <p:nvPr/>
          </p:nvSpPr>
          <p:spPr bwMode="auto">
            <a:xfrm flipH="1" flipV="1">
              <a:off x="4449571" y="2306551"/>
              <a:ext cx="1406394" cy="6840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6" name="Line 63"/>
            <p:cNvSpPr>
              <a:spLocks noChangeShapeType="1"/>
            </p:cNvSpPr>
            <p:nvPr/>
          </p:nvSpPr>
          <p:spPr bwMode="auto">
            <a:xfrm>
              <a:off x="6411539" y="3131826"/>
              <a:ext cx="285723" cy="1587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7" name="Text Box 67"/>
            <p:cNvSpPr txBox="1">
              <a:spLocks noChangeArrowheads="1"/>
            </p:cNvSpPr>
            <p:nvPr/>
          </p:nvSpPr>
          <p:spPr bwMode="auto">
            <a:xfrm>
              <a:off x="3620973" y="3222289"/>
              <a:ext cx="349218" cy="366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D</a:t>
              </a:r>
            </a:p>
          </p:txBody>
        </p:sp>
        <p:sp>
          <p:nvSpPr>
            <p:cNvPr id="68628" name="Text Box 68"/>
            <p:cNvSpPr txBox="1">
              <a:spLocks noChangeArrowheads="1"/>
            </p:cNvSpPr>
            <p:nvPr/>
          </p:nvSpPr>
          <p:spPr bwMode="auto">
            <a:xfrm>
              <a:off x="4094004" y="3658733"/>
              <a:ext cx="338106" cy="369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E</a:t>
              </a:r>
            </a:p>
          </p:txBody>
        </p:sp>
        <p:sp>
          <p:nvSpPr>
            <p:cNvPr id="68629" name="Text Box 69"/>
            <p:cNvSpPr txBox="1">
              <a:spLocks noChangeArrowheads="1"/>
            </p:cNvSpPr>
            <p:nvPr/>
          </p:nvSpPr>
          <p:spPr bwMode="auto">
            <a:xfrm>
              <a:off x="4567035" y="3057234"/>
              <a:ext cx="325407" cy="3697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F</a:t>
              </a:r>
            </a:p>
          </p:txBody>
        </p:sp>
        <p:sp>
          <p:nvSpPr>
            <p:cNvPr id="68630" name="Text Box 74"/>
            <p:cNvSpPr txBox="1">
              <a:spLocks noChangeArrowheads="1"/>
            </p:cNvSpPr>
            <p:nvPr/>
          </p:nvSpPr>
          <p:spPr bwMode="auto">
            <a:xfrm>
              <a:off x="3408267" y="2768387"/>
              <a:ext cx="436521" cy="366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68631" name="Text Box 75"/>
            <p:cNvSpPr txBox="1">
              <a:spLocks noChangeArrowheads="1"/>
            </p:cNvSpPr>
            <p:nvPr/>
          </p:nvSpPr>
          <p:spPr bwMode="auto">
            <a:xfrm>
              <a:off x="4635290" y="1984375"/>
              <a:ext cx="436522" cy="366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68632" name="Text Box 76"/>
            <p:cNvSpPr txBox="1">
              <a:spLocks noChangeArrowheads="1"/>
            </p:cNvSpPr>
            <p:nvPr/>
          </p:nvSpPr>
          <p:spPr bwMode="auto">
            <a:xfrm>
              <a:off x="6009938" y="2570004"/>
              <a:ext cx="436522" cy="3666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3</a:t>
              </a:r>
            </a:p>
          </p:txBody>
        </p:sp>
        <p:sp>
          <p:nvSpPr>
            <p:cNvPr id="68633" name="Text Box 78"/>
            <p:cNvSpPr txBox="1">
              <a:spLocks noChangeArrowheads="1"/>
            </p:cNvSpPr>
            <p:nvPr/>
          </p:nvSpPr>
          <p:spPr bwMode="auto">
            <a:xfrm>
              <a:off x="6240104" y="3541290"/>
              <a:ext cx="360329" cy="3666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H</a:t>
              </a:r>
            </a:p>
          </p:txBody>
        </p:sp>
        <p:sp>
          <p:nvSpPr>
            <p:cNvPr id="68634" name="Text Box 79"/>
            <p:cNvSpPr txBox="1">
              <a:spLocks noChangeArrowheads="1"/>
            </p:cNvSpPr>
            <p:nvPr/>
          </p:nvSpPr>
          <p:spPr bwMode="auto">
            <a:xfrm>
              <a:off x="6986160" y="3179439"/>
              <a:ext cx="249214" cy="369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I</a:t>
              </a:r>
            </a:p>
          </p:txBody>
        </p:sp>
        <p:sp>
          <p:nvSpPr>
            <p:cNvPr id="68635" name="Text Box 80"/>
            <p:cNvSpPr txBox="1">
              <a:spLocks noChangeArrowheads="1"/>
            </p:cNvSpPr>
            <p:nvPr/>
          </p:nvSpPr>
          <p:spPr bwMode="auto">
            <a:xfrm>
              <a:off x="5103560" y="3595251"/>
              <a:ext cx="365091" cy="369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G</a:t>
              </a:r>
            </a:p>
          </p:txBody>
        </p:sp>
        <p:pic>
          <p:nvPicPr>
            <p:cNvPr id="68636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3899" y="2930268"/>
              <a:ext cx="677799" cy="2999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grpSp>
          <p:nvGrpSpPr>
            <p:cNvPr id="173084" name="Group 44"/>
            <p:cNvGrpSpPr>
              <a:grpSpLocks/>
            </p:cNvGrpSpPr>
            <p:nvPr/>
          </p:nvGrpSpPr>
          <p:grpSpPr bwMode="auto">
            <a:xfrm>
              <a:off x="3139440" y="3180080"/>
              <a:ext cx="568960" cy="481140"/>
              <a:chOff x="-44" y="1473"/>
              <a:chExt cx="981" cy="1105"/>
            </a:xfrm>
          </p:grpSpPr>
          <p:pic>
            <p:nvPicPr>
              <p:cNvPr id="173102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103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085" name="Group 44"/>
            <p:cNvGrpSpPr>
              <a:grpSpLocks/>
            </p:cNvGrpSpPr>
            <p:nvPr/>
          </p:nvGrpSpPr>
          <p:grpSpPr bwMode="auto">
            <a:xfrm>
              <a:off x="3576320" y="3525520"/>
              <a:ext cx="568960" cy="481140"/>
              <a:chOff x="-44" y="1473"/>
              <a:chExt cx="981" cy="1105"/>
            </a:xfrm>
          </p:grpSpPr>
          <p:pic>
            <p:nvPicPr>
              <p:cNvPr id="17310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101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086" name="Group 44"/>
            <p:cNvGrpSpPr>
              <a:grpSpLocks/>
            </p:cNvGrpSpPr>
            <p:nvPr/>
          </p:nvGrpSpPr>
          <p:grpSpPr bwMode="auto">
            <a:xfrm>
              <a:off x="4135120" y="3281680"/>
              <a:ext cx="568960" cy="481140"/>
              <a:chOff x="-44" y="1473"/>
              <a:chExt cx="981" cy="1105"/>
            </a:xfrm>
          </p:grpSpPr>
          <p:pic>
            <p:nvPicPr>
              <p:cNvPr id="17309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099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087" name="Group 44"/>
            <p:cNvGrpSpPr>
              <a:grpSpLocks/>
            </p:cNvGrpSpPr>
            <p:nvPr/>
          </p:nvGrpSpPr>
          <p:grpSpPr bwMode="auto">
            <a:xfrm>
              <a:off x="5049520" y="3261360"/>
              <a:ext cx="568960" cy="481140"/>
              <a:chOff x="-44" y="1473"/>
              <a:chExt cx="981" cy="1105"/>
            </a:xfrm>
          </p:grpSpPr>
          <p:pic>
            <p:nvPicPr>
              <p:cNvPr id="173096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097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088" name="Group 44"/>
            <p:cNvGrpSpPr>
              <a:grpSpLocks/>
            </p:cNvGrpSpPr>
            <p:nvPr/>
          </p:nvGrpSpPr>
          <p:grpSpPr bwMode="auto">
            <a:xfrm>
              <a:off x="5588000" y="3434080"/>
              <a:ext cx="568960" cy="481140"/>
              <a:chOff x="-44" y="1473"/>
              <a:chExt cx="981" cy="1105"/>
            </a:xfrm>
          </p:grpSpPr>
          <p:pic>
            <p:nvPicPr>
              <p:cNvPr id="17309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09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089" name="Group 44"/>
            <p:cNvGrpSpPr>
              <a:grpSpLocks/>
            </p:cNvGrpSpPr>
            <p:nvPr/>
          </p:nvGrpSpPr>
          <p:grpSpPr bwMode="auto">
            <a:xfrm>
              <a:off x="6380480" y="3149600"/>
              <a:ext cx="568960" cy="481140"/>
              <a:chOff x="-44" y="1473"/>
              <a:chExt cx="981" cy="1105"/>
            </a:xfrm>
          </p:grpSpPr>
          <p:pic>
            <p:nvPicPr>
              <p:cNvPr id="173092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093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68643" name="Picture 3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4313" y="2847741"/>
              <a:ext cx="677800" cy="3015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68644" name="Picture 3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4949" y="2116102"/>
              <a:ext cx="676212" cy="3015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pic>
        <p:nvPicPr>
          <p:cNvPr id="173064" name="Picture 20" descr="underline_base"/>
          <p:cNvPicPr>
            <a:picLocks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798513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30</a:t>
            </a:fld>
            <a:endParaRPr lang="en-US" sz="1200" dirty="0">
              <a:latin typeface="Tahoma" charset="0"/>
            </a:endParaRPr>
          </a:p>
        </p:txBody>
      </p:sp>
      <p:sp>
        <p:nvSpPr>
          <p:cNvPr id="6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396046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103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Self-learning multi-switch example</a:t>
            </a:r>
            <a:endParaRPr lang="en-US" dirty="0">
              <a:latin typeface="Gill Sans MT" charset="0"/>
              <a:cs typeface="+mj-cs"/>
            </a:endParaRPr>
          </a:p>
        </p:txBody>
      </p:sp>
      <p:sp>
        <p:nvSpPr>
          <p:cNvPr id="696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1139825"/>
            <a:ext cx="7772400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400" dirty="0">
                <a:latin typeface="Gill Sans MT" charset="0"/>
                <a:cs typeface="+mn-cs"/>
              </a:rPr>
              <a:t>Suppose C sends frame to I, I responds to C</a:t>
            </a:r>
            <a:endParaRPr lang="en-US" dirty="0">
              <a:latin typeface="Gill Sans MT" charset="0"/>
              <a:cs typeface="+mn-cs"/>
            </a:endParaRPr>
          </a:p>
        </p:txBody>
      </p:sp>
      <p:sp>
        <p:nvSpPr>
          <p:cNvPr id="69638" name="Rectangle 5"/>
          <p:cNvSpPr>
            <a:spLocks noChangeArrowheads="1"/>
          </p:cNvSpPr>
          <p:nvPr/>
        </p:nvSpPr>
        <p:spPr bwMode="auto">
          <a:xfrm>
            <a:off x="714375" y="4664075"/>
            <a:ext cx="7772400" cy="184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u="sng" dirty="0">
                <a:solidFill>
                  <a:srgbClr val="CC0000"/>
                </a:solidFill>
                <a:latin typeface="Gill Sans MT" charset="0"/>
                <a:cs typeface="+mn-cs"/>
              </a:rPr>
              <a:t>Q:</a:t>
            </a:r>
            <a:r>
              <a:rPr lang="en-US" sz="2400" i="0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sz="2400" i="0" dirty="0">
                <a:solidFill>
                  <a:srgbClr val="000000"/>
                </a:solidFill>
                <a:latin typeface="Gill Sans MT" charset="0"/>
                <a:cs typeface="+mn-cs"/>
              </a:rPr>
              <a:t>show switch tables and packet forwarding in S</a:t>
            </a:r>
            <a:r>
              <a:rPr lang="en-US" sz="2400" i="0" baseline="-25000" dirty="0">
                <a:solidFill>
                  <a:srgbClr val="000000"/>
                </a:solidFill>
                <a:latin typeface="Gill Sans MT" charset="0"/>
                <a:cs typeface="+mn-cs"/>
              </a:rPr>
              <a:t>1</a:t>
            </a:r>
            <a:r>
              <a:rPr lang="en-US" sz="2400" i="0" dirty="0">
                <a:solidFill>
                  <a:srgbClr val="000000"/>
                </a:solidFill>
                <a:latin typeface="Gill Sans MT" charset="0"/>
                <a:cs typeface="+mn-cs"/>
              </a:rPr>
              <a:t>, S</a:t>
            </a:r>
            <a:r>
              <a:rPr lang="en-US" sz="2400" i="0" baseline="-25000" dirty="0">
                <a:solidFill>
                  <a:srgbClr val="000000"/>
                </a:solidFill>
                <a:latin typeface="Gill Sans MT" charset="0"/>
                <a:cs typeface="+mn-cs"/>
              </a:rPr>
              <a:t>2</a:t>
            </a:r>
            <a:r>
              <a:rPr lang="en-US" sz="2400" i="0" dirty="0">
                <a:solidFill>
                  <a:srgbClr val="000000"/>
                </a:solidFill>
                <a:latin typeface="Gill Sans MT" charset="0"/>
                <a:cs typeface="+mn-cs"/>
              </a:rPr>
              <a:t>, S</a:t>
            </a:r>
            <a:r>
              <a:rPr lang="en-US" sz="2400" i="0" baseline="-25000" dirty="0">
                <a:solidFill>
                  <a:srgbClr val="000000"/>
                </a:solidFill>
                <a:latin typeface="Gill Sans MT" charset="0"/>
                <a:cs typeface="+mn-cs"/>
              </a:rPr>
              <a:t>3</a:t>
            </a:r>
            <a:r>
              <a:rPr lang="en-US" sz="2400" i="0" dirty="0">
                <a:solidFill>
                  <a:srgbClr val="000000"/>
                </a:solidFill>
                <a:latin typeface="Gill Sans MT" charset="0"/>
                <a:cs typeface="+mn-cs"/>
              </a:rPr>
              <a:t>, S</a:t>
            </a:r>
            <a:r>
              <a:rPr lang="en-US" sz="2400" i="0" baseline="-25000" dirty="0">
                <a:solidFill>
                  <a:srgbClr val="000000"/>
                </a:solidFill>
                <a:latin typeface="Gill Sans MT" charset="0"/>
                <a:cs typeface="+mn-cs"/>
              </a:rPr>
              <a:t>4</a:t>
            </a:r>
            <a:r>
              <a:rPr lang="en-US" sz="2400" i="0" dirty="0">
                <a:solidFill>
                  <a:srgbClr val="000000"/>
                </a:solidFill>
                <a:latin typeface="Gill Sans MT" charset="0"/>
                <a:cs typeface="+mn-cs"/>
              </a:rPr>
              <a:t> </a:t>
            </a:r>
          </a:p>
        </p:txBody>
      </p:sp>
      <p:grpSp>
        <p:nvGrpSpPr>
          <p:cNvPr id="175110" name="Group 58"/>
          <p:cNvGrpSpPr>
            <a:grpSpLocks/>
          </p:cNvGrpSpPr>
          <p:nvPr/>
        </p:nvGrpSpPr>
        <p:grpSpPr bwMode="auto">
          <a:xfrm>
            <a:off x="958850" y="2444750"/>
            <a:ext cx="2047875" cy="1358900"/>
            <a:chOff x="958850" y="2444750"/>
            <a:chExt cx="2048416" cy="1358710"/>
          </a:xfrm>
        </p:grpSpPr>
        <p:sp>
          <p:nvSpPr>
            <p:cNvPr id="69681" name="Line 20"/>
            <p:cNvSpPr>
              <a:spLocks noChangeShapeType="1"/>
            </p:cNvSpPr>
            <p:nvPr/>
          </p:nvSpPr>
          <p:spPr bwMode="auto">
            <a:xfrm flipH="1">
              <a:off x="1582903" y="3030456"/>
              <a:ext cx="5557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82" name="Line 21"/>
            <p:cNvSpPr>
              <a:spLocks noChangeShapeType="1"/>
            </p:cNvSpPr>
            <p:nvPr/>
          </p:nvSpPr>
          <p:spPr bwMode="auto">
            <a:xfrm flipH="1">
              <a:off x="1970355" y="3078074"/>
              <a:ext cx="271534" cy="3142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83" name="Line 22"/>
            <p:cNvSpPr>
              <a:spLocks noChangeShapeType="1"/>
            </p:cNvSpPr>
            <p:nvPr/>
          </p:nvSpPr>
          <p:spPr bwMode="auto">
            <a:xfrm>
              <a:off x="2389566" y="3106645"/>
              <a:ext cx="73044" cy="295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84" name="Text Box 64"/>
            <p:cNvSpPr txBox="1">
              <a:spLocks noChangeArrowheads="1"/>
            </p:cNvSpPr>
            <p:nvPr/>
          </p:nvSpPr>
          <p:spPr bwMode="auto">
            <a:xfrm>
              <a:off x="958850" y="2844744"/>
              <a:ext cx="350931" cy="3666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69685" name="Text Box 65"/>
            <p:cNvSpPr txBox="1">
              <a:spLocks noChangeArrowheads="1"/>
            </p:cNvSpPr>
            <p:nvPr/>
          </p:nvSpPr>
          <p:spPr bwMode="auto">
            <a:xfrm>
              <a:off x="1408232" y="3306642"/>
              <a:ext cx="338226" cy="3698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69686" name="Text Box 73"/>
            <p:cNvSpPr txBox="1">
              <a:spLocks noChangeArrowheads="1"/>
            </p:cNvSpPr>
            <p:nvPr/>
          </p:nvSpPr>
          <p:spPr bwMode="auto">
            <a:xfrm>
              <a:off x="2181548" y="2444750"/>
              <a:ext cx="423975" cy="3698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9687" name="Text Box 66"/>
            <p:cNvSpPr txBox="1">
              <a:spLocks noChangeArrowheads="1"/>
            </p:cNvSpPr>
            <p:nvPr/>
          </p:nvSpPr>
          <p:spPr bwMode="auto">
            <a:xfrm>
              <a:off x="2656336" y="3298706"/>
              <a:ext cx="350930" cy="3698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</a:p>
          </p:txBody>
        </p:sp>
        <p:grpSp>
          <p:nvGrpSpPr>
            <p:cNvPr id="175159" name="Group 44"/>
            <p:cNvGrpSpPr>
              <a:grpSpLocks/>
            </p:cNvGrpSpPr>
            <p:nvPr/>
          </p:nvGrpSpPr>
          <p:grpSpPr bwMode="auto"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id="175167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68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5160" name="Group 44"/>
            <p:cNvGrpSpPr>
              <a:grpSpLocks/>
            </p:cNvGrpSpPr>
            <p:nvPr/>
          </p:nvGrpSpPr>
          <p:grpSpPr bwMode="auto">
            <a:xfrm>
              <a:off x="1534160" y="3291840"/>
              <a:ext cx="568960" cy="481140"/>
              <a:chOff x="-44" y="1473"/>
              <a:chExt cx="981" cy="1105"/>
            </a:xfrm>
          </p:grpSpPr>
          <p:pic>
            <p:nvPicPr>
              <p:cNvPr id="175165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66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5161" name="Group 44"/>
            <p:cNvGrpSpPr>
              <a:grpSpLocks/>
            </p:cNvGrpSpPr>
            <p:nvPr/>
          </p:nvGrpSpPr>
          <p:grpSpPr bwMode="auto">
            <a:xfrm>
              <a:off x="2062480" y="3322320"/>
              <a:ext cx="568960" cy="481140"/>
              <a:chOff x="-44" y="1473"/>
              <a:chExt cx="981" cy="1105"/>
            </a:xfrm>
          </p:grpSpPr>
          <p:pic>
            <p:nvPicPr>
              <p:cNvPr id="175163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64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69691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175111" name="Group 76"/>
          <p:cNvGrpSpPr>
            <a:grpSpLocks/>
          </p:cNvGrpSpPr>
          <p:nvPr/>
        </p:nvGrpSpPr>
        <p:grpSpPr bwMode="auto">
          <a:xfrm>
            <a:off x="2379663" y="1984375"/>
            <a:ext cx="4856162" cy="2044700"/>
            <a:chOff x="2379663" y="1984375"/>
            <a:chExt cx="4855711" cy="2044145"/>
          </a:xfrm>
        </p:grpSpPr>
        <p:sp>
          <p:nvSpPr>
            <p:cNvPr id="69642" name="Line 23"/>
            <p:cNvSpPr>
              <a:spLocks noChangeShapeType="1"/>
            </p:cNvSpPr>
            <p:nvPr/>
          </p:nvSpPr>
          <p:spPr bwMode="auto">
            <a:xfrm flipH="1">
              <a:off x="3635258" y="3068344"/>
              <a:ext cx="346043" cy="2158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43" name="Line 24"/>
            <p:cNvSpPr>
              <a:spLocks noChangeShapeType="1"/>
            </p:cNvSpPr>
            <p:nvPr/>
          </p:nvSpPr>
          <p:spPr bwMode="auto">
            <a:xfrm flipH="1">
              <a:off x="3949554" y="3087389"/>
              <a:ext cx="125401" cy="587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44" name="Line 25"/>
            <p:cNvSpPr>
              <a:spLocks noChangeShapeType="1"/>
            </p:cNvSpPr>
            <p:nvPr/>
          </p:nvSpPr>
          <p:spPr bwMode="auto">
            <a:xfrm>
              <a:off x="4254326" y="3030254"/>
              <a:ext cx="230167" cy="3618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45" name="Line 26"/>
            <p:cNvSpPr>
              <a:spLocks noChangeShapeType="1"/>
            </p:cNvSpPr>
            <p:nvPr/>
          </p:nvSpPr>
          <p:spPr bwMode="auto">
            <a:xfrm flipH="1">
              <a:off x="5532145" y="3106433"/>
              <a:ext cx="428585" cy="244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46" name="Line 27"/>
            <p:cNvSpPr>
              <a:spLocks noChangeShapeType="1"/>
            </p:cNvSpPr>
            <p:nvPr/>
          </p:nvSpPr>
          <p:spPr bwMode="auto">
            <a:xfrm flipH="1">
              <a:off x="6035335" y="3077866"/>
              <a:ext cx="9524" cy="4697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47" name="Line 35"/>
            <p:cNvSpPr>
              <a:spLocks noChangeShapeType="1"/>
            </p:cNvSpPr>
            <p:nvPr/>
          </p:nvSpPr>
          <p:spPr bwMode="auto">
            <a:xfrm flipH="1">
              <a:off x="2379663" y="2355749"/>
              <a:ext cx="1517509" cy="5364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48" name="Line 36"/>
            <p:cNvSpPr>
              <a:spLocks noChangeShapeType="1"/>
            </p:cNvSpPr>
            <p:nvPr/>
          </p:nvSpPr>
          <p:spPr bwMode="auto">
            <a:xfrm>
              <a:off x="4200356" y="2322421"/>
              <a:ext cx="0" cy="599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49" name="Line 37"/>
            <p:cNvSpPr>
              <a:spLocks noChangeShapeType="1"/>
            </p:cNvSpPr>
            <p:nvPr/>
          </p:nvSpPr>
          <p:spPr bwMode="auto">
            <a:xfrm flipH="1" flipV="1">
              <a:off x="4449571" y="2306551"/>
              <a:ext cx="1406394" cy="6840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50" name="Line 63"/>
            <p:cNvSpPr>
              <a:spLocks noChangeShapeType="1"/>
            </p:cNvSpPr>
            <p:nvPr/>
          </p:nvSpPr>
          <p:spPr bwMode="auto">
            <a:xfrm>
              <a:off x="6411539" y="3131826"/>
              <a:ext cx="285723" cy="1587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51" name="Text Box 67"/>
            <p:cNvSpPr txBox="1">
              <a:spLocks noChangeArrowheads="1"/>
            </p:cNvSpPr>
            <p:nvPr/>
          </p:nvSpPr>
          <p:spPr bwMode="auto">
            <a:xfrm>
              <a:off x="3620973" y="3222289"/>
              <a:ext cx="349218" cy="366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D</a:t>
              </a:r>
            </a:p>
          </p:txBody>
        </p:sp>
        <p:sp>
          <p:nvSpPr>
            <p:cNvPr id="69652" name="Text Box 68"/>
            <p:cNvSpPr txBox="1">
              <a:spLocks noChangeArrowheads="1"/>
            </p:cNvSpPr>
            <p:nvPr/>
          </p:nvSpPr>
          <p:spPr bwMode="auto">
            <a:xfrm>
              <a:off x="4094004" y="3658733"/>
              <a:ext cx="338106" cy="369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E</a:t>
              </a:r>
            </a:p>
          </p:txBody>
        </p:sp>
        <p:sp>
          <p:nvSpPr>
            <p:cNvPr id="69653" name="Text Box 69"/>
            <p:cNvSpPr txBox="1">
              <a:spLocks noChangeArrowheads="1"/>
            </p:cNvSpPr>
            <p:nvPr/>
          </p:nvSpPr>
          <p:spPr bwMode="auto">
            <a:xfrm>
              <a:off x="4567035" y="3057234"/>
              <a:ext cx="325407" cy="3697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F</a:t>
              </a:r>
            </a:p>
          </p:txBody>
        </p:sp>
        <p:sp>
          <p:nvSpPr>
            <p:cNvPr id="69654" name="Text Box 74"/>
            <p:cNvSpPr txBox="1">
              <a:spLocks noChangeArrowheads="1"/>
            </p:cNvSpPr>
            <p:nvPr/>
          </p:nvSpPr>
          <p:spPr bwMode="auto">
            <a:xfrm>
              <a:off x="3408267" y="2768387"/>
              <a:ext cx="436521" cy="366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69655" name="Text Box 75"/>
            <p:cNvSpPr txBox="1">
              <a:spLocks noChangeArrowheads="1"/>
            </p:cNvSpPr>
            <p:nvPr/>
          </p:nvSpPr>
          <p:spPr bwMode="auto">
            <a:xfrm>
              <a:off x="4635290" y="1984375"/>
              <a:ext cx="436522" cy="366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69656" name="Text Box 76"/>
            <p:cNvSpPr txBox="1">
              <a:spLocks noChangeArrowheads="1"/>
            </p:cNvSpPr>
            <p:nvPr/>
          </p:nvSpPr>
          <p:spPr bwMode="auto">
            <a:xfrm>
              <a:off x="6009938" y="2570004"/>
              <a:ext cx="436522" cy="3666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3</a:t>
              </a:r>
            </a:p>
          </p:txBody>
        </p:sp>
        <p:sp>
          <p:nvSpPr>
            <p:cNvPr id="69657" name="Text Box 78"/>
            <p:cNvSpPr txBox="1">
              <a:spLocks noChangeArrowheads="1"/>
            </p:cNvSpPr>
            <p:nvPr/>
          </p:nvSpPr>
          <p:spPr bwMode="auto">
            <a:xfrm>
              <a:off x="6240104" y="3541290"/>
              <a:ext cx="360329" cy="3666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H</a:t>
              </a:r>
            </a:p>
          </p:txBody>
        </p:sp>
        <p:sp>
          <p:nvSpPr>
            <p:cNvPr id="69658" name="Text Box 79"/>
            <p:cNvSpPr txBox="1">
              <a:spLocks noChangeArrowheads="1"/>
            </p:cNvSpPr>
            <p:nvPr/>
          </p:nvSpPr>
          <p:spPr bwMode="auto">
            <a:xfrm>
              <a:off x="6986160" y="3179439"/>
              <a:ext cx="249214" cy="369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I</a:t>
              </a:r>
            </a:p>
          </p:txBody>
        </p:sp>
        <p:sp>
          <p:nvSpPr>
            <p:cNvPr id="69659" name="Text Box 80"/>
            <p:cNvSpPr txBox="1">
              <a:spLocks noChangeArrowheads="1"/>
            </p:cNvSpPr>
            <p:nvPr/>
          </p:nvSpPr>
          <p:spPr bwMode="auto">
            <a:xfrm>
              <a:off x="5103560" y="3595251"/>
              <a:ext cx="365091" cy="369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G</a:t>
              </a:r>
            </a:p>
          </p:txBody>
        </p:sp>
        <p:pic>
          <p:nvPicPr>
            <p:cNvPr id="69660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3899" y="2930268"/>
              <a:ext cx="677799" cy="2999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grpSp>
          <p:nvGrpSpPr>
            <p:cNvPr id="175132" name="Group 44"/>
            <p:cNvGrpSpPr>
              <a:grpSpLocks/>
            </p:cNvGrpSpPr>
            <p:nvPr/>
          </p:nvGrpSpPr>
          <p:grpSpPr bwMode="auto">
            <a:xfrm>
              <a:off x="3139440" y="3180080"/>
              <a:ext cx="568960" cy="481140"/>
              <a:chOff x="-44" y="1473"/>
              <a:chExt cx="981" cy="1105"/>
            </a:xfrm>
          </p:grpSpPr>
          <p:pic>
            <p:nvPicPr>
              <p:cNvPr id="17515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51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5133" name="Group 44"/>
            <p:cNvGrpSpPr>
              <a:grpSpLocks/>
            </p:cNvGrpSpPr>
            <p:nvPr/>
          </p:nvGrpSpPr>
          <p:grpSpPr bwMode="auto">
            <a:xfrm>
              <a:off x="3576320" y="3525520"/>
              <a:ext cx="568960" cy="481140"/>
              <a:chOff x="-44" y="1473"/>
              <a:chExt cx="981" cy="1105"/>
            </a:xfrm>
          </p:grpSpPr>
          <p:pic>
            <p:nvPicPr>
              <p:cNvPr id="17514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49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5134" name="Group 44"/>
            <p:cNvGrpSpPr>
              <a:grpSpLocks/>
            </p:cNvGrpSpPr>
            <p:nvPr/>
          </p:nvGrpSpPr>
          <p:grpSpPr bwMode="auto">
            <a:xfrm>
              <a:off x="4135120" y="3281680"/>
              <a:ext cx="568960" cy="481140"/>
              <a:chOff x="-44" y="1473"/>
              <a:chExt cx="981" cy="1105"/>
            </a:xfrm>
          </p:grpSpPr>
          <p:pic>
            <p:nvPicPr>
              <p:cNvPr id="175146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47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5135" name="Group 44"/>
            <p:cNvGrpSpPr>
              <a:grpSpLocks/>
            </p:cNvGrpSpPr>
            <p:nvPr/>
          </p:nvGrpSpPr>
          <p:grpSpPr bwMode="auto">
            <a:xfrm>
              <a:off x="5049520" y="3261360"/>
              <a:ext cx="568960" cy="481140"/>
              <a:chOff x="-44" y="1473"/>
              <a:chExt cx="981" cy="1105"/>
            </a:xfrm>
          </p:grpSpPr>
          <p:pic>
            <p:nvPicPr>
              <p:cNvPr id="17514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4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5136" name="Group 44"/>
            <p:cNvGrpSpPr>
              <a:grpSpLocks/>
            </p:cNvGrpSpPr>
            <p:nvPr/>
          </p:nvGrpSpPr>
          <p:grpSpPr bwMode="auto">
            <a:xfrm>
              <a:off x="5588000" y="3434080"/>
              <a:ext cx="568960" cy="481140"/>
              <a:chOff x="-44" y="1473"/>
              <a:chExt cx="981" cy="1105"/>
            </a:xfrm>
          </p:grpSpPr>
          <p:pic>
            <p:nvPicPr>
              <p:cNvPr id="175142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43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5137" name="Group 44"/>
            <p:cNvGrpSpPr>
              <a:grpSpLocks/>
            </p:cNvGrpSpPr>
            <p:nvPr/>
          </p:nvGrpSpPr>
          <p:grpSpPr bwMode="auto">
            <a:xfrm>
              <a:off x="6380480" y="3149600"/>
              <a:ext cx="568960" cy="481140"/>
              <a:chOff x="-44" y="1473"/>
              <a:chExt cx="981" cy="1105"/>
            </a:xfrm>
          </p:grpSpPr>
          <p:pic>
            <p:nvPicPr>
              <p:cNvPr id="17514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41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69667" name="Picture 3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4313" y="2847741"/>
              <a:ext cx="677800" cy="3015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69668" name="Picture 3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4949" y="2116102"/>
              <a:ext cx="676212" cy="3015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pic>
        <p:nvPicPr>
          <p:cNvPr id="175112" name="Picture 16" descr="underline_base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" y="792163"/>
            <a:ext cx="7313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31</a:t>
            </a:fld>
            <a:endParaRPr lang="en-US" sz="1200" dirty="0">
              <a:latin typeface="Tahoma" charset="0"/>
            </a:endParaRPr>
          </a:p>
        </p:txBody>
      </p:sp>
      <p:sp>
        <p:nvSpPr>
          <p:cNvPr id="6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9597161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Institutional network</a:t>
            </a:r>
          </a:p>
        </p:txBody>
      </p:sp>
      <p:sp>
        <p:nvSpPr>
          <p:cNvPr id="177156" name="Freeform 81"/>
          <p:cNvSpPr>
            <a:spLocks/>
          </p:cNvSpPr>
          <p:nvPr/>
        </p:nvSpPr>
        <p:spPr bwMode="auto">
          <a:xfrm rot="5400000">
            <a:off x="2179637" y="244476"/>
            <a:ext cx="4321175" cy="7473950"/>
          </a:xfrm>
          <a:custGeom>
            <a:avLst/>
            <a:gdLst>
              <a:gd name="T0" fmla="*/ 2147483647 w 10000"/>
              <a:gd name="T1" fmla="*/ 2147483647 h 9831"/>
              <a:gd name="T2" fmla="*/ 2147483647 w 10000"/>
              <a:gd name="T3" fmla="*/ 2147483647 h 9831"/>
              <a:gd name="T4" fmla="*/ 2147483647 w 10000"/>
              <a:gd name="T5" fmla="*/ 2147483647 h 9831"/>
              <a:gd name="T6" fmla="*/ 2147483647 w 10000"/>
              <a:gd name="T7" fmla="*/ 2147483647 h 9831"/>
              <a:gd name="T8" fmla="*/ 2147483647 w 10000"/>
              <a:gd name="T9" fmla="*/ 2147483647 h 9831"/>
              <a:gd name="T10" fmla="*/ 2147483647 w 10000"/>
              <a:gd name="T11" fmla="*/ 2147483647 h 9831"/>
              <a:gd name="T12" fmla="*/ 2147483647 w 10000"/>
              <a:gd name="T13" fmla="*/ 2147483647 h 9831"/>
              <a:gd name="T14" fmla="*/ 2147483647 w 10000"/>
              <a:gd name="T15" fmla="*/ 2147483647 h 9831"/>
              <a:gd name="T16" fmla="*/ 2147483647 w 10000"/>
              <a:gd name="T17" fmla="*/ 2147483647 h 9831"/>
              <a:gd name="T18" fmla="*/ 2147483647 w 10000"/>
              <a:gd name="T19" fmla="*/ 2147483647 h 9831"/>
              <a:gd name="T20" fmla="*/ 2147483647 w 10000"/>
              <a:gd name="T21" fmla="*/ 2147483647 h 9831"/>
              <a:gd name="T22" fmla="*/ 2147483647 w 10000"/>
              <a:gd name="T23" fmla="*/ 2147483647 h 98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0000" h="9831">
                <a:moveTo>
                  <a:pt x="3018" y="119"/>
                </a:moveTo>
                <a:cubicBezTo>
                  <a:pt x="2111" y="198"/>
                  <a:pt x="1047" y="-39"/>
                  <a:pt x="545" y="518"/>
                </a:cubicBezTo>
                <a:cubicBezTo>
                  <a:pt x="43" y="1076"/>
                  <a:pt x="40" y="2518"/>
                  <a:pt x="8" y="3464"/>
                </a:cubicBezTo>
                <a:cubicBezTo>
                  <a:pt x="-24" y="4411"/>
                  <a:pt x="32" y="5681"/>
                  <a:pt x="354" y="6198"/>
                </a:cubicBezTo>
                <a:cubicBezTo>
                  <a:pt x="677" y="6715"/>
                  <a:pt x="1127" y="6126"/>
                  <a:pt x="1947" y="6568"/>
                </a:cubicBezTo>
                <a:cubicBezTo>
                  <a:pt x="2769" y="7010"/>
                  <a:pt x="4247" y="8310"/>
                  <a:pt x="5285" y="8849"/>
                </a:cubicBezTo>
                <a:cubicBezTo>
                  <a:pt x="6321" y="9388"/>
                  <a:pt x="7408" y="9963"/>
                  <a:pt x="8172" y="9805"/>
                </a:cubicBezTo>
                <a:cubicBezTo>
                  <a:pt x="8934" y="9645"/>
                  <a:pt x="9588" y="8930"/>
                  <a:pt x="9864" y="7895"/>
                </a:cubicBezTo>
                <a:cubicBezTo>
                  <a:pt x="10140" y="6857"/>
                  <a:pt x="9927" y="4774"/>
                  <a:pt x="9830" y="3590"/>
                </a:cubicBezTo>
                <a:cubicBezTo>
                  <a:pt x="9733" y="2406"/>
                  <a:pt x="10004" y="1276"/>
                  <a:pt x="9282" y="788"/>
                </a:cubicBezTo>
                <a:cubicBezTo>
                  <a:pt x="8561" y="302"/>
                  <a:pt x="7028" y="160"/>
                  <a:pt x="5984" y="49"/>
                </a:cubicBezTo>
                <a:cubicBezTo>
                  <a:pt x="4940" y="-62"/>
                  <a:pt x="3924" y="41"/>
                  <a:pt x="3018" y="119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0662" name="Line 33"/>
          <p:cNvSpPr>
            <a:spLocks noChangeShapeType="1"/>
          </p:cNvSpPr>
          <p:nvPr/>
        </p:nvSpPr>
        <p:spPr bwMode="auto">
          <a:xfrm flipH="1">
            <a:off x="2151063" y="3387725"/>
            <a:ext cx="2047875" cy="141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3" name="Line 34"/>
          <p:cNvSpPr>
            <a:spLocks noChangeShapeType="1"/>
          </p:cNvSpPr>
          <p:nvPr/>
        </p:nvSpPr>
        <p:spPr bwMode="auto">
          <a:xfrm>
            <a:off x="4391025" y="3375025"/>
            <a:ext cx="0" cy="146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4" name="Line 35"/>
          <p:cNvSpPr>
            <a:spLocks noChangeShapeType="1"/>
          </p:cNvSpPr>
          <p:nvPr/>
        </p:nvSpPr>
        <p:spPr bwMode="auto">
          <a:xfrm flipH="1" flipV="1">
            <a:off x="4584700" y="3309938"/>
            <a:ext cx="1841500" cy="1622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5" name="Line 59"/>
          <p:cNvSpPr>
            <a:spLocks noChangeShapeType="1"/>
          </p:cNvSpPr>
          <p:nvPr/>
        </p:nvSpPr>
        <p:spPr bwMode="auto">
          <a:xfrm flipV="1">
            <a:off x="4687888" y="2692400"/>
            <a:ext cx="1223962" cy="423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6" name="Line 60"/>
          <p:cNvSpPr>
            <a:spLocks noChangeShapeType="1"/>
          </p:cNvSpPr>
          <p:nvPr/>
        </p:nvSpPr>
        <p:spPr bwMode="auto">
          <a:xfrm flipV="1">
            <a:off x="4481513" y="2370138"/>
            <a:ext cx="669925" cy="758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7" name="Line 77"/>
          <p:cNvSpPr>
            <a:spLocks noChangeShapeType="1"/>
          </p:cNvSpPr>
          <p:nvPr/>
        </p:nvSpPr>
        <p:spPr bwMode="auto">
          <a:xfrm>
            <a:off x="3387725" y="2524125"/>
            <a:ext cx="862013" cy="644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8" name="Line 78"/>
          <p:cNvSpPr>
            <a:spLocks noChangeShapeType="1"/>
          </p:cNvSpPr>
          <p:nvPr/>
        </p:nvSpPr>
        <p:spPr bwMode="auto">
          <a:xfrm flipH="1">
            <a:off x="1995488" y="2420938"/>
            <a:ext cx="850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9" name="Text Box 79"/>
          <p:cNvSpPr txBox="1">
            <a:spLocks noChangeArrowheads="1"/>
          </p:cNvSpPr>
          <p:nvPr/>
        </p:nvSpPr>
        <p:spPr bwMode="auto">
          <a:xfrm>
            <a:off x="744538" y="2041525"/>
            <a:ext cx="1262062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Arial" charset="0"/>
              </a:rPr>
              <a:t>to external</a:t>
            </a:r>
          </a:p>
          <a:p>
            <a:pPr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Arial" charset="0"/>
              </a:rPr>
              <a:t>network</a:t>
            </a:r>
          </a:p>
        </p:txBody>
      </p:sp>
      <p:sp>
        <p:nvSpPr>
          <p:cNvPr id="70670" name="Text Box 80"/>
          <p:cNvSpPr txBox="1">
            <a:spLocks noChangeArrowheads="1"/>
          </p:cNvSpPr>
          <p:nvPr/>
        </p:nvSpPr>
        <p:spPr bwMode="auto">
          <a:xfrm>
            <a:off x="2716213" y="2608263"/>
            <a:ext cx="7874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Arial" charset="0"/>
              </a:rPr>
              <a:t>router</a:t>
            </a:r>
          </a:p>
        </p:txBody>
      </p:sp>
      <p:sp>
        <p:nvSpPr>
          <p:cNvPr id="70671" name="Text Box 82"/>
          <p:cNvSpPr txBox="1">
            <a:spLocks noChangeArrowheads="1"/>
          </p:cNvSpPr>
          <p:nvPr/>
        </p:nvSpPr>
        <p:spPr bwMode="auto">
          <a:xfrm>
            <a:off x="6435725" y="3516313"/>
            <a:ext cx="1549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 dirty="0">
                <a:solidFill>
                  <a:srgbClr val="CC0000"/>
                </a:solidFill>
                <a:latin typeface="Arial" charset="0"/>
                <a:cs typeface="Arial" charset="0"/>
              </a:rPr>
              <a:t>IP subnet</a:t>
            </a:r>
          </a:p>
        </p:txBody>
      </p:sp>
      <p:sp>
        <p:nvSpPr>
          <p:cNvPr id="70672" name="Text Box 83"/>
          <p:cNvSpPr txBox="1">
            <a:spLocks noChangeArrowheads="1"/>
          </p:cNvSpPr>
          <p:nvPr/>
        </p:nvSpPr>
        <p:spPr bwMode="auto">
          <a:xfrm>
            <a:off x="5432425" y="1835150"/>
            <a:ext cx="1365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Arial" charset="0"/>
              </a:rPr>
              <a:t>mail server</a:t>
            </a:r>
          </a:p>
        </p:txBody>
      </p:sp>
      <p:sp>
        <p:nvSpPr>
          <p:cNvPr id="70673" name="Text Box 84"/>
          <p:cNvSpPr txBox="1">
            <a:spLocks noChangeArrowheads="1"/>
          </p:cNvSpPr>
          <p:nvPr/>
        </p:nvSpPr>
        <p:spPr bwMode="auto">
          <a:xfrm>
            <a:off x="6230938" y="2505075"/>
            <a:ext cx="13620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Arial" charset="0"/>
              </a:rPr>
              <a:t>web server</a:t>
            </a:r>
          </a:p>
        </p:txBody>
      </p:sp>
      <p:sp>
        <p:nvSpPr>
          <p:cNvPr id="70674" name="Line 20"/>
          <p:cNvSpPr>
            <a:spLocks noChangeShapeType="1"/>
          </p:cNvSpPr>
          <p:nvPr/>
        </p:nvSpPr>
        <p:spPr bwMode="auto">
          <a:xfrm flipH="1">
            <a:off x="1465263" y="4754563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75" name="Line 21"/>
          <p:cNvSpPr>
            <a:spLocks noChangeShapeType="1"/>
          </p:cNvSpPr>
          <p:nvPr/>
        </p:nvSpPr>
        <p:spPr bwMode="auto">
          <a:xfrm flipH="1">
            <a:off x="1852613" y="4802188"/>
            <a:ext cx="271462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76" name="Line 22"/>
          <p:cNvSpPr>
            <a:spLocks noChangeShapeType="1"/>
          </p:cNvSpPr>
          <p:nvPr/>
        </p:nvSpPr>
        <p:spPr bwMode="auto">
          <a:xfrm>
            <a:off x="2271713" y="4830763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77172" name="Group 44"/>
          <p:cNvGrpSpPr>
            <a:grpSpLocks/>
          </p:cNvGrpSpPr>
          <p:nvPr/>
        </p:nvGrpSpPr>
        <p:grpSpPr bwMode="auto">
          <a:xfrm>
            <a:off x="1009650" y="4557713"/>
            <a:ext cx="568325" cy="481012"/>
            <a:chOff x="-44" y="1473"/>
            <a:chExt cx="981" cy="1105"/>
          </a:xfrm>
        </p:grpSpPr>
        <p:pic>
          <p:nvPicPr>
            <p:cNvPr id="17730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30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73" name="Group 44"/>
          <p:cNvGrpSpPr>
            <a:grpSpLocks/>
          </p:cNvGrpSpPr>
          <p:nvPr/>
        </p:nvGrpSpPr>
        <p:grpSpPr bwMode="auto">
          <a:xfrm>
            <a:off x="1416050" y="5014913"/>
            <a:ext cx="568325" cy="481012"/>
            <a:chOff x="-44" y="1473"/>
            <a:chExt cx="981" cy="1105"/>
          </a:xfrm>
        </p:grpSpPr>
        <p:pic>
          <p:nvPicPr>
            <p:cNvPr id="17729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30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74" name="Group 44"/>
          <p:cNvGrpSpPr>
            <a:grpSpLocks/>
          </p:cNvGrpSpPr>
          <p:nvPr/>
        </p:nvGrpSpPr>
        <p:grpSpPr bwMode="auto">
          <a:xfrm>
            <a:off x="1944688" y="5046663"/>
            <a:ext cx="568325" cy="481012"/>
            <a:chOff x="-44" y="1473"/>
            <a:chExt cx="981" cy="1105"/>
          </a:xfrm>
        </p:grpSpPr>
        <p:pic>
          <p:nvPicPr>
            <p:cNvPr id="17729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9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70680" name="Line 21"/>
          <p:cNvSpPr>
            <a:spLocks noChangeShapeType="1"/>
          </p:cNvSpPr>
          <p:nvPr/>
        </p:nvSpPr>
        <p:spPr bwMode="auto">
          <a:xfrm>
            <a:off x="2490788" y="4760913"/>
            <a:ext cx="377825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81" name="Line 22"/>
          <p:cNvSpPr>
            <a:spLocks noChangeShapeType="1"/>
          </p:cNvSpPr>
          <p:nvPr/>
        </p:nvSpPr>
        <p:spPr bwMode="auto">
          <a:xfrm flipH="1">
            <a:off x="2722563" y="5256213"/>
            <a:ext cx="120650" cy="293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82" name="Line 22"/>
          <p:cNvSpPr>
            <a:spLocks noChangeShapeType="1"/>
          </p:cNvSpPr>
          <p:nvPr/>
        </p:nvSpPr>
        <p:spPr bwMode="auto">
          <a:xfrm>
            <a:off x="3127375" y="5267325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83" name="Line 20"/>
          <p:cNvSpPr>
            <a:spLocks noChangeShapeType="1"/>
          </p:cNvSpPr>
          <p:nvPr/>
        </p:nvSpPr>
        <p:spPr bwMode="auto">
          <a:xfrm flipH="1">
            <a:off x="3025775" y="5148263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77179" name="Group 44"/>
          <p:cNvGrpSpPr>
            <a:grpSpLocks/>
          </p:cNvGrpSpPr>
          <p:nvPr/>
        </p:nvGrpSpPr>
        <p:grpSpPr bwMode="auto">
          <a:xfrm>
            <a:off x="2349500" y="5419725"/>
            <a:ext cx="568325" cy="481013"/>
            <a:chOff x="-44" y="1473"/>
            <a:chExt cx="981" cy="1105"/>
          </a:xfrm>
        </p:grpSpPr>
        <p:pic>
          <p:nvPicPr>
            <p:cNvPr id="17729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9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80" name="Group 44"/>
          <p:cNvGrpSpPr>
            <a:grpSpLocks/>
          </p:cNvGrpSpPr>
          <p:nvPr/>
        </p:nvGrpSpPr>
        <p:grpSpPr bwMode="auto">
          <a:xfrm>
            <a:off x="2806700" y="5487988"/>
            <a:ext cx="568325" cy="481012"/>
            <a:chOff x="-44" y="1473"/>
            <a:chExt cx="981" cy="1105"/>
          </a:xfrm>
        </p:grpSpPr>
        <p:pic>
          <p:nvPicPr>
            <p:cNvPr id="17729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9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0686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063" y="4602163"/>
            <a:ext cx="67786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70687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950" y="5018088"/>
            <a:ext cx="67786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77183" name="Group 44"/>
          <p:cNvGrpSpPr>
            <a:grpSpLocks/>
          </p:cNvGrpSpPr>
          <p:nvPr/>
        </p:nvGrpSpPr>
        <p:grpSpPr bwMode="auto">
          <a:xfrm>
            <a:off x="3232150" y="4946650"/>
            <a:ext cx="568325" cy="481013"/>
            <a:chOff x="-44" y="1473"/>
            <a:chExt cx="981" cy="1105"/>
          </a:xfrm>
        </p:grpSpPr>
        <p:pic>
          <p:nvPicPr>
            <p:cNvPr id="17729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9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70689" name="Line 20"/>
          <p:cNvSpPr>
            <a:spLocks noChangeShapeType="1"/>
          </p:cNvSpPr>
          <p:nvPr/>
        </p:nvSpPr>
        <p:spPr bwMode="auto">
          <a:xfrm flipH="1">
            <a:off x="5684838" y="5022850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90" name="Line 21"/>
          <p:cNvSpPr>
            <a:spLocks noChangeShapeType="1"/>
          </p:cNvSpPr>
          <p:nvPr/>
        </p:nvSpPr>
        <p:spPr bwMode="auto">
          <a:xfrm flipH="1">
            <a:off x="6072188" y="5070475"/>
            <a:ext cx="271462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91" name="Line 22"/>
          <p:cNvSpPr>
            <a:spLocks noChangeShapeType="1"/>
          </p:cNvSpPr>
          <p:nvPr/>
        </p:nvSpPr>
        <p:spPr bwMode="auto">
          <a:xfrm>
            <a:off x="6491288" y="5099050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77187" name="Group 44"/>
          <p:cNvGrpSpPr>
            <a:grpSpLocks/>
          </p:cNvGrpSpPr>
          <p:nvPr/>
        </p:nvGrpSpPr>
        <p:grpSpPr bwMode="auto">
          <a:xfrm>
            <a:off x="5376863" y="4837113"/>
            <a:ext cx="568325" cy="481012"/>
            <a:chOff x="-44" y="1473"/>
            <a:chExt cx="981" cy="1105"/>
          </a:xfrm>
        </p:grpSpPr>
        <p:pic>
          <p:nvPicPr>
            <p:cNvPr id="17728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9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88" name="Group 44"/>
          <p:cNvGrpSpPr>
            <a:grpSpLocks/>
          </p:cNvGrpSpPr>
          <p:nvPr/>
        </p:nvGrpSpPr>
        <p:grpSpPr bwMode="auto">
          <a:xfrm>
            <a:off x="5635625" y="5283200"/>
            <a:ext cx="569913" cy="481013"/>
            <a:chOff x="-44" y="1473"/>
            <a:chExt cx="981" cy="1105"/>
          </a:xfrm>
        </p:grpSpPr>
        <p:pic>
          <p:nvPicPr>
            <p:cNvPr id="17728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8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89" name="Group 44"/>
          <p:cNvGrpSpPr>
            <a:grpSpLocks/>
          </p:cNvGrpSpPr>
          <p:nvPr/>
        </p:nvGrpSpPr>
        <p:grpSpPr bwMode="auto">
          <a:xfrm>
            <a:off x="6164263" y="5313363"/>
            <a:ext cx="568325" cy="482600"/>
            <a:chOff x="-44" y="1473"/>
            <a:chExt cx="981" cy="1105"/>
          </a:xfrm>
        </p:grpSpPr>
        <p:pic>
          <p:nvPicPr>
            <p:cNvPr id="17728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8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70695" name="Line 20"/>
          <p:cNvSpPr>
            <a:spLocks noChangeShapeType="1"/>
          </p:cNvSpPr>
          <p:nvPr/>
        </p:nvSpPr>
        <p:spPr bwMode="auto">
          <a:xfrm flipH="1" flipV="1">
            <a:off x="4659313" y="5068888"/>
            <a:ext cx="606425" cy="3127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96" name="Line 21"/>
          <p:cNvSpPr>
            <a:spLocks noChangeShapeType="1"/>
          </p:cNvSpPr>
          <p:nvPr/>
        </p:nvSpPr>
        <p:spPr bwMode="auto">
          <a:xfrm flipH="1">
            <a:off x="4195763" y="5022850"/>
            <a:ext cx="271462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97" name="Line 22"/>
          <p:cNvSpPr>
            <a:spLocks noChangeShapeType="1"/>
          </p:cNvSpPr>
          <p:nvPr/>
        </p:nvSpPr>
        <p:spPr bwMode="auto">
          <a:xfrm>
            <a:off x="4614863" y="5051425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77193" name="Group 44"/>
          <p:cNvGrpSpPr>
            <a:grpSpLocks/>
          </p:cNvGrpSpPr>
          <p:nvPr/>
        </p:nvGrpSpPr>
        <p:grpSpPr bwMode="auto">
          <a:xfrm>
            <a:off x="4803775" y="5230813"/>
            <a:ext cx="569913" cy="481012"/>
            <a:chOff x="-44" y="1473"/>
            <a:chExt cx="981" cy="1105"/>
          </a:xfrm>
        </p:grpSpPr>
        <p:pic>
          <p:nvPicPr>
            <p:cNvPr id="17728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8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94" name="Group 44"/>
          <p:cNvGrpSpPr>
            <a:grpSpLocks/>
          </p:cNvGrpSpPr>
          <p:nvPr/>
        </p:nvGrpSpPr>
        <p:grpSpPr bwMode="auto">
          <a:xfrm>
            <a:off x="3759200" y="5235575"/>
            <a:ext cx="569913" cy="482600"/>
            <a:chOff x="-44" y="1473"/>
            <a:chExt cx="981" cy="1105"/>
          </a:xfrm>
        </p:grpSpPr>
        <p:pic>
          <p:nvPicPr>
            <p:cNvPr id="17728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8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95" name="Group 44"/>
          <p:cNvGrpSpPr>
            <a:grpSpLocks/>
          </p:cNvGrpSpPr>
          <p:nvPr/>
        </p:nvGrpSpPr>
        <p:grpSpPr bwMode="auto">
          <a:xfrm>
            <a:off x="4287838" y="5267325"/>
            <a:ext cx="569912" cy="481013"/>
            <a:chOff x="-44" y="1473"/>
            <a:chExt cx="981" cy="1105"/>
          </a:xfrm>
        </p:grpSpPr>
        <p:pic>
          <p:nvPicPr>
            <p:cNvPr id="17727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8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0701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213" y="4822825"/>
            <a:ext cx="67786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70702" name="Line 20"/>
          <p:cNvSpPr>
            <a:spLocks noChangeShapeType="1"/>
          </p:cNvSpPr>
          <p:nvPr/>
        </p:nvSpPr>
        <p:spPr bwMode="auto">
          <a:xfrm flipH="1">
            <a:off x="6519863" y="5100638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70703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6638" y="4870450"/>
            <a:ext cx="67786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77199" name="Group 44"/>
          <p:cNvGrpSpPr>
            <a:grpSpLocks/>
          </p:cNvGrpSpPr>
          <p:nvPr/>
        </p:nvGrpSpPr>
        <p:grpSpPr bwMode="auto">
          <a:xfrm>
            <a:off x="6684963" y="4884738"/>
            <a:ext cx="569912" cy="481012"/>
            <a:chOff x="-44" y="1473"/>
            <a:chExt cx="981" cy="1105"/>
          </a:xfrm>
        </p:grpSpPr>
        <p:pic>
          <p:nvPicPr>
            <p:cNvPr id="17727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7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0705" name="Picture 3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062288"/>
            <a:ext cx="935038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77201" name="Group 906"/>
          <p:cNvGrpSpPr>
            <a:grpSpLocks/>
          </p:cNvGrpSpPr>
          <p:nvPr/>
        </p:nvGrpSpPr>
        <p:grpSpPr bwMode="auto">
          <a:xfrm>
            <a:off x="5140325" y="2111375"/>
            <a:ext cx="366713" cy="579438"/>
            <a:chOff x="4140" y="429"/>
            <a:chExt cx="1425" cy="2396"/>
          </a:xfrm>
        </p:grpSpPr>
        <p:sp>
          <p:nvSpPr>
            <p:cNvPr id="177245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51" name="Rectangle 908"/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7247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248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54" name="Rectangle 911"/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77250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0780" name="AutoShape 913"/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81" name="AutoShape 914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0756" name="Rectangle 915"/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77252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0778" name="AutoShape 917"/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79" name="AutoShape 918"/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0758" name="Rectangle 919"/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59" name="Rectangle 920"/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77255" name="Group 921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0776" name="AutoShape 922"/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77" name="AutoShape 923"/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77256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77257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0774" name="AutoShape 926"/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75" name="AutoShape 927"/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0763" name="Rectangle 928"/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7259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260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66" name="Oval 931"/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7262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68" name="AutoShape 933"/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69" name="AutoShape 934"/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70" name="Oval 935"/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71" name="Oval 936"/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i="0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72" name="Oval 937"/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73" name="Rectangle 938"/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177203" name="Group 906"/>
          <p:cNvGrpSpPr>
            <a:grpSpLocks/>
          </p:cNvGrpSpPr>
          <p:nvPr/>
        </p:nvGrpSpPr>
        <p:grpSpPr bwMode="auto">
          <a:xfrm>
            <a:off x="5745163" y="2620963"/>
            <a:ext cx="366712" cy="579437"/>
            <a:chOff x="4140" y="429"/>
            <a:chExt cx="1425" cy="2396"/>
          </a:xfrm>
        </p:grpSpPr>
        <p:sp>
          <p:nvSpPr>
            <p:cNvPr id="177205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11" name="Rectangle 908"/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7207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208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14" name="Rectangle 911"/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77210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0740" name="AutoShape 913"/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41" name="AutoShape 914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0716" name="Rectangle 915"/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77212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0738" name="AutoShape 917"/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39" name="AutoShape 918"/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0718" name="Rectangle 919"/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19" name="Rectangle 920"/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77215" name="Group 921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0736" name="AutoShape 922"/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37" name="AutoShape 923"/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77216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77217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0734" name="AutoShape 926"/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35" name="AutoShape 927"/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0723" name="Rectangle 928"/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7219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220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26" name="Oval 931"/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7222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28" name="AutoShape 933"/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29" name="AutoShape 934"/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30" name="Oval 935"/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31" name="Oval 936"/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i="0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32" name="Oval 937"/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33" name="Rectangle 938"/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pic>
        <p:nvPicPr>
          <p:cNvPr id="177204" name="Picture 21" descr="underline_base"/>
          <p:cNvPicPr>
            <a:picLocks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63" y="1039813"/>
            <a:ext cx="5027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32</a:t>
            </a:fld>
            <a:endParaRPr lang="en-US" sz="1200" dirty="0">
              <a:latin typeface="Tahoma" charset="0"/>
            </a:endParaRPr>
          </a:p>
        </p:txBody>
      </p:sp>
      <p:sp>
        <p:nvSpPr>
          <p:cNvPr id="15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grpSp>
        <p:nvGrpSpPr>
          <p:cNvPr id="154" name="Group 347"/>
          <p:cNvGrpSpPr>
            <a:grpSpLocks/>
          </p:cNvGrpSpPr>
          <p:nvPr/>
        </p:nvGrpSpPr>
        <p:grpSpPr bwMode="auto">
          <a:xfrm>
            <a:off x="2751485" y="2148330"/>
            <a:ext cx="880316" cy="510540"/>
            <a:chOff x="1871277" y="1576300"/>
            <a:chExt cx="1128371" cy="437861"/>
          </a:xfrm>
        </p:grpSpPr>
        <p:sp>
          <p:nvSpPr>
            <p:cNvPr id="155" name="Oval 154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6" name="Rectangle 155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57" name="Oval 156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8" name="Freeform 157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59" name="Freeform 158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60" name="Freeform 159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61" name="Freeform 160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62" name="Straight Connector 161"/>
            <p:cNvCxnSpPr>
              <a:endCxn id="157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036737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4" name="Rectangle 2"/>
          <p:cNvSpPr>
            <a:spLocks noGrp="1" noChangeArrowheads="1"/>
          </p:cNvSpPr>
          <p:nvPr>
            <p:ph type="title"/>
          </p:nvPr>
        </p:nvSpPr>
        <p:spPr>
          <a:xfrm>
            <a:off x="415925" y="39688"/>
            <a:ext cx="4560888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Switches vs. routers</a:t>
            </a:r>
          </a:p>
        </p:txBody>
      </p:sp>
      <p:sp>
        <p:nvSpPr>
          <p:cNvPr id="716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2913" y="1341438"/>
            <a:ext cx="3967162" cy="4994275"/>
          </a:xfrm>
        </p:spPr>
        <p:txBody>
          <a:bodyPr/>
          <a:lstStyle/>
          <a:p>
            <a:pPr marL="0" indent="0"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both are store-and-forward: </a:t>
            </a:r>
          </a:p>
          <a:p>
            <a:pPr marL="231775" indent="-231775">
              <a:buSzPct val="100000"/>
              <a:buFont typeface="Wingdings" charset="2"/>
              <a:buChar char="§"/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routers: </a:t>
            </a:r>
            <a:r>
              <a:rPr lang="en-US" sz="2400" dirty="0">
                <a:latin typeface="Gill Sans MT" charset="0"/>
                <a:cs typeface="+mn-cs"/>
              </a:rPr>
              <a:t>network-layer devices (examine network-layer headers)</a:t>
            </a:r>
          </a:p>
          <a:p>
            <a:pPr marL="231775" indent="-231775">
              <a:buSzPct val="100000"/>
              <a:buFont typeface="Wingdings" charset="2"/>
              <a:buChar char="§"/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switches</a:t>
            </a:r>
            <a:r>
              <a:rPr lang="en-US" sz="2400" i="1" dirty="0">
                <a:latin typeface="Gill Sans MT" charset="0"/>
                <a:cs typeface="+mn-cs"/>
              </a:rPr>
              <a:t>: </a:t>
            </a:r>
            <a:r>
              <a:rPr lang="en-US" sz="2400" dirty="0">
                <a:latin typeface="Gill Sans MT" charset="0"/>
                <a:cs typeface="+mn-cs"/>
              </a:rPr>
              <a:t>link-layer devices (examine link-layer headers)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Wingdings" charset="0"/>
              <a:buNone/>
              <a:defRPr/>
            </a:pPr>
            <a:endParaRPr lang="en-US" sz="2400" i="1" dirty="0">
              <a:solidFill>
                <a:srgbClr val="CC0000"/>
              </a:solidFill>
              <a:latin typeface="Gill Sans MT" charset="0"/>
              <a:cs typeface="+mn-cs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both have forwarding tables:</a:t>
            </a:r>
          </a:p>
          <a:p>
            <a:pPr marL="231775" indent="-231775">
              <a:lnSpc>
                <a:spcPct val="80000"/>
              </a:lnSpc>
              <a:buSzPct val="100000"/>
              <a:buFont typeface="Wingdings" charset="2"/>
              <a:buChar char="§"/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routers: </a:t>
            </a:r>
            <a:r>
              <a:rPr lang="en-US" sz="2400" dirty="0">
                <a:latin typeface="Gill Sans MT" charset="0"/>
                <a:cs typeface="+mn-cs"/>
              </a:rPr>
              <a:t>compute tables using routing algorithms, IP addresses</a:t>
            </a:r>
          </a:p>
          <a:p>
            <a:pPr marL="231775" indent="-231775">
              <a:lnSpc>
                <a:spcPct val="80000"/>
              </a:lnSpc>
              <a:buSzPct val="100000"/>
              <a:buFont typeface="Wingdings" charset="2"/>
              <a:buChar char="§"/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switches: </a:t>
            </a:r>
            <a:r>
              <a:rPr lang="en-US" sz="2400" dirty="0">
                <a:latin typeface="Gill Sans MT" charset="0"/>
                <a:cs typeface="+mn-cs"/>
              </a:rPr>
              <a:t>learn forwarding table using flooding, learning, MAC addresses </a:t>
            </a:r>
          </a:p>
        </p:txBody>
      </p:sp>
      <p:sp>
        <p:nvSpPr>
          <p:cNvPr id="179205" name="Freeform 3"/>
          <p:cNvSpPr>
            <a:spLocks/>
          </p:cNvSpPr>
          <p:nvPr/>
        </p:nvSpPr>
        <p:spPr bwMode="auto">
          <a:xfrm flipH="1">
            <a:off x="6543675" y="2103438"/>
            <a:ext cx="638175" cy="852487"/>
          </a:xfrm>
          <a:custGeom>
            <a:avLst/>
            <a:gdLst>
              <a:gd name="T0" fmla="*/ 2147483647 w 402"/>
              <a:gd name="T1" fmla="*/ 2147483647 h 537"/>
              <a:gd name="T2" fmla="*/ 2147483647 w 402"/>
              <a:gd name="T3" fmla="*/ 0 h 537"/>
              <a:gd name="T4" fmla="*/ 0 w 402"/>
              <a:gd name="T5" fmla="*/ 2147483647 h 537"/>
              <a:gd name="T6" fmla="*/ 2147483647 w 402"/>
              <a:gd name="T7" fmla="*/ 2147483647 h 537"/>
              <a:gd name="T8" fmla="*/ 2147483647 w 402"/>
              <a:gd name="T9" fmla="*/ 2147483647 h 5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2"/>
              <a:gd name="T16" fmla="*/ 0 h 537"/>
              <a:gd name="T17" fmla="*/ 402 w 402"/>
              <a:gd name="T18" fmla="*/ 537 h 5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2" h="537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9206" name="Freeform 10"/>
          <p:cNvSpPr>
            <a:spLocks/>
          </p:cNvSpPr>
          <p:nvPr/>
        </p:nvSpPr>
        <p:spPr bwMode="auto">
          <a:xfrm>
            <a:off x="6530975" y="844550"/>
            <a:ext cx="360363" cy="1577975"/>
          </a:xfrm>
          <a:custGeom>
            <a:avLst/>
            <a:gdLst>
              <a:gd name="T0" fmla="*/ 2147483647 w 267"/>
              <a:gd name="T1" fmla="*/ 2147483647 h 1186"/>
              <a:gd name="T2" fmla="*/ 0 w 267"/>
              <a:gd name="T3" fmla="*/ 0 h 1186"/>
              <a:gd name="T4" fmla="*/ 0 w 267"/>
              <a:gd name="T5" fmla="*/ 2147483647 h 1186"/>
              <a:gd name="T6" fmla="*/ 2147483647 w 267"/>
              <a:gd name="T7" fmla="*/ 2147483647 h 1186"/>
              <a:gd name="T8" fmla="*/ 2147483647 w 267"/>
              <a:gd name="T9" fmla="*/ 2147483647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9207" name="Rectangle 23"/>
          <p:cNvSpPr>
            <a:spLocks noChangeArrowheads="1"/>
          </p:cNvSpPr>
          <p:nvPr/>
        </p:nvSpPr>
        <p:spPr bwMode="auto">
          <a:xfrm>
            <a:off x="5307013" y="850900"/>
            <a:ext cx="1296987" cy="15462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2400" i="0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79208" name="Rectangle 24"/>
          <p:cNvSpPr>
            <a:spLocks noChangeArrowheads="1"/>
          </p:cNvSpPr>
          <p:nvPr/>
        </p:nvSpPr>
        <p:spPr bwMode="auto">
          <a:xfrm>
            <a:off x="5259388" y="922338"/>
            <a:ext cx="1273175" cy="1536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 i="0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79209" name="Line 25"/>
          <p:cNvSpPr>
            <a:spLocks noChangeShapeType="1"/>
          </p:cNvSpPr>
          <p:nvPr/>
        </p:nvSpPr>
        <p:spPr bwMode="auto">
          <a:xfrm>
            <a:off x="5259388" y="1239838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10" name="Text Box 26"/>
          <p:cNvSpPr txBox="1">
            <a:spLocks noChangeArrowheads="1"/>
          </p:cNvSpPr>
          <p:nvPr/>
        </p:nvSpPr>
        <p:spPr bwMode="auto">
          <a:xfrm>
            <a:off x="5216525" y="889000"/>
            <a:ext cx="1317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application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transport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network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link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physical</a:t>
            </a:r>
          </a:p>
        </p:txBody>
      </p:sp>
      <p:sp>
        <p:nvSpPr>
          <p:cNvPr id="179211" name="Line 27"/>
          <p:cNvSpPr>
            <a:spLocks noChangeShapeType="1"/>
          </p:cNvSpPr>
          <p:nvPr/>
        </p:nvSpPr>
        <p:spPr bwMode="auto">
          <a:xfrm>
            <a:off x="5267325" y="156051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12" name="Line 28"/>
          <p:cNvSpPr>
            <a:spLocks noChangeShapeType="1"/>
          </p:cNvSpPr>
          <p:nvPr/>
        </p:nvSpPr>
        <p:spPr bwMode="auto">
          <a:xfrm>
            <a:off x="5272088" y="1841500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13" name="Line 29"/>
          <p:cNvSpPr>
            <a:spLocks noChangeShapeType="1"/>
          </p:cNvSpPr>
          <p:nvPr/>
        </p:nvSpPr>
        <p:spPr bwMode="auto">
          <a:xfrm>
            <a:off x="5272088" y="211772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179214" name="Group 88"/>
          <p:cNvGrpSpPr>
            <a:grpSpLocks/>
          </p:cNvGrpSpPr>
          <p:nvPr/>
        </p:nvGrpSpPr>
        <p:grpSpPr bwMode="auto">
          <a:xfrm>
            <a:off x="6716713" y="3525838"/>
            <a:ext cx="1387475" cy="1035050"/>
            <a:chOff x="3601" y="168"/>
            <a:chExt cx="874" cy="652"/>
          </a:xfrm>
        </p:grpSpPr>
        <p:sp>
          <p:nvSpPr>
            <p:cNvPr id="179263" name="Rectangle 89"/>
            <p:cNvSpPr>
              <a:spLocks noChangeArrowheads="1"/>
            </p:cNvSpPr>
            <p:nvPr/>
          </p:nvSpPr>
          <p:spPr bwMode="auto">
            <a:xfrm>
              <a:off x="3658" y="168"/>
              <a:ext cx="817" cy="5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64" name="Rectangle 90"/>
            <p:cNvSpPr>
              <a:spLocks noChangeArrowheads="1"/>
            </p:cNvSpPr>
            <p:nvPr/>
          </p:nvSpPr>
          <p:spPr bwMode="auto">
            <a:xfrm>
              <a:off x="3628" y="213"/>
              <a:ext cx="802" cy="59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65" name="Line 91"/>
            <p:cNvSpPr>
              <a:spLocks noChangeShapeType="1"/>
            </p:cNvSpPr>
            <p:nvPr/>
          </p:nvSpPr>
          <p:spPr bwMode="auto">
            <a:xfrm>
              <a:off x="3628" y="413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9266" name="Text Box 92"/>
            <p:cNvSpPr txBox="1">
              <a:spLocks noChangeArrowheads="1"/>
            </p:cNvSpPr>
            <p:nvPr/>
          </p:nvSpPr>
          <p:spPr bwMode="auto">
            <a:xfrm>
              <a:off x="3601" y="192"/>
              <a:ext cx="830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network</a:t>
              </a:r>
            </a:p>
            <a:p>
              <a:pPr algn="ctr">
                <a:lnSpc>
                  <a:spcPct val="110000"/>
                </a:lnSpc>
              </a:pPr>
              <a:r>
                <a:rPr 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link</a:t>
              </a:r>
            </a:p>
            <a:p>
              <a:pPr algn="ctr">
                <a:lnSpc>
                  <a:spcPct val="110000"/>
                </a:lnSpc>
              </a:pPr>
              <a:r>
                <a:rPr 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physical</a:t>
              </a:r>
            </a:p>
          </p:txBody>
        </p:sp>
        <p:sp>
          <p:nvSpPr>
            <p:cNvPr id="179267" name="Line 93"/>
            <p:cNvSpPr>
              <a:spLocks noChangeShapeType="1"/>
            </p:cNvSpPr>
            <p:nvPr/>
          </p:nvSpPr>
          <p:spPr bwMode="auto">
            <a:xfrm>
              <a:off x="3633" y="615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179215" name="Group 94"/>
          <p:cNvGrpSpPr>
            <a:grpSpLocks/>
          </p:cNvGrpSpPr>
          <p:nvPr/>
        </p:nvGrpSpPr>
        <p:grpSpPr bwMode="auto">
          <a:xfrm>
            <a:off x="7054850" y="2100263"/>
            <a:ext cx="1387475" cy="733425"/>
            <a:chOff x="4696" y="597"/>
            <a:chExt cx="874" cy="462"/>
          </a:xfrm>
        </p:grpSpPr>
        <p:sp>
          <p:nvSpPr>
            <p:cNvPr id="179259" name="Rectangle 95"/>
            <p:cNvSpPr>
              <a:spLocks noChangeArrowheads="1"/>
            </p:cNvSpPr>
            <p:nvPr/>
          </p:nvSpPr>
          <p:spPr bwMode="auto">
            <a:xfrm>
              <a:off x="4753" y="597"/>
              <a:ext cx="817" cy="41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60" name="Rectangle 96"/>
            <p:cNvSpPr>
              <a:spLocks noChangeArrowheads="1"/>
            </p:cNvSpPr>
            <p:nvPr/>
          </p:nvSpPr>
          <p:spPr bwMode="auto">
            <a:xfrm>
              <a:off x="4723" y="642"/>
              <a:ext cx="802" cy="41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61" name="Line 97"/>
            <p:cNvSpPr>
              <a:spLocks noChangeShapeType="1"/>
            </p:cNvSpPr>
            <p:nvPr/>
          </p:nvSpPr>
          <p:spPr bwMode="auto">
            <a:xfrm>
              <a:off x="4723" y="842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9262" name="Text Box 98"/>
            <p:cNvSpPr txBox="1">
              <a:spLocks noChangeArrowheads="1"/>
            </p:cNvSpPr>
            <p:nvPr/>
          </p:nvSpPr>
          <p:spPr bwMode="auto">
            <a:xfrm>
              <a:off x="4696" y="621"/>
              <a:ext cx="830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link</a:t>
              </a:r>
            </a:p>
            <a:p>
              <a:pPr algn="ctr">
                <a:lnSpc>
                  <a:spcPct val="110000"/>
                </a:lnSpc>
              </a:pPr>
              <a:r>
                <a:rPr 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physical</a:t>
              </a:r>
            </a:p>
          </p:txBody>
        </p:sp>
      </p:grpSp>
      <p:sp>
        <p:nvSpPr>
          <p:cNvPr id="179216" name="Text Box 167"/>
          <p:cNvSpPr txBox="1">
            <a:spLocks noChangeArrowheads="1"/>
          </p:cNvSpPr>
          <p:nvPr/>
        </p:nvSpPr>
        <p:spPr bwMode="auto">
          <a:xfrm>
            <a:off x="5854700" y="3003550"/>
            <a:ext cx="9032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 i="0" dirty="0">
                <a:solidFill>
                  <a:srgbClr val="000000"/>
                </a:solidFill>
                <a:latin typeface="Arial" charset="0"/>
                <a:cs typeface="Arial" charset="0"/>
              </a:rPr>
              <a:t>switch</a:t>
            </a:r>
          </a:p>
        </p:txBody>
      </p:sp>
      <p:grpSp>
        <p:nvGrpSpPr>
          <p:cNvPr id="179217" name="Group 39"/>
          <p:cNvGrpSpPr>
            <a:grpSpLocks/>
          </p:cNvGrpSpPr>
          <p:nvPr/>
        </p:nvGrpSpPr>
        <p:grpSpPr bwMode="auto">
          <a:xfrm>
            <a:off x="4408488" y="1562100"/>
            <a:ext cx="962025" cy="304800"/>
            <a:chOff x="1070" y="918"/>
            <a:chExt cx="606" cy="192"/>
          </a:xfrm>
        </p:grpSpPr>
        <p:sp>
          <p:nvSpPr>
            <p:cNvPr id="71738" name="Rectangle 40"/>
            <p:cNvSpPr>
              <a:spLocks noChangeArrowheads="1"/>
            </p:cNvSpPr>
            <p:nvPr/>
          </p:nvSpPr>
          <p:spPr bwMode="auto">
            <a:xfrm>
              <a:off x="1082" y="939"/>
              <a:ext cx="576" cy="1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C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58" name="Text Box 4"/>
            <p:cNvSpPr txBox="1">
              <a:spLocks noChangeArrowheads="1"/>
            </p:cNvSpPr>
            <p:nvPr/>
          </p:nvSpPr>
          <p:spPr bwMode="auto">
            <a:xfrm>
              <a:off x="1070" y="918"/>
              <a:ext cx="60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400" i="0" dirty="0">
                  <a:solidFill>
                    <a:srgbClr val="CC0000"/>
                  </a:solidFill>
                  <a:latin typeface="Arial" charset="0"/>
                  <a:cs typeface="Arial" charset="0"/>
                </a:rPr>
                <a:t>datagram</a:t>
              </a:r>
            </a:p>
          </p:txBody>
        </p:sp>
      </p:grpSp>
      <p:sp>
        <p:nvSpPr>
          <p:cNvPr id="179218" name="Rectangle 57"/>
          <p:cNvSpPr>
            <a:spLocks noChangeArrowheads="1"/>
          </p:cNvSpPr>
          <p:nvPr/>
        </p:nvSpPr>
        <p:spPr bwMode="auto">
          <a:xfrm>
            <a:off x="5208588" y="4594225"/>
            <a:ext cx="1296987" cy="15462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2400" i="0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79219" name="Rectangle 58"/>
          <p:cNvSpPr>
            <a:spLocks noChangeArrowheads="1"/>
          </p:cNvSpPr>
          <p:nvPr/>
        </p:nvSpPr>
        <p:spPr bwMode="auto">
          <a:xfrm>
            <a:off x="5160963" y="4665663"/>
            <a:ext cx="1273175" cy="1536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 i="0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79220" name="Line 59"/>
          <p:cNvSpPr>
            <a:spLocks noChangeShapeType="1"/>
          </p:cNvSpPr>
          <p:nvPr/>
        </p:nvSpPr>
        <p:spPr bwMode="auto">
          <a:xfrm>
            <a:off x="5160963" y="498316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21" name="Text Box 60"/>
          <p:cNvSpPr txBox="1">
            <a:spLocks noChangeArrowheads="1"/>
          </p:cNvSpPr>
          <p:nvPr/>
        </p:nvSpPr>
        <p:spPr bwMode="auto">
          <a:xfrm>
            <a:off x="5118100" y="4632325"/>
            <a:ext cx="1317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application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transport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network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link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physical</a:t>
            </a:r>
          </a:p>
        </p:txBody>
      </p:sp>
      <p:sp>
        <p:nvSpPr>
          <p:cNvPr id="179222" name="Line 61"/>
          <p:cNvSpPr>
            <a:spLocks noChangeShapeType="1"/>
          </p:cNvSpPr>
          <p:nvPr/>
        </p:nvSpPr>
        <p:spPr bwMode="auto">
          <a:xfrm>
            <a:off x="5168900" y="5303838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23" name="Line 62"/>
          <p:cNvSpPr>
            <a:spLocks noChangeShapeType="1"/>
          </p:cNvSpPr>
          <p:nvPr/>
        </p:nvSpPr>
        <p:spPr bwMode="auto">
          <a:xfrm>
            <a:off x="5173663" y="558482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24" name="Line 63"/>
          <p:cNvSpPr>
            <a:spLocks noChangeShapeType="1"/>
          </p:cNvSpPr>
          <p:nvPr/>
        </p:nvSpPr>
        <p:spPr bwMode="auto">
          <a:xfrm>
            <a:off x="5173663" y="5861050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25" name="Freeform 49"/>
          <p:cNvSpPr>
            <a:spLocks/>
          </p:cNvSpPr>
          <p:nvPr/>
        </p:nvSpPr>
        <p:spPr bwMode="auto">
          <a:xfrm>
            <a:off x="6472238" y="4600575"/>
            <a:ext cx="381000" cy="1857375"/>
          </a:xfrm>
          <a:custGeom>
            <a:avLst/>
            <a:gdLst>
              <a:gd name="T0" fmla="*/ 0 w 240"/>
              <a:gd name="T1" fmla="*/ 2147483647 h 1170"/>
              <a:gd name="T2" fmla="*/ 2147483647 w 240"/>
              <a:gd name="T3" fmla="*/ 0 h 1170"/>
              <a:gd name="T4" fmla="*/ 2147483647 w 240"/>
              <a:gd name="T5" fmla="*/ 2147483647 h 1170"/>
              <a:gd name="T6" fmla="*/ 2147483647 w 240"/>
              <a:gd name="T7" fmla="*/ 2147483647 h 1170"/>
              <a:gd name="T8" fmla="*/ 0 w 240"/>
              <a:gd name="T9" fmla="*/ 2147483647 h 117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0" h="1170">
                <a:moveTo>
                  <a:pt x="0" y="960"/>
                </a:moveTo>
                <a:lnTo>
                  <a:pt x="6" y="0"/>
                </a:lnTo>
                <a:lnTo>
                  <a:pt x="240" y="1092"/>
                </a:lnTo>
                <a:lnTo>
                  <a:pt x="168" y="1170"/>
                </a:lnTo>
                <a:lnTo>
                  <a:pt x="0" y="96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grpSp>
        <p:nvGrpSpPr>
          <p:cNvPr id="179226" name="Group 50"/>
          <p:cNvGrpSpPr>
            <a:grpSpLocks/>
          </p:cNvGrpSpPr>
          <p:nvPr/>
        </p:nvGrpSpPr>
        <p:grpSpPr bwMode="auto">
          <a:xfrm>
            <a:off x="4294188" y="1814513"/>
            <a:ext cx="1095375" cy="338137"/>
            <a:chOff x="998" y="1077"/>
            <a:chExt cx="690" cy="213"/>
          </a:xfrm>
        </p:grpSpPr>
        <p:sp>
          <p:nvSpPr>
            <p:cNvPr id="71736" name="Rectangle 51"/>
            <p:cNvSpPr>
              <a:spLocks noChangeArrowheads="1"/>
            </p:cNvSpPr>
            <p:nvPr/>
          </p:nvSpPr>
          <p:spPr bwMode="auto">
            <a:xfrm>
              <a:off x="998" y="1113"/>
              <a:ext cx="690" cy="1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C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56" name="Text Box 7"/>
            <p:cNvSpPr txBox="1">
              <a:spLocks noChangeArrowheads="1"/>
            </p:cNvSpPr>
            <p:nvPr/>
          </p:nvSpPr>
          <p:spPr bwMode="auto">
            <a:xfrm>
              <a:off x="1107" y="1077"/>
              <a:ext cx="44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i="0" dirty="0">
                  <a:solidFill>
                    <a:srgbClr val="CC0000"/>
                  </a:solidFill>
                  <a:latin typeface="Arial" charset="0"/>
                  <a:cs typeface="Arial" charset="0"/>
                </a:rPr>
                <a:t>frame</a:t>
              </a:r>
            </a:p>
          </p:txBody>
        </p:sp>
      </p:grpSp>
      <p:sp>
        <p:nvSpPr>
          <p:cNvPr id="179227" name="Freeform 53"/>
          <p:cNvSpPr>
            <a:spLocks/>
          </p:cNvSpPr>
          <p:nvPr/>
        </p:nvSpPr>
        <p:spPr bwMode="auto">
          <a:xfrm>
            <a:off x="5281613" y="723900"/>
            <a:ext cx="2924175" cy="5314950"/>
          </a:xfrm>
          <a:custGeom>
            <a:avLst/>
            <a:gdLst>
              <a:gd name="T0" fmla="*/ 2147483647 w 1842"/>
              <a:gd name="T1" fmla="*/ 0 h 3348"/>
              <a:gd name="T2" fmla="*/ 2147483647 w 1842"/>
              <a:gd name="T3" fmla="*/ 2147483647 h 3348"/>
              <a:gd name="T4" fmla="*/ 2147483647 w 1842"/>
              <a:gd name="T5" fmla="*/ 2147483647 h 3348"/>
              <a:gd name="T6" fmla="*/ 2147483647 w 1842"/>
              <a:gd name="T7" fmla="*/ 2147483647 h 3348"/>
              <a:gd name="T8" fmla="*/ 2147483647 w 1842"/>
              <a:gd name="T9" fmla="*/ 2147483647 h 3348"/>
              <a:gd name="T10" fmla="*/ 2147483647 w 1842"/>
              <a:gd name="T11" fmla="*/ 2147483647 h 3348"/>
              <a:gd name="T12" fmla="*/ 2147483647 w 1842"/>
              <a:gd name="T13" fmla="*/ 2147483647 h 3348"/>
              <a:gd name="T14" fmla="*/ 2147483647 w 1842"/>
              <a:gd name="T15" fmla="*/ 2147483647 h 3348"/>
              <a:gd name="T16" fmla="*/ 2147483647 w 1842"/>
              <a:gd name="T17" fmla="*/ 2147483647 h 3348"/>
              <a:gd name="T18" fmla="*/ 2147483647 w 1842"/>
              <a:gd name="T19" fmla="*/ 2147483647 h 3348"/>
              <a:gd name="T20" fmla="*/ 2147483647 w 1842"/>
              <a:gd name="T21" fmla="*/ 2147483647 h 3348"/>
              <a:gd name="T22" fmla="*/ 2147483647 w 1842"/>
              <a:gd name="T23" fmla="*/ 2147483647 h 3348"/>
              <a:gd name="T24" fmla="*/ 0 w 1842"/>
              <a:gd name="T25" fmla="*/ 2147483647 h 334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842" h="3348">
                <a:moveTo>
                  <a:pt x="132" y="0"/>
                </a:moveTo>
                <a:lnTo>
                  <a:pt x="138" y="1200"/>
                </a:lnTo>
                <a:lnTo>
                  <a:pt x="1326" y="1200"/>
                </a:lnTo>
                <a:lnTo>
                  <a:pt x="1326" y="948"/>
                </a:lnTo>
                <a:lnTo>
                  <a:pt x="1830" y="948"/>
                </a:lnTo>
                <a:lnTo>
                  <a:pt x="1842" y="2496"/>
                </a:lnTo>
                <a:lnTo>
                  <a:pt x="1656" y="2340"/>
                </a:lnTo>
                <a:lnTo>
                  <a:pt x="1644" y="1896"/>
                </a:lnTo>
                <a:lnTo>
                  <a:pt x="1248" y="1902"/>
                </a:lnTo>
                <a:lnTo>
                  <a:pt x="1230" y="2430"/>
                </a:lnTo>
                <a:lnTo>
                  <a:pt x="774" y="3348"/>
                </a:lnTo>
                <a:lnTo>
                  <a:pt x="6" y="3348"/>
                </a:lnTo>
                <a:lnTo>
                  <a:pt x="0" y="2226"/>
                </a:ln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grpSp>
        <p:nvGrpSpPr>
          <p:cNvPr id="179228" name="Group 54"/>
          <p:cNvGrpSpPr>
            <a:grpSpLocks/>
          </p:cNvGrpSpPr>
          <p:nvPr/>
        </p:nvGrpSpPr>
        <p:grpSpPr bwMode="auto">
          <a:xfrm>
            <a:off x="8066088" y="2166938"/>
            <a:ext cx="1095375" cy="338137"/>
            <a:chOff x="998" y="1077"/>
            <a:chExt cx="690" cy="213"/>
          </a:xfrm>
        </p:grpSpPr>
        <p:sp>
          <p:nvSpPr>
            <p:cNvPr id="71734" name="Rectangle 55"/>
            <p:cNvSpPr>
              <a:spLocks noChangeArrowheads="1"/>
            </p:cNvSpPr>
            <p:nvPr/>
          </p:nvSpPr>
          <p:spPr bwMode="auto">
            <a:xfrm>
              <a:off x="998" y="1113"/>
              <a:ext cx="690" cy="1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C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54" name="Text Box 7"/>
            <p:cNvSpPr txBox="1">
              <a:spLocks noChangeArrowheads="1"/>
            </p:cNvSpPr>
            <p:nvPr/>
          </p:nvSpPr>
          <p:spPr bwMode="auto">
            <a:xfrm>
              <a:off x="1107" y="1077"/>
              <a:ext cx="44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i="0" dirty="0">
                  <a:solidFill>
                    <a:srgbClr val="CC0000"/>
                  </a:solidFill>
                  <a:latin typeface="Arial" charset="0"/>
                  <a:cs typeface="Arial" charset="0"/>
                </a:rPr>
                <a:t>frame</a:t>
              </a:r>
            </a:p>
          </p:txBody>
        </p:sp>
      </p:grpSp>
      <p:grpSp>
        <p:nvGrpSpPr>
          <p:cNvPr id="179229" name="Group 57"/>
          <p:cNvGrpSpPr>
            <a:grpSpLocks/>
          </p:cNvGrpSpPr>
          <p:nvPr/>
        </p:nvGrpSpPr>
        <p:grpSpPr bwMode="auto">
          <a:xfrm>
            <a:off x="7742238" y="3919538"/>
            <a:ext cx="1095375" cy="338137"/>
            <a:chOff x="998" y="1077"/>
            <a:chExt cx="690" cy="213"/>
          </a:xfrm>
        </p:grpSpPr>
        <p:sp>
          <p:nvSpPr>
            <p:cNvPr id="71732" name="Rectangle 58"/>
            <p:cNvSpPr>
              <a:spLocks noChangeArrowheads="1"/>
            </p:cNvSpPr>
            <p:nvPr/>
          </p:nvSpPr>
          <p:spPr bwMode="auto">
            <a:xfrm>
              <a:off x="998" y="1113"/>
              <a:ext cx="690" cy="1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C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52" name="Text Box 7"/>
            <p:cNvSpPr txBox="1">
              <a:spLocks noChangeArrowheads="1"/>
            </p:cNvSpPr>
            <p:nvPr/>
          </p:nvSpPr>
          <p:spPr bwMode="auto">
            <a:xfrm>
              <a:off x="1107" y="1077"/>
              <a:ext cx="44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i="0" dirty="0">
                  <a:solidFill>
                    <a:srgbClr val="CC0000"/>
                  </a:solidFill>
                  <a:latin typeface="Arial" charset="0"/>
                  <a:cs typeface="Arial" charset="0"/>
                </a:rPr>
                <a:t>frame</a:t>
              </a:r>
            </a:p>
          </p:txBody>
        </p:sp>
      </p:grpSp>
      <p:grpSp>
        <p:nvGrpSpPr>
          <p:cNvPr id="179230" name="Group 60"/>
          <p:cNvGrpSpPr>
            <a:grpSpLocks/>
          </p:cNvGrpSpPr>
          <p:nvPr/>
        </p:nvGrpSpPr>
        <p:grpSpPr bwMode="auto">
          <a:xfrm>
            <a:off x="7808913" y="3638550"/>
            <a:ext cx="962025" cy="304800"/>
            <a:chOff x="1070" y="918"/>
            <a:chExt cx="606" cy="192"/>
          </a:xfrm>
        </p:grpSpPr>
        <p:sp>
          <p:nvSpPr>
            <p:cNvPr id="71730" name="Rectangle 61"/>
            <p:cNvSpPr>
              <a:spLocks noChangeArrowheads="1"/>
            </p:cNvSpPr>
            <p:nvPr/>
          </p:nvSpPr>
          <p:spPr bwMode="auto">
            <a:xfrm>
              <a:off x="1082" y="939"/>
              <a:ext cx="576" cy="1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C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50" name="Text Box 4"/>
            <p:cNvSpPr txBox="1">
              <a:spLocks noChangeArrowheads="1"/>
            </p:cNvSpPr>
            <p:nvPr/>
          </p:nvSpPr>
          <p:spPr bwMode="auto">
            <a:xfrm>
              <a:off x="1070" y="918"/>
              <a:ext cx="60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400" i="0" dirty="0">
                  <a:solidFill>
                    <a:srgbClr val="CC0000"/>
                  </a:solidFill>
                  <a:latin typeface="Arial" charset="0"/>
                  <a:cs typeface="Arial" charset="0"/>
                </a:rPr>
                <a:t>datagram</a:t>
              </a:r>
            </a:p>
          </p:txBody>
        </p:sp>
      </p:grpSp>
      <p:sp>
        <p:nvSpPr>
          <p:cNvPr id="179231" name="Freeform 63"/>
          <p:cNvSpPr>
            <a:spLocks/>
          </p:cNvSpPr>
          <p:nvPr/>
        </p:nvSpPr>
        <p:spPr bwMode="auto">
          <a:xfrm>
            <a:off x="6424613" y="3533775"/>
            <a:ext cx="361950" cy="923925"/>
          </a:xfrm>
          <a:custGeom>
            <a:avLst/>
            <a:gdLst>
              <a:gd name="T0" fmla="*/ 2147483647 w 228"/>
              <a:gd name="T1" fmla="*/ 0 h 582"/>
              <a:gd name="T2" fmla="*/ 2147483647 w 228"/>
              <a:gd name="T3" fmla="*/ 2147483647 h 582"/>
              <a:gd name="T4" fmla="*/ 2147483647 w 228"/>
              <a:gd name="T5" fmla="*/ 2147483647 h 582"/>
              <a:gd name="T6" fmla="*/ 0 w 228"/>
              <a:gd name="T7" fmla="*/ 2147483647 h 582"/>
              <a:gd name="T8" fmla="*/ 2147483647 w 228"/>
              <a:gd name="T9" fmla="*/ 0 h 5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28" h="582">
                <a:moveTo>
                  <a:pt x="228" y="0"/>
                </a:moveTo>
                <a:lnTo>
                  <a:pt x="228" y="582"/>
                </a:lnTo>
                <a:lnTo>
                  <a:pt x="12" y="360"/>
                </a:lnTo>
                <a:lnTo>
                  <a:pt x="0" y="222"/>
                </a:lnTo>
                <a:lnTo>
                  <a:pt x="228" y="0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000099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grpSp>
        <p:nvGrpSpPr>
          <p:cNvPr id="179232" name="Group 44"/>
          <p:cNvGrpSpPr>
            <a:grpSpLocks/>
          </p:cNvGrpSpPr>
          <p:nvPr/>
        </p:nvGrpSpPr>
        <p:grpSpPr bwMode="auto">
          <a:xfrm>
            <a:off x="6481763" y="1347788"/>
            <a:ext cx="762000" cy="693737"/>
            <a:chOff x="-44" y="1473"/>
            <a:chExt cx="981" cy="1105"/>
          </a:xfrm>
        </p:grpSpPr>
        <p:pic>
          <p:nvPicPr>
            <p:cNvPr id="17924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924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9233" name="Group 44"/>
          <p:cNvGrpSpPr>
            <a:grpSpLocks/>
          </p:cNvGrpSpPr>
          <p:nvPr/>
        </p:nvGrpSpPr>
        <p:grpSpPr bwMode="auto">
          <a:xfrm>
            <a:off x="6461125" y="6002338"/>
            <a:ext cx="762000" cy="693737"/>
            <a:chOff x="-44" y="1473"/>
            <a:chExt cx="981" cy="1105"/>
          </a:xfrm>
        </p:grpSpPr>
        <p:pic>
          <p:nvPicPr>
            <p:cNvPr id="17924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924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1715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463" y="2671763"/>
            <a:ext cx="877887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79236" name="Picture 23" descr="underline_base"/>
          <p:cNvPicPr>
            <a:picLocks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8" y="8477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33</a:t>
            </a:fld>
            <a:endParaRPr lang="en-US" sz="1200" dirty="0">
              <a:latin typeface="Tahoma" charset="0"/>
            </a:endParaRPr>
          </a:p>
        </p:txBody>
      </p:sp>
      <p:sp>
        <p:nvSpPr>
          <p:cNvPr id="7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grpSp>
        <p:nvGrpSpPr>
          <p:cNvPr id="71" name="Group 347"/>
          <p:cNvGrpSpPr>
            <a:grpSpLocks/>
          </p:cNvGrpSpPr>
          <p:nvPr/>
        </p:nvGrpSpPr>
        <p:grpSpPr bwMode="auto">
          <a:xfrm>
            <a:off x="5807754" y="3834926"/>
            <a:ext cx="781085" cy="431171"/>
            <a:chOff x="1871277" y="1576300"/>
            <a:chExt cx="1128371" cy="437861"/>
          </a:xfrm>
        </p:grpSpPr>
        <p:sp>
          <p:nvSpPr>
            <p:cNvPr id="72" name="Oval 7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3" name="Rectangle 7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74" name="Oval 7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5" name="Freeform 7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76" name="Freeform 7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77" name="Freeform 7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78" name="Freeform 7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79" name="Straight Connector 78"/>
            <p:cNvCxnSpPr>
              <a:endCxn id="7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119210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8" name="Freeform 81"/>
          <p:cNvSpPr>
            <a:spLocks/>
          </p:cNvSpPr>
          <p:nvPr/>
        </p:nvSpPr>
        <p:spPr bwMode="auto">
          <a:xfrm rot="5400000">
            <a:off x="1193801" y="808038"/>
            <a:ext cx="2789237" cy="4313238"/>
          </a:xfrm>
          <a:custGeom>
            <a:avLst/>
            <a:gdLst>
              <a:gd name="T0" fmla="*/ 2147483647 w 10000"/>
              <a:gd name="T1" fmla="*/ 2147483647 h 9831"/>
              <a:gd name="T2" fmla="*/ 2147483647 w 10000"/>
              <a:gd name="T3" fmla="*/ 2147483647 h 9831"/>
              <a:gd name="T4" fmla="*/ 2147483647 w 10000"/>
              <a:gd name="T5" fmla="*/ 2147483647 h 9831"/>
              <a:gd name="T6" fmla="*/ 2147483647 w 10000"/>
              <a:gd name="T7" fmla="*/ 2147483647 h 9831"/>
              <a:gd name="T8" fmla="*/ 2147483647 w 10000"/>
              <a:gd name="T9" fmla="*/ 2147483647 h 9831"/>
              <a:gd name="T10" fmla="*/ 2147483647 w 10000"/>
              <a:gd name="T11" fmla="*/ 2147483647 h 9831"/>
              <a:gd name="T12" fmla="*/ 2147483647 w 10000"/>
              <a:gd name="T13" fmla="*/ 2147483647 h 9831"/>
              <a:gd name="T14" fmla="*/ 2147483647 w 10000"/>
              <a:gd name="T15" fmla="*/ 2147483647 h 9831"/>
              <a:gd name="T16" fmla="*/ 2147483647 w 10000"/>
              <a:gd name="T17" fmla="*/ 2147483647 h 9831"/>
              <a:gd name="T18" fmla="*/ 2147483647 w 10000"/>
              <a:gd name="T19" fmla="*/ 2147483647 h 9831"/>
              <a:gd name="T20" fmla="*/ 2147483647 w 10000"/>
              <a:gd name="T21" fmla="*/ 2147483647 h 9831"/>
              <a:gd name="T22" fmla="*/ 2147483647 w 10000"/>
              <a:gd name="T23" fmla="*/ 2147483647 h 98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0000" h="9831">
                <a:moveTo>
                  <a:pt x="3018" y="119"/>
                </a:moveTo>
                <a:cubicBezTo>
                  <a:pt x="2111" y="198"/>
                  <a:pt x="1047" y="-39"/>
                  <a:pt x="545" y="518"/>
                </a:cubicBezTo>
                <a:cubicBezTo>
                  <a:pt x="43" y="1076"/>
                  <a:pt x="40" y="2518"/>
                  <a:pt x="8" y="3464"/>
                </a:cubicBezTo>
                <a:cubicBezTo>
                  <a:pt x="-24" y="4411"/>
                  <a:pt x="32" y="5681"/>
                  <a:pt x="354" y="6198"/>
                </a:cubicBezTo>
                <a:cubicBezTo>
                  <a:pt x="677" y="6715"/>
                  <a:pt x="1127" y="6126"/>
                  <a:pt x="1947" y="6568"/>
                </a:cubicBezTo>
                <a:cubicBezTo>
                  <a:pt x="2769" y="7010"/>
                  <a:pt x="4247" y="8310"/>
                  <a:pt x="5285" y="8849"/>
                </a:cubicBezTo>
                <a:cubicBezTo>
                  <a:pt x="6321" y="9388"/>
                  <a:pt x="7408" y="9963"/>
                  <a:pt x="8172" y="9805"/>
                </a:cubicBezTo>
                <a:cubicBezTo>
                  <a:pt x="8934" y="9645"/>
                  <a:pt x="9588" y="8930"/>
                  <a:pt x="9864" y="7895"/>
                </a:cubicBezTo>
                <a:cubicBezTo>
                  <a:pt x="10140" y="6857"/>
                  <a:pt x="9927" y="4774"/>
                  <a:pt x="9830" y="3590"/>
                </a:cubicBezTo>
                <a:cubicBezTo>
                  <a:pt x="9733" y="2406"/>
                  <a:pt x="10004" y="1276"/>
                  <a:pt x="9282" y="788"/>
                </a:cubicBezTo>
                <a:cubicBezTo>
                  <a:pt x="8561" y="302"/>
                  <a:pt x="7028" y="160"/>
                  <a:pt x="5984" y="49"/>
                </a:cubicBezTo>
                <a:cubicBezTo>
                  <a:pt x="4940" y="-62"/>
                  <a:pt x="3924" y="41"/>
                  <a:pt x="3018" y="119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2717" name="Line 33"/>
          <p:cNvSpPr>
            <a:spLocks noChangeShapeType="1"/>
          </p:cNvSpPr>
          <p:nvPr/>
        </p:nvSpPr>
        <p:spPr bwMode="auto">
          <a:xfrm flipH="1">
            <a:off x="1325563" y="2581275"/>
            <a:ext cx="11811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18" name="Line 34"/>
          <p:cNvSpPr>
            <a:spLocks noChangeShapeType="1"/>
          </p:cNvSpPr>
          <p:nvPr/>
        </p:nvSpPr>
        <p:spPr bwMode="auto">
          <a:xfrm>
            <a:off x="2617788" y="2573338"/>
            <a:ext cx="0" cy="946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19" name="Line 35"/>
          <p:cNvSpPr>
            <a:spLocks noChangeShapeType="1"/>
          </p:cNvSpPr>
          <p:nvPr/>
        </p:nvSpPr>
        <p:spPr bwMode="auto">
          <a:xfrm flipH="1" flipV="1">
            <a:off x="2728913" y="2530475"/>
            <a:ext cx="1063625" cy="1047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20" name="Line 59"/>
          <p:cNvSpPr>
            <a:spLocks noChangeShapeType="1"/>
          </p:cNvSpPr>
          <p:nvPr/>
        </p:nvSpPr>
        <p:spPr bwMode="auto">
          <a:xfrm flipV="1">
            <a:off x="2789238" y="2132013"/>
            <a:ext cx="706437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21" name="Line 60"/>
          <p:cNvSpPr>
            <a:spLocks noChangeShapeType="1"/>
          </p:cNvSpPr>
          <p:nvPr/>
        </p:nvSpPr>
        <p:spPr bwMode="auto">
          <a:xfrm flipV="1">
            <a:off x="2670175" y="1924050"/>
            <a:ext cx="385763" cy="490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22" name="Line 77"/>
          <p:cNvSpPr>
            <a:spLocks noChangeShapeType="1"/>
          </p:cNvSpPr>
          <p:nvPr/>
        </p:nvSpPr>
        <p:spPr bwMode="auto">
          <a:xfrm>
            <a:off x="2038350" y="2024063"/>
            <a:ext cx="498475" cy="415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23" name="Line 78"/>
          <p:cNvSpPr>
            <a:spLocks noChangeShapeType="1"/>
          </p:cNvSpPr>
          <p:nvPr/>
        </p:nvSpPr>
        <p:spPr bwMode="auto">
          <a:xfrm flipH="1">
            <a:off x="1235075" y="1957388"/>
            <a:ext cx="4905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24" name="Line 20"/>
          <p:cNvSpPr>
            <a:spLocks noChangeShapeType="1"/>
          </p:cNvSpPr>
          <p:nvPr/>
        </p:nvSpPr>
        <p:spPr bwMode="auto">
          <a:xfrm flipH="1">
            <a:off x="928688" y="3463925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25" name="Line 21"/>
          <p:cNvSpPr>
            <a:spLocks noChangeShapeType="1"/>
          </p:cNvSpPr>
          <p:nvPr/>
        </p:nvSpPr>
        <p:spPr bwMode="auto">
          <a:xfrm flipH="1">
            <a:off x="1152525" y="3494088"/>
            <a:ext cx="157163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26" name="Line 22"/>
          <p:cNvSpPr>
            <a:spLocks noChangeShapeType="1"/>
          </p:cNvSpPr>
          <p:nvPr/>
        </p:nvSpPr>
        <p:spPr bwMode="auto">
          <a:xfrm>
            <a:off x="1393825" y="3513138"/>
            <a:ext cx="42863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81269" name="Group 44"/>
          <p:cNvGrpSpPr>
            <a:grpSpLocks/>
          </p:cNvGrpSpPr>
          <p:nvPr/>
        </p:nvGrpSpPr>
        <p:grpSpPr bwMode="auto">
          <a:xfrm>
            <a:off x="666187" y="3337113"/>
            <a:ext cx="328359" cy="310623"/>
            <a:chOff x="-44" y="1473"/>
            <a:chExt cx="981" cy="1105"/>
          </a:xfrm>
        </p:grpSpPr>
        <p:pic>
          <p:nvPicPr>
            <p:cNvPr id="18139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9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1270" name="Group 44"/>
          <p:cNvGrpSpPr>
            <a:grpSpLocks/>
          </p:cNvGrpSpPr>
          <p:nvPr/>
        </p:nvGrpSpPr>
        <p:grpSpPr bwMode="auto">
          <a:xfrm>
            <a:off x="900729" y="3632280"/>
            <a:ext cx="328359" cy="310623"/>
            <a:chOff x="-44" y="1473"/>
            <a:chExt cx="981" cy="1105"/>
          </a:xfrm>
        </p:grpSpPr>
        <p:pic>
          <p:nvPicPr>
            <p:cNvPr id="18139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9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1271" name="Group 44"/>
          <p:cNvGrpSpPr>
            <a:grpSpLocks/>
          </p:cNvGrpSpPr>
          <p:nvPr/>
        </p:nvGrpSpPr>
        <p:grpSpPr bwMode="auto">
          <a:xfrm>
            <a:off x="1205633" y="3651958"/>
            <a:ext cx="328359" cy="310623"/>
            <a:chOff x="-44" y="1473"/>
            <a:chExt cx="981" cy="1105"/>
          </a:xfrm>
        </p:grpSpPr>
        <p:pic>
          <p:nvPicPr>
            <p:cNvPr id="18139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9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72730" name="Line 21"/>
          <p:cNvSpPr>
            <a:spLocks noChangeShapeType="1"/>
          </p:cNvSpPr>
          <p:nvPr/>
        </p:nvSpPr>
        <p:spPr bwMode="auto">
          <a:xfrm>
            <a:off x="1520825" y="3468688"/>
            <a:ext cx="219075" cy="19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31" name="Line 22"/>
          <p:cNvSpPr>
            <a:spLocks noChangeShapeType="1"/>
          </p:cNvSpPr>
          <p:nvPr/>
        </p:nvSpPr>
        <p:spPr bwMode="auto">
          <a:xfrm flipH="1">
            <a:off x="1654175" y="3787775"/>
            <a:ext cx="69850" cy="188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32" name="Line 22"/>
          <p:cNvSpPr>
            <a:spLocks noChangeShapeType="1"/>
          </p:cNvSpPr>
          <p:nvPr/>
        </p:nvSpPr>
        <p:spPr bwMode="auto">
          <a:xfrm>
            <a:off x="1889125" y="3794125"/>
            <a:ext cx="41275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33" name="Line 20"/>
          <p:cNvSpPr>
            <a:spLocks noChangeShapeType="1"/>
          </p:cNvSpPr>
          <p:nvPr/>
        </p:nvSpPr>
        <p:spPr bwMode="auto">
          <a:xfrm flipH="1">
            <a:off x="1828800" y="3717925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81276" name="Group 44"/>
          <p:cNvGrpSpPr>
            <a:grpSpLocks/>
          </p:cNvGrpSpPr>
          <p:nvPr/>
        </p:nvGrpSpPr>
        <p:grpSpPr bwMode="auto">
          <a:xfrm>
            <a:off x="1439164" y="3892842"/>
            <a:ext cx="328359" cy="310623"/>
            <a:chOff x="-44" y="1473"/>
            <a:chExt cx="981" cy="1105"/>
          </a:xfrm>
        </p:grpSpPr>
        <p:pic>
          <p:nvPicPr>
            <p:cNvPr id="18139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9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1277" name="Group 44"/>
          <p:cNvGrpSpPr>
            <a:grpSpLocks/>
          </p:cNvGrpSpPr>
          <p:nvPr/>
        </p:nvGrpSpPr>
        <p:grpSpPr bwMode="auto">
          <a:xfrm>
            <a:off x="1703023" y="3936948"/>
            <a:ext cx="328359" cy="310623"/>
            <a:chOff x="-44" y="1473"/>
            <a:chExt cx="981" cy="1105"/>
          </a:xfrm>
        </p:grpSpPr>
        <p:pic>
          <p:nvPicPr>
            <p:cNvPr id="18138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9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2736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925" y="3365500"/>
            <a:ext cx="390525" cy="19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72737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3633788"/>
            <a:ext cx="392112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81280" name="Group 44"/>
          <p:cNvGrpSpPr>
            <a:grpSpLocks/>
          </p:cNvGrpSpPr>
          <p:nvPr/>
        </p:nvGrpSpPr>
        <p:grpSpPr bwMode="auto">
          <a:xfrm>
            <a:off x="1948686" y="3587498"/>
            <a:ext cx="328359" cy="310623"/>
            <a:chOff x="-44" y="1473"/>
            <a:chExt cx="981" cy="1105"/>
          </a:xfrm>
        </p:grpSpPr>
        <p:pic>
          <p:nvPicPr>
            <p:cNvPr id="18138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8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72739" name="Line 20"/>
          <p:cNvSpPr>
            <a:spLocks noChangeShapeType="1"/>
          </p:cNvSpPr>
          <p:nvPr/>
        </p:nvSpPr>
        <p:spPr bwMode="auto">
          <a:xfrm flipH="1">
            <a:off x="3363913" y="3636963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40" name="Line 21"/>
          <p:cNvSpPr>
            <a:spLocks noChangeShapeType="1"/>
          </p:cNvSpPr>
          <p:nvPr/>
        </p:nvSpPr>
        <p:spPr bwMode="auto">
          <a:xfrm flipH="1">
            <a:off x="3587750" y="3667125"/>
            <a:ext cx="157163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41" name="Line 22"/>
          <p:cNvSpPr>
            <a:spLocks noChangeShapeType="1"/>
          </p:cNvSpPr>
          <p:nvPr/>
        </p:nvSpPr>
        <p:spPr bwMode="auto">
          <a:xfrm>
            <a:off x="3829050" y="3686175"/>
            <a:ext cx="42863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81284" name="Group 44"/>
          <p:cNvGrpSpPr>
            <a:grpSpLocks/>
          </p:cNvGrpSpPr>
          <p:nvPr/>
        </p:nvGrpSpPr>
        <p:grpSpPr bwMode="auto">
          <a:xfrm>
            <a:off x="3186502" y="3516927"/>
            <a:ext cx="328359" cy="310623"/>
            <a:chOff x="-44" y="1473"/>
            <a:chExt cx="981" cy="1105"/>
          </a:xfrm>
        </p:grpSpPr>
        <p:pic>
          <p:nvPicPr>
            <p:cNvPr id="18138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8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1285" name="Group 44"/>
          <p:cNvGrpSpPr>
            <a:grpSpLocks/>
          </p:cNvGrpSpPr>
          <p:nvPr/>
        </p:nvGrpSpPr>
        <p:grpSpPr bwMode="auto">
          <a:xfrm>
            <a:off x="3336123" y="3805310"/>
            <a:ext cx="328359" cy="310623"/>
            <a:chOff x="-44" y="1473"/>
            <a:chExt cx="981" cy="1105"/>
          </a:xfrm>
        </p:grpSpPr>
        <p:pic>
          <p:nvPicPr>
            <p:cNvPr id="18138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8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1286" name="Group 44"/>
          <p:cNvGrpSpPr>
            <a:grpSpLocks/>
          </p:cNvGrpSpPr>
          <p:nvPr/>
        </p:nvGrpSpPr>
        <p:grpSpPr bwMode="auto">
          <a:xfrm>
            <a:off x="3641028" y="3824987"/>
            <a:ext cx="328359" cy="310623"/>
            <a:chOff x="-44" y="1473"/>
            <a:chExt cx="981" cy="1105"/>
          </a:xfrm>
        </p:grpSpPr>
        <p:pic>
          <p:nvPicPr>
            <p:cNvPr id="18138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8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72745" name="Line 20"/>
          <p:cNvSpPr>
            <a:spLocks noChangeShapeType="1"/>
          </p:cNvSpPr>
          <p:nvPr/>
        </p:nvSpPr>
        <p:spPr bwMode="auto">
          <a:xfrm flipH="1" flipV="1">
            <a:off x="2773363" y="3667125"/>
            <a:ext cx="349250" cy="201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46" name="Line 21"/>
          <p:cNvSpPr>
            <a:spLocks noChangeShapeType="1"/>
          </p:cNvSpPr>
          <p:nvPr/>
        </p:nvSpPr>
        <p:spPr bwMode="auto">
          <a:xfrm flipH="1">
            <a:off x="2505075" y="3636963"/>
            <a:ext cx="157163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47" name="Line 22"/>
          <p:cNvSpPr>
            <a:spLocks noChangeShapeType="1"/>
          </p:cNvSpPr>
          <p:nvPr/>
        </p:nvSpPr>
        <p:spPr bwMode="auto">
          <a:xfrm>
            <a:off x="2746375" y="3656013"/>
            <a:ext cx="42863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81290" name="Group 44"/>
          <p:cNvGrpSpPr>
            <a:grpSpLocks/>
          </p:cNvGrpSpPr>
          <p:nvPr/>
        </p:nvGrpSpPr>
        <p:grpSpPr bwMode="auto">
          <a:xfrm>
            <a:off x="2855919" y="3771381"/>
            <a:ext cx="328359" cy="310623"/>
            <a:chOff x="-44" y="1473"/>
            <a:chExt cx="981" cy="1105"/>
          </a:xfrm>
        </p:grpSpPr>
        <p:pic>
          <p:nvPicPr>
            <p:cNvPr id="18137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8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1291" name="Group 44"/>
          <p:cNvGrpSpPr>
            <a:grpSpLocks/>
          </p:cNvGrpSpPr>
          <p:nvPr/>
        </p:nvGrpSpPr>
        <p:grpSpPr bwMode="auto">
          <a:xfrm>
            <a:off x="2253389" y="3774775"/>
            <a:ext cx="328359" cy="310623"/>
            <a:chOff x="-44" y="1473"/>
            <a:chExt cx="981" cy="1105"/>
          </a:xfrm>
        </p:grpSpPr>
        <p:pic>
          <p:nvPicPr>
            <p:cNvPr id="18137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7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1292" name="Group 44"/>
          <p:cNvGrpSpPr>
            <a:grpSpLocks/>
          </p:cNvGrpSpPr>
          <p:nvPr/>
        </p:nvGrpSpPr>
        <p:grpSpPr bwMode="auto">
          <a:xfrm>
            <a:off x="2558293" y="3794453"/>
            <a:ext cx="328359" cy="310623"/>
            <a:chOff x="-44" y="1473"/>
            <a:chExt cx="981" cy="1105"/>
          </a:xfrm>
        </p:grpSpPr>
        <p:pic>
          <p:nvPicPr>
            <p:cNvPr id="18137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7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2751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5" y="3508375"/>
            <a:ext cx="392113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72752" name="Line 20"/>
          <p:cNvSpPr>
            <a:spLocks noChangeShapeType="1"/>
          </p:cNvSpPr>
          <p:nvPr/>
        </p:nvSpPr>
        <p:spPr bwMode="auto">
          <a:xfrm flipH="1">
            <a:off x="3846513" y="3687763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72753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3150" y="3538538"/>
            <a:ext cx="392113" cy="195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81296" name="Group 44"/>
          <p:cNvGrpSpPr>
            <a:grpSpLocks/>
          </p:cNvGrpSpPr>
          <p:nvPr/>
        </p:nvGrpSpPr>
        <p:grpSpPr bwMode="auto">
          <a:xfrm>
            <a:off x="3941686" y="3547462"/>
            <a:ext cx="328359" cy="310623"/>
            <a:chOff x="-44" y="1473"/>
            <a:chExt cx="981" cy="1105"/>
          </a:xfrm>
        </p:grpSpPr>
        <p:pic>
          <p:nvPicPr>
            <p:cNvPr id="18137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7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2755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138" y="2371725"/>
            <a:ext cx="53975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81298" name="Group 906"/>
          <p:cNvGrpSpPr>
            <a:grpSpLocks/>
          </p:cNvGrpSpPr>
          <p:nvPr/>
        </p:nvGrpSpPr>
        <p:grpSpPr bwMode="auto">
          <a:xfrm>
            <a:off x="3049940" y="1757677"/>
            <a:ext cx="211953" cy="373659"/>
            <a:chOff x="4140" y="429"/>
            <a:chExt cx="1425" cy="2396"/>
          </a:xfrm>
        </p:grpSpPr>
        <p:sp>
          <p:nvSpPr>
            <p:cNvPr id="181341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00" name="Rectangle 908"/>
            <p:cNvSpPr>
              <a:spLocks noChangeArrowheads="1"/>
            </p:cNvSpPr>
            <p:nvPr/>
          </p:nvSpPr>
          <p:spPr bwMode="auto">
            <a:xfrm>
              <a:off x="4202" y="427"/>
              <a:ext cx="1057" cy="2290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1343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1344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03" name="Rectangle 911"/>
            <p:cNvSpPr>
              <a:spLocks noChangeArrowheads="1"/>
            </p:cNvSpPr>
            <p:nvPr/>
          </p:nvSpPr>
          <p:spPr bwMode="auto">
            <a:xfrm>
              <a:off x="4212" y="692"/>
              <a:ext cx="598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1346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2829" name="AutoShape 913"/>
              <p:cNvSpPr>
                <a:spLocks noChangeArrowheads="1"/>
              </p:cNvSpPr>
              <p:nvPr/>
            </p:nvSpPr>
            <p:spPr bwMode="auto">
              <a:xfrm>
                <a:off x="610" y="2571"/>
                <a:ext cx="73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830" name="AutoShape 914"/>
              <p:cNvSpPr>
                <a:spLocks noChangeArrowheads="1"/>
              </p:cNvSpPr>
              <p:nvPr/>
            </p:nvSpPr>
            <p:spPr bwMode="auto">
              <a:xfrm>
                <a:off x="624" y="2591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2805" name="Rectangle 915"/>
            <p:cNvSpPr>
              <a:spLocks noChangeArrowheads="1"/>
            </p:cNvSpPr>
            <p:nvPr/>
          </p:nvSpPr>
          <p:spPr bwMode="auto">
            <a:xfrm>
              <a:off x="4223" y="1017"/>
              <a:ext cx="598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1348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2827" name="AutoShape 917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7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828" name="AutoShape 918"/>
              <p:cNvSpPr>
                <a:spLocks noChangeArrowheads="1"/>
              </p:cNvSpPr>
              <p:nvPr/>
            </p:nvSpPr>
            <p:spPr bwMode="auto">
              <a:xfrm>
                <a:off x="626" y="2582"/>
                <a:ext cx="706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2807" name="Rectangle 919"/>
            <p:cNvSpPr>
              <a:spLocks noChangeArrowheads="1"/>
            </p:cNvSpPr>
            <p:nvPr/>
          </p:nvSpPr>
          <p:spPr bwMode="auto">
            <a:xfrm>
              <a:off x="4212" y="1363"/>
              <a:ext cx="598" cy="4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808" name="Rectangle 920"/>
            <p:cNvSpPr>
              <a:spLocks noChangeArrowheads="1"/>
            </p:cNvSpPr>
            <p:nvPr/>
          </p:nvSpPr>
          <p:spPr bwMode="auto">
            <a:xfrm>
              <a:off x="4223" y="1659"/>
              <a:ext cx="598" cy="4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1351" name="Group 921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2825" name="AutoShape 922"/>
              <p:cNvSpPr>
                <a:spLocks noChangeArrowheads="1"/>
              </p:cNvSpPr>
              <p:nvPr/>
            </p:nvSpPr>
            <p:spPr bwMode="auto">
              <a:xfrm>
                <a:off x="614" y="2569"/>
                <a:ext cx="731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826" name="AutoShape 923"/>
              <p:cNvSpPr>
                <a:spLocks noChangeArrowheads="1"/>
              </p:cNvSpPr>
              <p:nvPr/>
            </p:nvSpPr>
            <p:spPr bwMode="auto">
              <a:xfrm>
                <a:off x="628" y="2588"/>
                <a:ext cx="74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81352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81353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2823" name="AutoShape 926"/>
              <p:cNvSpPr>
                <a:spLocks noChangeArrowheads="1"/>
              </p:cNvSpPr>
              <p:nvPr/>
            </p:nvSpPr>
            <p:spPr bwMode="auto">
              <a:xfrm>
                <a:off x="609" y="2564"/>
                <a:ext cx="731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824" name="AutoShape 927"/>
              <p:cNvSpPr>
                <a:spLocks noChangeArrowheads="1"/>
              </p:cNvSpPr>
              <p:nvPr/>
            </p:nvSpPr>
            <p:spPr bwMode="auto">
              <a:xfrm>
                <a:off x="623" y="2584"/>
                <a:ext cx="705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2812" name="Rectangle 928"/>
            <p:cNvSpPr>
              <a:spLocks noChangeArrowheads="1"/>
            </p:cNvSpPr>
            <p:nvPr/>
          </p:nvSpPr>
          <p:spPr bwMode="auto">
            <a:xfrm>
              <a:off x="5248" y="427"/>
              <a:ext cx="75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1355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1356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15" name="Oval 931"/>
            <p:cNvSpPr>
              <a:spLocks noChangeArrowheads="1"/>
            </p:cNvSpPr>
            <p:nvPr/>
          </p:nvSpPr>
          <p:spPr bwMode="auto">
            <a:xfrm>
              <a:off x="5514" y="2616"/>
              <a:ext cx="53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1358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17" name="AutoShape 933"/>
            <p:cNvSpPr>
              <a:spLocks noChangeArrowheads="1"/>
            </p:cNvSpPr>
            <p:nvPr/>
          </p:nvSpPr>
          <p:spPr bwMode="auto">
            <a:xfrm>
              <a:off x="4138" y="2687"/>
              <a:ext cx="1206" cy="143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818" name="AutoShape 934"/>
            <p:cNvSpPr>
              <a:spLocks noChangeArrowheads="1"/>
            </p:cNvSpPr>
            <p:nvPr/>
          </p:nvSpPr>
          <p:spPr bwMode="auto">
            <a:xfrm>
              <a:off x="4202" y="2717"/>
              <a:ext cx="1078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819" name="Oval 935"/>
            <p:cNvSpPr>
              <a:spLocks noChangeArrowheads="1"/>
            </p:cNvSpPr>
            <p:nvPr/>
          </p:nvSpPr>
          <p:spPr bwMode="auto">
            <a:xfrm>
              <a:off x="4308" y="2381"/>
              <a:ext cx="160" cy="15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820" name="Oval 936"/>
            <p:cNvSpPr>
              <a:spLocks noChangeArrowheads="1"/>
            </p:cNvSpPr>
            <p:nvPr/>
          </p:nvSpPr>
          <p:spPr bwMode="auto">
            <a:xfrm>
              <a:off x="4490" y="2392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i="0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821" name="Oval 937"/>
            <p:cNvSpPr>
              <a:spLocks noChangeArrowheads="1"/>
            </p:cNvSpPr>
            <p:nvPr/>
          </p:nvSpPr>
          <p:spPr bwMode="auto">
            <a:xfrm>
              <a:off x="4661" y="2381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822" name="Rectangle 938"/>
            <p:cNvSpPr>
              <a:spLocks noChangeArrowheads="1"/>
            </p:cNvSpPr>
            <p:nvPr/>
          </p:nvSpPr>
          <p:spPr bwMode="auto">
            <a:xfrm>
              <a:off x="5066" y="1832"/>
              <a:ext cx="85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181300" name="Group 906"/>
          <p:cNvGrpSpPr>
            <a:grpSpLocks/>
          </p:cNvGrpSpPr>
          <p:nvPr/>
        </p:nvGrpSpPr>
        <p:grpSpPr bwMode="auto">
          <a:xfrm>
            <a:off x="3398720" y="2086772"/>
            <a:ext cx="211953" cy="373659"/>
            <a:chOff x="4140" y="429"/>
            <a:chExt cx="1425" cy="2396"/>
          </a:xfrm>
        </p:grpSpPr>
        <p:sp>
          <p:nvSpPr>
            <p:cNvPr id="181301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60" name="Rectangle 908"/>
            <p:cNvSpPr>
              <a:spLocks noChangeArrowheads="1"/>
            </p:cNvSpPr>
            <p:nvPr/>
          </p:nvSpPr>
          <p:spPr bwMode="auto">
            <a:xfrm>
              <a:off x="4205" y="434"/>
              <a:ext cx="1046" cy="2280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1303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1304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63" name="Rectangle 911"/>
            <p:cNvSpPr>
              <a:spLocks noChangeArrowheads="1"/>
            </p:cNvSpPr>
            <p:nvPr/>
          </p:nvSpPr>
          <p:spPr bwMode="auto">
            <a:xfrm>
              <a:off x="4216" y="699"/>
              <a:ext cx="587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1306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2789" name="AutoShape 913"/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19" cy="17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790" name="AutoShape 914"/>
              <p:cNvSpPr>
                <a:spLocks noChangeArrowheads="1"/>
              </p:cNvSpPr>
              <p:nvPr/>
            </p:nvSpPr>
            <p:spPr bwMode="auto">
              <a:xfrm>
                <a:off x="628" y="2588"/>
                <a:ext cx="693" cy="13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2765" name="Rectangle 915"/>
            <p:cNvSpPr>
              <a:spLocks noChangeArrowheads="1"/>
            </p:cNvSpPr>
            <p:nvPr/>
          </p:nvSpPr>
          <p:spPr bwMode="auto">
            <a:xfrm>
              <a:off x="4226" y="1024"/>
              <a:ext cx="587" cy="4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1308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2787" name="AutoShape 917"/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19" cy="18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788" name="AutoShape 918"/>
              <p:cNvSpPr>
                <a:spLocks noChangeArrowheads="1"/>
              </p:cNvSpPr>
              <p:nvPr/>
            </p:nvSpPr>
            <p:spPr bwMode="auto">
              <a:xfrm>
                <a:off x="630" y="2589"/>
                <a:ext cx="693" cy="13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2767" name="Rectangle 919"/>
            <p:cNvSpPr>
              <a:spLocks noChangeArrowheads="1"/>
            </p:cNvSpPr>
            <p:nvPr/>
          </p:nvSpPr>
          <p:spPr bwMode="auto">
            <a:xfrm>
              <a:off x="4216" y="1360"/>
              <a:ext cx="598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768" name="Rectangle 920"/>
            <p:cNvSpPr>
              <a:spLocks noChangeArrowheads="1"/>
            </p:cNvSpPr>
            <p:nvPr/>
          </p:nvSpPr>
          <p:spPr bwMode="auto">
            <a:xfrm>
              <a:off x="4226" y="1656"/>
              <a:ext cx="598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1311" name="Group 921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2785" name="AutoShape 922"/>
              <p:cNvSpPr>
                <a:spLocks noChangeArrowheads="1"/>
              </p:cNvSpPr>
              <p:nvPr/>
            </p:nvSpPr>
            <p:spPr bwMode="auto">
              <a:xfrm>
                <a:off x="618" y="2604"/>
                <a:ext cx="718" cy="10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786" name="AutoShape 923"/>
              <p:cNvSpPr>
                <a:spLocks noChangeArrowheads="1"/>
              </p:cNvSpPr>
              <p:nvPr/>
            </p:nvSpPr>
            <p:spPr bwMode="auto">
              <a:xfrm>
                <a:off x="632" y="2622"/>
                <a:ext cx="691" cy="6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81312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81313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2783" name="AutoShape 926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678" cy="17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784" name="AutoShape 927"/>
              <p:cNvSpPr>
                <a:spLocks noChangeArrowheads="1"/>
              </p:cNvSpPr>
              <p:nvPr/>
            </p:nvSpPr>
            <p:spPr bwMode="auto">
              <a:xfrm>
                <a:off x="627" y="2591"/>
                <a:ext cx="651" cy="13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2772" name="Rectangle 928"/>
            <p:cNvSpPr>
              <a:spLocks noChangeArrowheads="1"/>
            </p:cNvSpPr>
            <p:nvPr/>
          </p:nvSpPr>
          <p:spPr bwMode="auto">
            <a:xfrm>
              <a:off x="5251" y="434"/>
              <a:ext cx="64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1315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1316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75" name="Oval 931"/>
            <p:cNvSpPr>
              <a:spLocks noChangeArrowheads="1"/>
            </p:cNvSpPr>
            <p:nvPr/>
          </p:nvSpPr>
          <p:spPr bwMode="auto">
            <a:xfrm>
              <a:off x="5518" y="2612"/>
              <a:ext cx="43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1318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77" name="AutoShape 933"/>
            <p:cNvSpPr>
              <a:spLocks noChangeArrowheads="1"/>
            </p:cNvSpPr>
            <p:nvPr/>
          </p:nvSpPr>
          <p:spPr bwMode="auto">
            <a:xfrm>
              <a:off x="4141" y="2684"/>
              <a:ext cx="1195" cy="143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778" name="AutoShape 934"/>
            <p:cNvSpPr>
              <a:spLocks noChangeArrowheads="1"/>
            </p:cNvSpPr>
            <p:nvPr/>
          </p:nvSpPr>
          <p:spPr bwMode="auto">
            <a:xfrm>
              <a:off x="4205" y="2714"/>
              <a:ext cx="1067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779" name="Oval 935"/>
            <p:cNvSpPr>
              <a:spLocks noChangeArrowheads="1"/>
            </p:cNvSpPr>
            <p:nvPr/>
          </p:nvSpPr>
          <p:spPr bwMode="auto">
            <a:xfrm>
              <a:off x="4312" y="2389"/>
              <a:ext cx="14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780" name="Oval 936"/>
            <p:cNvSpPr>
              <a:spLocks noChangeArrowheads="1"/>
            </p:cNvSpPr>
            <p:nvPr/>
          </p:nvSpPr>
          <p:spPr bwMode="auto">
            <a:xfrm>
              <a:off x="4482" y="2389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i="0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781" name="Oval 937"/>
            <p:cNvSpPr>
              <a:spLocks noChangeArrowheads="1"/>
            </p:cNvSpPr>
            <p:nvPr/>
          </p:nvSpPr>
          <p:spPr bwMode="auto">
            <a:xfrm>
              <a:off x="4664" y="2378"/>
              <a:ext cx="14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782" name="Rectangle 938"/>
            <p:cNvSpPr>
              <a:spLocks noChangeArrowheads="1"/>
            </p:cNvSpPr>
            <p:nvPr/>
          </p:nvSpPr>
          <p:spPr bwMode="auto">
            <a:xfrm>
              <a:off x="5059" y="1839"/>
              <a:ext cx="85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sp>
        <p:nvSpPr>
          <p:cNvPr id="72709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85725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VLANs: motivation</a:t>
            </a:r>
          </a:p>
        </p:txBody>
      </p:sp>
      <p:sp>
        <p:nvSpPr>
          <p:cNvPr id="727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78413" y="1365250"/>
            <a:ext cx="3911600" cy="3895725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000099"/>
                </a:solidFill>
                <a:latin typeface="Gill Sans MT" charset="0"/>
                <a:cs typeface="+mn-cs"/>
              </a:rPr>
              <a:t>consider</a:t>
            </a:r>
            <a:r>
              <a:rPr lang="en-US" i="1" dirty="0">
                <a:latin typeface="Gill Sans MT" charset="0"/>
                <a:cs typeface="+mn-cs"/>
              </a:rPr>
              <a:t>:</a:t>
            </a:r>
          </a:p>
          <a:p>
            <a:pPr marL="231775" indent="-231775">
              <a:defRPr/>
            </a:pPr>
            <a:r>
              <a:rPr lang="en-US" sz="2400" dirty="0">
                <a:latin typeface="Gill Sans MT" charset="0"/>
                <a:cs typeface="+mn-cs"/>
              </a:rPr>
              <a:t>CS user moves office to EE, but wants connect to CS switch?</a:t>
            </a:r>
          </a:p>
          <a:p>
            <a:pPr marL="231775" indent="-231775">
              <a:defRPr/>
            </a:pPr>
            <a:r>
              <a:rPr lang="en-US" sz="2400" dirty="0">
                <a:latin typeface="Gill Sans MT" charset="0"/>
                <a:cs typeface="+mn-cs"/>
              </a:rPr>
              <a:t>single broadcast domain:</a:t>
            </a:r>
          </a:p>
          <a:p>
            <a:pPr marL="681038" lvl="1" indent="-223838">
              <a:defRPr/>
            </a:pPr>
            <a:r>
              <a:rPr lang="en-US" dirty="0">
                <a:latin typeface="Gill Sans MT" charset="0"/>
              </a:rPr>
              <a:t>all layer-2 broadcast traffic (ARP, DHCP, unknown location of destination MAC address) must cross entire LAN </a:t>
            </a:r>
          </a:p>
          <a:p>
            <a:pPr marL="681038" lvl="1" indent="-223838">
              <a:defRPr/>
            </a:pPr>
            <a:r>
              <a:rPr lang="en-US" dirty="0">
                <a:latin typeface="Gill Sans MT" charset="0"/>
              </a:rPr>
              <a:t>security/privacy, efficiency issues</a:t>
            </a:r>
          </a:p>
          <a:p>
            <a:pPr>
              <a:defRPr/>
            </a:pPr>
            <a:endParaRPr lang="en-US" sz="2400" dirty="0">
              <a:latin typeface="Gill Sans MT" charset="0"/>
              <a:cs typeface="+mn-cs"/>
            </a:endParaRPr>
          </a:p>
        </p:txBody>
      </p:sp>
      <p:sp>
        <p:nvSpPr>
          <p:cNvPr id="72711" name="Text Box 86"/>
          <p:cNvSpPr txBox="1">
            <a:spLocks noChangeArrowheads="1"/>
          </p:cNvSpPr>
          <p:nvPr/>
        </p:nvSpPr>
        <p:spPr bwMode="auto">
          <a:xfrm>
            <a:off x="346075" y="3976688"/>
            <a:ext cx="10191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Arial" charset="0"/>
              </a:rPr>
              <a:t>Computer </a:t>
            </a:r>
          </a:p>
          <a:p>
            <a:pPr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Arial" charset="0"/>
              </a:rPr>
              <a:t>Science</a:t>
            </a:r>
            <a:endParaRPr lang="en-US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2712" name="Text Box 87"/>
          <p:cNvSpPr txBox="1">
            <a:spLocks noChangeArrowheads="1"/>
          </p:cNvSpPr>
          <p:nvPr/>
        </p:nvSpPr>
        <p:spPr bwMode="auto">
          <a:xfrm>
            <a:off x="2009775" y="4227513"/>
            <a:ext cx="11414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Arial" charset="0"/>
              </a:rPr>
              <a:t>Electrical</a:t>
            </a:r>
          </a:p>
          <a:p>
            <a:pPr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Arial" charset="0"/>
              </a:rPr>
              <a:t>Engineering</a:t>
            </a:r>
            <a:endParaRPr lang="en-US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2713" name="Text Box 88"/>
          <p:cNvSpPr txBox="1">
            <a:spLocks noChangeArrowheads="1"/>
          </p:cNvSpPr>
          <p:nvPr/>
        </p:nvSpPr>
        <p:spPr bwMode="auto">
          <a:xfrm>
            <a:off x="3500438" y="4068763"/>
            <a:ext cx="11398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Arial" charset="0"/>
              </a:rPr>
              <a:t>Computer</a:t>
            </a:r>
          </a:p>
          <a:p>
            <a:pPr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Arial" charset="0"/>
              </a:rPr>
              <a:t>Engineering</a:t>
            </a:r>
            <a:endParaRPr lang="en-US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pic>
        <p:nvPicPr>
          <p:cNvPr id="181257" name="Picture 23" descr="underline_base"/>
          <p:cNvPicPr>
            <a:picLocks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50" y="906463"/>
            <a:ext cx="4113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34</a:t>
            </a:fld>
            <a:endParaRPr lang="en-US" sz="1200" dirty="0">
              <a:latin typeface="Tahoma" charset="0"/>
            </a:endParaRPr>
          </a:p>
        </p:txBody>
      </p:sp>
      <p:sp>
        <p:nvSpPr>
          <p:cNvPr id="15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grpSp>
        <p:nvGrpSpPr>
          <p:cNvPr id="154" name="Group 347"/>
          <p:cNvGrpSpPr>
            <a:grpSpLocks/>
          </p:cNvGrpSpPr>
          <p:nvPr/>
        </p:nvGrpSpPr>
        <p:grpSpPr bwMode="auto">
          <a:xfrm>
            <a:off x="1620192" y="1815942"/>
            <a:ext cx="518892" cy="300522"/>
            <a:chOff x="1871277" y="1576300"/>
            <a:chExt cx="1128371" cy="437861"/>
          </a:xfrm>
        </p:grpSpPr>
        <p:sp>
          <p:nvSpPr>
            <p:cNvPr id="155" name="Oval 154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6" name="Rectangle 155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57" name="Oval 156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8" name="Freeform 157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59" name="Freeform 158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60" name="Freeform 159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61" name="Freeform 160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62" name="Straight Connector 161"/>
            <p:cNvCxnSpPr>
              <a:endCxn id="157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114357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213"/>
          <p:cNvSpPr>
            <a:spLocks noChangeArrowheads="1"/>
          </p:cNvSpPr>
          <p:nvPr/>
        </p:nvSpPr>
        <p:spPr bwMode="auto">
          <a:xfrm>
            <a:off x="7543800" y="2105025"/>
            <a:ext cx="279400" cy="2286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3736" name="Rectangle 212"/>
          <p:cNvSpPr>
            <a:spLocks noChangeArrowheads="1"/>
          </p:cNvSpPr>
          <p:nvPr/>
        </p:nvSpPr>
        <p:spPr bwMode="auto">
          <a:xfrm>
            <a:off x="5470525" y="1889125"/>
            <a:ext cx="273050" cy="19685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37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VLANs</a:t>
            </a:r>
          </a:p>
        </p:txBody>
      </p:sp>
      <p:sp>
        <p:nvSpPr>
          <p:cNvPr id="737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97338" y="355600"/>
            <a:ext cx="4926012" cy="16256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port-based VLAN: </a:t>
            </a:r>
            <a:r>
              <a:rPr lang="en-US" sz="2400" dirty="0">
                <a:latin typeface="Gill Sans MT" charset="0"/>
                <a:cs typeface="+mn-cs"/>
              </a:rPr>
              <a:t>switch ports grouped (by switch management software) so that </a:t>
            </a: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single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physical switch ……</a:t>
            </a:r>
          </a:p>
          <a:p>
            <a:pPr>
              <a:defRPr/>
            </a:pPr>
            <a:endParaRPr lang="en-US" sz="2000" dirty="0">
              <a:latin typeface="Gill Sans MT" charset="0"/>
              <a:cs typeface="+mn-cs"/>
            </a:endParaRPr>
          </a:p>
        </p:txBody>
      </p:sp>
      <p:sp>
        <p:nvSpPr>
          <p:cNvPr id="73739" name="Text Box 85"/>
          <p:cNvSpPr txBox="1">
            <a:spLocks noChangeArrowheads="1"/>
          </p:cNvSpPr>
          <p:nvPr/>
        </p:nvSpPr>
        <p:spPr bwMode="auto">
          <a:xfrm>
            <a:off x="681038" y="2265363"/>
            <a:ext cx="2944812" cy="2462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200" i="0" dirty="0">
                <a:solidFill>
                  <a:srgbClr val="000000"/>
                </a:solidFill>
                <a:latin typeface="Arial" charset="0"/>
                <a:cs typeface="Arial" charset="0"/>
              </a:rPr>
              <a:t>switch(es) supporting VLAN capabilities can be configured to define multiple </a:t>
            </a:r>
            <a:r>
              <a:rPr lang="en-US" sz="2200" b="1" u="sng" dirty="0">
                <a:solidFill>
                  <a:srgbClr val="CC0000"/>
                </a:solidFill>
                <a:latin typeface="Arial" charset="0"/>
                <a:cs typeface="Arial" charset="0"/>
              </a:rPr>
              <a:t>virtual</a:t>
            </a:r>
            <a:r>
              <a:rPr lang="en-US" sz="2200" i="0" dirty="0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  <a:r>
              <a:rPr lang="en-US" sz="2200" i="0" dirty="0">
                <a:solidFill>
                  <a:srgbClr val="000000"/>
                </a:solidFill>
                <a:latin typeface="Arial" charset="0"/>
                <a:cs typeface="Arial" charset="0"/>
              </a:rPr>
              <a:t>LANS over single physical LAN infrastructure.</a:t>
            </a:r>
          </a:p>
        </p:txBody>
      </p:sp>
      <p:sp>
        <p:nvSpPr>
          <p:cNvPr id="73740" name="Rectangle 86"/>
          <p:cNvSpPr>
            <a:spLocks noChangeArrowheads="1"/>
          </p:cNvSpPr>
          <p:nvPr/>
        </p:nvSpPr>
        <p:spPr bwMode="auto">
          <a:xfrm>
            <a:off x="482600" y="1919288"/>
            <a:ext cx="3216275" cy="2813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3741" name="Text Box 87"/>
          <p:cNvSpPr txBox="1">
            <a:spLocks noChangeArrowheads="1"/>
          </p:cNvSpPr>
          <p:nvPr/>
        </p:nvSpPr>
        <p:spPr bwMode="auto">
          <a:xfrm>
            <a:off x="642938" y="1543050"/>
            <a:ext cx="1836737" cy="7080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b="1" dirty="0">
                <a:solidFill>
                  <a:srgbClr val="CC0000"/>
                </a:solidFill>
                <a:latin typeface="Arial" charset="0"/>
                <a:cs typeface="Arial" charset="0"/>
              </a:rPr>
              <a:t>Virtual Local </a:t>
            </a:r>
          </a:p>
          <a:p>
            <a:pPr>
              <a:defRPr/>
            </a:pPr>
            <a:r>
              <a:rPr lang="en-US" sz="2000" b="1" dirty="0">
                <a:solidFill>
                  <a:srgbClr val="CC0000"/>
                </a:solidFill>
                <a:latin typeface="Arial" charset="0"/>
                <a:cs typeface="Arial" charset="0"/>
              </a:rPr>
              <a:t>Area Network</a:t>
            </a:r>
          </a:p>
        </p:txBody>
      </p:sp>
      <p:sp>
        <p:nvSpPr>
          <p:cNvPr id="182282" name="Rectangle 80"/>
          <p:cNvSpPr>
            <a:spLocks noChangeArrowheads="1"/>
          </p:cNvSpPr>
          <p:nvPr/>
        </p:nvSpPr>
        <p:spPr bwMode="auto">
          <a:xfrm>
            <a:off x="5462588" y="2098675"/>
            <a:ext cx="290512" cy="242888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283" name="Rectangle 77"/>
          <p:cNvSpPr>
            <a:spLocks noChangeArrowheads="1"/>
          </p:cNvSpPr>
          <p:nvPr/>
        </p:nvSpPr>
        <p:spPr bwMode="auto">
          <a:xfrm>
            <a:off x="7534275" y="1879600"/>
            <a:ext cx="290513" cy="2095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284" name="Rectangle 76"/>
          <p:cNvSpPr>
            <a:spLocks noChangeArrowheads="1"/>
          </p:cNvSpPr>
          <p:nvPr/>
        </p:nvSpPr>
        <p:spPr bwMode="auto">
          <a:xfrm>
            <a:off x="6643688" y="1884363"/>
            <a:ext cx="890587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285" name="Rectangle 75"/>
          <p:cNvSpPr>
            <a:spLocks noChangeArrowheads="1"/>
          </p:cNvSpPr>
          <p:nvPr/>
        </p:nvSpPr>
        <p:spPr bwMode="auto">
          <a:xfrm>
            <a:off x="5748338" y="1884363"/>
            <a:ext cx="900112" cy="452437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286" name="Rectangle 2"/>
          <p:cNvSpPr>
            <a:spLocks noChangeArrowheads="1"/>
          </p:cNvSpPr>
          <p:nvPr/>
        </p:nvSpPr>
        <p:spPr bwMode="auto">
          <a:xfrm>
            <a:off x="5462588" y="1876425"/>
            <a:ext cx="2370137" cy="4683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287" name="Line 3"/>
          <p:cNvSpPr>
            <a:spLocks noChangeShapeType="1"/>
          </p:cNvSpPr>
          <p:nvPr/>
        </p:nvSpPr>
        <p:spPr bwMode="auto">
          <a:xfrm>
            <a:off x="5464175" y="2092325"/>
            <a:ext cx="2351088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88" name="Text Box 6"/>
          <p:cNvSpPr txBox="1">
            <a:spLocks noChangeArrowheads="1"/>
          </p:cNvSpPr>
          <p:nvPr/>
        </p:nvSpPr>
        <p:spPr bwMode="auto">
          <a:xfrm>
            <a:off x="5380038" y="183515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</a:t>
            </a:r>
          </a:p>
        </p:txBody>
      </p:sp>
      <p:sp>
        <p:nvSpPr>
          <p:cNvPr id="182289" name="Line 7"/>
          <p:cNvSpPr>
            <a:spLocks noChangeShapeType="1"/>
          </p:cNvSpPr>
          <p:nvPr/>
        </p:nvSpPr>
        <p:spPr bwMode="auto">
          <a:xfrm>
            <a:off x="6643688" y="18811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0" name="AutoShape 8"/>
          <p:cNvSpPr>
            <a:spLocks noChangeArrowheads="1"/>
          </p:cNvSpPr>
          <p:nvPr/>
        </p:nvSpPr>
        <p:spPr bwMode="auto">
          <a:xfrm>
            <a:off x="5434013" y="1617663"/>
            <a:ext cx="3176587" cy="261937"/>
          </a:xfrm>
          <a:prstGeom prst="parallelogram">
            <a:avLst>
              <a:gd name="adj" fmla="val 30318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291" name="Freeform 9"/>
          <p:cNvSpPr>
            <a:spLocks/>
          </p:cNvSpPr>
          <p:nvPr/>
        </p:nvSpPr>
        <p:spPr bwMode="auto">
          <a:xfrm>
            <a:off x="7837488" y="1620838"/>
            <a:ext cx="763587" cy="720725"/>
          </a:xfrm>
          <a:custGeom>
            <a:avLst/>
            <a:gdLst>
              <a:gd name="T0" fmla="*/ 0 w 232"/>
              <a:gd name="T1" fmla="*/ 2147483647 h 454"/>
              <a:gd name="T2" fmla="*/ 2147483647 w 232"/>
              <a:gd name="T3" fmla="*/ 2147483647 h 454"/>
              <a:gd name="T4" fmla="*/ 2147483647 w 232"/>
              <a:gd name="T5" fmla="*/ 0 h 454"/>
              <a:gd name="T6" fmla="*/ 0 60000 65536"/>
              <a:gd name="T7" fmla="*/ 0 60000 65536"/>
              <a:gd name="T8" fmla="*/ 0 60000 65536"/>
              <a:gd name="T9" fmla="*/ 0 w 232"/>
              <a:gd name="T10" fmla="*/ 0 h 454"/>
              <a:gd name="T11" fmla="*/ 232 w 232"/>
              <a:gd name="T12" fmla="*/ 454 h 4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2" h="454">
                <a:moveTo>
                  <a:pt x="0" y="454"/>
                </a:moveTo>
                <a:lnTo>
                  <a:pt x="232" y="274"/>
                </a:lnTo>
                <a:lnTo>
                  <a:pt x="229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2" name="Freeform 10"/>
          <p:cNvSpPr>
            <a:spLocks/>
          </p:cNvSpPr>
          <p:nvPr/>
        </p:nvSpPr>
        <p:spPr bwMode="auto">
          <a:xfrm>
            <a:off x="5835650" y="1665288"/>
            <a:ext cx="2228850" cy="150812"/>
          </a:xfrm>
          <a:custGeom>
            <a:avLst/>
            <a:gdLst>
              <a:gd name="T0" fmla="*/ 0 w 678"/>
              <a:gd name="T1" fmla="*/ 2147483647 h 110"/>
              <a:gd name="T2" fmla="*/ 2147483647 w 678"/>
              <a:gd name="T3" fmla="*/ 2147483647 h 110"/>
              <a:gd name="T4" fmla="*/ 2147483647 w 678"/>
              <a:gd name="T5" fmla="*/ 0 h 110"/>
              <a:gd name="T6" fmla="*/ 2147483647 w 678"/>
              <a:gd name="T7" fmla="*/ 0 h 110"/>
              <a:gd name="T8" fmla="*/ 0 60000 65536"/>
              <a:gd name="T9" fmla="*/ 0 60000 65536"/>
              <a:gd name="T10" fmla="*/ 0 60000 65536"/>
              <a:gd name="T11" fmla="*/ 0 60000 65536"/>
              <a:gd name="T12" fmla="*/ 0 w 678"/>
              <a:gd name="T13" fmla="*/ 0 h 110"/>
              <a:gd name="T14" fmla="*/ 678 w 678"/>
              <a:gd name="T15" fmla="*/ 110 h 1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8" h="110">
                <a:moveTo>
                  <a:pt x="0" y="110"/>
                </a:moveTo>
                <a:lnTo>
                  <a:pt x="148" y="108"/>
                </a:lnTo>
                <a:lnTo>
                  <a:pt x="567" y="0"/>
                </a:lnTo>
                <a:lnTo>
                  <a:pt x="6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3" name="Freeform 11"/>
          <p:cNvSpPr>
            <a:spLocks/>
          </p:cNvSpPr>
          <p:nvPr/>
        </p:nvSpPr>
        <p:spPr bwMode="auto">
          <a:xfrm>
            <a:off x="6308725" y="1665288"/>
            <a:ext cx="1420813" cy="166687"/>
          </a:xfrm>
          <a:custGeom>
            <a:avLst/>
            <a:gdLst>
              <a:gd name="T0" fmla="*/ 0 w 432"/>
              <a:gd name="T1" fmla="*/ 0 h 105"/>
              <a:gd name="T2" fmla="*/ 2147483647 w 432"/>
              <a:gd name="T3" fmla="*/ 0 h 105"/>
              <a:gd name="T4" fmla="*/ 2147483647 w 432"/>
              <a:gd name="T5" fmla="*/ 2147483647 h 105"/>
              <a:gd name="T6" fmla="*/ 2147483647 w 432"/>
              <a:gd name="T7" fmla="*/ 2147483647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05"/>
              <a:gd name="T14" fmla="*/ 432 w 432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05">
                <a:moveTo>
                  <a:pt x="0" y="0"/>
                </a:moveTo>
                <a:lnTo>
                  <a:pt x="85" y="0"/>
                </a:lnTo>
                <a:lnTo>
                  <a:pt x="307" y="105"/>
                </a:lnTo>
                <a:lnTo>
                  <a:pt x="432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4" name="Line 17"/>
          <p:cNvSpPr>
            <a:spLocks noChangeShapeType="1"/>
          </p:cNvSpPr>
          <p:nvPr/>
        </p:nvSpPr>
        <p:spPr bwMode="auto">
          <a:xfrm>
            <a:off x="7243763" y="188595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5" name="Line 18"/>
          <p:cNvSpPr>
            <a:spLocks noChangeShapeType="1"/>
          </p:cNvSpPr>
          <p:nvPr/>
        </p:nvSpPr>
        <p:spPr bwMode="auto">
          <a:xfrm>
            <a:off x="6043613" y="18811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6" name="Line 21"/>
          <p:cNvSpPr>
            <a:spLocks noChangeShapeType="1"/>
          </p:cNvSpPr>
          <p:nvPr/>
        </p:nvSpPr>
        <p:spPr bwMode="auto">
          <a:xfrm>
            <a:off x="5753100" y="187801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7" name="Line 22"/>
          <p:cNvSpPr>
            <a:spLocks noChangeShapeType="1"/>
          </p:cNvSpPr>
          <p:nvPr/>
        </p:nvSpPr>
        <p:spPr bwMode="auto">
          <a:xfrm>
            <a:off x="5462588" y="189071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8" name="Line 23"/>
          <p:cNvSpPr>
            <a:spLocks noChangeShapeType="1"/>
          </p:cNvSpPr>
          <p:nvPr/>
        </p:nvSpPr>
        <p:spPr bwMode="auto">
          <a:xfrm>
            <a:off x="6324600" y="188595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9" name="Line 24"/>
          <p:cNvSpPr>
            <a:spLocks noChangeShapeType="1"/>
          </p:cNvSpPr>
          <p:nvPr/>
        </p:nvSpPr>
        <p:spPr bwMode="auto">
          <a:xfrm>
            <a:off x="6948488" y="18811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00" name="Line 25"/>
          <p:cNvSpPr>
            <a:spLocks noChangeShapeType="1"/>
          </p:cNvSpPr>
          <p:nvPr/>
        </p:nvSpPr>
        <p:spPr bwMode="auto">
          <a:xfrm>
            <a:off x="7539038" y="187642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01" name="Text Box 26"/>
          <p:cNvSpPr txBox="1">
            <a:spLocks noChangeArrowheads="1"/>
          </p:cNvSpPr>
          <p:nvPr/>
        </p:nvSpPr>
        <p:spPr bwMode="auto">
          <a:xfrm>
            <a:off x="6261100" y="204470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8</a:t>
            </a:r>
          </a:p>
        </p:txBody>
      </p:sp>
      <p:sp>
        <p:nvSpPr>
          <p:cNvPr id="182302" name="Text Box 27"/>
          <p:cNvSpPr txBox="1">
            <a:spLocks noChangeArrowheads="1"/>
          </p:cNvSpPr>
          <p:nvPr/>
        </p:nvSpPr>
        <p:spPr bwMode="auto">
          <a:xfrm>
            <a:off x="6580188" y="183038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9</a:t>
            </a:r>
          </a:p>
        </p:txBody>
      </p:sp>
      <p:sp>
        <p:nvSpPr>
          <p:cNvPr id="182303" name="Text Box 28"/>
          <p:cNvSpPr txBox="1">
            <a:spLocks noChangeArrowheads="1"/>
          </p:cNvSpPr>
          <p:nvPr/>
        </p:nvSpPr>
        <p:spPr bwMode="auto">
          <a:xfrm>
            <a:off x="7456488" y="2049463"/>
            <a:ext cx="2984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16</a:t>
            </a:r>
          </a:p>
        </p:txBody>
      </p:sp>
      <p:sp>
        <p:nvSpPr>
          <p:cNvPr id="182304" name="Text Box 29"/>
          <p:cNvSpPr txBox="1">
            <a:spLocks noChangeArrowheads="1"/>
          </p:cNvSpPr>
          <p:nvPr/>
        </p:nvSpPr>
        <p:spPr bwMode="auto">
          <a:xfrm>
            <a:off x="6561138" y="2049463"/>
            <a:ext cx="2984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10</a:t>
            </a:r>
          </a:p>
        </p:txBody>
      </p:sp>
      <p:sp>
        <p:nvSpPr>
          <p:cNvPr id="182305" name="Text Box 30"/>
          <p:cNvSpPr txBox="1">
            <a:spLocks noChangeArrowheads="1"/>
          </p:cNvSpPr>
          <p:nvPr/>
        </p:nvSpPr>
        <p:spPr bwMode="auto">
          <a:xfrm>
            <a:off x="5389563" y="2035175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2</a:t>
            </a:r>
          </a:p>
        </p:txBody>
      </p:sp>
      <p:sp>
        <p:nvSpPr>
          <p:cNvPr id="182306" name="Text Box 57"/>
          <p:cNvSpPr txBox="1">
            <a:spLocks noChangeArrowheads="1"/>
          </p:cNvSpPr>
          <p:nvPr/>
        </p:nvSpPr>
        <p:spPr bwMode="auto">
          <a:xfrm>
            <a:off x="6256338" y="183038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7</a:t>
            </a:r>
          </a:p>
        </p:txBody>
      </p:sp>
      <p:sp>
        <p:nvSpPr>
          <p:cNvPr id="182307" name="Line 61"/>
          <p:cNvSpPr>
            <a:spLocks noChangeShapeType="1"/>
          </p:cNvSpPr>
          <p:nvPr/>
        </p:nvSpPr>
        <p:spPr bwMode="auto">
          <a:xfrm flipH="1">
            <a:off x="4702175" y="2211388"/>
            <a:ext cx="901700" cy="279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08" name="Line 62"/>
          <p:cNvSpPr>
            <a:spLocks noChangeShapeType="1"/>
          </p:cNvSpPr>
          <p:nvPr/>
        </p:nvSpPr>
        <p:spPr bwMode="auto">
          <a:xfrm flipH="1">
            <a:off x="5087938" y="2211388"/>
            <a:ext cx="806450" cy="419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09" name="Line 63"/>
          <p:cNvSpPr>
            <a:spLocks noChangeShapeType="1"/>
          </p:cNvSpPr>
          <p:nvPr/>
        </p:nvSpPr>
        <p:spPr bwMode="auto">
          <a:xfrm flipH="1">
            <a:off x="5807075" y="2227263"/>
            <a:ext cx="70961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10" name="Text Box 64"/>
          <p:cNvSpPr txBox="1">
            <a:spLocks noChangeArrowheads="1"/>
          </p:cNvSpPr>
          <p:nvPr/>
        </p:nvSpPr>
        <p:spPr bwMode="auto">
          <a:xfrm>
            <a:off x="7527925" y="258921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0" dirty="0">
                <a:solidFill>
                  <a:srgbClr val="000000"/>
                </a:solidFill>
                <a:latin typeface="Arial" charset="0"/>
              </a:rPr>
              <a:t>…</a:t>
            </a:r>
          </a:p>
        </p:txBody>
      </p:sp>
      <p:sp>
        <p:nvSpPr>
          <p:cNvPr id="182311" name="Line 69"/>
          <p:cNvSpPr>
            <a:spLocks noChangeShapeType="1"/>
          </p:cNvSpPr>
          <p:nvPr/>
        </p:nvSpPr>
        <p:spPr bwMode="auto">
          <a:xfrm>
            <a:off x="6815138" y="2214563"/>
            <a:ext cx="101600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12" name="Line 70"/>
          <p:cNvSpPr>
            <a:spLocks noChangeShapeType="1"/>
          </p:cNvSpPr>
          <p:nvPr/>
        </p:nvSpPr>
        <p:spPr bwMode="auto">
          <a:xfrm>
            <a:off x="6805613" y="2012950"/>
            <a:ext cx="479425" cy="603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13" name="Line 71"/>
          <p:cNvSpPr>
            <a:spLocks noChangeShapeType="1"/>
          </p:cNvSpPr>
          <p:nvPr/>
        </p:nvSpPr>
        <p:spPr bwMode="auto">
          <a:xfrm>
            <a:off x="7661275" y="1957388"/>
            <a:ext cx="514350" cy="484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14" name="Text Box 72"/>
          <p:cNvSpPr txBox="1">
            <a:spLocks noChangeArrowheads="1"/>
          </p:cNvSpPr>
          <p:nvPr/>
        </p:nvSpPr>
        <p:spPr bwMode="auto">
          <a:xfrm>
            <a:off x="4692650" y="3132138"/>
            <a:ext cx="165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Electrical Engineering</a:t>
            </a:r>
          </a:p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(VLAN ports 1-8)</a:t>
            </a:r>
          </a:p>
        </p:txBody>
      </p:sp>
      <p:sp>
        <p:nvSpPr>
          <p:cNvPr id="182315" name="Text Box 73"/>
          <p:cNvSpPr txBox="1">
            <a:spLocks noChangeArrowheads="1"/>
          </p:cNvSpPr>
          <p:nvPr/>
        </p:nvSpPr>
        <p:spPr bwMode="auto">
          <a:xfrm>
            <a:off x="6854825" y="3119438"/>
            <a:ext cx="1433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Computer Science</a:t>
            </a:r>
          </a:p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(VLAN ports 9-15)</a:t>
            </a:r>
          </a:p>
        </p:txBody>
      </p:sp>
      <p:sp>
        <p:nvSpPr>
          <p:cNvPr id="182316" name="Text Box 74"/>
          <p:cNvSpPr txBox="1">
            <a:spLocks noChangeArrowheads="1"/>
          </p:cNvSpPr>
          <p:nvPr/>
        </p:nvSpPr>
        <p:spPr bwMode="auto">
          <a:xfrm>
            <a:off x="7451725" y="1825625"/>
            <a:ext cx="29845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15</a:t>
            </a:r>
          </a:p>
        </p:txBody>
      </p:sp>
      <p:sp>
        <p:nvSpPr>
          <p:cNvPr id="182317" name="Oval 81"/>
          <p:cNvSpPr>
            <a:spLocks noChangeArrowheads="1"/>
          </p:cNvSpPr>
          <p:nvPr/>
        </p:nvSpPr>
        <p:spPr bwMode="auto">
          <a:xfrm>
            <a:off x="5578475" y="2190750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318" name="Oval 82"/>
          <p:cNvSpPr>
            <a:spLocks noChangeArrowheads="1"/>
          </p:cNvSpPr>
          <p:nvPr/>
        </p:nvSpPr>
        <p:spPr bwMode="auto">
          <a:xfrm>
            <a:off x="5870575" y="2187575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319" name="Oval 83"/>
          <p:cNvSpPr>
            <a:spLocks noChangeArrowheads="1"/>
          </p:cNvSpPr>
          <p:nvPr/>
        </p:nvSpPr>
        <p:spPr bwMode="auto">
          <a:xfrm>
            <a:off x="6457950" y="2192338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320" name="Oval 84"/>
          <p:cNvSpPr>
            <a:spLocks noChangeArrowheads="1"/>
          </p:cNvSpPr>
          <p:nvPr/>
        </p:nvSpPr>
        <p:spPr bwMode="auto">
          <a:xfrm>
            <a:off x="6789738" y="2189163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321" name="Oval 85"/>
          <p:cNvSpPr>
            <a:spLocks noChangeArrowheads="1"/>
          </p:cNvSpPr>
          <p:nvPr/>
        </p:nvSpPr>
        <p:spPr bwMode="auto">
          <a:xfrm>
            <a:off x="6777038" y="1974850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322" name="Oval 86"/>
          <p:cNvSpPr>
            <a:spLocks noChangeArrowheads="1"/>
          </p:cNvSpPr>
          <p:nvPr/>
        </p:nvSpPr>
        <p:spPr bwMode="auto">
          <a:xfrm>
            <a:off x="7651750" y="1971675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323" name="Text Box 45"/>
          <p:cNvSpPr txBox="1">
            <a:spLocks noChangeArrowheads="1"/>
          </p:cNvSpPr>
          <p:nvPr/>
        </p:nvSpPr>
        <p:spPr bwMode="auto">
          <a:xfrm>
            <a:off x="5241925" y="25558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0" dirty="0">
                <a:solidFill>
                  <a:srgbClr val="000000"/>
                </a:solidFill>
                <a:latin typeface="Arial" charset="0"/>
              </a:rPr>
              <a:t>…</a:t>
            </a:r>
          </a:p>
        </p:txBody>
      </p:sp>
      <p:grpSp>
        <p:nvGrpSpPr>
          <p:cNvPr id="182324" name="Group 44"/>
          <p:cNvGrpSpPr>
            <a:grpSpLocks/>
          </p:cNvGrpSpPr>
          <p:nvPr/>
        </p:nvGrpSpPr>
        <p:grpSpPr bwMode="auto">
          <a:xfrm>
            <a:off x="4165600" y="2397125"/>
            <a:ext cx="609600" cy="558800"/>
            <a:chOff x="-44" y="1473"/>
            <a:chExt cx="981" cy="1105"/>
          </a:xfrm>
        </p:grpSpPr>
        <p:pic>
          <p:nvPicPr>
            <p:cNvPr id="182414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415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2325" name="Group 44"/>
          <p:cNvGrpSpPr>
            <a:grpSpLocks/>
          </p:cNvGrpSpPr>
          <p:nvPr/>
        </p:nvGrpSpPr>
        <p:grpSpPr bwMode="auto">
          <a:xfrm>
            <a:off x="4694238" y="2489200"/>
            <a:ext cx="609600" cy="558800"/>
            <a:chOff x="-44" y="1473"/>
            <a:chExt cx="981" cy="1105"/>
          </a:xfrm>
        </p:grpSpPr>
        <p:pic>
          <p:nvPicPr>
            <p:cNvPr id="182412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413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2326" name="Group 44"/>
          <p:cNvGrpSpPr>
            <a:grpSpLocks/>
          </p:cNvGrpSpPr>
          <p:nvPr/>
        </p:nvGrpSpPr>
        <p:grpSpPr bwMode="auto">
          <a:xfrm>
            <a:off x="5414963" y="2509838"/>
            <a:ext cx="609600" cy="558800"/>
            <a:chOff x="-44" y="1473"/>
            <a:chExt cx="981" cy="1105"/>
          </a:xfrm>
        </p:grpSpPr>
        <p:pic>
          <p:nvPicPr>
            <p:cNvPr id="182410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411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2327" name="Group 44"/>
          <p:cNvGrpSpPr>
            <a:grpSpLocks/>
          </p:cNvGrpSpPr>
          <p:nvPr/>
        </p:nvGrpSpPr>
        <p:grpSpPr bwMode="auto">
          <a:xfrm>
            <a:off x="6430963" y="2530475"/>
            <a:ext cx="609600" cy="558800"/>
            <a:chOff x="-44" y="1473"/>
            <a:chExt cx="981" cy="1105"/>
          </a:xfrm>
        </p:grpSpPr>
        <p:pic>
          <p:nvPicPr>
            <p:cNvPr id="182408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409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2328" name="Group 44"/>
          <p:cNvGrpSpPr>
            <a:grpSpLocks/>
          </p:cNvGrpSpPr>
          <p:nvPr/>
        </p:nvGrpSpPr>
        <p:grpSpPr bwMode="auto">
          <a:xfrm>
            <a:off x="6938963" y="2540000"/>
            <a:ext cx="609600" cy="558800"/>
            <a:chOff x="-44" y="1473"/>
            <a:chExt cx="981" cy="1105"/>
          </a:xfrm>
        </p:grpSpPr>
        <p:pic>
          <p:nvPicPr>
            <p:cNvPr id="182406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407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2329" name="Group 44"/>
          <p:cNvGrpSpPr>
            <a:grpSpLocks/>
          </p:cNvGrpSpPr>
          <p:nvPr/>
        </p:nvGrpSpPr>
        <p:grpSpPr bwMode="auto">
          <a:xfrm>
            <a:off x="7802563" y="2357438"/>
            <a:ext cx="609600" cy="558800"/>
            <a:chOff x="-44" y="1473"/>
            <a:chExt cx="981" cy="1105"/>
          </a:xfrm>
        </p:grpSpPr>
        <p:pic>
          <p:nvPicPr>
            <p:cNvPr id="182404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405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3902075" y="3695700"/>
            <a:ext cx="5334000" cy="2593975"/>
            <a:chOff x="3902075" y="3695700"/>
            <a:chExt cx="5334289" cy="2593975"/>
          </a:xfrm>
        </p:grpSpPr>
        <p:sp>
          <p:nvSpPr>
            <p:cNvPr id="182332" name="Cloud"/>
            <p:cNvSpPr>
              <a:spLocks noChangeAspect="1" noEditPoints="1" noChangeArrowheads="1"/>
            </p:cNvSpPr>
            <p:nvPr/>
          </p:nvSpPr>
          <p:spPr bwMode="auto">
            <a:xfrm>
              <a:off x="4560888" y="4090988"/>
              <a:ext cx="4516437" cy="1214437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2147483647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77 w 21600"/>
                <a:gd name="T13" fmla="*/ 3262 h 21600"/>
                <a:gd name="T14" fmla="*/ 17087 w 21600"/>
                <a:gd name="T15" fmla="*/ 1733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734" name="Rectangle 263"/>
            <p:cNvSpPr>
              <a:spLocks noChangeArrowheads="1"/>
            </p:cNvSpPr>
            <p:nvPr/>
          </p:nvSpPr>
          <p:spPr bwMode="auto">
            <a:xfrm>
              <a:off x="5135630" y="4583113"/>
              <a:ext cx="269890" cy="204787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73735" name="Rectangle 262"/>
            <p:cNvSpPr>
              <a:spLocks noChangeArrowheads="1"/>
            </p:cNvSpPr>
            <p:nvPr/>
          </p:nvSpPr>
          <p:spPr bwMode="auto">
            <a:xfrm>
              <a:off x="8064726" y="4811713"/>
              <a:ext cx="279415" cy="23812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82335" name="Line 61"/>
            <p:cNvSpPr>
              <a:spLocks noChangeShapeType="1"/>
            </p:cNvSpPr>
            <p:nvPr/>
          </p:nvSpPr>
          <p:spPr bwMode="auto">
            <a:xfrm flipH="1">
              <a:off x="4364038" y="4911725"/>
              <a:ext cx="901700" cy="279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336" name="Line 62"/>
            <p:cNvSpPr>
              <a:spLocks noChangeShapeType="1"/>
            </p:cNvSpPr>
            <p:nvPr/>
          </p:nvSpPr>
          <p:spPr bwMode="auto">
            <a:xfrm flipH="1">
              <a:off x="4749800" y="4911725"/>
              <a:ext cx="806450" cy="419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337" name="Line 63"/>
            <p:cNvSpPr>
              <a:spLocks noChangeShapeType="1"/>
            </p:cNvSpPr>
            <p:nvPr/>
          </p:nvSpPr>
          <p:spPr bwMode="auto">
            <a:xfrm flipH="1">
              <a:off x="5468938" y="4921250"/>
              <a:ext cx="684212" cy="366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338" name="Text Box 72"/>
            <p:cNvSpPr txBox="1">
              <a:spLocks noChangeArrowheads="1"/>
            </p:cNvSpPr>
            <p:nvPr/>
          </p:nvSpPr>
          <p:spPr bwMode="auto">
            <a:xfrm>
              <a:off x="4354513" y="5832475"/>
              <a:ext cx="1651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1200" i="0" dirty="0">
                  <a:solidFill>
                    <a:srgbClr val="000000"/>
                  </a:solidFill>
                  <a:latin typeface="Arial" charset="0"/>
                </a:rPr>
                <a:t>Electrical Engineering</a:t>
              </a:r>
            </a:p>
            <a:p>
              <a:pPr algn="ctr" eaLnBrk="1" hangingPunct="1"/>
              <a:r>
                <a:rPr lang="en-US" sz="1200" i="0" dirty="0">
                  <a:solidFill>
                    <a:srgbClr val="000000"/>
                  </a:solidFill>
                  <a:latin typeface="Arial" charset="0"/>
                </a:rPr>
                <a:t>(VLAN ports 1-8)</a:t>
              </a:r>
            </a:p>
          </p:txBody>
        </p:sp>
        <p:sp>
          <p:nvSpPr>
            <p:cNvPr id="182339" name="Text Box 45"/>
            <p:cNvSpPr txBox="1">
              <a:spLocks noChangeArrowheads="1"/>
            </p:cNvSpPr>
            <p:nvPr/>
          </p:nvSpPr>
          <p:spPr bwMode="auto">
            <a:xfrm>
              <a:off x="4903788" y="5256213"/>
              <a:ext cx="4127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i="0" dirty="0">
                  <a:solidFill>
                    <a:srgbClr val="000000"/>
                  </a:solidFill>
                  <a:latin typeface="Arial" charset="0"/>
                </a:rPr>
                <a:t>…</a:t>
              </a:r>
            </a:p>
          </p:txBody>
        </p:sp>
        <p:grpSp>
          <p:nvGrpSpPr>
            <p:cNvPr id="182340" name="Group 186"/>
            <p:cNvGrpSpPr>
              <a:grpSpLocks/>
            </p:cNvGrpSpPr>
            <p:nvPr/>
          </p:nvGrpSpPr>
          <p:grpSpPr bwMode="auto">
            <a:xfrm>
              <a:off x="5041900" y="4316413"/>
              <a:ext cx="1684338" cy="738187"/>
              <a:chOff x="3479" y="2610"/>
              <a:chExt cx="1061" cy="465"/>
            </a:xfrm>
          </p:grpSpPr>
          <p:sp>
            <p:nvSpPr>
              <p:cNvPr id="182385" name="Rectangle 80"/>
              <p:cNvSpPr>
                <a:spLocks noChangeArrowheads="1"/>
              </p:cNvSpPr>
              <p:nvPr/>
            </p:nvSpPr>
            <p:spPr bwMode="auto">
              <a:xfrm>
                <a:off x="3531" y="2914"/>
                <a:ext cx="183" cy="153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386" name="Rectangle 75"/>
              <p:cNvSpPr>
                <a:spLocks noChangeArrowheads="1"/>
              </p:cNvSpPr>
              <p:nvPr/>
            </p:nvSpPr>
            <p:spPr bwMode="auto">
              <a:xfrm>
                <a:off x="3711" y="2779"/>
                <a:ext cx="567" cy="285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387" name="Rectangle 2"/>
              <p:cNvSpPr>
                <a:spLocks noChangeArrowheads="1"/>
              </p:cNvSpPr>
              <p:nvPr/>
            </p:nvSpPr>
            <p:spPr bwMode="auto">
              <a:xfrm>
                <a:off x="3531" y="2774"/>
                <a:ext cx="745" cy="29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388" name="Line 3"/>
              <p:cNvSpPr>
                <a:spLocks noChangeShapeType="1"/>
              </p:cNvSpPr>
              <p:nvPr/>
            </p:nvSpPr>
            <p:spPr bwMode="auto">
              <a:xfrm>
                <a:off x="3532" y="2910"/>
                <a:ext cx="741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89" name="Text Box 6"/>
              <p:cNvSpPr txBox="1">
                <a:spLocks noChangeArrowheads="1"/>
              </p:cNvSpPr>
              <p:nvPr/>
            </p:nvSpPr>
            <p:spPr bwMode="auto">
              <a:xfrm>
                <a:off x="3479" y="2748"/>
                <a:ext cx="15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800" i="0" dirty="0">
                    <a:solidFill>
                      <a:srgbClr val="000000"/>
                    </a:solidFill>
                    <a:latin typeface="Arial" charset="0"/>
                  </a:rPr>
                  <a:t>1</a:t>
                </a:r>
              </a:p>
            </p:txBody>
          </p:sp>
          <p:sp>
            <p:nvSpPr>
              <p:cNvPr id="182390" name="AutoShape 8"/>
              <p:cNvSpPr>
                <a:spLocks noChangeArrowheads="1"/>
              </p:cNvSpPr>
              <p:nvPr/>
            </p:nvSpPr>
            <p:spPr bwMode="auto">
              <a:xfrm>
                <a:off x="3513" y="2611"/>
                <a:ext cx="1027" cy="165"/>
              </a:xfrm>
              <a:prstGeom prst="parallelogram">
                <a:avLst>
                  <a:gd name="adj" fmla="val 155606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391" name="Freeform 10"/>
              <p:cNvSpPr>
                <a:spLocks/>
              </p:cNvSpPr>
              <p:nvPr/>
            </p:nvSpPr>
            <p:spPr bwMode="auto">
              <a:xfrm>
                <a:off x="3628" y="2639"/>
                <a:ext cx="746" cy="105"/>
              </a:xfrm>
              <a:custGeom>
                <a:avLst/>
                <a:gdLst>
                  <a:gd name="T0" fmla="*/ 0 w 678"/>
                  <a:gd name="T1" fmla="*/ 83 h 110"/>
                  <a:gd name="T2" fmla="*/ 263 w 678"/>
                  <a:gd name="T3" fmla="*/ 82 h 110"/>
                  <a:gd name="T4" fmla="*/ 1007 w 678"/>
                  <a:gd name="T5" fmla="*/ 0 h 110"/>
                  <a:gd name="T6" fmla="*/ 1204 w 678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8"/>
                  <a:gd name="T13" fmla="*/ 0 h 110"/>
                  <a:gd name="T14" fmla="*/ 678 w 678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8" h="110">
                    <a:moveTo>
                      <a:pt x="0" y="110"/>
                    </a:moveTo>
                    <a:lnTo>
                      <a:pt x="148" y="108"/>
                    </a:lnTo>
                    <a:lnTo>
                      <a:pt x="567" y="0"/>
                    </a:lnTo>
                    <a:lnTo>
                      <a:pt x="678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92" name="Line 18"/>
              <p:cNvSpPr>
                <a:spLocks noChangeShapeType="1"/>
              </p:cNvSpPr>
              <p:nvPr/>
            </p:nvSpPr>
            <p:spPr bwMode="auto">
              <a:xfrm>
                <a:off x="3897" y="2777"/>
                <a:ext cx="0" cy="2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93" name="Line 21"/>
              <p:cNvSpPr>
                <a:spLocks noChangeShapeType="1"/>
              </p:cNvSpPr>
              <p:nvPr/>
            </p:nvSpPr>
            <p:spPr bwMode="auto">
              <a:xfrm>
                <a:off x="3714" y="2775"/>
                <a:ext cx="0" cy="2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94" name="Line 22"/>
              <p:cNvSpPr>
                <a:spLocks noChangeShapeType="1"/>
              </p:cNvSpPr>
              <p:nvPr/>
            </p:nvSpPr>
            <p:spPr bwMode="auto">
              <a:xfrm>
                <a:off x="3531" y="2783"/>
                <a:ext cx="0" cy="2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95" name="Line 23"/>
              <p:cNvSpPr>
                <a:spLocks noChangeShapeType="1"/>
              </p:cNvSpPr>
              <p:nvPr/>
            </p:nvSpPr>
            <p:spPr bwMode="auto">
              <a:xfrm>
                <a:off x="4074" y="2780"/>
                <a:ext cx="0" cy="2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96" name="Text Box 26"/>
              <p:cNvSpPr txBox="1">
                <a:spLocks noChangeArrowheads="1"/>
              </p:cNvSpPr>
              <p:nvPr/>
            </p:nvSpPr>
            <p:spPr bwMode="auto">
              <a:xfrm>
                <a:off x="4034" y="2880"/>
                <a:ext cx="15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800" i="0" dirty="0">
                    <a:solidFill>
                      <a:srgbClr val="000000"/>
                    </a:solidFill>
                    <a:latin typeface="Arial" charset="0"/>
                  </a:rPr>
                  <a:t>8</a:t>
                </a:r>
              </a:p>
            </p:txBody>
          </p:sp>
          <p:sp>
            <p:nvSpPr>
              <p:cNvPr id="182397" name="Text Box 30"/>
              <p:cNvSpPr txBox="1">
                <a:spLocks noChangeArrowheads="1"/>
              </p:cNvSpPr>
              <p:nvPr/>
            </p:nvSpPr>
            <p:spPr bwMode="auto">
              <a:xfrm>
                <a:off x="3485" y="2874"/>
                <a:ext cx="15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800" i="0" dirty="0">
                    <a:solidFill>
                      <a:srgbClr val="000000"/>
                    </a:solidFill>
                    <a:latin typeface="Arial" charset="0"/>
                  </a:rPr>
                  <a:t>2</a:t>
                </a:r>
              </a:p>
            </p:txBody>
          </p:sp>
          <p:sp>
            <p:nvSpPr>
              <p:cNvPr id="182398" name="Text Box 57"/>
              <p:cNvSpPr txBox="1">
                <a:spLocks noChangeArrowheads="1"/>
              </p:cNvSpPr>
              <p:nvPr/>
            </p:nvSpPr>
            <p:spPr bwMode="auto">
              <a:xfrm>
                <a:off x="4031" y="2745"/>
                <a:ext cx="15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800" i="0" dirty="0">
                    <a:solidFill>
                      <a:srgbClr val="000000"/>
                    </a:solidFill>
                    <a:latin typeface="Arial" charset="0"/>
                  </a:rPr>
                  <a:t>7</a:t>
                </a:r>
              </a:p>
            </p:txBody>
          </p:sp>
          <p:sp>
            <p:nvSpPr>
              <p:cNvPr id="182399" name="Oval 81"/>
              <p:cNvSpPr>
                <a:spLocks noChangeArrowheads="1"/>
              </p:cNvSpPr>
              <p:nvPr/>
            </p:nvSpPr>
            <p:spPr bwMode="auto">
              <a:xfrm>
                <a:off x="3604" y="2972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400" name="Oval 82"/>
              <p:cNvSpPr>
                <a:spLocks noChangeArrowheads="1"/>
              </p:cNvSpPr>
              <p:nvPr/>
            </p:nvSpPr>
            <p:spPr bwMode="auto">
              <a:xfrm>
                <a:off x="3788" y="2970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401" name="Oval 83"/>
              <p:cNvSpPr>
                <a:spLocks noChangeArrowheads="1"/>
              </p:cNvSpPr>
              <p:nvPr/>
            </p:nvSpPr>
            <p:spPr bwMode="auto">
              <a:xfrm>
                <a:off x="4158" y="2973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402" name="Freeform 10"/>
              <p:cNvSpPr>
                <a:spLocks/>
              </p:cNvSpPr>
              <p:nvPr/>
            </p:nvSpPr>
            <p:spPr bwMode="auto">
              <a:xfrm flipV="1">
                <a:off x="3754" y="2639"/>
                <a:ext cx="550" cy="105"/>
              </a:xfrm>
              <a:custGeom>
                <a:avLst/>
                <a:gdLst>
                  <a:gd name="T0" fmla="*/ 0 w 678"/>
                  <a:gd name="T1" fmla="*/ 83 h 110"/>
                  <a:gd name="T2" fmla="*/ 42 w 678"/>
                  <a:gd name="T3" fmla="*/ 82 h 110"/>
                  <a:gd name="T4" fmla="*/ 162 w 678"/>
                  <a:gd name="T5" fmla="*/ 0 h 110"/>
                  <a:gd name="T6" fmla="*/ 193 w 678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8"/>
                  <a:gd name="T13" fmla="*/ 0 h 110"/>
                  <a:gd name="T14" fmla="*/ 678 w 678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8" h="110">
                    <a:moveTo>
                      <a:pt x="0" y="110"/>
                    </a:moveTo>
                    <a:lnTo>
                      <a:pt x="148" y="108"/>
                    </a:lnTo>
                    <a:lnTo>
                      <a:pt x="567" y="0"/>
                    </a:lnTo>
                    <a:lnTo>
                      <a:pt x="678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/>
              <a:lstStyle/>
              <a:p>
                <a:endParaRPr lang="en-US" dirty="0"/>
              </a:p>
            </p:txBody>
          </p:sp>
          <p:sp>
            <p:nvSpPr>
              <p:cNvPr id="182403" name="Freeform 185"/>
              <p:cNvSpPr>
                <a:spLocks/>
              </p:cNvSpPr>
              <p:nvPr/>
            </p:nvSpPr>
            <p:spPr bwMode="auto">
              <a:xfrm>
                <a:off x="4274" y="2610"/>
                <a:ext cx="264" cy="456"/>
              </a:xfrm>
              <a:custGeom>
                <a:avLst/>
                <a:gdLst>
                  <a:gd name="T0" fmla="*/ 264 w 264"/>
                  <a:gd name="T1" fmla="*/ 0 h 456"/>
                  <a:gd name="T2" fmla="*/ 262 w 264"/>
                  <a:gd name="T3" fmla="*/ 248 h 456"/>
                  <a:gd name="T4" fmla="*/ 0 w 264"/>
                  <a:gd name="T5" fmla="*/ 456 h 4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4" h="456">
                    <a:moveTo>
                      <a:pt x="264" y="0"/>
                    </a:moveTo>
                    <a:lnTo>
                      <a:pt x="262" y="248"/>
                    </a:lnTo>
                    <a:lnTo>
                      <a:pt x="0" y="456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82341" name="Group 210"/>
            <p:cNvGrpSpPr>
              <a:grpSpLocks/>
            </p:cNvGrpSpPr>
            <p:nvPr/>
          </p:nvGrpSpPr>
          <p:grpSpPr bwMode="auto">
            <a:xfrm>
              <a:off x="7080250" y="4318000"/>
              <a:ext cx="1698625" cy="742950"/>
              <a:chOff x="1003" y="3585"/>
              <a:chExt cx="1070" cy="468"/>
            </a:xfrm>
          </p:grpSpPr>
          <p:grpSp>
            <p:nvGrpSpPr>
              <p:cNvPr id="182366" name="Group 207"/>
              <p:cNvGrpSpPr>
                <a:grpSpLocks/>
              </p:cNvGrpSpPr>
              <p:nvPr/>
            </p:nvGrpSpPr>
            <p:grpSpPr bwMode="auto">
              <a:xfrm>
                <a:off x="1003" y="3723"/>
                <a:ext cx="796" cy="330"/>
                <a:chOff x="2444" y="3759"/>
                <a:chExt cx="796" cy="330"/>
              </a:xfrm>
            </p:grpSpPr>
            <p:sp>
              <p:nvSpPr>
                <p:cNvPr id="182373" name="Rectangle 77"/>
                <p:cNvSpPr>
                  <a:spLocks noChangeArrowheads="1"/>
                </p:cNvSpPr>
                <p:nvPr/>
              </p:nvSpPr>
              <p:spPr bwMode="auto">
                <a:xfrm>
                  <a:off x="3057" y="3793"/>
                  <a:ext cx="183" cy="132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eaLnBrk="1" hangingPunct="1"/>
                  <a:endParaRPr lang="en-US" i="0" dirty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82374" name="Rectangle 76"/>
                <p:cNvSpPr>
                  <a:spLocks noChangeArrowheads="1"/>
                </p:cNvSpPr>
                <p:nvPr/>
              </p:nvSpPr>
              <p:spPr bwMode="auto">
                <a:xfrm>
                  <a:off x="2496" y="3796"/>
                  <a:ext cx="561" cy="28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eaLnBrk="1" hangingPunct="1"/>
                  <a:endParaRPr lang="en-US" i="0" dirty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82375" name="Line 17"/>
                <p:cNvSpPr>
                  <a:spLocks noChangeShapeType="1"/>
                </p:cNvSpPr>
                <p:nvPr/>
              </p:nvSpPr>
              <p:spPr bwMode="auto">
                <a:xfrm>
                  <a:off x="2874" y="3797"/>
                  <a:ext cx="0" cy="2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82376" name="Line 24"/>
                <p:cNvSpPr>
                  <a:spLocks noChangeShapeType="1"/>
                </p:cNvSpPr>
                <p:nvPr/>
              </p:nvSpPr>
              <p:spPr bwMode="auto">
                <a:xfrm>
                  <a:off x="2688" y="3794"/>
                  <a:ext cx="0" cy="2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82377" name="Line 25"/>
                <p:cNvSpPr>
                  <a:spLocks noChangeShapeType="1"/>
                </p:cNvSpPr>
                <p:nvPr/>
              </p:nvSpPr>
              <p:spPr bwMode="auto">
                <a:xfrm>
                  <a:off x="3060" y="3791"/>
                  <a:ext cx="0" cy="2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82378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456" y="3762"/>
                  <a:ext cx="152" cy="1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eaLnBrk="1" hangingPunct="1"/>
                  <a:r>
                    <a:rPr lang="en-US" sz="800" i="0" dirty="0">
                      <a:solidFill>
                        <a:srgbClr val="000000"/>
                      </a:solidFill>
                      <a:latin typeface="Arial" charset="0"/>
                    </a:rPr>
                    <a:t>9</a:t>
                  </a:r>
                </a:p>
              </p:txBody>
            </p:sp>
            <p:sp>
              <p:nvSpPr>
                <p:cNvPr id="182379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3008" y="3900"/>
                  <a:ext cx="188" cy="1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eaLnBrk="1" hangingPunct="1"/>
                  <a:r>
                    <a:rPr lang="en-US" sz="800" i="0" dirty="0">
                      <a:solidFill>
                        <a:srgbClr val="000000"/>
                      </a:solidFill>
                      <a:latin typeface="Arial" charset="0"/>
                    </a:rPr>
                    <a:t>16</a:t>
                  </a:r>
                </a:p>
              </p:txBody>
            </p:sp>
            <p:sp>
              <p:nvSpPr>
                <p:cNvPr id="182380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2444" y="3900"/>
                  <a:ext cx="188" cy="1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eaLnBrk="1" hangingPunct="1"/>
                  <a:r>
                    <a:rPr lang="en-US" sz="800" i="0" dirty="0">
                      <a:solidFill>
                        <a:srgbClr val="000000"/>
                      </a:solidFill>
                      <a:latin typeface="Arial" charset="0"/>
                    </a:rPr>
                    <a:t>10</a:t>
                  </a:r>
                </a:p>
              </p:txBody>
            </p:sp>
            <p:sp>
              <p:nvSpPr>
                <p:cNvPr id="182381" name="Text Box 74"/>
                <p:cNvSpPr txBox="1">
                  <a:spLocks noChangeArrowheads="1"/>
                </p:cNvSpPr>
                <p:nvPr/>
              </p:nvSpPr>
              <p:spPr bwMode="auto">
                <a:xfrm>
                  <a:off x="3005" y="3759"/>
                  <a:ext cx="188" cy="1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eaLnBrk="1" hangingPunct="1"/>
                  <a:r>
                    <a:rPr lang="en-US" sz="800" i="0" dirty="0">
                      <a:solidFill>
                        <a:srgbClr val="000000"/>
                      </a:solidFill>
                      <a:latin typeface="Arial" charset="0"/>
                    </a:rPr>
                    <a:t>15</a:t>
                  </a:r>
                </a:p>
              </p:txBody>
            </p:sp>
            <p:sp>
              <p:nvSpPr>
                <p:cNvPr id="182382" name="Oval 84"/>
                <p:cNvSpPr>
                  <a:spLocks noChangeArrowheads="1"/>
                </p:cNvSpPr>
                <p:nvPr/>
              </p:nvSpPr>
              <p:spPr bwMode="auto">
                <a:xfrm>
                  <a:off x="2588" y="3988"/>
                  <a:ext cx="27" cy="3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eaLnBrk="1" hangingPunct="1"/>
                  <a:endParaRPr lang="en-US" i="0" dirty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82383" name="Oval 85"/>
                <p:cNvSpPr>
                  <a:spLocks noChangeArrowheads="1"/>
                </p:cNvSpPr>
                <p:nvPr/>
              </p:nvSpPr>
              <p:spPr bwMode="auto">
                <a:xfrm>
                  <a:off x="2580" y="3853"/>
                  <a:ext cx="27" cy="3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eaLnBrk="1" hangingPunct="1"/>
                  <a:endParaRPr lang="en-US" i="0" dirty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82384" name="Oval 86"/>
                <p:cNvSpPr>
                  <a:spLocks noChangeArrowheads="1"/>
                </p:cNvSpPr>
                <p:nvPr/>
              </p:nvSpPr>
              <p:spPr bwMode="auto">
                <a:xfrm>
                  <a:off x="3131" y="3851"/>
                  <a:ext cx="27" cy="3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eaLnBrk="1" hangingPunct="1"/>
                  <a:endParaRPr lang="en-US" i="0" dirty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</p:grpSp>
          <p:sp>
            <p:nvSpPr>
              <p:cNvPr id="182367" name="AutoShape 8"/>
              <p:cNvSpPr>
                <a:spLocks noChangeArrowheads="1"/>
              </p:cNvSpPr>
              <p:nvPr/>
            </p:nvSpPr>
            <p:spPr bwMode="auto">
              <a:xfrm>
                <a:off x="1046" y="3586"/>
                <a:ext cx="1027" cy="165"/>
              </a:xfrm>
              <a:prstGeom prst="parallelogram">
                <a:avLst>
                  <a:gd name="adj" fmla="val 155606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368" name="Freeform 10"/>
              <p:cNvSpPr>
                <a:spLocks/>
              </p:cNvSpPr>
              <p:nvPr/>
            </p:nvSpPr>
            <p:spPr bwMode="auto">
              <a:xfrm>
                <a:off x="1161" y="3614"/>
                <a:ext cx="746" cy="105"/>
              </a:xfrm>
              <a:custGeom>
                <a:avLst/>
                <a:gdLst>
                  <a:gd name="T0" fmla="*/ 0 w 678"/>
                  <a:gd name="T1" fmla="*/ 83 h 110"/>
                  <a:gd name="T2" fmla="*/ 263 w 678"/>
                  <a:gd name="T3" fmla="*/ 82 h 110"/>
                  <a:gd name="T4" fmla="*/ 1007 w 678"/>
                  <a:gd name="T5" fmla="*/ 0 h 110"/>
                  <a:gd name="T6" fmla="*/ 1204 w 678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8"/>
                  <a:gd name="T13" fmla="*/ 0 h 110"/>
                  <a:gd name="T14" fmla="*/ 678 w 678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8" h="110">
                    <a:moveTo>
                      <a:pt x="0" y="110"/>
                    </a:moveTo>
                    <a:lnTo>
                      <a:pt x="148" y="108"/>
                    </a:lnTo>
                    <a:lnTo>
                      <a:pt x="567" y="0"/>
                    </a:lnTo>
                    <a:lnTo>
                      <a:pt x="678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69" name="Freeform 10"/>
              <p:cNvSpPr>
                <a:spLocks/>
              </p:cNvSpPr>
              <p:nvPr/>
            </p:nvSpPr>
            <p:spPr bwMode="auto">
              <a:xfrm flipV="1">
                <a:off x="1287" y="3614"/>
                <a:ext cx="550" cy="105"/>
              </a:xfrm>
              <a:custGeom>
                <a:avLst/>
                <a:gdLst>
                  <a:gd name="T0" fmla="*/ 0 w 678"/>
                  <a:gd name="T1" fmla="*/ 83 h 110"/>
                  <a:gd name="T2" fmla="*/ 42 w 678"/>
                  <a:gd name="T3" fmla="*/ 82 h 110"/>
                  <a:gd name="T4" fmla="*/ 162 w 678"/>
                  <a:gd name="T5" fmla="*/ 0 h 110"/>
                  <a:gd name="T6" fmla="*/ 193 w 678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8"/>
                  <a:gd name="T13" fmla="*/ 0 h 110"/>
                  <a:gd name="T14" fmla="*/ 678 w 678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8" h="110">
                    <a:moveTo>
                      <a:pt x="0" y="110"/>
                    </a:moveTo>
                    <a:lnTo>
                      <a:pt x="148" y="108"/>
                    </a:lnTo>
                    <a:lnTo>
                      <a:pt x="567" y="0"/>
                    </a:lnTo>
                    <a:lnTo>
                      <a:pt x="678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/>
              <a:lstStyle/>
              <a:p>
                <a:endParaRPr lang="en-US" dirty="0"/>
              </a:p>
            </p:txBody>
          </p:sp>
          <p:sp>
            <p:nvSpPr>
              <p:cNvPr id="182370" name="Freeform 206"/>
              <p:cNvSpPr>
                <a:spLocks/>
              </p:cNvSpPr>
              <p:nvPr/>
            </p:nvSpPr>
            <p:spPr bwMode="auto">
              <a:xfrm>
                <a:off x="1807" y="3585"/>
                <a:ext cx="264" cy="456"/>
              </a:xfrm>
              <a:custGeom>
                <a:avLst/>
                <a:gdLst>
                  <a:gd name="T0" fmla="*/ 264 w 264"/>
                  <a:gd name="T1" fmla="*/ 0 h 456"/>
                  <a:gd name="T2" fmla="*/ 262 w 264"/>
                  <a:gd name="T3" fmla="*/ 248 h 456"/>
                  <a:gd name="T4" fmla="*/ 0 w 264"/>
                  <a:gd name="T5" fmla="*/ 456 h 4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4" h="456">
                    <a:moveTo>
                      <a:pt x="264" y="0"/>
                    </a:moveTo>
                    <a:lnTo>
                      <a:pt x="262" y="248"/>
                    </a:lnTo>
                    <a:lnTo>
                      <a:pt x="0" y="456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82371" name="Freeform 208"/>
              <p:cNvSpPr>
                <a:spLocks/>
              </p:cNvSpPr>
              <p:nvPr/>
            </p:nvSpPr>
            <p:spPr bwMode="auto">
              <a:xfrm>
                <a:off x="1044" y="3747"/>
                <a:ext cx="762" cy="303"/>
              </a:xfrm>
              <a:custGeom>
                <a:avLst/>
                <a:gdLst>
                  <a:gd name="T0" fmla="*/ 0 w 762"/>
                  <a:gd name="T1" fmla="*/ 3 h 303"/>
                  <a:gd name="T2" fmla="*/ 0 w 762"/>
                  <a:gd name="T3" fmla="*/ 303 h 303"/>
                  <a:gd name="T4" fmla="*/ 762 w 762"/>
                  <a:gd name="T5" fmla="*/ 303 h 303"/>
                  <a:gd name="T6" fmla="*/ 762 w 762"/>
                  <a:gd name="T7" fmla="*/ 0 h 30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62" h="303">
                    <a:moveTo>
                      <a:pt x="0" y="3"/>
                    </a:moveTo>
                    <a:lnTo>
                      <a:pt x="0" y="303"/>
                    </a:lnTo>
                    <a:lnTo>
                      <a:pt x="762" y="303"/>
                    </a:lnTo>
                    <a:lnTo>
                      <a:pt x="762" y="0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73840" name="Line 209"/>
              <p:cNvSpPr>
                <a:spLocks noChangeShapeType="1"/>
              </p:cNvSpPr>
              <p:nvPr/>
            </p:nvSpPr>
            <p:spPr bwMode="auto">
              <a:xfrm flipV="1">
                <a:off x="1044" y="3888"/>
                <a:ext cx="768" cy="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182342" name="Text Box 64"/>
            <p:cNvSpPr txBox="1">
              <a:spLocks noChangeArrowheads="1"/>
            </p:cNvSpPr>
            <p:nvPr/>
          </p:nvSpPr>
          <p:spPr bwMode="auto">
            <a:xfrm>
              <a:off x="8037513" y="5297488"/>
              <a:ext cx="4127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i="0" dirty="0">
                  <a:solidFill>
                    <a:srgbClr val="000000"/>
                  </a:solidFill>
                  <a:latin typeface="Arial" charset="0"/>
                </a:rPr>
                <a:t>…</a:t>
              </a:r>
            </a:p>
          </p:txBody>
        </p:sp>
        <p:sp>
          <p:nvSpPr>
            <p:cNvPr id="182343" name="Line 69"/>
            <p:cNvSpPr>
              <a:spLocks noChangeShapeType="1"/>
            </p:cNvSpPr>
            <p:nvPr/>
          </p:nvSpPr>
          <p:spPr bwMode="auto">
            <a:xfrm>
              <a:off x="7324725" y="4922838"/>
              <a:ext cx="101600" cy="377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344" name="Line 70"/>
            <p:cNvSpPr>
              <a:spLocks noChangeShapeType="1"/>
            </p:cNvSpPr>
            <p:nvPr/>
          </p:nvSpPr>
          <p:spPr bwMode="auto">
            <a:xfrm>
              <a:off x="7315200" y="4721225"/>
              <a:ext cx="479425" cy="603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345" name="Line 71"/>
            <p:cNvSpPr>
              <a:spLocks noChangeShapeType="1"/>
            </p:cNvSpPr>
            <p:nvPr/>
          </p:nvSpPr>
          <p:spPr bwMode="auto">
            <a:xfrm>
              <a:off x="8170863" y="4665663"/>
              <a:ext cx="514350" cy="484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346" name="Text Box 73"/>
            <p:cNvSpPr txBox="1">
              <a:spLocks noChangeArrowheads="1"/>
            </p:cNvSpPr>
            <p:nvPr/>
          </p:nvSpPr>
          <p:spPr bwMode="auto">
            <a:xfrm>
              <a:off x="7364413" y="5827713"/>
              <a:ext cx="14335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1200" i="0" dirty="0">
                  <a:solidFill>
                    <a:srgbClr val="000000"/>
                  </a:solidFill>
                  <a:latin typeface="Arial" charset="0"/>
                </a:rPr>
                <a:t>Computer Science</a:t>
              </a:r>
            </a:p>
            <a:p>
              <a:pPr algn="ctr" eaLnBrk="1" hangingPunct="1"/>
              <a:r>
                <a:rPr lang="en-US" sz="1200" i="0" dirty="0">
                  <a:solidFill>
                    <a:srgbClr val="000000"/>
                  </a:solidFill>
                  <a:latin typeface="Arial" charset="0"/>
                </a:rPr>
                <a:t>(VLAN ports 9-16)</a:t>
              </a:r>
            </a:p>
          </p:txBody>
        </p:sp>
        <p:sp>
          <p:nvSpPr>
            <p:cNvPr id="73796" name="Rectangle 211"/>
            <p:cNvSpPr>
              <a:spLocks noChangeArrowheads="1"/>
            </p:cNvSpPr>
            <p:nvPr/>
          </p:nvSpPr>
          <p:spPr bwMode="auto">
            <a:xfrm>
              <a:off x="4095760" y="3695700"/>
              <a:ext cx="5140604" cy="5000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0"/>
                <a:buNone/>
                <a:defRPr/>
              </a:pPr>
              <a:r>
                <a:rPr lang="en-US" sz="2400" i="0" dirty="0">
                  <a:solidFill>
                    <a:srgbClr val="000000"/>
                  </a:solidFill>
                  <a:latin typeface="Gill Sans MT" charset="0"/>
                  <a:cs typeface="+mn-cs"/>
                </a:rPr>
                <a:t>… operates as </a:t>
              </a:r>
              <a:r>
                <a:rPr lang="en-US" sz="2400" dirty="0">
                  <a:solidFill>
                    <a:srgbClr val="CC0000"/>
                  </a:solidFill>
                  <a:latin typeface="Gill Sans MT" charset="0"/>
                  <a:cs typeface="+mn-cs"/>
                </a:rPr>
                <a:t>multiple</a:t>
              </a:r>
              <a:r>
                <a:rPr lang="en-US" sz="2400" i="0" dirty="0">
                  <a:solidFill>
                    <a:srgbClr val="CC0000"/>
                  </a:solidFill>
                  <a:latin typeface="Gill Sans MT" charset="0"/>
                  <a:cs typeface="+mn-cs"/>
                </a:rPr>
                <a:t> </a:t>
              </a:r>
              <a:r>
                <a:rPr lang="en-US" sz="2400" i="0" dirty="0">
                  <a:solidFill>
                    <a:srgbClr val="000000"/>
                  </a:solidFill>
                  <a:latin typeface="Gill Sans MT" charset="0"/>
                  <a:cs typeface="+mn-cs"/>
                </a:rPr>
                <a:t>virtual switches</a:t>
              </a:r>
            </a:p>
            <a:p>
              <a: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0"/>
                <a:buChar char="v"/>
                <a:defRPr/>
              </a:pPr>
              <a:endParaRPr lang="en-US" sz="2000" i="0" dirty="0">
                <a:solidFill>
                  <a:srgbClr val="000000"/>
                </a:solidFill>
                <a:latin typeface="Gill Sans MT" charset="0"/>
                <a:cs typeface="+mn-cs"/>
              </a:endParaRPr>
            </a:p>
          </p:txBody>
        </p:sp>
        <p:grpSp>
          <p:nvGrpSpPr>
            <p:cNvPr id="182348" name="Group 44"/>
            <p:cNvGrpSpPr>
              <a:grpSpLocks/>
            </p:cNvGrpSpPr>
            <p:nvPr/>
          </p:nvGrpSpPr>
          <p:grpSpPr bwMode="auto">
            <a:xfrm>
              <a:off x="3902075" y="5110163"/>
              <a:ext cx="609600" cy="558800"/>
              <a:chOff x="-44" y="1473"/>
              <a:chExt cx="981" cy="1105"/>
            </a:xfrm>
          </p:grpSpPr>
          <p:pic>
            <p:nvPicPr>
              <p:cNvPr id="18236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6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82349" name="Group 44"/>
            <p:cNvGrpSpPr>
              <a:grpSpLocks/>
            </p:cNvGrpSpPr>
            <p:nvPr/>
          </p:nvGrpSpPr>
          <p:grpSpPr bwMode="auto">
            <a:xfrm>
              <a:off x="4429125" y="5202238"/>
              <a:ext cx="609600" cy="558800"/>
              <a:chOff x="-44" y="1473"/>
              <a:chExt cx="981" cy="1105"/>
            </a:xfrm>
          </p:grpSpPr>
          <p:pic>
            <p:nvPicPr>
              <p:cNvPr id="182362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63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82350" name="Group 44"/>
            <p:cNvGrpSpPr>
              <a:grpSpLocks/>
            </p:cNvGrpSpPr>
            <p:nvPr/>
          </p:nvGrpSpPr>
          <p:grpSpPr bwMode="auto">
            <a:xfrm>
              <a:off x="5151438" y="5222875"/>
              <a:ext cx="609600" cy="558800"/>
              <a:chOff x="-44" y="1473"/>
              <a:chExt cx="981" cy="1105"/>
            </a:xfrm>
          </p:grpSpPr>
          <p:pic>
            <p:nvPicPr>
              <p:cNvPr id="18236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61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82351" name="Group 44"/>
            <p:cNvGrpSpPr>
              <a:grpSpLocks/>
            </p:cNvGrpSpPr>
            <p:nvPr/>
          </p:nvGrpSpPr>
          <p:grpSpPr bwMode="auto">
            <a:xfrm>
              <a:off x="6969125" y="5253038"/>
              <a:ext cx="609600" cy="558800"/>
              <a:chOff x="-44" y="1473"/>
              <a:chExt cx="981" cy="1105"/>
            </a:xfrm>
          </p:grpSpPr>
          <p:pic>
            <p:nvPicPr>
              <p:cNvPr id="18235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59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82352" name="Group 44"/>
            <p:cNvGrpSpPr>
              <a:grpSpLocks/>
            </p:cNvGrpSpPr>
            <p:nvPr/>
          </p:nvGrpSpPr>
          <p:grpSpPr bwMode="auto">
            <a:xfrm>
              <a:off x="7477125" y="5262563"/>
              <a:ext cx="609600" cy="558800"/>
              <a:chOff x="-44" y="1473"/>
              <a:chExt cx="981" cy="1105"/>
            </a:xfrm>
          </p:grpSpPr>
          <p:pic>
            <p:nvPicPr>
              <p:cNvPr id="182356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57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82353" name="Group 44"/>
            <p:cNvGrpSpPr>
              <a:grpSpLocks/>
            </p:cNvGrpSpPr>
            <p:nvPr/>
          </p:nvGrpSpPr>
          <p:grpSpPr bwMode="auto">
            <a:xfrm>
              <a:off x="8340725" y="5080000"/>
              <a:ext cx="609600" cy="558800"/>
              <a:chOff x="-44" y="1473"/>
              <a:chExt cx="981" cy="1105"/>
            </a:xfrm>
          </p:grpSpPr>
          <p:pic>
            <p:nvPicPr>
              <p:cNvPr id="18235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5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pic>
        <p:nvPicPr>
          <p:cNvPr id="182331" name="Picture 2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3" y="1033463"/>
            <a:ext cx="1655762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35</a:t>
            </a:fld>
            <a:endParaRPr lang="en-US" sz="1200" dirty="0">
              <a:latin typeface="Tahoma" charset="0"/>
            </a:endParaRPr>
          </a:p>
        </p:txBody>
      </p:sp>
      <p:sp>
        <p:nvSpPr>
          <p:cNvPr id="14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418855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6" name="Rectangle 115"/>
          <p:cNvSpPr>
            <a:spLocks noChangeArrowheads="1"/>
          </p:cNvSpPr>
          <p:nvPr/>
        </p:nvSpPr>
        <p:spPr bwMode="auto">
          <a:xfrm>
            <a:off x="7731125" y="3063875"/>
            <a:ext cx="279400" cy="2286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4757" name="Rectangle 4"/>
          <p:cNvSpPr>
            <a:spLocks noChangeArrowheads="1"/>
          </p:cNvSpPr>
          <p:nvPr/>
        </p:nvSpPr>
        <p:spPr bwMode="auto">
          <a:xfrm>
            <a:off x="5657850" y="2847975"/>
            <a:ext cx="273050" cy="19685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475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Port-based VLAN</a:t>
            </a:r>
          </a:p>
        </p:txBody>
      </p:sp>
      <p:sp>
        <p:nvSpPr>
          <p:cNvPr id="183302" name="Rectangle 80"/>
          <p:cNvSpPr>
            <a:spLocks noChangeArrowheads="1"/>
          </p:cNvSpPr>
          <p:nvPr/>
        </p:nvSpPr>
        <p:spPr bwMode="auto">
          <a:xfrm>
            <a:off x="5649913" y="3057525"/>
            <a:ext cx="290512" cy="242888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03" name="Rectangle 77"/>
          <p:cNvSpPr>
            <a:spLocks noChangeArrowheads="1"/>
          </p:cNvSpPr>
          <p:nvPr/>
        </p:nvSpPr>
        <p:spPr bwMode="auto">
          <a:xfrm>
            <a:off x="7721600" y="2838450"/>
            <a:ext cx="290513" cy="2095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04" name="Rectangle 76"/>
          <p:cNvSpPr>
            <a:spLocks noChangeArrowheads="1"/>
          </p:cNvSpPr>
          <p:nvPr/>
        </p:nvSpPr>
        <p:spPr bwMode="auto">
          <a:xfrm>
            <a:off x="6831013" y="2843213"/>
            <a:ext cx="890587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05" name="Rectangle 75"/>
          <p:cNvSpPr>
            <a:spLocks noChangeArrowheads="1"/>
          </p:cNvSpPr>
          <p:nvPr/>
        </p:nvSpPr>
        <p:spPr bwMode="auto">
          <a:xfrm>
            <a:off x="5935663" y="2843213"/>
            <a:ext cx="900112" cy="452437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06" name="Rectangle 2"/>
          <p:cNvSpPr>
            <a:spLocks noChangeArrowheads="1"/>
          </p:cNvSpPr>
          <p:nvPr/>
        </p:nvSpPr>
        <p:spPr bwMode="auto">
          <a:xfrm>
            <a:off x="5649913" y="2835275"/>
            <a:ext cx="2370137" cy="4683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07" name="Line 3"/>
          <p:cNvSpPr>
            <a:spLocks noChangeShapeType="1"/>
          </p:cNvSpPr>
          <p:nvPr/>
        </p:nvSpPr>
        <p:spPr bwMode="auto">
          <a:xfrm>
            <a:off x="5651500" y="3051175"/>
            <a:ext cx="2351088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08" name="Text Box 6"/>
          <p:cNvSpPr txBox="1">
            <a:spLocks noChangeArrowheads="1"/>
          </p:cNvSpPr>
          <p:nvPr/>
        </p:nvSpPr>
        <p:spPr bwMode="auto">
          <a:xfrm>
            <a:off x="5567363" y="279400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</a:t>
            </a:r>
          </a:p>
        </p:txBody>
      </p:sp>
      <p:sp>
        <p:nvSpPr>
          <p:cNvPr id="183309" name="Line 7"/>
          <p:cNvSpPr>
            <a:spLocks noChangeShapeType="1"/>
          </p:cNvSpPr>
          <p:nvPr/>
        </p:nvSpPr>
        <p:spPr bwMode="auto">
          <a:xfrm>
            <a:off x="6831013" y="284003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0" name="AutoShape 8"/>
          <p:cNvSpPr>
            <a:spLocks noChangeArrowheads="1"/>
          </p:cNvSpPr>
          <p:nvPr/>
        </p:nvSpPr>
        <p:spPr bwMode="auto">
          <a:xfrm>
            <a:off x="5621338" y="2576513"/>
            <a:ext cx="3176587" cy="261937"/>
          </a:xfrm>
          <a:prstGeom prst="parallelogram">
            <a:avLst>
              <a:gd name="adj" fmla="val 30318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11" name="Freeform 9"/>
          <p:cNvSpPr>
            <a:spLocks/>
          </p:cNvSpPr>
          <p:nvPr/>
        </p:nvSpPr>
        <p:spPr bwMode="auto">
          <a:xfrm>
            <a:off x="8024813" y="2579688"/>
            <a:ext cx="763587" cy="720725"/>
          </a:xfrm>
          <a:custGeom>
            <a:avLst/>
            <a:gdLst>
              <a:gd name="T0" fmla="*/ 0 w 232"/>
              <a:gd name="T1" fmla="*/ 2147483647 h 454"/>
              <a:gd name="T2" fmla="*/ 2147483647 w 232"/>
              <a:gd name="T3" fmla="*/ 2147483647 h 454"/>
              <a:gd name="T4" fmla="*/ 2147483647 w 232"/>
              <a:gd name="T5" fmla="*/ 0 h 454"/>
              <a:gd name="T6" fmla="*/ 0 60000 65536"/>
              <a:gd name="T7" fmla="*/ 0 60000 65536"/>
              <a:gd name="T8" fmla="*/ 0 60000 65536"/>
              <a:gd name="T9" fmla="*/ 0 w 232"/>
              <a:gd name="T10" fmla="*/ 0 h 454"/>
              <a:gd name="T11" fmla="*/ 232 w 232"/>
              <a:gd name="T12" fmla="*/ 454 h 4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2" h="454">
                <a:moveTo>
                  <a:pt x="0" y="454"/>
                </a:moveTo>
                <a:lnTo>
                  <a:pt x="232" y="274"/>
                </a:lnTo>
                <a:lnTo>
                  <a:pt x="229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2" name="Freeform 10"/>
          <p:cNvSpPr>
            <a:spLocks/>
          </p:cNvSpPr>
          <p:nvPr/>
        </p:nvSpPr>
        <p:spPr bwMode="auto">
          <a:xfrm>
            <a:off x="6022975" y="2624138"/>
            <a:ext cx="2228850" cy="150812"/>
          </a:xfrm>
          <a:custGeom>
            <a:avLst/>
            <a:gdLst>
              <a:gd name="T0" fmla="*/ 0 w 678"/>
              <a:gd name="T1" fmla="*/ 2147483647 h 110"/>
              <a:gd name="T2" fmla="*/ 2147483647 w 678"/>
              <a:gd name="T3" fmla="*/ 2147483647 h 110"/>
              <a:gd name="T4" fmla="*/ 2147483647 w 678"/>
              <a:gd name="T5" fmla="*/ 0 h 110"/>
              <a:gd name="T6" fmla="*/ 2147483647 w 678"/>
              <a:gd name="T7" fmla="*/ 0 h 110"/>
              <a:gd name="T8" fmla="*/ 0 60000 65536"/>
              <a:gd name="T9" fmla="*/ 0 60000 65536"/>
              <a:gd name="T10" fmla="*/ 0 60000 65536"/>
              <a:gd name="T11" fmla="*/ 0 60000 65536"/>
              <a:gd name="T12" fmla="*/ 0 w 678"/>
              <a:gd name="T13" fmla="*/ 0 h 110"/>
              <a:gd name="T14" fmla="*/ 678 w 678"/>
              <a:gd name="T15" fmla="*/ 110 h 1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8" h="110">
                <a:moveTo>
                  <a:pt x="0" y="110"/>
                </a:moveTo>
                <a:lnTo>
                  <a:pt x="148" y="108"/>
                </a:lnTo>
                <a:lnTo>
                  <a:pt x="567" y="0"/>
                </a:lnTo>
                <a:lnTo>
                  <a:pt x="6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3" name="Freeform 11"/>
          <p:cNvSpPr>
            <a:spLocks/>
          </p:cNvSpPr>
          <p:nvPr/>
        </p:nvSpPr>
        <p:spPr bwMode="auto">
          <a:xfrm>
            <a:off x="6496050" y="2624138"/>
            <a:ext cx="1420813" cy="166687"/>
          </a:xfrm>
          <a:custGeom>
            <a:avLst/>
            <a:gdLst>
              <a:gd name="T0" fmla="*/ 0 w 432"/>
              <a:gd name="T1" fmla="*/ 0 h 105"/>
              <a:gd name="T2" fmla="*/ 2147483647 w 432"/>
              <a:gd name="T3" fmla="*/ 0 h 105"/>
              <a:gd name="T4" fmla="*/ 2147483647 w 432"/>
              <a:gd name="T5" fmla="*/ 2147483647 h 105"/>
              <a:gd name="T6" fmla="*/ 2147483647 w 432"/>
              <a:gd name="T7" fmla="*/ 2147483647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05"/>
              <a:gd name="T14" fmla="*/ 432 w 432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05">
                <a:moveTo>
                  <a:pt x="0" y="0"/>
                </a:moveTo>
                <a:lnTo>
                  <a:pt x="85" y="0"/>
                </a:lnTo>
                <a:lnTo>
                  <a:pt x="307" y="105"/>
                </a:lnTo>
                <a:lnTo>
                  <a:pt x="432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4" name="Line 17"/>
          <p:cNvSpPr>
            <a:spLocks noChangeShapeType="1"/>
          </p:cNvSpPr>
          <p:nvPr/>
        </p:nvSpPr>
        <p:spPr bwMode="auto">
          <a:xfrm>
            <a:off x="7431088" y="284480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5" name="Line 18"/>
          <p:cNvSpPr>
            <a:spLocks noChangeShapeType="1"/>
          </p:cNvSpPr>
          <p:nvPr/>
        </p:nvSpPr>
        <p:spPr bwMode="auto">
          <a:xfrm>
            <a:off x="6230938" y="284003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6" name="Line 21"/>
          <p:cNvSpPr>
            <a:spLocks noChangeShapeType="1"/>
          </p:cNvSpPr>
          <p:nvPr/>
        </p:nvSpPr>
        <p:spPr bwMode="auto">
          <a:xfrm>
            <a:off x="5940425" y="283686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7" name="Line 22"/>
          <p:cNvSpPr>
            <a:spLocks noChangeShapeType="1"/>
          </p:cNvSpPr>
          <p:nvPr/>
        </p:nvSpPr>
        <p:spPr bwMode="auto">
          <a:xfrm>
            <a:off x="5649913" y="284956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8" name="Line 23"/>
          <p:cNvSpPr>
            <a:spLocks noChangeShapeType="1"/>
          </p:cNvSpPr>
          <p:nvPr/>
        </p:nvSpPr>
        <p:spPr bwMode="auto">
          <a:xfrm>
            <a:off x="6511925" y="284480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9" name="Line 24"/>
          <p:cNvSpPr>
            <a:spLocks noChangeShapeType="1"/>
          </p:cNvSpPr>
          <p:nvPr/>
        </p:nvSpPr>
        <p:spPr bwMode="auto">
          <a:xfrm>
            <a:off x="7135813" y="284003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20" name="Line 25"/>
          <p:cNvSpPr>
            <a:spLocks noChangeShapeType="1"/>
          </p:cNvSpPr>
          <p:nvPr/>
        </p:nvSpPr>
        <p:spPr bwMode="auto">
          <a:xfrm>
            <a:off x="7726363" y="283527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21" name="Text Box 26"/>
          <p:cNvSpPr txBox="1">
            <a:spLocks noChangeArrowheads="1"/>
          </p:cNvSpPr>
          <p:nvPr/>
        </p:nvSpPr>
        <p:spPr bwMode="auto">
          <a:xfrm>
            <a:off x="6448425" y="300355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8</a:t>
            </a:r>
          </a:p>
        </p:txBody>
      </p:sp>
      <p:sp>
        <p:nvSpPr>
          <p:cNvPr id="183322" name="Text Box 27"/>
          <p:cNvSpPr txBox="1">
            <a:spLocks noChangeArrowheads="1"/>
          </p:cNvSpPr>
          <p:nvPr/>
        </p:nvSpPr>
        <p:spPr bwMode="auto">
          <a:xfrm>
            <a:off x="6767513" y="278923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9</a:t>
            </a:r>
          </a:p>
        </p:txBody>
      </p:sp>
      <p:sp>
        <p:nvSpPr>
          <p:cNvPr id="183323" name="Text Box 28"/>
          <p:cNvSpPr txBox="1">
            <a:spLocks noChangeArrowheads="1"/>
          </p:cNvSpPr>
          <p:nvPr/>
        </p:nvSpPr>
        <p:spPr bwMode="auto">
          <a:xfrm>
            <a:off x="7643813" y="3008313"/>
            <a:ext cx="2984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16</a:t>
            </a:r>
          </a:p>
        </p:txBody>
      </p:sp>
      <p:sp>
        <p:nvSpPr>
          <p:cNvPr id="183324" name="Text Box 29"/>
          <p:cNvSpPr txBox="1">
            <a:spLocks noChangeArrowheads="1"/>
          </p:cNvSpPr>
          <p:nvPr/>
        </p:nvSpPr>
        <p:spPr bwMode="auto">
          <a:xfrm>
            <a:off x="6748463" y="3008313"/>
            <a:ext cx="2984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10</a:t>
            </a:r>
          </a:p>
        </p:txBody>
      </p:sp>
      <p:sp>
        <p:nvSpPr>
          <p:cNvPr id="183325" name="Text Box 30"/>
          <p:cNvSpPr txBox="1">
            <a:spLocks noChangeArrowheads="1"/>
          </p:cNvSpPr>
          <p:nvPr/>
        </p:nvSpPr>
        <p:spPr bwMode="auto">
          <a:xfrm>
            <a:off x="5576888" y="300355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2</a:t>
            </a:r>
          </a:p>
        </p:txBody>
      </p:sp>
      <p:sp>
        <p:nvSpPr>
          <p:cNvPr id="183326" name="Text Box 57"/>
          <p:cNvSpPr txBox="1">
            <a:spLocks noChangeArrowheads="1"/>
          </p:cNvSpPr>
          <p:nvPr/>
        </p:nvSpPr>
        <p:spPr bwMode="auto">
          <a:xfrm>
            <a:off x="6443663" y="278923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7</a:t>
            </a:r>
          </a:p>
        </p:txBody>
      </p:sp>
      <p:sp>
        <p:nvSpPr>
          <p:cNvPr id="183327" name="Line 61"/>
          <p:cNvSpPr>
            <a:spLocks noChangeShapeType="1"/>
          </p:cNvSpPr>
          <p:nvPr/>
        </p:nvSpPr>
        <p:spPr bwMode="auto">
          <a:xfrm flipH="1">
            <a:off x="4889500" y="3179763"/>
            <a:ext cx="901700" cy="279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28" name="Line 62"/>
          <p:cNvSpPr>
            <a:spLocks noChangeShapeType="1"/>
          </p:cNvSpPr>
          <p:nvPr/>
        </p:nvSpPr>
        <p:spPr bwMode="auto">
          <a:xfrm flipH="1">
            <a:off x="5275263" y="3170238"/>
            <a:ext cx="806450" cy="419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29" name="Line 63"/>
          <p:cNvSpPr>
            <a:spLocks noChangeShapeType="1"/>
          </p:cNvSpPr>
          <p:nvPr/>
        </p:nvSpPr>
        <p:spPr bwMode="auto">
          <a:xfrm flipH="1">
            <a:off x="5994400" y="3186113"/>
            <a:ext cx="70961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30" name="Text Box 64"/>
          <p:cNvSpPr txBox="1">
            <a:spLocks noChangeArrowheads="1"/>
          </p:cNvSpPr>
          <p:nvPr/>
        </p:nvSpPr>
        <p:spPr bwMode="auto">
          <a:xfrm>
            <a:off x="7715250" y="35480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0" dirty="0">
                <a:solidFill>
                  <a:srgbClr val="000000"/>
                </a:solidFill>
                <a:latin typeface="Arial" charset="0"/>
              </a:rPr>
              <a:t>…</a:t>
            </a:r>
          </a:p>
        </p:txBody>
      </p:sp>
      <p:sp>
        <p:nvSpPr>
          <p:cNvPr id="183331" name="Line 69"/>
          <p:cNvSpPr>
            <a:spLocks noChangeShapeType="1"/>
          </p:cNvSpPr>
          <p:nvPr/>
        </p:nvSpPr>
        <p:spPr bwMode="auto">
          <a:xfrm>
            <a:off x="7002463" y="3173413"/>
            <a:ext cx="101600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32" name="Line 70"/>
          <p:cNvSpPr>
            <a:spLocks noChangeShapeType="1"/>
          </p:cNvSpPr>
          <p:nvPr/>
        </p:nvSpPr>
        <p:spPr bwMode="auto">
          <a:xfrm>
            <a:off x="6992938" y="2971800"/>
            <a:ext cx="479425" cy="603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33" name="Line 71"/>
          <p:cNvSpPr>
            <a:spLocks noChangeShapeType="1"/>
          </p:cNvSpPr>
          <p:nvPr/>
        </p:nvSpPr>
        <p:spPr bwMode="auto">
          <a:xfrm>
            <a:off x="7848600" y="2916238"/>
            <a:ext cx="514350" cy="484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34" name="Text Box 72"/>
          <p:cNvSpPr txBox="1">
            <a:spLocks noChangeArrowheads="1"/>
          </p:cNvSpPr>
          <p:nvPr/>
        </p:nvSpPr>
        <p:spPr bwMode="auto">
          <a:xfrm>
            <a:off x="4879975" y="4090988"/>
            <a:ext cx="165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Electrical Engineering</a:t>
            </a:r>
          </a:p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(VLAN ports 1-8)</a:t>
            </a:r>
          </a:p>
        </p:txBody>
      </p:sp>
      <p:sp>
        <p:nvSpPr>
          <p:cNvPr id="183335" name="Text Box 73"/>
          <p:cNvSpPr txBox="1">
            <a:spLocks noChangeArrowheads="1"/>
          </p:cNvSpPr>
          <p:nvPr/>
        </p:nvSpPr>
        <p:spPr bwMode="auto">
          <a:xfrm>
            <a:off x="7042150" y="4078288"/>
            <a:ext cx="1433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Computer Science</a:t>
            </a:r>
          </a:p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(VLAN ports 9-15)</a:t>
            </a:r>
          </a:p>
        </p:txBody>
      </p:sp>
      <p:sp>
        <p:nvSpPr>
          <p:cNvPr id="183336" name="Text Box 74"/>
          <p:cNvSpPr txBox="1">
            <a:spLocks noChangeArrowheads="1"/>
          </p:cNvSpPr>
          <p:nvPr/>
        </p:nvSpPr>
        <p:spPr bwMode="auto">
          <a:xfrm>
            <a:off x="7639050" y="2784475"/>
            <a:ext cx="29845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15</a:t>
            </a:r>
          </a:p>
        </p:txBody>
      </p:sp>
      <p:sp>
        <p:nvSpPr>
          <p:cNvPr id="183337" name="Oval 81"/>
          <p:cNvSpPr>
            <a:spLocks noChangeArrowheads="1"/>
          </p:cNvSpPr>
          <p:nvPr/>
        </p:nvSpPr>
        <p:spPr bwMode="auto">
          <a:xfrm>
            <a:off x="5765800" y="3159125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38" name="Oval 82"/>
          <p:cNvSpPr>
            <a:spLocks noChangeArrowheads="1"/>
          </p:cNvSpPr>
          <p:nvPr/>
        </p:nvSpPr>
        <p:spPr bwMode="auto">
          <a:xfrm>
            <a:off x="6057900" y="3146425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39" name="Oval 83"/>
          <p:cNvSpPr>
            <a:spLocks noChangeArrowheads="1"/>
          </p:cNvSpPr>
          <p:nvPr/>
        </p:nvSpPr>
        <p:spPr bwMode="auto">
          <a:xfrm>
            <a:off x="6645275" y="3151188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40" name="Oval 84"/>
          <p:cNvSpPr>
            <a:spLocks noChangeArrowheads="1"/>
          </p:cNvSpPr>
          <p:nvPr/>
        </p:nvSpPr>
        <p:spPr bwMode="auto">
          <a:xfrm>
            <a:off x="6977063" y="3148013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41" name="Oval 85"/>
          <p:cNvSpPr>
            <a:spLocks noChangeArrowheads="1"/>
          </p:cNvSpPr>
          <p:nvPr/>
        </p:nvSpPr>
        <p:spPr bwMode="auto">
          <a:xfrm>
            <a:off x="6964363" y="2933700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42" name="Oval 86"/>
          <p:cNvSpPr>
            <a:spLocks noChangeArrowheads="1"/>
          </p:cNvSpPr>
          <p:nvPr/>
        </p:nvSpPr>
        <p:spPr bwMode="auto">
          <a:xfrm>
            <a:off x="7839075" y="2930525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43" name="Text Box 45"/>
          <p:cNvSpPr txBox="1">
            <a:spLocks noChangeArrowheads="1"/>
          </p:cNvSpPr>
          <p:nvPr/>
        </p:nvSpPr>
        <p:spPr bwMode="auto">
          <a:xfrm>
            <a:off x="5429250" y="352425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0" dirty="0">
                <a:solidFill>
                  <a:srgbClr val="000000"/>
                </a:solidFill>
                <a:latin typeface="Arial" charset="0"/>
              </a:rPr>
              <a:t>…</a:t>
            </a:r>
          </a:p>
        </p:txBody>
      </p:sp>
      <p:sp>
        <p:nvSpPr>
          <p:cNvPr id="74801" name="Rectangle 116"/>
          <p:cNvSpPr>
            <a:spLocks noGrp="1" noChangeArrowheads="1"/>
          </p:cNvSpPr>
          <p:nvPr>
            <p:ph type="body" idx="1"/>
          </p:nvPr>
        </p:nvSpPr>
        <p:spPr>
          <a:xfrm>
            <a:off x="312738" y="1309688"/>
            <a:ext cx="4249737" cy="1763712"/>
          </a:xfrm>
        </p:spPr>
        <p:txBody>
          <a:bodyPr/>
          <a:lstStyle/>
          <a:p>
            <a:pPr marL="231775" indent="-231775"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traffic isolation: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frames to/from ports </a:t>
            </a:r>
            <a:r>
              <a:rPr lang="en-US" sz="2400" dirty="0">
                <a:latin typeface="Arial"/>
                <a:cs typeface="Arial"/>
              </a:rPr>
              <a:t>1</a:t>
            </a:r>
            <a:r>
              <a:rPr lang="en-US" sz="2400" dirty="0">
                <a:latin typeface="Gill Sans MT" charset="0"/>
                <a:cs typeface="+mn-cs"/>
              </a:rPr>
              <a:t>-8 can </a:t>
            </a:r>
            <a:r>
              <a:rPr lang="en-US" sz="2400" i="1" dirty="0">
                <a:latin typeface="Gill Sans MT" charset="0"/>
                <a:cs typeface="+mn-cs"/>
              </a:rPr>
              <a:t>only</a:t>
            </a:r>
            <a:r>
              <a:rPr lang="en-US" sz="2400" dirty="0">
                <a:latin typeface="Gill Sans MT" charset="0"/>
                <a:cs typeface="+mn-cs"/>
              </a:rPr>
              <a:t> reach ports </a:t>
            </a:r>
            <a:r>
              <a:rPr lang="en-US" sz="2400" dirty="0">
                <a:latin typeface="Arial"/>
                <a:cs typeface="Arial"/>
              </a:rPr>
              <a:t>1</a:t>
            </a:r>
            <a:r>
              <a:rPr lang="en-US" sz="2400" dirty="0">
                <a:latin typeface="Gill Sans MT" charset="0"/>
                <a:cs typeface="+mn-cs"/>
              </a:rPr>
              <a:t>-8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can also define VLAN based on MAC addresses of endpoints, rather than switch port</a:t>
            </a:r>
          </a:p>
        </p:txBody>
      </p:sp>
      <p:sp>
        <p:nvSpPr>
          <p:cNvPr id="691317" name="Rectangle 117"/>
          <p:cNvSpPr>
            <a:spLocks noChangeArrowheads="1"/>
          </p:cNvSpPr>
          <p:nvPr/>
        </p:nvSpPr>
        <p:spPr bwMode="auto">
          <a:xfrm>
            <a:off x="285750" y="3286125"/>
            <a:ext cx="4060825" cy="161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dynamic membership</a:t>
            </a:r>
            <a:r>
              <a:rPr lang="en-US" sz="2400" dirty="0">
                <a:solidFill>
                  <a:srgbClr val="FF0000"/>
                </a:solidFill>
                <a:latin typeface="Gill Sans MT" charset="0"/>
                <a:cs typeface="+mn-cs"/>
              </a:rPr>
              <a:t>:</a:t>
            </a:r>
            <a:r>
              <a:rPr lang="en-US" sz="2400" i="0" dirty="0">
                <a:solidFill>
                  <a:srgbClr val="000000"/>
                </a:solidFill>
                <a:latin typeface="Gill Sans MT" charset="0"/>
                <a:cs typeface="+mn-cs"/>
              </a:rPr>
              <a:t> ports can be dynamically assigned among VLANs</a:t>
            </a:r>
          </a:p>
        </p:txBody>
      </p:sp>
      <p:sp>
        <p:nvSpPr>
          <p:cNvPr id="691342" name="Text Box 142"/>
          <p:cNvSpPr txBox="1">
            <a:spLocks noChangeArrowheads="1"/>
          </p:cNvSpPr>
          <p:nvPr/>
        </p:nvSpPr>
        <p:spPr bwMode="auto">
          <a:xfrm>
            <a:off x="6656388" y="1162050"/>
            <a:ext cx="7874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Arial" charset="0"/>
              </a:rPr>
              <a:t>router</a:t>
            </a:r>
          </a:p>
        </p:txBody>
      </p:sp>
      <p:grpSp>
        <p:nvGrpSpPr>
          <p:cNvPr id="691350" name="Group 150"/>
          <p:cNvGrpSpPr>
            <a:grpSpLocks/>
          </p:cNvGrpSpPr>
          <p:nvPr/>
        </p:nvGrpSpPr>
        <p:grpSpPr bwMode="auto">
          <a:xfrm>
            <a:off x="320675" y="1531938"/>
            <a:ext cx="7010400" cy="4608512"/>
            <a:chOff x="202" y="965"/>
            <a:chExt cx="4416" cy="2903"/>
          </a:xfrm>
        </p:grpSpPr>
        <p:sp>
          <p:nvSpPr>
            <p:cNvPr id="74832" name="Rectangle 124"/>
            <p:cNvSpPr>
              <a:spLocks noChangeArrowheads="1"/>
            </p:cNvSpPr>
            <p:nvPr/>
          </p:nvSpPr>
          <p:spPr bwMode="auto">
            <a:xfrm>
              <a:off x="202" y="2852"/>
              <a:ext cx="3148" cy="10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  <a:defRPr/>
              </a:pPr>
              <a:r>
                <a:rPr lang="en-US" sz="2400" dirty="0">
                  <a:solidFill>
                    <a:srgbClr val="CC0000"/>
                  </a:solidFill>
                  <a:latin typeface="Gill Sans MT" charset="0"/>
                  <a:cs typeface="+mn-cs"/>
                </a:rPr>
                <a:t>forwarding between VLANS:</a:t>
              </a:r>
              <a:r>
                <a:rPr lang="en-US" sz="2400" i="0" dirty="0">
                  <a:solidFill>
                    <a:srgbClr val="CC0000"/>
                  </a:solidFill>
                  <a:latin typeface="Gill Sans MT" charset="0"/>
                  <a:cs typeface="+mn-cs"/>
                </a:rPr>
                <a:t> </a:t>
              </a:r>
              <a:r>
                <a:rPr lang="en-US" sz="2400" i="0" dirty="0">
                  <a:solidFill>
                    <a:srgbClr val="000000"/>
                  </a:solidFill>
                  <a:latin typeface="Gill Sans MT" charset="0"/>
                  <a:cs typeface="+mn-cs"/>
                </a:rPr>
                <a:t>done via routing (just as with separate switches)</a:t>
              </a:r>
            </a:p>
            <a:p>
              <a:pPr marL="681038" lvl="1" indent="-223838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/>
                <a:buChar char="•"/>
                <a:defRPr/>
              </a:pPr>
              <a:r>
                <a:rPr lang="en-US" sz="2000" i="0" dirty="0">
                  <a:solidFill>
                    <a:srgbClr val="000000"/>
                  </a:solidFill>
                  <a:latin typeface="Gill Sans MT" charset="0"/>
                  <a:cs typeface="+mn-cs"/>
                </a:rPr>
                <a:t>in practice vendors sell combined switches plus routers</a:t>
              </a:r>
            </a:p>
          </p:txBody>
        </p:sp>
        <p:grpSp>
          <p:nvGrpSpPr>
            <p:cNvPr id="183376" name="Group 149"/>
            <p:cNvGrpSpPr>
              <a:grpSpLocks/>
            </p:cNvGrpSpPr>
            <p:nvPr/>
          </p:nvGrpSpPr>
          <p:grpSpPr bwMode="auto">
            <a:xfrm>
              <a:off x="3939" y="965"/>
              <a:ext cx="679" cy="910"/>
              <a:chOff x="3939" y="965"/>
              <a:chExt cx="679" cy="910"/>
            </a:xfrm>
          </p:grpSpPr>
          <p:grpSp>
            <p:nvGrpSpPr>
              <p:cNvPr id="183377" name="Group 126"/>
              <p:cNvGrpSpPr>
                <a:grpSpLocks/>
              </p:cNvGrpSpPr>
              <p:nvPr/>
            </p:nvGrpSpPr>
            <p:grpSpPr bwMode="auto">
              <a:xfrm>
                <a:off x="4259" y="965"/>
                <a:ext cx="359" cy="180"/>
                <a:chOff x="533" y="321"/>
                <a:chExt cx="359" cy="180"/>
              </a:xfrm>
            </p:grpSpPr>
            <p:grpSp>
              <p:nvGrpSpPr>
                <p:cNvPr id="183384" name="Group 127"/>
                <p:cNvGrpSpPr>
                  <a:grpSpLocks/>
                </p:cNvGrpSpPr>
                <p:nvPr/>
              </p:nvGrpSpPr>
              <p:grpSpPr bwMode="auto">
                <a:xfrm>
                  <a:off x="533" y="321"/>
                  <a:ext cx="359" cy="180"/>
                  <a:chOff x="1009" y="655"/>
                  <a:chExt cx="359" cy="180"/>
                </a:xfrm>
              </p:grpSpPr>
              <p:sp>
                <p:nvSpPr>
                  <p:cNvPr id="74843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1012" y="735"/>
                    <a:ext cx="356" cy="100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74844" name="Line 129"/>
                  <p:cNvSpPr>
                    <a:spLocks noChangeShapeType="1"/>
                  </p:cNvSpPr>
                  <p:nvPr/>
                </p:nvSpPr>
                <p:spPr bwMode="auto">
                  <a:xfrm>
                    <a:off x="1012" y="727"/>
                    <a:ext cx="0" cy="6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74845" name="Line 130"/>
                  <p:cNvSpPr>
                    <a:spLocks noChangeShapeType="1"/>
                  </p:cNvSpPr>
                  <p:nvPr/>
                </p:nvSpPr>
                <p:spPr bwMode="auto">
                  <a:xfrm>
                    <a:off x="1368" y="727"/>
                    <a:ext cx="0" cy="6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74846" name="Rectangle 131"/>
                  <p:cNvSpPr>
                    <a:spLocks noChangeArrowheads="1"/>
                  </p:cNvSpPr>
                  <p:nvPr/>
                </p:nvSpPr>
                <p:spPr bwMode="auto">
                  <a:xfrm>
                    <a:off x="1012" y="727"/>
                    <a:ext cx="353" cy="61"/>
                  </a:xfrm>
                  <a:prstGeom prst="rect">
                    <a:avLst/>
                  </a:prstGeom>
                  <a:solidFill>
                    <a:schemeClr val="hlink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Times New Roman" charset="0"/>
                      <a:cs typeface="+mn-cs"/>
                    </a:endParaRPr>
                  </a:p>
                </p:txBody>
              </p:sp>
              <p:sp>
                <p:nvSpPr>
                  <p:cNvPr id="74847" name="Oval 132"/>
                  <p:cNvSpPr>
                    <a:spLocks noChangeArrowheads="1"/>
                  </p:cNvSpPr>
                  <p:nvPr/>
                </p:nvSpPr>
                <p:spPr bwMode="auto">
                  <a:xfrm>
                    <a:off x="1009" y="655"/>
                    <a:ext cx="356" cy="116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grpSp>
                <p:nvGrpSpPr>
                  <p:cNvPr id="183391" name="Group 133"/>
                  <p:cNvGrpSpPr>
                    <a:grpSpLocks/>
                  </p:cNvGrpSpPr>
                  <p:nvPr/>
                </p:nvGrpSpPr>
                <p:grpSpPr bwMode="auto">
                  <a:xfrm>
                    <a:off x="1095" y="681"/>
                    <a:ext cx="176" cy="68"/>
                    <a:chOff x="2848" y="848"/>
                    <a:chExt cx="140" cy="98"/>
                  </a:xfrm>
                </p:grpSpPr>
                <p:sp>
                  <p:nvSpPr>
                    <p:cNvPr id="74853" name="Line 13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48" y="848"/>
                      <a:ext cx="50" cy="1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cs typeface="+mn-cs"/>
                      </a:endParaRPr>
                    </a:p>
                  </p:txBody>
                </p:sp>
                <p:sp>
                  <p:nvSpPr>
                    <p:cNvPr id="74854" name="Line 13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4" y="946"/>
                      <a:ext cx="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cs typeface="+mn-cs"/>
                      </a:endParaRPr>
                    </a:p>
                  </p:txBody>
                </p:sp>
                <p:sp>
                  <p:nvSpPr>
                    <p:cNvPr id="74855" name="Line 13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94" y="849"/>
                      <a:ext cx="52" cy="97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83392" name="Group 137"/>
                  <p:cNvGrpSpPr>
                    <a:grpSpLocks/>
                  </p:cNvGrpSpPr>
                  <p:nvPr/>
                </p:nvGrpSpPr>
                <p:grpSpPr bwMode="auto">
                  <a:xfrm flipV="1">
                    <a:off x="1095" y="680"/>
                    <a:ext cx="176" cy="68"/>
                    <a:chOff x="2848" y="848"/>
                    <a:chExt cx="140" cy="98"/>
                  </a:xfrm>
                </p:grpSpPr>
                <p:sp>
                  <p:nvSpPr>
                    <p:cNvPr id="74850" name="Line 138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48" y="848"/>
                      <a:ext cx="50" cy="1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cs typeface="+mn-cs"/>
                      </a:endParaRPr>
                    </a:p>
                  </p:txBody>
                </p:sp>
                <p:sp>
                  <p:nvSpPr>
                    <p:cNvPr id="74851" name="Line 13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4" y="946"/>
                      <a:ext cx="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cs typeface="+mn-cs"/>
                      </a:endParaRPr>
                    </a:p>
                  </p:txBody>
                </p:sp>
                <p:sp>
                  <p:nvSpPr>
                    <p:cNvPr id="74852" name="Line 14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94" y="849"/>
                      <a:ext cx="52" cy="97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74842" name="Line 141"/>
                <p:cNvSpPr>
                  <a:spLocks noChangeShapeType="1"/>
                </p:cNvSpPr>
                <p:nvPr/>
              </p:nvSpPr>
              <p:spPr bwMode="auto">
                <a:xfrm>
                  <a:off x="535" y="368"/>
                  <a:ext cx="0" cy="6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183378" name="Oval 85"/>
              <p:cNvSpPr>
                <a:spLocks noChangeArrowheads="1"/>
              </p:cNvSpPr>
              <p:nvPr/>
            </p:nvSpPr>
            <p:spPr bwMode="auto">
              <a:xfrm>
                <a:off x="4180" y="1845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3379" name="Oval 85"/>
              <p:cNvSpPr>
                <a:spLocks noChangeArrowheads="1"/>
              </p:cNvSpPr>
              <p:nvPr/>
            </p:nvSpPr>
            <p:spPr bwMode="auto">
              <a:xfrm>
                <a:off x="4567" y="1845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74837" name="Line 145"/>
              <p:cNvSpPr>
                <a:spLocks noChangeShapeType="1"/>
              </p:cNvSpPr>
              <p:nvPr/>
            </p:nvSpPr>
            <p:spPr bwMode="auto">
              <a:xfrm flipV="1">
                <a:off x="4188" y="1143"/>
                <a:ext cx="159" cy="7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74838" name="Line 146"/>
              <p:cNvSpPr>
                <a:spLocks noChangeShapeType="1"/>
              </p:cNvSpPr>
              <p:nvPr/>
            </p:nvSpPr>
            <p:spPr bwMode="auto">
              <a:xfrm flipH="1" flipV="1">
                <a:off x="4469" y="1148"/>
                <a:ext cx="112" cy="7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74839" name="Line 147"/>
              <p:cNvSpPr>
                <a:spLocks noChangeShapeType="1"/>
              </p:cNvSpPr>
              <p:nvPr/>
            </p:nvSpPr>
            <p:spPr bwMode="auto">
              <a:xfrm>
                <a:off x="4101" y="1062"/>
                <a:ext cx="15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74840" name="Line 148"/>
              <p:cNvSpPr>
                <a:spLocks noChangeShapeType="1"/>
              </p:cNvSpPr>
              <p:nvPr/>
            </p:nvSpPr>
            <p:spPr bwMode="auto">
              <a:xfrm>
                <a:off x="3939" y="1062"/>
                <a:ext cx="15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183348" name="Group 44"/>
          <p:cNvGrpSpPr>
            <a:grpSpLocks/>
          </p:cNvGrpSpPr>
          <p:nvPr/>
        </p:nvGrpSpPr>
        <p:grpSpPr bwMode="auto">
          <a:xfrm>
            <a:off x="4276725" y="3343275"/>
            <a:ext cx="722313" cy="598488"/>
            <a:chOff x="-44" y="1473"/>
            <a:chExt cx="981" cy="1105"/>
          </a:xfrm>
        </p:grpSpPr>
        <p:pic>
          <p:nvPicPr>
            <p:cNvPr id="18337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337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3349" name="Group 44"/>
          <p:cNvGrpSpPr>
            <a:grpSpLocks/>
          </p:cNvGrpSpPr>
          <p:nvPr/>
        </p:nvGrpSpPr>
        <p:grpSpPr bwMode="auto">
          <a:xfrm>
            <a:off x="4724400" y="3495675"/>
            <a:ext cx="720725" cy="598488"/>
            <a:chOff x="-44" y="1473"/>
            <a:chExt cx="981" cy="1105"/>
          </a:xfrm>
        </p:grpSpPr>
        <p:pic>
          <p:nvPicPr>
            <p:cNvPr id="18337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337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3350" name="Group 44"/>
          <p:cNvGrpSpPr>
            <a:grpSpLocks/>
          </p:cNvGrpSpPr>
          <p:nvPr/>
        </p:nvGrpSpPr>
        <p:grpSpPr bwMode="auto">
          <a:xfrm>
            <a:off x="5486400" y="3454400"/>
            <a:ext cx="720725" cy="600075"/>
            <a:chOff x="-44" y="1473"/>
            <a:chExt cx="981" cy="1105"/>
          </a:xfrm>
        </p:grpSpPr>
        <p:pic>
          <p:nvPicPr>
            <p:cNvPr id="18336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337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3351" name="Group 44"/>
          <p:cNvGrpSpPr>
            <a:grpSpLocks/>
          </p:cNvGrpSpPr>
          <p:nvPr/>
        </p:nvGrpSpPr>
        <p:grpSpPr bwMode="auto">
          <a:xfrm>
            <a:off x="6492875" y="3444875"/>
            <a:ext cx="720725" cy="598488"/>
            <a:chOff x="-44" y="1473"/>
            <a:chExt cx="981" cy="1105"/>
          </a:xfrm>
        </p:grpSpPr>
        <p:pic>
          <p:nvPicPr>
            <p:cNvPr id="18336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336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3352" name="Group 44"/>
          <p:cNvGrpSpPr>
            <a:grpSpLocks/>
          </p:cNvGrpSpPr>
          <p:nvPr/>
        </p:nvGrpSpPr>
        <p:grpSpPr bwMode="auto">
          <a:xfrm>
            <a:off x="7061200" y="3454400"/>
            <a:ext cx="720725" cy="600075"/>
            <a:chOff x="-44" y="1473"/>
            <a:chExt cx="981" cy="1105"/>
          </a:xfrm>
        </p:grpSpPr>
        <p:pic>
          <p:nvPicPr>
            <p:cNvPr id="18336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336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3353" name="Group 44"/>
          <p:cNvGrpSpPr>
            <a:grpSpLocks/>
          </p:cNvGrpSpPr>
          <p:nvPr/>
        </p:nvGrpSpPr>
        <p:grpSpPr bwMode="auto">
          <a:xfrm>
            <a:off x="7915275" y="3302000"/>
            <a:ext cx="720725" cy="600075"/>
            <a:chOff x="-44" y="1473"/>
            <a:chExt cx="981" cy="1105"/>
          </a:xfrm>
        </p:grpSpPr>
        <p:pic>
          <p:nvPicPr>
            <p:cNvPr id="18336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336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4664075" y="2549525"/>
            <a:ext cx="1550988" cy="600075"/>
            <a:chOff x="4907280" y="294640"/>
            <a:chExt cx="1551062" cy="599440"/>
          </a:xfrm>
        </p:grpSpPr>
        <p:sp>
          <p:nvSpPr>
            <p:cNvPr id="74814" name="Rectangle 118"/>
            <p:cNvSpPr>
              <a:spLocks noChangeArrowheads="1"/>
            </p:cNvSpPr>
            <p:nvPr/>
          </p:nvSpPr>
          <p:spPr bwMode="auto">
            <a:xfrm>
              <a:off x="6178929" y="589603"/>
              <a:ext cx="279413" cy="20615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74815" name="Line 120"/>
            <p:cNvSpPr>
              <a:spLocks noChangeShapeType="1"/>
            </p:cNvSpPr>
            <p:nvPr/>
          </p:nvSpPr>
          <p:spPr bwMode="auto">
            <a:xfrm flipH="1" flipV="1">
              <a:off x="5507384" y="507140"/>
              <a:ext cx="793788" cy="2093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83359" name="Oval 82"/>
            <p:cNvSpPr>
              <a:spLocks noChangeArrowheads="1"/>
            </p:cNvSpPr>
            <p:nvPr/>
          </p:nvSpPr>
          <p:spPr bwMode="auto">
            <a:xfrm>
              <a:off x="6282127" y="684530"/>
              <a:ext cx="42863" cy="476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183360" name="Group 44"/>
            <p:cNvGrpSpPr>
              <a:grpSpLocks/>
            </p:cNvGrpSpPr>
            <p:nvPr/>
          </p:nvGrpSpPr>
          <p:grpSpPr bwMode="auto">
            <a:xfrm>
              <a:off x="4907280" y="294640"/>
              <a:ext cx="721360" cy="599440"/>
              <a:chOff x="-44" y="1473"/>
              <a:chExt cx="981" cy="1105"/>
            </a:xfrm>
          </p:grpSpPr>
          <p:pic>
            <p:nvPicPr>
              <p:cNvPr id="183361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3362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pic>
        <p:nvPicPr>
          <p:cNvPr id="183356" name="Picture 23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3" y="1036638"/>
            <a:ext cx="4113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36</a:t>
            </a:fld>
            <a:endParaRPr lang="en-US" sz="1200" dirty="0">
              <a:latin typeface="Tahoma" charset="0"/>
            </a:endParaRPr>
          </a:p>
        </p:txBody>
      </p:sp>
      <p:sp>
        <p:nvSpPr>
          <p:cNvPr id="10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grpSp>
        <p:nvGrpSpPr>
          <p:cNvPr id="106" name="Group 347"/>
          <p:cNvGrpSpPr>
            <a:grpSpLocks/>
          </p:cNvGrpSpPr>
          <p:nvPr/>
        </p:nvGrpSpPr>
        <p:grpSpPr bwMode="auto">
          <a:xfrm>
            <a:off x="6700819" y="1533219"/>
            <a:ext cx="681857" cy="351801"/>
            <a:chOff x="1871277" y="1576300"/>
            <a:chExt cx="1128371" cy="437861"/>
          </a:xfrm>
        </p:grpSpPr>
        <p:sp>
          <p:nvSpPr>
            <p:cNvPr id="107" name="Oval 106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8" name="Rectangle 107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09" name="Oval 108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0" name="Freeform 109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1" name="Freeform 110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2" name="Freeform 111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3" name="Freeform 112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14" name="Straight Connector 113"/>
            <p:cNvCxnSpPr>
              <a:endCxn id="109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64824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1317" grpId="0"/>
      <p:bldP spid="69134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Rectangle 111"/>
          <p:cNvSpPr>
            <a:spLocks noChangeArrowheads="1"/>
          </p:cNvSpPr>
          <p:nvPr/>
        </p:nvSpPr>
        <p:spPr bwMode="auto">
          <a:xfrm>
            <a:off x="3414713" y="2103438"/>
            <a:ext cx="279400" cy="22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84324" name="Rectangle 77"/>
          <p:cNvSpPr>
            <a:spLocks noChangeArrowheads="1"/>
          </p:cNvSpPr>
          <p:nvPr/>
        </p:nvSpPr>
        <p:spPr bwMode="auto">
          <a:xfrm>
            <a:off x="6591300" y="2108200"/>
            <a:ext cx="276225" cy="2333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25" name="Rectangle 77"/>
          <p:cNvSpPr>
            <a:spLocks noChangeArrowheads="1"/>
          </p:cNvSpPr>
          <p:nvPr/>
        </p:nvSpPr>
        <p:spPr bwMode="auto">
          <a:xfrm>
            <a:off x="6881813" y="2108200"/>
            <a:ext cx="276225" cy="2333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26" name="Rectangle 77"/>
          <p:cNvSpPr>
            <a:spLocks noChangeArrowheads="1"/>
          </p:cNvSpPr>
          <p:nvPr/>
        </p:nvSpPr>
        <p:spPr bwMode="auto">
          <a:xfrm>
            <a:off x="6300788" y="2112963"/>
            <a:ext cx="276225" cy="2333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75784" name="Rectangle 157"/>
          <p:cNvSpPr>
            <a:spLocks noChangeArrowheads="1"/>
          </p:cNvSpPr>
          <p:nvPr/>
        </p:nvSpPr>
        <p:spPr bwMode="auto">
          <a:xfrm>
            <a:off x="6300788" y="1881188"/>
            <a:ext cx="280987" cy="214312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5785" name="Rectangle 156"/>
          <p:cNvSpPr>
            <a:spLocks noChangeArrowheads="1"/>
          </p:cNvSpPr>
          <p:nvPr/>
        </p:nvSpPr>
        <p:spPr bwMode="auto">
          <a:xfrm>
            <a:off x="5972175" y="2105025"/>
            <a:ext cx="309563" cy="233363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5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VLANS spanning multiple switches</a:t>
            </a:r>
          </a:p>
        </p:txBody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3971925"/>
            <a:ext cx="8296275" cy="2687638"/>
          </a:xfrm>
        </p:spPr>
        <p:txBody>
          <a:bodyPr/>
          <a:lstStyle/>
          <a:p>
            <a:pPr marL="231775" indent="-231775"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trunk port: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carries frames between VLANS defined over multiple physical switches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frames forwarded within VLAN between switches can</a:t>
            </a:r>
            <a:r>
              <a:rPr lang="ja-JP" altLang="en-US" sz="2000" dirty="0">
                <a:latin typeface="Gill Sans MT" charset="0"/>
              </a:rPr>
              <a:t>’</a:t>
            </a:r>
            <a:r>
              <a:rPr lang="en-US" sz="2000" dirty="0">
                <a:latin typeface="Gill Sans MT" charset="0"/>
              </a:rPr>
              <a:t>t be vanilla 802.1 frames (must carry VLAN ID info)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802.1q protocol adds/removed additional header fields for frames forwarded between trunk ports</a:t>
            </a:r>
          </a:p>
        </p:txBody>
      </p:sp>
      <p:sp>
        <p:nvSpPr>
          <p:cNvPr id="75788" name="Rectangle 62"/>
          <p:cNvSpPr>
            <a:spLocks noChangeArrowheads="1"/>
          </p:cNvSpPr>
          <p:nvPr/>
        </p:nvSpPr>
        <p:spPr bwMode="auto">
          <a:xfrm>
            <a:off x="1341438" y="1887538"/>
            <a:ext cx="273050" cy="19685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84332" name="Rectangle 80"/>
          <p:cNvSpPr>
            <a:spLocks noChangeArrowheads="1"/>
          </p:cNvSpPr>
          <p:nvPr/>
        </p:nvSpPr>
        <p:spPr bwMode="auto">
          <a:xfrm>
            <a:off x="1333500" y="2097088"/>
            <a:ext cx="290513" cy="242887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33" name="Rectangle 77"/>
          <p:cNvSpPr>
            <a:spLocks noChangeArrowheads="1"/>
          </p:cNvSpPr>
          <p:nvPr/>
        </p:nvSpPr>
        <p:spPr bwMode="auto">
          <a:xfrm>
            <a:off x="3405188" y="1878013"/>
            <a:ext cx="290512" cy="2095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34" name="Rectangle 76"/>
          <p:cNvSpPr>
            <a:spLocks noChangeArrowheads="1"/>
          </p:cNvSpPr>
          <p:nvPr/>
        </p:nvSpPr>
        <p:spPr bwMode="auto">
          <a:xfrm>
            <a:off x="2514600" y="1882775"/>
            <a:ext cx="890588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35" name="Rectangle 75"/>
          <p:cNvSpPr>
            <a:spLocks noChangeArrowheads="1"/>
          </p:cNvSpPr>
          <p:nvPr/>
        </p:nvSpPr>
        <p:spPr bwMode="auto">
          <a:xfrm>
            <a:off x="1619250" y="1882775"/>
            <a:ext cx="900113" cy="452438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36" name="Rectangle 2"/>
          <p:cNvSpPr>
            <a:spLocks noChangeArrowheads="1"/>
          </p:cNvSpPr>
          <p:nvPr/>
        </p:nvSpPr>
        <p:spPr bwMode="auto">
          <a:xfrm>
            <a:off x="1333500" y="1874838"/>
            <a:ext cx="2370138" cy="4683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37" name="Line 3"/>
          <p:cNvSpPr>
            <a:spLocks noChangeShapeType="1"/>
          </p:cNvSpPr>
          <p:nvPr/>
        </p:nvSpPr>
        <p:spPr bwMode="auto">
          <a:xfrm>
            <a:off x="1335088" y="2090738"/>
            <a:ext cx="2351087" cy="4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38" name="Text Box 6"/>
          <p:cNvSpPr txBox="1">
            <a:spLocks noChangeArrowheads="1"/>
          </p:cNvSpPr>
          <p:nvPr/>
        </p:nvSpPr>
        <p:spPr bwMode="auto">
          <a:xfrm>
            <a:off x="1250950" y="1833563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</a:t>
            </a:r>
          </a:p>
        </p:txBody>
      </p:sp>
      <p:sp>
        <p:nvSpPr>
          <p:cNvPr id="184339" name="Line 7"/>
          <p:cNvSpPr>
            <a:spLocks noChangeShapeType="1"/>
          </p:cNvSpPr>
          <p:nvPr/>
        </p:nvSpPr>
        <p:spPr bwMode="auto">
          <a:xfrm>
            <a:off x="2514600" y="187960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0" name="AutoShape 8"/>
          <p:cNvSpPr>
            <a:spLocks noChangeArrowheads="1"/>
          </p:cNvSpPr>
          <p:nvPr/>
        </p:nvSpPr>
        <p:spPr bwMode="auto">
          <a:xfrm>
            <a:off x="1304925" y="1616075"/>
            <a:ext cx="3176588" cy="261938"/>
          </a:xfrm>
          <a:prstGeom prst="parallelogram">
            <a:avLst>
              <a:gd name="adj" fmla="val 303181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41" name="Freeform 9"/>
          <p:cNvSpPr>
            <a:spLocks/>
          </p:cNvSpPr>
          <p:nvPr/>
        </p:nvSpPr>
        <p:spPr bwMode="auto">
          <a:xfrm>
            <a:off x="3708400" y="1619250"/>
            <a:ext cx="763588" cy="720725"/>
          </a:xfrm>
          <a:custGeom>
            <a:avLst/>
            <a:gdLst>
              <a:gd name="T0" fmla="*/ 0 w 232"/>
              <a:gd name="T1" fmla="*/ 2147483647 h 454"/>
              <a:gd name="T2" fmla="*/ 2147483647 w 232"/>
              <a:gd name="T3" fmla="*/ 2147483647 h 454"/>
              <a:gd name="T4" fmla="*/ 2147483647 w 232"/>
              <a:gd name="T5" fmla="*/ 0 h 454"/>
              <a:gd name="T6" fmla="*/ 0 60000 65536"/>
              <a:gd name="T7" fmla="*/ 0 60000 65536"/>
              <a:gd name="T8" fmla="*/ 0 60000 65536"/>
              <a:gd name="T9" fmla="*/ 0 w 232"/>
              <a:gd name="T10" fmla="*/ 0 h 454"/>
              <a:gd name="T11" fmla="*/ 232 w 232"/>
              <a:gd name="T12" fmla="*/ 454 h 4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2" h="454">
                <a:moveTo>
                  <a:pt x="0" y="454"/>
                </a:moveTo>
                <a:lnTo>
                  <a:pt x="232" y="274"/>
                </a:lnTo>
                <a:lnTo>
                  <a:pt x="229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2" name="Freeform 10"/>
          <p:cNvSpPr>
            <a:spLocks/>
          </p:cNvSpPr>
          <p:nvPr/>
        </p:nvSpPr>
        <p:spPr bwMode="auto">
          <a:xfrm>
            <a:off x="1706563" y="1663700"/>
            <a:ext cx="2228850" cy="150813"/>
          </a:xfrm>
          <a:custGeom>
            <a:avLst/>
            <a:gdLst>
              <a:gd name="T0" fmla="*/ 0 w 678"/>
              <a:gd name="T1" fmla="*/ 2147483647 h 110"/>
              <a:gd name="T2" fmla="*/ 2147483647 w 678"/>
              <a:gd name="T3" fmla="*/ 2147483647 h 110"/>
              <a:gd name="T4" fmla="*/ 2147483647 w 678"/>
              <a:gd name="T5" fmla="*/ 0 h 110"/>
              <a:gd name="T6" fmla="*/ 2147483647 w 678"/>
              <a:gd name="T7" fmla="*/ 0 h 110"/>
              <a:gd name="T8" fmla="*/ 0 60000 65536"/>
              <a:gd name="T9" fmla="*/ 0 60000 65536"/>
              <a:gd name="T10" fmla="*/ 0 60000 65536"/>
              <a:gd name="T11" fmla="*/ 0 60000 65536"/>
              <a:gd name="T12" fmla="*/ 0 w 678"/>
              <a:gd name="T13" fmla="*/ 0 h 110"/>
              <a:gd name="T14" fmla="*/ 678 w 678"/>
              <a:gd name="T15" fmla="*/ 110 h 1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8" h="110">
                <a:moveTo>
                  <a:pt x="0" y="110"/>
                </a:moveTo>
                <a:lnTo>
                  <a:pt x="148" y="108"/>
                </a:lnTo>
                <a:lnTo>
                  <a:pt x="567" y="0"/>
                </a:lnTo>
                <a:lnTo>
                  <a:pt x="6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3" name="Freeform 11"/>
          <p:cNvSpPr>
            <a:spLocks/>
          </p:cNvSpPr>
          <p:nvPr/>
        </p:nvSpPr>
        <p:spPr bwMode="auto">
          <a:xfrm>
            <a:off x="2179638" y="1663700"/>
            <a:ext cx="1420812" cy="166688"/>
          </a:xfrm>
          <a:custGeom>
            <a:avLst/>
            <a:gdLst>
              <a:gd name="T0" fmla="*/ 0 w 432"/>
              <a:gd name="T1" fmla="*/ 0 h 105"/>
              <a:gd name="T2" fmla="*/ 2147483647 w 432"/>
              <a:gd name="T3" fmla="*/ 0 h 105"/>
              <a:gd name="T4" fmla="*/ 2147483647 w 432"/>
              <a:gd name="T5" fmla="*/ 2147483647 h 105"/>
              <a:gd name="T6" fmla="*/ 2147483647 w 432"/>
              <a:gd name="T7" fmla="*/ 2147483647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05"/>
              <a:gd name="T14" fmla="*/ 432 w 432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05">
                <a:moveTo>
                  <a:pt x="0" y="0"/>
                </a:moveTo>
                <a:lnTo>
                  <a:pt x="85" y="0"/>
                </a:lnTo>
                <a:lnTo>
                  <a:pt x="307" y="105"/>
                </a:lnTo>
                <a:lnTo>
                  <a:pt x="432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4" name="Line 17"/>
          <p:cNvSpPr>
            <a:spLocks noChangeShapeType="1"/>
          </p:cNvSpPr>
          <p:nvPr/>
        </p:nvSpPr>
        <p:spPr bwMode="auto">
          <a:xfrm>
            <a:off x="3114675" y="188436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5" name="Line 18"/>
          <p:cNvSpPr>
            <a:spLocks noChangeShapeType="1"/>
          </p:cNvSpPr>
          <p:nvPr/>
        </p:nvSpPr>
        <p:spPr bwMode="auto">
          <a:xfrm>
            <a:off x="1914525" y="187960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6" name="Line 21"/>
          <p:cNvSpPr>
            <a:spLocks noChangeShapeType="1"/>
          </p:cNvSpPr>
          <p:nvPr/>
        </p:nvSpPr>
        <p:spPr bwMode="auto">
          <a:xfrm>
            <a:off x="1624013" y="187642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7" name="Line 22"/>
          <p:cNvSpPr>
            <a:spLocks noChangeShapeType="1"/>
          </p:cNvSpPr>
          <p:nvPr/>
        </p:nvSpPr>
        <p:spPr bwMode="auto">
          <a:xfrm>
            <a:off x="1333500" y="188912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8" name="Line 23"/>
          <p:cNvSpPr>
            <a:spLocks noChangeShapeType="1"/>
          </p:cNvSpPr>
          <p:nvPr/>
        </p:nvSpPr>
        <p:spPr bwMode="auto">
          <a:xfrm>
            <a:off x="2195513" y="188436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9" name="Line 24"/>
          <p:cNvSpPr>
            <a:spLocks noChangeShapeType="1"/>
          </p:cNvSpPr>
          <p:nvPr/>
        </p:nvSpPr>
        <p:spPr bwMode="auto">
          <a:xfrm>
            <a:off x="2819400" y="187960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50" name="Line 25"/>
          <p:cNvSpPr>
            <a:spLocks noChangeShapeType="1"/>
          </p:cNvSpPr>
          <p:nvPr/>
        </p:nvSpPr>
        <p:spPr bwMode="auto">
          <a:xfrm>
            <a:off x="3409950" y="187483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51" name="Text Box 26"/>
          <p:cNvSpPr txBox="1">
            <a:spLocks noChangeArrowheads="1"/>
          </p:cNvSpPr>
          <p:nvPr/>
        </p:nvSpPr>
        <p:spPr bwMode="auto">
          <a:xfrm>
            <a:off x="2132013" y="2043113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8</a:t>
            </a:r>
          </a:p>
        </p:txBody>
      </p:sp>
      <p:sp>
        <p:nvSpPr>
          <p:cNvPr id="184352" name="Text Box 27"/>
          <p:cNvSpPr txBox="1">
            <a:spLocks noChangeArrowheads="1"/>
          </p:cNvSpPr>
          <p:nvPr/>
        </p:nvSpPr>
        <p:spPr bwMode="auto">
          <a:xfrm>
            <a:off x="2451100" y="182880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9</a:t>
            </a:r>
          </a:p>
        </p:txBody>
      </p:sp>
      <p:sp>
        <p:nvSpPr>
          <p:cNvPr id="184353" name="Text Box 29"/>
          <p:cNvSpPr txBox="1">
            <a:spLocks noChangeArrowheads="1"/>
          </p:cNvSpPr>
          <p:nvPr/>
        </p:nvSpPr>
        <p:spPr bwMode="auto">
          <a:xfrm>
            <a:off x="2432050" y="2047875"/>
            <a:ext cx="29845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10</a:t>
            </a:r>
          </a:p>
        </p:txBody>
      </p:sp>
      <p:sp>
        <p:nvSpPr>
          <p:cNvPr id="184354" name="Text Box 30"/>
          <p:cNvSpPr txBox="1">
            <a:spLocks noChangeArrowheads="1"/>
          </p:cNvSpPr>
          <p:nvPr/>
        </p:nvSpPr>
        <p:spPr bwMode="auto">
          <a:xfrm>
            <a:off x="1260475" y="203358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2</a:t>
            </a:r>
          </a:p>
        </p:txBody>
      </p:sp>
      <p:sp>
        <p:nvSpPr>
          <p:cNvPr id="184355" name="Text Box 57"/>
          <p:cNvSpPr txBox="1">
            <a:spLocks noChangeArrowheads="1"/>
          </p:cNvSpPr>
          <p:nvPr/>
        </p:nvSpPr>
        <p:spPr bwMode="auto">
          <a:xfrm>
            <a:off x="2127250" y="182880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7</a:t>
            </a:r>
          </a:p>
        </p:txBody>
      </p:sp>
      <p:sp>
        <p:nvSpPr>
          <p:cNvPr id="184356" name="Line 61"/>
          <p:cNvSpPr>
            <a:spLocks noChangeShapeType="1"/>
          </p:cNvSpPr>
          <p:nvPr/>
        </p:nvSpPr>
        <p:spPr bwMode="auto">
          <a:xfrm flipH="1">
            <a:off x="573088" y="2209800"/>
            <a:ext cx="901700" cy="279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57" name="Line 62"/>
          <p:cNvSpPr>
            <a:spLocks noChangeShapeType="1"/>
          </p:cNvSpPr>
          <p:nvPr/>
        </p:nvSpPr>
        <p:spPr bwMode="auto">
          <a:xfrm flipH="1">
            <a:off x="958850" y="2209800"/>
            <a:ext cx="806450" cy="419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58" name="Line 63"/>
          <p:cNvSpPr>
            <a:spLocks noChangeShapeType="1"/>
          </p:cNvSpPr>
          <p:nvPr/>
        </p:nvSpPr>
        <p:spPr bwMode="auto">
          <a:xfrm flipH="1">
            <a:off x="1677988" y="2225675"/>
            <a:ext cx="709612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59" name="Text Box 64"/>
          <p:cNvSpPr txBox="1">
            <a:spLocks noChangeArrowheads="1"/>
          </p:cNvSpPr>
          <p:nvPr/>
        </p:nvSpPr>
        <p:spPr bwMode="auto">
          <a:xfrm>
            <a:off x="3398838" y="258762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0" dirty="0">
                <a:solidFill>
                  <a:srgbClr val="000000"/>
                </a:solidFill>
                <a:latin typeface="Arial" charset="0"/>
              </a:rPr>
              <a:t>…</a:t>
            </a:r>
          </a:p>
        </p:txBody>
      </p:sp>
      <p:sp>
        <p:nvSpPr>
          <p:cNvPr id="184360" name="Line 69"/>
          <p:cNvSpPr>
            <a:spLocks noChangeShapeType="1"/>
          </p:cNvSpPr>
          <p:nvPr/>
        </p:nvSpPr>
        <p:spPr bwMode="auto">
          <a:xfrm>
            <a:off x="2686050" y="2212975"/>
            <a:ext cx="101600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61" name="Line 70"/>
          <p:cNvSpPr>
            <a:spLocks noChangeShapeType="1"/>
          </p:cNvSpPr>
          <p:nvPr/>
        </p:nvSpPr>
        <p:spPr bwMode="auto">
          <a:xfrm>
            <a:off x="2676525" y="2011363"/>
            <a:ext cx="479425" cy="603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62" name="Line 71"/>
          <p:cNvSpPr>
            <a:spLocks noChangeShapeType="1"/>
          </p:cNvSpPr>
          <p:nvPr/>
        </p:nvSpPr>
        <p:spPr bwMode="auto">
          <a:xfrm>
            <a:off x="3532188" y="1955800"/>
            <a:ext cx="514350" cy="484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63" name="Text Box 72"/>
          <p:cNvSpPr txBox="1">
            <a:spLocks noChangeArrowheads="1"/>
          </p:cNvSpPr>
          <p:nvPr/>
        </p:nvSpPr>
        <p:spPr bwMode="auto">
          <a:xfrm>
            <a:off x="563563" y="3130550"/>
            <a:ext cx="165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Electrical Engineering</a:t>
            </a:r>
          </a:p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(VLAN ports 1-8)</a:t>
            </a:r>
          </a:p>
        </p:txBody>
      </p:sp>
      <p:sp>
        <p:nvSpPr>
          <p:cNvPr id="184364" name="Text Box 73"/>
          <p:cNvSpPr txBox="1">
            <a:spLocks noChangeArrowheads="1"/>
          </p:cNvSpPr>
          <p:nvPr/>
        </p:nvSpPr>
        <p:spPr bwMode="auto">
          <a:xfrm>
            <a:off x="2725738" y="3117850"/>
            <a:ext cx="1433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Computer Science</a:t>
            </a:r>
          </a:p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(VLAN ports 9-15)</a:t>
            </a:r>
          </a:p>
        </p:txBody>
      </p:sp>
      <p:sp>
        <p:nvSpPr>
          <p:cNvPr id="184365" name="Text Box 74"/>
          <p:cNvSpPr txBox="1">
            <a:spLocks noChangeArrowheads="1"/>
          </p:cNvSpPr>
          <p:nvPr/>
        </p:nvSpPr>
        <p:spPr bwMode="auto">
          <a:xfrm>
            <a:off x="3322638" y="1824038"/>
            <a:ext cx="2984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15</a:t>
            </a:r>
          </a:p>
        </p:txBody>
      </p:sp>
      <p:sp>
        <p:nvSpPr>
          <p:cNvPr id="184366" name="Oval 81"/>
          <p:cNvSpPr>
            <a:spLocks noChangeArrowheads="1"/>
          </p:cNvSpPr>
          <p:nvPr/>
        </p:nvSpPr>
        <p:spPr bwMode="auto">
          <a:xfrm>
            <a:off x="1449388" y="2189163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67" name="Oval 82"/>
          <p:cNvSpPr>
            <a:spLocks noChangeArrowheads="1"/>
          </p:cNvSpPr>
          <p:nvPr/>
        </p:nvSpPr>
        <p:spPr bwMode="auto">
          <a:xfrm>
            <a:off x="1741488" y="2185988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68" name="Oval 83"/>
          <p:cNvSpPr>
            <a:spLocks noChangeArrowheads="1"/>
          </p:cNvSpPr>
          <p:nvPr/>
        </p:nvSpPr>
        <p:spPr bwMode="auto">
          <a:xfrm>
            <a:off x="2328863" y="2190750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69" name="Oval 84"/>
          <p:cNvSpPr>
            <a:spLocks noChangeArrowheads="1"/>
          </p:cNvSpPr>
          <p:nvPr/>
        </p:nvSpPr>
        <p:spPr bwMode="auto">
          <a:xfrm>
            <a:off x="2660650" y="2187575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70" name="Oval 85"/>
          <p:cNvSpPr>
            <a:spLocks noChangeArrowheads="1"/>
          </p:cNvSpPr>
          <p:nvPr/>
        </p:nvSpPr>
        <p:spPr bwMode="auto">
          <a:xfrm>
            <a:off x="2647950" y="1973263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71" name="Oval 86"/>
          <p:cNvSpPr>
            <a:spLocks noChangeArrowheads="1"/>
          </p:cNvSpPr>
          <p:nvPr/>
        </p:nvSpPr>
        <p:spPr bwMode="auto">
          <a:xfrm>
            <a:off x="3522663" y="1970088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72" name="Text Box 45"/>
          <p:cNvSpPr txBox="1">
            <a:spLocks noChangeArrowheads="1"/>
          </p:cNvSpPr>
          <p:nvPr/>
        </p:nvSpPr>
        <p:spPr bwMode="auto">
          <a:xfrm>
            <a:off x="1112838" y="2554288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0" dirty="0">
                <a:solidFill>
                  <a:srgbClr val="000000"/>
                </a:solidFill>
                <a:latin typeface="Arial" charset="0"/>
              </a:rPr>
              <a:t>…</a:t>
            </a:r>
          </a:p>
        </p:txBody>
      </p:sp>
      <p:sp>
        <p:nvSpPr>
          <p:cNvPr id="75830" name="Rectangle 113"/>
          <p:cNvSpPr>
            <a:spLocks noChangeArrowheads="1"/>
          </p:cNvSpPr>
          <p:nvPr/>
        </p:nvSpPr>
        <p:spPr bwMode="auto">
          <a:xfrm>
            <a:off x="6888163" y="2105025"/>
            <a:ext cx="2794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84374" name="Rectangle 77"/>
          <p:cNvSpPr>
            <a:spLocks noChangeArrowheads="1"/>
          </p:cNvSpPr>
          <p:nvPr/>
        </p:nvSpPr>
        <p:spPr bwMode="auto">
          <a:xfrm>
            <a:off x="6877050" y="1884363"/>
            <a:ext cx="290513" cy="2095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75" name="Rectangle 76"/>
          <p:cNvSpPr>
            <a:spLocks noChangeArrowheads="1"/>
          </p:cNvSpPr>
          <p:nvPr/>
        </p:nvSpPr>
        <p:spPr bwMode="auto">
          <a:xfrm>
            <a:off x="5986463" y="1889125"/>
            <a:ext cx="890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76" name="Line 17"/>
          <p:cNvSpPr>
            <a:spLocks noChangeShapeType="1"/>
          </p:cNvSpPr>
          <p:nvPr/>
        </p:nvSpPr>
        <p:spPr bwMode="auto">
          <a:xfrm>
            <a:off x="6586538" y="189071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77" name="Line 24"/>
          <p:cNvSpPr>
            <a:spLocks noChangeShapeType="1"/>
          </p:cNvSpPr>
          <p:nvPr/>
        </p:nvSpPr>
        <p:spPr bwMode="auto">
          <a:xfrm>
            <a:off x="6291263" y="188595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78" name="Line 25"/>
          <p:cNvSpPr>
            <a:spLocks noChangeShapeType="1"/>
          </p:cNvSpPr>
          <p:nvPr/>
        </p:nvSpPr>
        <p:spPr bwMode="auto">
          <a:xfrm>
            <a:off x="6881813" y="18811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79" name="Text Box 29"/>
          <p:cNvSpPr txBox="1">
            <a:spLocks noChangeArrowheads="1"/>
          </p:cNvSpPr>
          <p:nvPr/>
        </p:nvSpPr>
        <p:spPr bwMode="auto">
          <a:xfrm>
            <a:off x="5903913" y="2054225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2</a:t>
            </a:r>
          </a:p>
        </p:txBody>
      </p:sp>
      <p:sp>
        <p:nvSpPr>
          <p:cNvPr id="184380" name="Text Box 74"/>
          <p:cNvSpPr txBox="1">
            <a:spLocks noChangeArrowheads="1"/>
          </p:cNvSpPr>
          <p:nvPr/>
        </p:nvSpPr>
        <p:spPr bwMode="auto">
          <a:xfrm>
            <a:off x="6794500" y="183038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7</a:t>
            </a:r>
          </a:p>
        </p:txBody>
      </p:sp>
      <p:sp>
        <p:nvSpPr>
          <p:cNvPr id="184381" name="Oval 84"/>
          <p:cNvSpPr>
            <a:spLocks noChangeArrowheads="1"/>
          </p:cNvSpPr>
          <p:nvPr/>
        </p:nvSpPr>
        <p:spPr bwMode="auto">
          <a:xfrm>
            <a:off x="6132513" y="2193925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82" name="Oval 86"/>
          <p:cNvSpPr>
            <a:spLocks noChangeArrowheads="1"/>
          </p:cNvSpPr>
          <p:nvPr/>
        </p:nvSpPr>
        <p:spPr bwMode="auto">
          <a:xfrm>
            <a:off x="6994525" y="1976438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83" name="AutoShape 8"/>
          <p:cNvSpPr>
            <a:spLocks noChangeArrowheads="1"/>
          </p:cNvSpPr>
          <p:nvPr/>
        </p:nvSpPr>
        <p:spPr bwMode="auto">
          <a:xfrm>
            <a:off x="5972175" y="1612900"/>
            <a:ext cx="1630363" cy="261938"/>
          </a:xfrm>
          <a:prstGeom prst="parallelogram">
            <a:avLst>
              <a:gd name="adj" fmla="val 155606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84" name="Freeform 10"/>
          <p:cNvSpPr>
            <a:spLocks/>
          </p:cNvSpPr>
          <p:nvPr/>
        </p:nvSpPr>
        <p:spPr bwMode="auto">
          <a:xfrm>
            <a:off x="6154738" y="1657350"/>
            <a:ext cx="1184275" cy="166688"/>
          </a:xfrm>
          <a:custGeom>
            <a:avLst/>
            <a:gdLst>
              <a:gd name="T0" fmla="*/ 0 w 678"/>
              <a:gd name="T1" fmla="*/ 2147483647 h 110"/>
              <a:gd name="T2" fmla="*/ 2147483647 w 678"/>
              <a:gd name="T3" fmla="*/ 2147483647 h 110"/>
              <a:gd name="T4" fmla="*/ 2147483647 w 678"/>
              <a:gd name="T5" fmla="*/ 0 h 110"/>
              <a:gd name="T6" fmla="*/ 2147483647 w 678"/>
              <a:gd name="T7" fmla="*/ 0 h 110"/>
              <a:gd name="T8" fmla="*/ 0 60000 65536"/>
              <a:gd name="T9" fmla="*/ 0 60000 65536"/>
              <a:gd name="T10" fmla="*/ 0 60000 65536"/>
              <a:gd name="T11" fmla="*/ 0 60000 65536"/>
              <a:gd name="T12" fmla="*/ 0 w 678"/>
              <a:gd name="T13" fmla="*/ 0 h 110"/>
              <a:gd name="T14" fmla="*/ 678 w 678"/>
              <a:gd name="T15" fmla="*/ 110 h 1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8" h="110">
                <a:moveTo>
                  <a:pt x="0" y="110"/>
                </a:moveTo>
                <a:lnTo>
                  <a:pt x="148" y="108"/>
                </a:lnTo>
                <a:lnTo>
                  <a:pt x="567" y="0"/>
                </a:lnTo>
                <a:lnTo>
                  <a:pt x="6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85" name="Freeform 10"/>
          <p:cNvSpPr>
            <a:spLocks/>
          </p:cNvSpPr>
          <p:nvPr/>
        </p:nvSpPr>
        <p:spPr bwMode="auto">
          <a:xfrm flipV="1">
            <a:off x="6354763" y="1657350"/>
            <a:ext cx="873125" cy="166688"/>
          </a:xfrm>
          <a:custGeom>
            <a:avLst/>
            <a:gdLst>
              <a:gd name="T0" fmla="*/ 0 w 678"/>
              <a:gd name="T1" fmla="*/ 2147483647 h 110"/>
              <a:gd name="T2" fmla="*/ 2147483647 w 678"/>
              <a:gd name="T3" fmla="*/ 2147483647 h 110"/>
              <a:gd name="T4" fmla="*/ 2147483647 w 678"/>
              <a:gd name="T5" fmla="*/ 0 h 110"/>
              <a:gd name="T6" fmla="*/ 2147483647 w 678"/>
              <a:gd name="T7" fmla="*/ 0 h 110"/>
              <a:gd name="T8" fmla="*/ 0 60000 65536"/>
              <a:gd name="T9" fmla="*/ 0 60000 65536"/>
              <a:gd name="T10" fmla="*/ 0 60000 65536"/>
              <a:gd name="T11" fmla="*/ 0 60000 65536"/>
              <a:gd name="T12" fmla="*/ 0 w 678"/>
              <a:gd name="T13" fmla="*/ 0 h 110"/>
              <a:gd name="T14" fmla="*/ 678 w 678"/>
              <a:gd name="T15" fmla="*/ 110 h 1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8" h="110">
                <a:moveTo>
                  <a:pt x="0" y="110"/>
                </a:moveTo>
                <a:lnTo>
                  <a:pt x="148" y="108"/>
                </a:lnTo>
                <a:lnTo>
                  <a:pt x="567" y="0"/>
                </a:lnTo>
                <a:lnTo>
                  <a:pt x="6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 dirty="0"/>
          </a:p>
        </p:txBody>
      </p:sp>
      <p:sp>
        <p:nvSpPr>
          <p:cNvPr id="184386" name="Freeform 131"/>
          <p:cNvSpPr>
            <a:spLocks/>
          </p:cNvSpPr>
          <p:nvPr/>
        </p:nvSpPr>
        <p:spPr bwMode="auto">
          <a:xfrm>
            <a:off x="7180263" y="1611313"/>
            <a:ext cx="419100" cy="723900"/>
          </a:xfrm>
          <a:custGeom>
            <a:avLst/>
            <a:gdLst>
              <a:gd name="T0" fmla="*/ 2147483647 w 264"/>
              <a:gd name="T1" fmla="*/ 0 h 456"/>
              <a:gd name="T2" fmla="*/ 2147483647 w 264"/>
              <a:gd name="T3" fmla="*/ 2147483647 h 456"/>
              <a:gd name="T4" fmla="*/ 0 w 264"/>
              <a:gd name="T5" fmla="*/ 2147483647 h 4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64" h="456">
                <a:moveTo>
                  <a:pt x="264" y="0"/>
                </a:moveTo>
                <a:lnTo>
                  <a:pt x="262" y="248"/>
                </a:lnTo>
                <a:lnTo>
                  <a:pt x="0" y="456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84387" name="Freeform 132"/>
          <p:cNvSpPr>
            <a:spLocks/>
          </p:cNvSpPr>
          <p:nvPr/>
        </p:nvSpPr>
        <p:spPr bwMode="auto">
          <a:xfrm>
            <a:off x="5969000" y="1868488"/>
            <a:ext cx="1209675" cy="481012"/>
          </a:xfrm>
          <a:custGeom>
            <a:avLst/>
            <a:gdLst>
              <a:gd name="T0" fmla="*/ 0 w 762"/>
              <a:gd name="T1" fmla="*/ 2147483647 h 303"/>
              <a:gd name="T2" fmla="*/ 0 w 762"/>
              <a:gd name="T3" fmla="*/ 2147483647 h 303"/>
              <a:gd name="T4" fmla="*/ 2147483647 w 762"/>
              <a:gd name="T5" fmla="*/ 2147483647 h 303"/>
              <a:gd name="T6" fmla="*/ 2147483647 w 762"/>
              <a:gd name="T7" fmla="*/ 0 h 30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62" h="303">
                <a:moveTo>
                  <a:pt x="0" y="3"/>
                </a:moveTo>
                <a:lnTo>
                  <a:pt x="0" y="303"/>
                </a:lnTo>
                <a:lnTo>
                  <a:pt x="762" y="303"/>
                </a:lnTo>
                <a:lnTo>
                  <a:pt x="762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75845" name="Line 133"/>
          <p:cNvSpPr>
            <a:spLocks noChangeShapeType="1"/>
          </p:cNvSpPr>
          <p:nvPr/>
        </p:nvSpPr>
        <p:spPr bwMode="auto">
          <a:xfrm flipV="1">
            <a:off x="5969000" y="2092325"/>
            <a:ext cx="1219200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84389" name="Line 69"/>
          <p:cNvSpPr>
            <a:spLocks noChangeShapeType="1"/>
          </p:cNvSpPr>
          <p:nvPr/>
        </p:nvSpPr>
        <p:spPr bwMode="auto">
          <a:xfrm flipH="1">
            <a:off x="5983288" y="2216150"/>
            <a:ext cx="165100" cy="301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90" name="Line 70"/>
          <p:cNvSpPr>
            <a:spLocks noChangeShapeType="1"/>
          </p:cNvSpPr>
          <p:nvPr/>
        </p:nvSpPr>
        <p:spPr bwMode="auto">
          <a:xfrm>
            <a:off x="6438900" y="1990725"/>
            <a:ext cx="179388" cy="627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91" name="Line 71"/>
          <p:cNvSpPr>
            <a:spLocks noChangeShapeType="1"/>
          </p:cNvSpPr>
          <p:nvPr/>
        </p:nvSpPr>
        <p:spPr bwMode="auto">
          <a:xfrm>
            <a:off x="6999288" y="1987550"/>
            <a:ext cx="509587" cy="455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92" name="Oval 85"/>
          <p:cNvSpPr>
            <a:spLocks noChangeArrowheads="1"/>
          </p:cNvSpPr>
          <p:nvPr/>
        </p:nvSpPr>
        <p:spPr bwMode="auto">
          <a:xfrm>
            <a:off x="6424613" y="1970088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93" name="Text Box 27"/>
          <p:cNvSpPr txBox="1">
            <a:spLocks noChangeArrowheads="1"/>
          </p:cNvSpPr>
          <p:nvPr/>
        </p:nvSpPr>
        <p:spPr bwMode="auto">
          <a:xfrm>
            <a:off x="6232525" y="183515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3</a:t>
            </a:r>
          </a:p>
        </p:txBody>
      </p:sp>
      <p:sp>
        <p:nvSpPr>
          <p:cNvPr id="75851" name="Rectangle 158"/>
          <p:cNvSpPr>
            <a:spLocks noChangeArrowheads="1"/>
          </p:cNvSpPr>
          <p:nvPr/>
        </p:nvSpPr>
        <p:spPr bwMode="auto">
          <a:xfrm>
            <a:off x="6591300" y="1885950"/>
            <a:ext cx="280988" cy="204788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84395" name="Text Box 73"/>
          <p:cNvSpPr txBox="1">
            <a:spLocks noChangeArrowheads="1"/>
          </p:cNvSpPr>
          <p:nvPr/>
        </p:nvSpPr>
        <p:spPr bwMode="auto">
          <a:xfrm>
            <a:off x="5648325" y="3124200"/>
            <a:ext cx="2408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Ports 2,3,5 belong to EE VLAN</a:t>
            </a:r>
          </a:p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Ports 4,6,7,8 belong to CS VLAN</a:t>
            </a:r>
          </a:p>
        </p:txBody>
      </p:sp>
      <p:sp>
        <p:nvSpPr>
          <p:cNvPr id="184396" name="Text Box 27"/>
          <p:cNvSpPr txBox="1">
            <a:spLocks noChangeArrowheads="1"/>
          </p:cNvSpPr>
          <p:nvPr/>
        </p:nvSpPr>
        <p:spPr bwMode="auto">
          <a:xfrm>
            <a:off x="6513513" y="183515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5</a:t>
            </a:r>
          </a:p>
        </p:txBody>
      </p:sp>
      <p:sp>
        <p:nvSpPr>
          <p:cNvPr id="184397" name="Text Box 27"/>
          <p:cNvSpPr txBox="1">
            <a:spLocks noChangeArrowheads="1"/>
          </p:cNvSpPr>
          <p:nvPr/>
        </p:nvSpPr>
        <p:spPr bwMode="auto">
          <a:xfrm>
            <a:off x="6237288" y="2049463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4</a:t>
            </a:r>
          </a:p>
        </p:txBody>
      </p:sp>
      <p:sp>
        <p:nvSpPr>
          <p:cNvPr id="184398" name="Text Box 27"/>
          <p:cNvSpPr txBox="1">
            <a:spLocks noChangeArrowheads="1"/>
          </p:cNvSpPr>
          <p:nvPr/>
        </p:nvSpPr>
        <p:spPr bwMode="auto">
          <a:xfrm>
            <a:off x="6513513" y="2049463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6</a:t>
            </a:r>
          </a:p>
        </p:txBody>
      </p:sp>
      <p:sp>
        <p:nvSpPr>
          <p:cNvPr id="184399" name="Text Box 27"/>
          <p:cNvSpPr txBox="1">
            <a:spLocks noChangeArrowheads="1"/>
          </p:cNvSpPr>
          <p:nvPr/>
        </p:nvSpPr>
        <p:spPr bwMode="auto">
          <a:xfrm>
            <a:off x="6813550" y="2054225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8</a:t>
            </a:r>
          </a:p>
        </p:txBody>
      </p:sp>
      <p:grpSp>
        <p:nvGrpSpPr>
          <p:cNvPr id="692394" name="Group 170"/>
          <p:cNvGrpSpPr>
            <a:grpSpLocks/>
          </p:cNvGrpSpPr>
          <p:nvPr/>
        </p:nvGrpSpPr>
        <p:grpSpPr bwMode="auto">
          <a:xfrm>
            <a:off x="3327400" y="1835150"/>
            <a:ext cx="2836863" cy="427038"/>
            <a:chOff x="2096" y="1156"/>
            <a:chExt cx="1787" cy="269"/>
          </a:xfrm>
        </p:grpSpPr>
        <p:sp>
          <p:nvSpPr>
            <p:cNvPr id="184429" name="Oval 85"/>
            <p:cNvSpPr>
              <a:spLocks noChangeArrowheads="1"/>
            </p:cNvSpPr>
            <p:nvPr/>
          </p:nvSpPr>
          <p:spPr bwMode="auto">
            <a:xfrm>
              <a:off x="2215" y="1381"/>
              <a:ext cx="27" cy="3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184430" name="Group 169"/>
            <p:cNvGrpSpPr>
              <a:grpSpLocks/>
            </p:cNvGrpSpPr>
            <p:nvPr/>
          </p:nvGrpSpPr>
          <p:grpSpPr bwMode="auto">
            <a:xfrm>
              <a:off x="2096" y="1156"/>
              <a:ext cx="1787" cy="269"/>
              <a:chOff x="2096" y="1156"/>
              <a:chExt cx="1787" cy="269"/>
            </a:xfrm>
          </p:grpSpPr>
          <p:sp>
            <p:nvSpPr>
              <p:cNvPr id="184431" name="Text Box 28"/>
              <p:cNvSpPr txBox="1">
                <a:spLocks noChangeArrowheads="1"/>
              </p:cNvSpPr>
              <p:nvPr/>
            </p:nvSpPr>
            <p:spPr bwMode="auto">
              <a:xfrm>
                <a:off x="2096" y="1290"/>
                <a:ext cx="18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800" i="0" dirty="0">
                    <a:solidFill>
                      <a:srgbClr val="FF0000"/>
                    </a:solidFill>
                    <a:latin typeface="Arial" charset="0"/>
                  </a:rPr>
                  <a:t>16</a:t>
                </a:r>
              </a:p>
            </p:txBody>
          </p:sp>
          <p:sp>
            <p:nvSpPr>
              <p:cNvPr id="184432" name="Text Box 27"/>
              <p:cNvSpPr txBox="1">
                <a:spLocks noChangeArrowheads="1"/>
              </p:cNvSpPr>
              <p:nvPr/>
            </p:nvSpPr>
            <p:spPr bwMode="auto">
              <a:xfrm>
                <a:off x="3731" y="1156"/>
                <a:ext cx="15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800" i="0" dirty="0">
                    <a:solidFill>
                      <a:srgbClr val="FF0000"/>
                    </a:solidFill>
                    <a:latin typeface="Arial" charset="0"/>
                  </a:rPr>
                  <a:t>1</a:t>
                </a:r>
              </a:p>
            </p:txBody>
          </p:sp>
          <p:sp>
            <p:nvSpPr>
              <p:cNvPr id="184433" name="Oval 85"/>
              <p:cNvSpPr>
                <a:spLocks noChangeArrowheads="1"/>
              </p:cNvSpPr>
              <p:nvPr/>
            </p:nvSpPr>
            <p:spPr bwMode="auto">
              <a:xfrm>
                <a:off x="3855" y="1247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4434" name="Freeform 168"/>
              <p:cNvSpPr>
                <a:spLocks/>
              </p:cNvSpPr>
              <p:nvPr/>
            </p:nvSpPr>
            <p:spPr bwMode="auto">
              <a:xfrm>
                <a:off x="2226" y="1260"/>
                <a:ext cx="1644" cy="135"/>
              </a:xfrm>
              <a:custGeom>
                <a:avLst/>
                <a:gdLst>
                  <a:gd name="T0" fmla="*/ 0 w 1644"/>
                  <a:gd name="T1" fmla="*/ 135 h 135"/>
                  <a:gd name="T2" fmla="*/ 852 w 1644"/>
                  <a:gd name="T3" fmla="*/ 132 h 135"/>
                  <a:gd name="T4" fmla="*/ 1050 w 1644"/>
                  <a:gd name="T5" fmla="*/ 0 h 135"/>
                  <a:gd name="T6" fmla="*/ 1644 w 1644"/>
                  <a:gd name="T7" fmla="*/ 0 h 13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44" h="135">
                    <a:moveTo>
                      <a:pt x="0" y="135"/>
                    </a:moveTo>
                    <a:lnTo>
                      <a:pt x="852" y="132"/>
                    </a:lnTo>
                    <a:lnTo>
                      <a:pt x="1050" y="0"/>
                    </a:lnTo>
                    <a:lnTo>
                      <a:pt x="1644" y="0"/>
                    </a:ln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84401" name="Group 44"/>
          <p:cNvGrpSpPr>
            <a:grpSpLocks/>
          </p:cNvGrpSpPr>
          <p:nvPr/>
        </p:nvGrpSpPr>
        <p:grpSpPr bwMode="auto">
          <a:xfrm>
            <a:off x="254000" y="2316163"/>
            <a:ext cx="538163" cy="558800"/>
            <a:chOff x="-44" y="1473"/>
            <a:chExt cx="981" cy="1105"/>
          </a:xfrm>
        </p:grpSpPr>
        <p:pic>
          <p:nvPicPr>
            <p:cNvPr id="18442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2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2" name="Group 44"/>
          <p:cNvGrpSpPr>
            <a:grpSpLocks/>
          </p:cNvGrpSpPr>
          <p:nvPr/>
        </p:nvGrpSpPr>
        <p:grpSpPr bwMode="auto">
          <a:xfrm>
            <a:off x="619125" y="2519363"/>
            <a:ext cx="539750" cy="558800"/>
            <a:chOff x="-44" y="1473"/>
            <a:chExt cx="981" cy="1105"/>
          </a:xfrm>
        </p:grpSpPr>
        <p:pic>
          <p:nvPicPr>
            <p:cNvPr id="18442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2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3" name="Group 44"/>
          <p:cNvGrpSpPr>
            <a:grpSpLocks/>
          </p:cNvGrpSpPr>
          <p:nvPr/>
        </p:nvGrpSpPr>
        <p:grpSpPr bwMode="auto">
          <a:xfrm>
            <a:off x="1290638" y="2479675"/>
            <a:ext cx="538162" cy="558800"/>
            <a:chOff x="-44" y="1473"/>
            <a:chExt cx="981" cy="1105"/>
          </a:xfrm>
        </p:grpSpPr>
        <p:pic>
          <p:nvPicPr>
            <p:cNvPr id="18442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2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4" name="Group 44"/>
          <p:cNvGrpSpPr>
            <a:grpSpLocks/>
          </p:cNvGrpSpPr>
          <p:nvPr/>
        </p:nvGrpSpPr>
        <p:grpSpPr bwMode="auto">
          <a:xfrm>
            <a:off x="2417763" y="2498725"/>
            <a:ext cx="538162" cy="558800"/>
            <a:chOff x="-44" y="1473"/>
            <a:chExt cx="981" cy="1105"/>
          </a:xfrm>
        </p:grpSpPr>
        <p:pic>
          <p:nvPicPr>
            <p:cNvPr id="18442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2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5" name="Group 44"/>
          <p:cNvGrpSpPr>
            <a:grpSpLocks/>
          </p:cNvGrpSpPr>
          <p:nvPr/>
        </p:nvGrpSpPr>
        <p:grpSpPr bwMode="auto">
          <a:xfrm>
            <a:off x="2854325" y="2479675"/>
            <a:ext cx="539750" cy="558800"/>
            <a:chOff x="-44" y="1473"/>
            <a:chExt cx="981" cy="1105"/>
          </a:xfrm>
        </p:grpSpPr>
        <p:pic>
          <p:nvPicPr>
            <p:cNvPr id="18441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2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6" name="Group 44"/>
          <p:cNvGrpSpPr>
            <a:grpSpLocks/>
          </p:cNvGrpSpPr>
          <p:nvPr/>
        </p:nvGrpSpPr>
        <p:grpSpPr bwMode="auto">
          <a:xfrm>
            <a:off x="3708400" y="2327275"/>
            <a:ext cx="538163" cy="558800"/>
            <a:chOff x="-44" y="1473"/>
            <a:chExt cx="981" cy="1105"/>
          </a:xfrm>
        </p:grpSpPr>
        <p:pic>
          <p:nvPicPr>
            <p:cNvPr id="18441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1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7" name="Group 44"/>
          <p:cNvGrpSpPr>
            <a:grpSpLocks/>
          </p:cNvGrpSpPr>
          <p:nvPr/>
        </p:nvGrpSpPr>
        <p:grpSpPr bwMode="auto">
          <a:xfrm>
            <a:off x="5557838" y="2428875"/>
            <a:ext cx="538162" cy="558800"/>
            <a:chOff x="-44" y="1473"/>
            <a:chExt cx="981" cy="1105"/>
          </a:xfrm>
        </p:grpSpPr>
        <p:pic>
          <p:nvPicPr>
            <p:cNvPr id="18441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1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8" name="Group 44"/>
          <p:cNvGrpSpPr>
            <a:grpSpLocks/>
          </p:cNvGrpSpPr>
          <p:nvPr/>
        </p:nvGrpSpPr>
        <p:grpSpPr bwMode="auto">
          <a:xfrm>
            <a:off x="7183438" y="2357438"/>
            <a:ext cx="538162" cy="558800"/>
            <a:chOff x="-44" y="1473"/>
            <a:chExt cx="981" cy="1105"/>
          </a:xfrm>
        </p:grpSpPr>
        <p:pic>
          <p:nvPicPr>
            <p:cNvPr id="18441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1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9" name="Group 44"/>
          <p:cNvGrpSpPr>
            <a:grpSpLocks/>
          </p:cNvGrpSpPr>
          <p:nvPr/>
        </p:nvGrpSpPr>
        <p:grpSpPr bwMode="auto">
          <a:xfrm>
            <a:off x="6257925" y="2438400"/>
            <a:ext cx="539750" cy="558800"/>
            <a:chOff x="-44" y="1473"/>
            <a:chExt cx="981" cy="1105"/>
          </a:xfrm>
        </p:grpSpPr>
        <p:pic>
          <p:nvPicPr>
            <p:cNvPr id="18441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1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184410" name="Picture 15" descr="underline_base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1030288"/>
            <a:ext cx="7415212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37</a:t>
            </a:fld>
            <a:endParaRPr lang="en-US" sz="1200" dirty="0">
              <a:latin typeface="Tahoma" charset="0"/>
            </a:endParaRPr>
          </a:p>
        </p:txBody>
      </p:sp>
      <p:sp>
        <p:nvSpPr>
          <p:cNvPr id="11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39303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2227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7" name="Text Box 9"/>
          <p:cNvSpPr txBox="1">
            <a:spLocks noChangeArrowheads="1"/>
          </p:cNvSpPr>
          <p:nvPr/>
        </p:nvSpPr>
        <p:spPr bwMode="auto">
          <a:xfrm>
            <a:off x="3384550" y="1428750"/>
            <a:ext cx="47466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type</a:t>
            </a:r>
          </a:p>
        </p:txBody>
      </p:sp>
      <p:sp>
        <p:nvSpPr>
          <p:cNvPr id="185348" name="Line 10"/>
          <p:cNvSpPr>
            <a:spLocks noChangeShapeType="1"/>
          </p:cNvSpPr>
          <p:nvPr/>
        </p:nvSpPr>
        <p:spPr bwMode="auto">
          <a:xfrm>
            <a:off x="3559175" y="1636713"/>
            <a:ext cx="0" cy="17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5349" name="Line 31"/>
          <p:cNvSpPr>
            <a:spLocks noChangeShapeType="1"/>
          </p:cNvSpPr>
          <p:nvPr/>
        </p:nvSpPr>
        <p:spPr bwMode="auto">
          <a:xfrm>
            <a:off x="1000125" y="2200275"/>
            <a:ext cx="0" cy="771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5350" name="Line 34"/>
          <p:cNvSpPr>
            <a:spLocks noChangeShapeType="1"/>
          </p:cNvSpPr>
          <p:nvPr/>
        </p:nvSpPr>
        <p:spPr bwMode="auto">
          <a:xfrm>
            <a:off x="3424238" y="2171700"/>
            <a:ext cx="0" cy="771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5351" name="Line 36"/>
          <p:cNvSpPr>
            <a:spLocks noChangeShapeType="1"/>
          </p:cNvSpPr>
          <p:nvPr/>
        </p:nvSpPr>
        <p:spPr bwMode="auto">
          <a:xfrm>
            <a:off x="3457575" y="2176463"/>
            <a:ext cx="742950" cy="8096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5352" name="Line 37"/>
          <p:cNvSpPr>
            <a:spLocks noChangeShapeType="1"/>
          </p:cNvSpPr>
          <p:nvPr/>
        </p:nvSpPr>
        <p:spPr bwMode="auto">
          <a:xfrm>
            <a:off x="6167438" y="2185988"/>
            <a:ext cx="700087" cy="7953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5353" name="Line 40"/>
          <p:cNvSpPr>
            <a:spLocks noChangeShapeType="1"/>
          </p:cNvSpPr>
          <p:nvPr/>
        </p:nvSpPr>
        <p:spPr bwMode="auto">
          <a:xfrm>
            <a:off x="3600450" y="3328988"/>
            <a:ext cx="0" cy="857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5354" name="Rectangle 41"/>
          <p:cNvSpPr>
            <a:spLocks noChangeArrowheads="1"/>
          </p:cNvSpPr>
          <p:nvPr/>
        </p:nvSpPr>
        <p:spPr bwMode="auto">
          <a:xfrm>
            <a:off x="3476625" y="4057650"/>
            <a:ext cx="250666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ko-KR" sz="1400" i="0" dirty="0">
                <a:solidFill>
                  <a:srgbClr val="000000"/>
                </a:solidFill>
                <a:latin typeface="Arial" charset="0"/>
                <a:ea typeface="Gulim" charset="0"/>
                <a:cs typeface="Gulim" charset="0"/>
              </a:rPr>
              <a:t>2-byte Tag Protocol Identifier</a:t>
            </a:r>
          </a:p>
          <a:p>
            <a:pPr eaLnBrk="1" hangingPunct="1"/>
            <a:r>
              <a:rPr lang="en-US" altLang="ko-KR" sz="1400" i="0" dirty="0">
                <a:solidFill>
                  <a:srgbClr val="000000"/>
                </a:solidFill>
                <a:latin typeface="Arial" charset="0"/>
                <a:ea typeface="Gulim" charset="0"/>
                <a:cs typeface="Gulim" charset="0"/>
              </a:rPr>
              <a:t>                        (value: 81-00) </a:t>
            </a:r>
          </a:p>
        </p:txBody>
      </p:sp>
      <p:sp>
        <p:nvSpPr>
          <p:cNvPr id="185355" name="Rectangle 42"/>
          <p:cNvSpPr>
            <a:spLocks noChangeArrowheads="1"/>
          </p:cNvSpPr>
          <p:nvPr/>
        </p:nvSpPr>
        <p:spPr bwMode="auto">
          <a:xfrm>
            <a:off x="3814763" y="5203825"/>
            <a:ext cx="38242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ko-KR" sz="1400" i="0" dirty="0">
                <a:solidFill>
                  <a:srgbClr val="000000"/>
                </a:solidFill>
                <a:latin typeface="Arial" charset="0"/>
                <a:ea typeface="Gulim" charset="0"/>
                <a:cs typeface="Gulim" charset="0"/>
              </a:rPr>
              <a:t>Tag Control Information (12 bit VLAN ID field, </a:t>
            </a:r>
          </a:p>
          <a:p>
            <a:pPr eaLnBrk="1" hangingPunct="1"/>
            <a:r>
              <a:rPr lang="en-US" altLang="ko-KR" sz="1400" i="0" dirty="0">
                <a:solidFill>
                  <a:srgbClr val="000000"/>
                </a:solidFill>
                <a:latin typeface="Arial" charset="0"/>
                <a:ea typeface="Gulim" charset="0"/>
                <a:cs typeface="Gulim" charset="0"/>
              </a:rPr>
              <a:t>                          3 bit priority field like IP TOS)</a:t>
            </a:r>
            <a:r>
              <a:rPr lang="en-US" altLang="ko-KR" i="0" dirty="0">
                <a:solidFill>
                  <a:srgbClr val="000000"/>
                </a:solidFill>
                <a:latin typeface="Arial" charset="0"/>
                <a:ea typeface="Gulim" charset="0"/>
                <a:cs typeface="Gulim" charset="0"/>
              </a:rPr>
              <a:t> </a:t>
            </a:r>
          </a:p>
        </p:txBody>
      </p:sp>
      <p:sp>
        <p:nvSpPr>
          <p:cNvPr id="185356" name="Line 43"/>
          <p:cNvSpPr>
            <a:spLocks noChangeShapeType="1"/>
          </p:cNvSpPr>
          <p:nvPr/>
        </p:nvSpPr>
        <p:spPr bwMode="auto">
          <a:xfrm>
            <a:off x="3963988" y="3419475"/>
            <a:ext cx="9525" cy="1741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5357" name="Line 44"/>
          <p:cNvSpPr>
            <a:spLocks noChangeShapeType="1"/>
          </p:cNvSpPr>
          <p:nvPr/>
        </p:nvSpPr>
        <p:spPr bwMode="auto">
          <a:xfrm>
            <a:off x="6562725" y="3319463"/>
            <a:ext cx="0" cy="857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5358" name="Line 47"/>
          <p:cNvSpPr>
            <a:spLocks noChangeShapeType="1"/>
          </p:cNvSpPr>
          <p:nvPr/>
        </p:nvSpPr>
        <p:spPr bwMode="auto">
          <a:xfrm flipH="1">
            <a:off x="6767513" y="3076575"/>
            <a:ext cx="14287" cy="52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5359" name="Rectangle 48"/>
          <p:cNvSpPr>
            <a:spLocks noChangeArrowheads="1"/>
          </p:cNvSpPr>
          <p:nvPr/>
        </p:nvSpPr>
        <p:spPr bwMode="auto">
          <a:xfrm>
            <a:off x="6105525" y="4175125"/>
            <a:ext cx="1238250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ko-KR" sz="1400" i="0" dirty="0">
                <a:solidFill>
                  <a:srgbClr val="000000"/>
                </a:solidFill>
                <a:latin typeface="Arial" charset="0"/>
                <a:ea typeface="Gulim" charset="0"/>
                <a:cs typeface="Gulim" charset="0"/>
              </a:rPr>
              <a:t>Recomputed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1400" i="0" dirty="0">
                <a:solidFill>
                  <a:srgbClr val="000000"/>
                </a:solidFill>
                <a:latin typeface="Arial" charset="0"/>
                <a:ea typeface="Gulim" charset="0"/>
                <a:cs typeface="Gulim" charset="0"/>
              </a:rPr>
              <a:t>CRC</a:t>
            </a:r>
            <a:r>
              <a:rPr lang="en-US" altLang="ko-KR" i="0" dirty="0">
                <a:solidFill>
                  <a:srgbClr val="000000"/>
                </a:solidFill>
                <a:latin typeface="Arial" charset="0"/>
                <a:ea typeface="Gulim" charset="0"/>
                <a:cs typeface="Gulim" charset="0"/>
              </a:rPr>
              <a:t> </a:t>
            </a:r>
          </a:p>
        </p:txBody>
      </p:sp>
      <p:sp>
        <p:nvSpPr>
          <p:cNvPr id="76817" name="Rectangle 27"/>
          <p:cNvSpPr>
            <a:spLocks noChangeArrowheads="1"/>
          </p:cNvSpPr>
          <p:nvPr/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sz="4000" i="0" dirty="0">
                <a:solidFill>
                  <a:srgbClr val="000099"/>
                </a:solidFill>
                <a:latin typeface="Gill Sans MT" charset="0"/>
                <a:cs typeface="+mn-cs"/>
              </a:rPr>
              <a:t>802.1Q VLAN frame format</a:t>
            </a:r>
          </a:p>
        </p:txBody>
      </p:sp>
      <p:sp>
        <p:nvSpPr>
          <p:cNvPr id="76818" name="Text Box 28"/>
          <p:cNvSpPr txBox="1">
            <a:spLocks noChangeArrowheads="1"/>
          </p:cNvSpPr>
          <p:nvPr/>
        </p:nvSpPr>
        <p:spPr bwMode="auto">
          <a:xfrm>
            <a:off x="7100888" y="1801813"/>
            <a:ext cx="1550987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Arial" charset="0"/>
                <a:cs typeface="Arial" charset="0"/>
              </a:rPr>
              <a:t>802.1 frame</a:t>
            </a:r>
          </a:p>
        </p:txBody>
      </p:sp>
      <p:sp>
        <p:nvSpPr>
          <p:cNvPr id="76819" name="Text Box 29"/>
          <p:cNvSpPr txBox="1">
            <a:spLocks noChangeArrowheads="1"/>
          </p:cNvSpPr>
          <p:nvPr/>
        </p:nvSpPr>
        <p:spPr bwMode="auto">
          <a:xfrm>
            <a:off x="7104063" y="2967038"/>
            <a:ext cx="17494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Arial" charset="0"/>
                <a:cs typeface="Arial" charset="0"/>
              </a:rPr>
              <a:t>802.1Q frame</a:t>
            </a:r>
          </a:p>
        </p:txBody>
      </p:sp>
      <p:pic>
        <p:nvPicPr>
          <p:cNvPr id="185363" name="Picture 20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8" y="1027113"/>
            <a:ext cx="5741987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5364" name="Rectangle 1"/>
          <p:cNvSpPr>
            <a:spLocks noChangeArrowheads="1"/>
          </p:cNvSpPr>
          <p:nvPr/>
        </p:nvSpPr>
        <p:spPr bwMode="auto">
          <a:xfrm>
            <a:off x="965200" y="1709738"/>
            <a:ext cx="5140325" cy="406400"/>
          </a:xfrm>
          <a:prstGeom prst="rect">
            <a:avLst/>
          </a:prstGeom>
          <a:solidFill>
            <a:srgbClr val="006633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/>
          <a:lstStyle/>
          <a:p>
            <a:endParaRPr lang="en-US" dirty="0"/>
          </a:p>
        </p:txBody>
      </p:sp>
      <p:cxnSp>
        <p:nvCxnSpPr>
          <p:cNvPr id="76822" name="Straight Connector 3"/>
          <p:cNvCxnSpPr>
            <a:cxnSpLocks noChangeShapeType="1"/>
          </p:cNvCxnSpPr>
          <p:nvPr/>
        </p:nvCxnSpPr>
        <p:spPr bwMode="auto">
          <a:xfrm>
            <a:off x="1958975" y="1700213"/>
            <a:ext cx="0" cy="4286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6823" name="Straight Connector 32"/>
          <p:cNvCxnSpPr>
            <a:cxnSpLocks noChangeShapeType="1"/>
          </p:cNvCxnSpPr>
          <p:nvPr/>
        </p:nvCxnSpPr>
        <p:spPr bwMode="auto">
          <a:xfrm>
            <a:off x="2689225" y="1703388"/>
            <a:ext cx="0" cy="4286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6824" name="Straight Connector 33"/>
          <p:cNvCxnSpPr>
            <a:cxnSpLocks noChangeShapeType="1"/>
          </p:cNvCxnSpPr>
          <p:nvPr/>
        </p:nvCxnSpPr>
        <p:spPr bwMode="auto">
          <a:xfrm>
            <a:off x="3417888" y="1708150"/>
            <a:ext cx="0" cy="42703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6825" name="Straight Connector 34"/>
          <p:cNvCxnSpPr>
            <a:cxnSpLocks noChangeShapeType="1"/>
          </p:cNvCxnSpPr>
          <p:nvPr/>
        </p:nvCxnSpPr>
        <p:spPr bwMode="auto">
          <a:xfrm>
            <a:off x="3671888" y="1703388"/>
            <a:ext cx="0" cy="4286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6826" name="Straight Connector 35"/>
          <p:cNvCxnSpPr>
            <a:cxnSpLocks noChangeShapeType="1"/>
          </p:cNvCxnSpPr>
          <p:nvPr/>
        </p:nvCxnSpPr>
        <p:spPr bwMode="auto">
          <a:xfrm>
            <a:off x="5638800" y="1689100"/>
            <a:ext cx="0" cy="4286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85370" name="TextBox 5"/>
          <p:cNvSpPr txBox="1">
            <a:spLocks noChangeArrowheads="1"/>
          </p:cNvSpPr>
          <p:nvPr/>
        </p:nvSpPr>
        <p:spPr bwMode="auto">
          <a:xfrm>
            <a:off x="1937401" y="1722438"/>
            <a:ext cx="770225" cy="405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bg1"/>
                </a:solidFill>
                <a:latin typeface="Arial" charset="0"/>
                <a:cs typeface="Arial" charset="0"/>
              </a:rPr>
              <a:t>dest.</a:t>
            </a:r>
          </a:p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bg1"/>
                </a:solidFill>
                <a:latin typeface="Arial" charset="0"/>
                <a:cs typeface="Arial" charset="0"/>
              </a:rPr>
              <a:t>address</a:t>
            </a:r>
          </a:p>
        </p:txBody>
      </p:sp>
      <p:sp>
        <p:nvSpPr>
          <p:cNvPr id="185371" name="TextBox 37"/>
          <p:cNvSpPr txBox="1">
            <a:spLocks noChangeArrowheads="1"/>
          </p:cNvSpPr>
          <p:nvPr/>
        </p:nvSpPr>
        <p:spPr bwMode="auto">
          <a:xfrm>
            <a:off x="2697163" y="1719263"/>
            <a:ext cx="730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bg1"/>
                </a:solidFill>
                <a:latin typeface="Arial" charset="0"/>
                <a:cs typeface="Arial" charset="0"/>
              </a:rPr>
              <a:t>source</a:t>
            </a:r>
          </a:p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bg1"/>
                </a:solidFill>
                <a:latin typeface="Arial" charset="0"/>
                <a:cs typeface="Arial" charset="0"/>
              </a:rPr>
              <a:t>address</a:t>
            </a:r>
          </a:p>
        </p:txBody>
      </p:sp>
      <p:sp>
        <p:nvSpPr>
          <p:cNvPr id="185372" name="TextBox 38"/>
          <p:cNvSpPr txBox="1">
            <a:spLocks noChangeArrowheads="1"/>
          </p:cNvSpPr>
          <p:nvPr/>
        </p:nvSpPr>
        <p:spPr bwMode="auto">
          <a:xfrm>
            <a:off x="4041775" y="1790700"/>
            <a:ext cx="11906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bg1"/>
                </a:solidFill>
                <a:latin typeface="Arial" charset="0"/>
                <a:cs typeface="Arial" charset="0"/>
              </a:rPr>
              <a:t>data (payload)</a:t>
            </a:r>
          </a:p>
        </p:txBody>
      </p:sp>
      <p:sp>
        <p:nvSpPr>
          <p:cNvPr id="185373" name="TextBox 39"/>
          <p:cNvSpPr txBox="1">
            <a:spLocks noChangeArrowheads="1"/>
          </p:cNvSpPr>
          <p:nvPr/>
        </p:nvSpPr>
        <p:spPr bwMode="auto">
          <a:xfrm>
            <a:off x="5611813" y="1809750"/>
            <a:ext cx="51593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bg1"/>
                </a:solidFill>
                <a:latin typeface="Arial" charset="0"/>
                <a:cs typeface="Arial" charset="0"/>
              </a:rPr>
              <a:t>CRC</a:t>
            </a:r>
          </a:p>
        </p:txBody>
      </p:sp>
      <p:sp>
        <p:nvSpPr>
          <p:cNvPr id="185374" name="TextBox 40"/>
          <p:cNvSpPr txBox="1">
            <a:spLocks noChangeArrowheads="1"/>
          </p:cNvSpPr>
          <p:nvPr/>
        </p:nvSpPr>
        <p:spPr bwMode="auto">
          <a:xfrm>
            <a:off x="1047750" y="1787525"/>
            <a:ext cx="8223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bg1"/>
                </a:solidFill>
                <a:latin typeface="Arial" charset="0"/>
                <a:cs typeface="Arial" charset="0"/>
              </a:rPr>
              <a:t>preamble</a:t>
            </a:r>
          </a:p>
        </p:txBody>
      </p:sp>
      <p:grpSp>
        <p:nvGrpSpPr>
          <p:cNvPr id="173087" name="Group 6"/>
          <p:cNvGrpSpPr>
            <a:grpSpLocks/>
          </p:cNvGrpSpPr>
          <p:nvPr/>
        </p:nvGrpSpPr>
        <p:grpSpPr bwMode="auto">
          <a:xfrm>
            <a:off x="992826" y="2949575"/>
            <a:ext cx="2448769" cy="436563"/>
            <a:chOff x="340454" y="5667110"/>
            <a:chExt cx="2448560" cy="435435"/>
          </a:xfrm>
          <a:solidFill>
            <a:srgbClr val="006633"/>
          </a:solidFill>
        </p:grpSpPr>
        <p:sp>
          <p:nvSpPr>
            <p:cNvPr id="173097" name="Rectangle 42"/>
            <p:cNvSpPr>
              <a:spLocks noChangeArrowheads="1"/>
            </p:cNvSpPr>
            <p:nvPr/>
          </p:nvSpPr>
          <p:spPr bwMode="auto">
            <a:xfrm>
              <a:off x="340454" y="5676543"/>
              <a:ext cx="2448560" cy="406400"/>
            </a:xfrm>
            <a:prstGeom prst="rect">
              <a:avLst/>
            </a:pr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cxnSp>
          <p:nvCxnSpPr>
            <p:cNvPr id="76843" name="Straight Connector 43"/>
            <p:cNvCxnSpPr>
              <a:cxnSpLocks noChangeShapeType="1"/>
            </p:cNvCxnSpPr>
            <p:nvPr/>
          </p:nvCxnSpPr>
          <p:spPr bwMode="auto">
            <a:xfrm>
              <a:off x="1314457" y="5667110"/>
              <a:ext cx="0" cy="427518"/>
            </a:xfrm>
            <a:prstGeom prst="line">
              <a:avLst/>
            </a:prstGeom>
            <a:grp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6844" name="Straight Connector 44"/>
            <p:cNvCxnSpPr>
              <a:cxnSpLocks noChangeShapeType="1"/>
            </p:cNvCxnSpPr>
            <p:nvPr/>
          </p:nvCxnSpPr>
          <p:spPr bwMode="auto">
            <a:xfrm>
              <a:off x="2044645" y="5670277"/>
              <a:ext cx="0" cy="429101"/>
            </a:xfrm>
            <a:prstGeom prst="line">
              <a:avLst/>
            </a:prstGeom>
            <a:grp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6845" name="Straight Connector 45"/>
            <p:cNvCxnSpPr>
              <a:cxnSpLocks noChangeShapeType="1"/>
            </p:cNvCxnSpPr>
            <p:nvPr/>
          </p:nvCxnSpPr>
          <p:spPr bwMode="auto">
            <a:xfrm>
              <a:off x="2773245" y="5675027"/>
              <a:ext cx="0" cy="427518"/>
            </a:xfrm>
            <a:prstGeom prst="line">
              <a:avLst/>
            </a:prstGeom>
            <a:grp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73101" name="TextBox 48"/>
            <p:cNvSpPr txBox="1">
              <a:spLocks noChangeArrowheads="1"/>
            </p:cNvSpPr>
            <p:nvPr/>
          </p:nvSpPr>
          <p:spPr bwMode="auto">
            <a:xfrm>
              <a:off x="1292617" y="5688880"/>
              <a:ext cx="770159" cy="404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dest.</a:t>
              </a:r>
            </a:p>
            <a:p>
              <a:pPr algn="ctr">
                <a:lnSpc>
                  <a:spcPts val="1200"/>
                </a:lnSpc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address</a:t>
              </a:r>
            </a:p>
          </p:txBody>
        </p:sp>
        <p:sp>
          <p:nvSpPr>
            <p:cNvPr id="173102" name="TextBox 49"/>
            <p:cNvSpPr txBox="1">
              <a:spLocks noChangeArrowheads="1"/>
            </p:cNvSpPr>
            <p:nvPr/>
          </p:nvSpPr>
          <p:spPr bwMode="auto">
            <a:xfrm>
              <a:off x="2053082" y="5685251"/>
              <a:ext cx="729687" cy="40011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source</a:t>
              </a:r>
            </a:p>
            <a:p>
              <a:pPr algn="ctr">
                <a:lnSpc>
                  <a:spcPts val="1200"/>
                </a:lnSpc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address</a:t>
              </a:r>
            </a:p>
          </p:txBody>
        </p:sp>
        <p:sp>
          <p:nvSpPr>
            <p:cNvPr id="173103" name="TextBox 52"/>
            <p:cNvSpPr txBox="1">
              <a:spLocks noChangeArrowheads="1"/>
            </p:cNvSpPr>
            <p:nvPr/>
          </p:nvSpPr>
          <p:spPr bwMode="auto">
            <a:xfrm>
              <a:off x="402711" y="5754221"/>
              <a:ext cx="822661" cy="2462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preamble</a:t>
              </a:r>
            </a:p>
          </p:txBody>
        </p:sp>
      </p:grpSp>
      <p:sp>
        <p:nvSpPr>
          <p:cNvPr id="185376" name="Rectangle 56"/>
          <p:cNvSpPr>
            <a:spLocks noChangeArrowheads="1"/>
          </p:cNvSpPr>
          <p:nvPr/>
        </p:nvSpPr>
        <p:spPr bwMode="auto">
          <a:xfrm>
            <a:off x="4187825" y="2959100"/>
            <a:ext cx="2659063" cy="406400"/>
          </a:xfrm>
          <a:prstGeom prst="rect">
            <a:avLst/>
          </a:prstGeom>
          <a:solidFill>
            <a:srgbClr val="006633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/>
          <a:lstStyle/>
          <a:p>
            <a:endParaRPr lang="en-US" dirty="0"/>
          </a:p>
        </p:txBody>
      </p:sp>
      <p:cxnSp>
        <p:nvCxnSpPr>
          <p:cNvPr id="76834" name="Straight Connector 60"/>
          <p:cNvCxnSpPr>
            <a:cxnSpLocks noChangeShapeType="1"/>
          </p:cNvCxnSpPr>
          <p:nvPr/>
        </p:nvCxnSpPr>
        <p:spPr bwMode="auto">
          <a:xfrm>
            <a:off x="4411663" y="2954338"/>
            <a:ext cx="0" cy="427037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6835" name="Straight Connector 61"/>
          <p:cNvCxnSpPr>
            <a:cxnSpLocks noChangeShapeType="1"/>
          </p:cNvCxnSpPr>
          <p:nvPr/>
        </p:nvCxnSpPr>
        <p:spPr bwMode="auto">
          <a:xfrm>
            <a:off x="6378575" y="2938463"/>
            <a:ext cx="0" cy="4286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85379" name="TextBox 64"/>
          <p:cNvSpPr txBox="1">
            <a:spLocks noChangeArrowheads="1"/>
          </p:cNvSpPr>
          <p:nvPr/>
        </p:nvSpPr>
        <p:spPr bwMode="auto">
          <a:xfrm>
            <a:off x="4783138" y="3040063"/>
            <a:ext cx="1189037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bg1"/>
                </a:solidFill>
                <a:latin typeface="Arial" charset="0"/>
                <a:cs typeface="Arial" charset="0"/>
              </a:rPr>
              <a:t>data (payload)</a:t>
            </a:r>
          </a:p>
        </p:txBody>
      </p:sp>
      <p:sp>
        <p:nvSpPr>
          <p:cNvPr id="185380" name="TextBox 65"/>
          <p:cNvSpPr txBox="1">
            <a:spLocks noChangeArrowheads="1"/>
          </p:cNvSpPr>
          <p:nvPr/>
        </p:nvSpPr>
        <p:spPr bwMode="auto">
          <a:xfrm>
            <a:off x="6351588" y="3059113"/>
            <a:ext cx="51593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bg1"/>
                </a:solidFill>
                <a:latin typeface="Arial" charset="0"/>
                <a:cs typeface="Arial" charset="0"/>
              </a:rPr>
              <a:t>CRC</a:t>
            </a:r>
          </a:p>
        </p:txBody>
      </p:sp>
      <p:sp>
        <p:nvSpPr>
          <p:cNvPr id="185381" name="Text Box 9"/>
          <p:cNvSpPr txBox="1">
            <a:spLocks noChangeArrowheads="1"/>
          </p:cNvSpPr>
          <p:nvPr/>
        </p:nvSpPr>
        <p:spPr bwMode="auto">
          <a:xfrm>
            <a:off x="4095750" y="2659063"/>
            <a:ext cx="47466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type</a:t>
            </a:r>
          </a:p>
        </p:txBody>
      </p:sp>
      <p:sp>
        <p:nvSpPr>
          <p:cNvPr id="185382" name="Line 10"/>
          <p:cNvSpPr>
            <a:spLocks noChangeShapeType="1"/>
          </p:cNvSpPr>
          <p:nvPr/>
        </p:nvSpPr>
        <p:spPr bwMode="auto">
          <a:xfrm>
            <a:off x="4300538" y="2887663"/>
            <a:ext cx="0" cy="17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5383" name="Rectangle 67"/>
          <p:cNvSpPr>
            <a:spLocks noChangeArrowheads="1"/>
          </p:cNvSpPr>
          <p:nvPr/>
        </p:nvSpPr>
        <p:spPr bwMode="auto">
          <a:xfrm>
            <a:off x="3429000" y="2963863"/>
            <a:ext cx="735013" cy="406400"/>
          </a:xfrm>
          <a:prstGeom prst="rect">
            <a:avLst/>
          </a:prstGeom>
          <a:solidFill>
            <a:srgbClr val="006633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/>
          <a:lstStyle/>
          <a:p>
            <a:endParaRPr lang="en-US" dirty="0"/>
          </a:p>
        </p:txBody>
      </p:sp>
      <p:cxnSp>
        <p:nvCxnSpPr>
          <p:cNvPr id="76841" name="Straight Connector 68"/>
          <p:cNvCxnSpPr>
            <a:cxnSpLocks noChangeShapeType="1"/>
          </p:cNvCxnSpPr>
          <p:nvPr/>
        </p:nvCxnSpPr>
        <p:spPr bwMode="auto">
          <a:xfrm>
            <a:off x="3797300" y="2962275"/>
            <a:ext cx="0" cy="42703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4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38</a:t>
            </a:fld>
            <a:endParaRPr lang="en-US" sz="1200" dirty="0">
              <a:latin typeface="Tahoma" charset="0"/>
            </a:endParaRPr>
          </a:p>
        </p:txBody>
      </p:sp>
      <p:sp>
        <p:nvSpPr>
          <p:cNvPr id="5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0315723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373063" y="83409"/>
            <a:ext cx="7772400" cy="981075"/>
          </a:xfrm>
        </p:spPr>
        <p:txBody>
          <a:bodyPr/>
          <a:lstStyle/>
          <a:p>
            <a:r>
              <a:rPr lang="en-US" altLang="ko-KR" dirty="0"/>
              <a:t>Q &amp; A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3413" y="1360488"/>
            <a:ext cx="4398962" cy="39528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dirty="0"/>
              <a:t>Q &amp; A </a:t>
            </a:r>
            <a:r>
              <a:rPr lang="ko-KR" altLang="en-US" dirty="0"/>
              <a:t>게시판</a:t>
            </a:r>
          </a:p>
        </p:txBody>
      </p:sp>
      <p:pic>
        <p:nvPicPr>
          <p:cNvPr id="33798" name="그림 3" descr="그리기이(가) 표시된 사진&#10;&#10;자동 생성된 설명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513" y="1793875"/>
            <a:ext cx="4410075" cy="440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33627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39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32813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Layer: Control Plane</a:t>
            </a:r>
          </a:p>
        </p:txBody>
      </p:sp>
      <p:pic>
        <p:nvPicPr>
          <p:cNvPr id="9" name="Picture 224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25" y="836613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5414051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gsLst>
            <a:gs pos="0">
              <a:schemeClr val="bg1">
                <a:lumMod val="95000"/>
              </a:schemeClr>
            </a:gs>
            <a:gs pos="100000">
              <a:schemeClr val="accent5">
                <a:lumMod val="75000"/>
              </a:schemeClr>
            </a:gs>
          </a:gsLst>
        </a:gra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18847</TotalTime>
  <Words>3100</Words>
  <Application>Microsoft Office PowerPoint</Application>
  <PresentationFormat>화면 슬라이드 쇼(4:3)</PresentationFormat>
  <Paragraphs>792</Paragraphs>
  <Slides>39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7" baseType="lpstr">
      <vt:lpstr>MS Mincho</vt:lpstr>
      <vt:lpstr>Arial</vt:lpstr>
      <vt:lpstr>Comic Sans MS</vt:lpstr>
      <vt:lpstr>Gill Sans MT</vt:lpstr>
      <vt:lpstr>Tahoma</vt:lpstr>
      <vt:lpstr>Times New Roman</vt:lpstr>
      <vt:lpstr>Wingdings</vt:lpstr>
      <vt:lpstr>Default Design</vt:lpstr>
      <vt:lpstr>PowerPoint 프레젠테이션</vt:lpstr>
      <vt:lpstr>Link layer, LANs: outline</vt:lpstr>
      <vt:lpstr>MAC addresses and ARP</vt:lpstr>
      <vt:lpstr>LAN addresses and ARP</vt:lpstr>
      <vt:lpstr>LAN addresses (more)</vt:lpstr>
      <vt:lpstr>ARP: address resolution protocol</vt:lpstr>
      <vt:lpstr>ARP protocol: same LAN</vt:lpstr>
      <vt:lpstr>Addressing: routing to another LAN</vt:lpstr>
      <vt:lpstr>Addressing: routing to another LAN</vt:lpstr>
      <vt:lpstr>Addressing: routing to another LAN</vt:lpstr>
      <vt:lpstr>Addressing: routing to another LAN</vt:lpstr>
      <vt:lpstr>Addressing: routing to another LAN</vt:lpstr>
      <vt:lpstr>Addressing: routing to another LAN</vt:lpstr>
      <vt:lpstr>Link layer, LANs: outline</vt:lpstr>
      <vt:lpstr>Ethernet</vt:lpstr>
      <vt:lpstr>Ethernet: physical topology</vt:lpstr>
      <vt:lpstr>Ethernet frame structure</vt:lpstr>
      <vt:lpstr>Ethernet frame structure (more)</vt:lpstr>
      <vt:lpstr>Ethernet: unreliable, connectionless</vt:lpstr>
      <vt:lpstr>802.3 Ethernet standards: link &amp; physical layers</vt:lpstr>
      <vt:lpstr>Q &amp; A</vt:lpstr>
      <vt:lpstr>PowerPoint 프레젠테이션</vt:lpstr>
      <vt:lpstr>Link layer, LANs: outline</vt:lpstr>
      <vt:lpstr>Ethernet switch</vt:lpstr>
      <vt:lpstr>Switch: multiple simultaneous transmissions</vt:lpstr>
      <vt:lpstr>Switch forwarding table</vt:lpstr>
      <vt:lpstr>Switch: self-learning</vt:lpstr>
      <vt:lpstr>Switch: frame filtering/forwarding</vt:lpstr>
      <vt:lpstr>Self-learning, forwarding: example</vt:lpstr>
      <vt:lpstr>Interconnecting switches</vt:lpstr>
      <vt:lpstr>Self-learning multi-switch example</vt:lpstr>
      <vt:lpstr>Institutional network</vt:lpstr>
      <vt:lpstr>Switches vs. routers</vt:lpstr>
      <vt:lpstr>VLANs: motivation</vt:lpstr>
      <vt:lpstr>VLANs</vt:lpstr>
      <vt:lpstr>Port-based VLAN</vt:lpstr>
      <vt:lpstr>VLANS spanning multiple switches</vt:lpstr>
      <vt:lpstr>PowerPoint 프레젠테이션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4</dc:title>
  <dc:creator>Jim Kurose and Keith Ross</dc:creator>
  <cp:lastModifiedBy>Seyoung Park</cp:lastModifiedBy>
  <cp:revision>533</cp:revision>
  <dcterms:created xsi:type="dcterms:W3CDTF">1999-10-08T19:08:27Z</dcterms:created>
  <dcterms:modified xsi:type="dcterms:W3CDTF">2020-10-06T07:32:47Z</dcterms:modified>
</cp:coreProperties>
</file>