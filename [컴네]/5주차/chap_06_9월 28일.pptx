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778" r:id="rId2"/>
    <p:sldId id="779" r:id="rId3"/>
    <p:sldId id="780" r:id="rId4"/>
    <p:sldId id="781" r:id="rId5"/>
    <p:sldId id="782" r:id="rId6"/>
    <p:sldId id="783" r:id="rId7"/>
    <p:sldId id="784" r:id="rId8"/>
    <p:sldId id="785" r:id="rId9"/>
    <p:sldId id="786" r:id="rId10"/>
    <p:sldId id="787" r:id="rId11"/>
    <p:sldId id="788" r:id="rId12"/>
    <p:sldId id="789" r:id="rId13"/>
    <p:sldId id="790" r:id="rId14"/>
    <p:sldId id="791" r:id="rId15"/>
    <p:sldId id="792" r:id="rId16"/>
    <p:sldId id="794" r:id="rId17"/>
    <p:sldId id="793" r:id="rId18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DDDDDD"/>
    <a:srgbClr val="FFCCFF"/>
    <a:srgbClr val="000099"/>
    <a:srgbClr val="FF0000"/>
    <a:srgbClr val="008000"/>
    <a:srgbClr val="66CCFF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84075" autoAdjust="0"/>
  </p:normalViewPr>
  <p:slideViewPr>
    <p:cSldViewPr snapToGrid="0">
      <p:cViewPr varScale="1">
        <p:scale>
          <a:sx n="97" d="100"/>
          <a:sy n="97" d="100"/>
        </p:scale>
        <p:origin x="200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2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2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2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fld id="{91292653-6D28-1A4E-9097-8CD0CA4FA95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4161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fld id="{ACCD5E27-021E-054B-84DE-C100B224ED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4115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43C97A68-011F-3241-A5A6-6EAD0C86B7D6}" type="slidenum">
              <a:rPr lang="en-US" i="0" smtClean="0">
                <a:latin typeface="Times New Roman" charset="0"/>
              </a:rPr>
              <a:pPr>
                <a:defRPr/>
              </a:pPr>
              <a:t>2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BBF9E464-6231-2A46-B6B9-94540F70FC6D}" type="slidenum">
              <a:rPr lang="en-US" i="0" smtClean="0">
                <a:latin typeface="Times New Roman" charset="0"/>
              </a:rPr>
              <a:pPr>
                <a:defRPr/>
              </a:pPr>
              <a:t>3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D7F61FD0-FAF2-4545-8D3A-10FB997685FF}" type="slidenum">
              <a:rPr lang="en-US" i="0" smtClean="0">
                <a:latin typeface="Times New Roman" charset="0"/>
              </a:rPr>
              <a:pPr>
                <a:defRPr/>
              </a:pPr>
              <a:t>4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5F620C57-5F31-6443-8544-E81A27D767F3}" type="slidenum">
              <a:rPr lang="en-US" i="0" smtClean="0">
                <a:latin typeface="Times New Roman" charset="0"/>
              </a:rPr>
              <a:pPr>
                <a:defRPr/>
              </a:pPr>
              <a:t>5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en-US" dirty="0" err="1">
                <a:latin typeface="Times New Roman" charset="0"/>
                <a:cs typeface="+mn-cs"/>
              </a:rPr>
              <a:t>Rdt</a:t>
            </a:r>
            <a:r>
              <a:rPr lang="en-US" dirty="0">
                <a:latin typeface="Times New Roman" charset="0"/>
                <a:cs typeface="+mn-cs"/>
              </a:rPr>
              <a:t>: reliable</a:t>
            </a:r>
            <a:r>
              <a:rPr lang="en-US" baseline="0" dirty="0">
                <a:latin typeface="Times New Roman" charset="0"/>
                <a:cs typeface="+mn-cs"/>
              </a:rPr>
              <a:t> data </a:t>
            </a:r>
            <a:r>
              <a:rPr lang="en-US" baseline="0" dirty="0" err="1">
                <a:latin typeface="Times New Roman" charset="0"/>
                <a:cs typeface="+mn-cs"/>
              </a:rPr>
              <a:t>tranfer</a:t>
            </a: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D8AA7049-8658-2C4B-A161-18F367F0585E}" type="slidenum">
              <a:rPr lang="en-US" i="0" smtClean="0">
                <a:latin typeface="Times New Roman" charset="0"/>
              </a:rPr>
              <a:pPr>
                <a:defRPr/>
              </a:pPr>
              <a:t>6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FDB44EAB-FE29-FA45-963B-6DA8F6A2E717}" type="slidenum">
              <a:rPr lang="en-US" i="0" smtClean="0">
                <a:latin typeface="Times New Roman" charset="0"/>
              </a:rPr>
              <a:pPr>
                <a:defRPr/>
              </a:pPr>
              <a:t>7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en-US" altLang="ko-KR" sz="1200" dirty="0">
                <a:latin typeface="Gill Sans MT" charset="0"/>
              </a:rPr>
              <a:t>Attenuation </a:t>
            </a:r>
            <a:r>
              <a:rPr lang="ko-KR" altLang="en-US" sz="1200" dirty="0">
                <a:latin typeface="Gill Sans MT" charset="0"/>
              </a:rPr>
              <a:t>감쇠</a:t>
            </a:r>
            <a:endParaRPr lang="en-US" altLang="ko-KR" sz="1200" dirty="0">
              <a:latin typeface="Gill Sans MT" charset="0"/>
            </a:endParaRPr>
          </a:p>
          <a:p>
            <a:pPr>
              <a:defRPr/>
            </a:pPr>
            <a:r>
              <a:rPr lang="en-US" altLang="ko-KR" sz="1200" dirty="0">
                <a:latin typeface="Gill Sans MT" charset="0"/>
              </a:rPr>
              <a:t>Resorting </a:t>
            </a:r>
            <a:r>
              <a:rPr lang="ko-KR" altLang="en-US" sz="1200" dirty="0" err="1">
                <a:latin typeface="Gill Sans MT" charset="0"/>
              </a:rPr>
              <a:t>재손실</a:t>
            </a: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CAB2606F-C1DD-AB42-91E2-4D2AE510B66F}" type="slidenum">
              <a:rPr lang="en-US" i="0" smtClean="0">
                <a:latin typeface="Times New Roman" charset="0"/>
              </a:rPr>
              <a:pPr>
                <a:defRPr/>
              </a:pPr>
              <a:t>8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3EFBD828-11F8-6948-B056-D1F77BF7AC02}" type="slidenum">
              <a:rPr lang="en-US" i="0" smtClean="0">
                <a:latin typeface="Times New Roman" charset="0"/>
              </a:rPr>
              <a:pPr>
                <a:defRPr/>
              </a:pPr>
              <a:t>9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A40C7D90-CF53-894C-BF5D-C9831E50B051}" type="slidenum">
              <a:rPr lang="en-US" i="0" smtClean="0">
                <a:latin typeface="Times New Roman" charset="0"/>
              </a:rPr>
              <a:pPr>
                <a:defRPr/>
              </a:pPr>
              <a:t>10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1589B448-324E-F547-9651-770BB6BE014E}" type="slidenum">
              <a:rPr lang="en-US" i="0" smtClean="0">
                <a:latin typeface="Times New Roman" charset="0"/>
              </a:rPr>
              <a:pPr>
                <a:defRPr/>
              </a:pPr>
              <a:t>11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0C69BEC7-9E5C-604D-9916-AF2A74B9F274}" type="slidenum">
              <a:rPr lang="en-US" i="0" smtClean="0">
                <a:latin typeface="Times New Roman" charset="0"/>
              </a:rPr>
              <a:pPr>
                <a:defRPr/>
              </a:pPr>
              <a:t>12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B48CD503-2045-024B-8E01-05BD3C804D49}" type="slidenum">
              <a:rPr lang="en-US" i="0" smtClean="0">
                <a:latin typeface="Times New Roman" charset="0"/>
              </a:rPr>
              <a:pPr>
                <a:defRPr/>
              </a:pPr>
              <a:t>13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190A2FE3-3F71-0D4D-913A-D62E4D4158B9}" type="slidenum">
              <a:rPr lang="en-US" i="0" smtClean="0">
                <a:latin typeface="Times New Roman" charset="0"/>
              </a:rPr>
              <a:pPr>
                <a:defRPr/>
              </a:pPr>
              <a:t>14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7BE824D3-1A6E-5741-A1BB-55D02918ED2B}" type="slidenum">
              <a:rPr lang="en-US" i="0" smtClean="0">
                <a:latin typeface="Times New Roman" charset="0"/>
              </a:rPr>
              <a:pPr>
                <a:defRPr/>
              </a:pPr>
              <a:t>15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966788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fld id="{7BE824D3-1A6E-5741-A1BB-55D02918ED2B}" type="slidenum">
              <a:rPr lang="en-US" i="0" smtClean="0">
                <a:latin typeface="Times New Roman" charset="0"/>
              </a:rPr>
              <a:pPr>
                <a:defRPr/>
              </a:pPr>
              <a:t>16</a:t>
            </a:fld>
            <a:endParaRPr lang="en-US" i="0" dirty="0">
              <a:latin typeface="Times New Roman" charset="0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2824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Network Layer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4-</a:t>
            </a:r>
            <a:fld id="{7EFC9773-7379-5049-A6C9-0C8EEEC5C54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134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572125" y="6486525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Data Link Layer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81975" y="6486525"/>
            <a:ext cx="676275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5-</a:t>
            </a:r>
            <a:fld id="{9AB7E571-4613-BD47-B8AF-E4769FE4BBE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070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572125" y="6486525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Data Link Layer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81975" y="6486525"/>
            <a:ext cx="676275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5-</a:t>
            </a:r>
            <a:fld id="{D0626857-DD43-9D46-91D4-DEBFBA1258D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814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100000"/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Arial"/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omic Sans MS" pitchFamily="66" charset="0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-109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4"/>
          <p:cNvSpPr>
            <a:spLocks noChangeArrowheads="1"/>
          </p:cNvSpPr>
          <p:nvPr/>
        </p:nvSpPr>
        <p:spPr bwMode="auto">
          <a:xfrm>
            <a:off x="5608638" y="3489325"/>
            <a:ext cx="3260725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ts val="3063"/>
              </a:lnSpc>
            </a:pPr>
            <a:r>
              <a:rPr lang="en-US" sz="2800" i="1" dirty="0">
                <a:solidFill>
                  <a:srgbClr val="008000"/>
                </a:solidFill>
                <a:cs typeface="Arial" charset="0"/>
              </a:rPr>
              <a:t>Computer Networking: A Top Down Approach </a:t>
            </a:r>
            <a:br>
              <a:rPr lang="en-US" sz="2800" dirty="0">
                <a:solidFill>
                  <a:srgbClr val="008000"/>
                </a:solidFill>
                <a:cs typeface="Arial" charset="0"/>
              </a:rPr>
            </a:br>
            <a:endParaRPr lang="en-US" sz="2000" dirty="0">
              <a:solidFill>
                <a:srgbClr val="008000"/>
              </a:solidFill>
              <a:cs typeface="Arial" charset="0"/>
            </a:endParaRPr>
          </a:p>
        </p:txBody>
      </p:sp>
      <p:sp>
        <p:nvSpPr>
          <p:cNvPr id="40962" name="Text Box 6"/>
          <p:cNvSpPr txBox="1">
            <a:spLocks noChangeArrowheads="1"/>
          </p:cNvSpPr>
          <p:nvPr/>
        </p:nvSpPr>
        <p:spPr bwMode="auto">
          <a:xfrm>
            <a:off x="369888" y="3241675"/>
            <a:ext cx="5378450" cy="148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dirty="0"/>
              <a:t>A note on the use of these Powerpoint slides:</a:t>
            </a:r>
          </a:p>
          <a:p>
            <a:r>
              <a:rPr lang="en-US" sz="1200" dirty="0"/>
              <a:t>We</a:t>
            </a:r>
            <a:r>
              <a:rPr lang="ja-JP" altLang="en-US" sz="1200" dirty="0"/>
              <a:t>’</a:t>
            </a:r>
            <a:r>
              <a:rPr lang="en-US" altLang="ja-JP" sz="1200" dirty="0"/>
              <a:t>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lang="en-US" altLang="ja-JP" sz="1200" i="1" dirty="0"/>
              <a:t>lot</a:t>
            </a:r>
            <a:r>
              <a:rPr lang="en-US" altLang="ja-JP" sz="1200" dirty="0"/>
              <a:t> of work on our part. In return for use, we only ask the following:</a:t>
            </a:r>
          </a:p>
          <a:p>
            <a:pPr>
              <a:lnSpc>
                <a:spcPct val="85000"/>
              </a:lnSpc>
            </a:pPr>
            <a:endParaRPr lang="en-US" sz="1400" dirty="0"/>
          </a:p>
        </p:txBody>
      </p:sp>
      <p:sp>
        <p:nvSpPr>
          <p:cNvPr id="29702" name="Text Box 7"/>
          <p:cNvSpPr txBox="1">
            <a:spLocks noChangeArrowheads="1"/>
          </p:cNvSpPr>
          <p:nvPr/>
        </p:nvSpPr>
        <p:spPr bwMode="auto">
          <a:xfrm>
            <a:off x="390525" y="4370388"/>
            <a:ext cx="5378450" cy="209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3038" indent="-17303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endParaRPr lang="en-US" sz="1400" dirty="0">
              <a:latin typeface="Gill Sans MT" charset="0"/>
            </a:endParaRPr>
          </a:p>
          <a:p>
            <a:pPr marL="231775" indent="-1778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1200" dirty="0"/>
              <a:t>If you use these slides (e.g., in a class) that you mention their source (after all, we</a:t>
            </a:r>
            <a:r>
              <a:rPr lang="ja-JP" altLang="en-US" sz="1200" dirty="0"/>
              <a:t>’</a:t>
            </a:r>
            <a:r>
              <a:rPr lang="en-US" altLang="ja-JP" sz="1200" dirty="0"/>
              <a:t>d like people to use our book!)</a:t>
            </a:r>
          </a:p>
          <a:p>
            <a:pPr marL="231775" indent="-1778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1200" dirty="0"/>
              <a:t>If you post any slides on a www site, that you note that they are adapted from (or perhaps identical to) our slides, and note our copyright of this material.</a:t>
            </a:r>
          </a:p>
          <a:p>
            <a:pPr>
              <a:buClr>
                <a:schemeClr val="accent2"/>
              </a:buClr>
              <a:buFont typeface="Wingdings" charset="0"/>
              <a:buChar char="q"/>
              <a:defRPr/>
            </a:pPr>
            <a:endParaRPr lang="en-US" sz="1200" dirty="0"/>
          </a:p>
          <a:p>
            <a:pPr>
              <a:lnSpc>
                <a:spcPct val="85000"/>
              </a:lnSpc>
              <a:buClr>
                <a:schemeClr val="accent2"/>
              </a:buClr>
              <a:buFont typeface="Wingdings" charset="0"/>
              <a:buNone/>
              <a:defRPr/>
            </a:pPr>
            <a:r>
              <a:rPr lang="en-US" sz="1200" dirty="0"/>
              <a:t>Thanks and enjoy!  JFK/KWR</a:t>
            </a:r>
          </a:p>
          <a:p>
            <a:pPr>
              <a:lnSpc>
                <a:spcPct val="85000"/>
              </a:lnSpc>
              <a:defRPr/>
            </a:pPr>
            <a:endParaRPr lang="en-US" sz="1200" dirty="0"/>
          </a:p>
          <a:p>
            <a:pPr>
              <a:defRPr/>
            </a:pPr>
            <a:r>
              <a:rPr lang="en-US" sz="1200" dirty="0"/>
              <a:t>     All material copyright 1996-2016</a:t>
            </a:r>
          </a:p>
          <a:p>
            <a:pPr>
              <a:defRPr/>
            </a:pPr>
            <a:r>
              <a:rPr lang="en-US" sz="1200" dirty="0"/>
              <a:t>     J.F Kurose and K.W. Ross, All Rights Reserved</a:t>
            </a:r>
          </a:p>
        </p:txBody>
      </p:sp>
      <p:pic>
        <p:nvPicPr>
          <p:cNvPr id="40964" name="Picture 8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3" y="6146800"/>
            <a:ext cx="187325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Rectangle 4"/>
          <p:cNvSpPr>
            <a:spLocks noChangeArrowheads="1"/>
          </p:cNvSpPr>
          <p:nvPr/>
        </p:nvSpPr>
        <p:spPr bwMode="auto">
          <a:xfrm>
            <a:off x="5634038" y="4510088"/>
            <a:ext cx="3260725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/>
            <a:r>
              <a:rPr lang="en-US" dirty="0">
                <a:solidFill>
                  <a:srgbClr val="008000"/>
                </a:solidFill>
                <a:cs typeface="Arial" charset="0"/>
              </a:rPr>
              <a:t>7</a:t>
            </a:r>
            <a:r>
              <a:rPr lang="en-US" baseline="30000" dirty="0">
                <a:solidFill>
                  <a:srgbClr val="008000"/>
                </a:solidFill>
                <a:cs typeface="Arial" charset="0"/>
              </a:rPr>
              <a:t>th</a:t>
            </a:r>
            <a:r>
              <a:rPr lang="en-US" dirty="0">
                <a:solidFill>
                  <a:srgbClr val="008000"/>
                </a:solidFill>
                <a:cs typeface="Arial" charset="0"/>
              </a:rPr>
              <a:t> Edition, </a:t>
            </a:r>
            <a:r>
              <a:rPr lang="en-US" dirty="0">
                <a:solidFill>
                  <a:srgbClr val="008000"/>
                </a:solidFill>
              </a:rPr>
              <a:t>Global Edition </a:t>
            </a:r>
            <a:br>
              <a:rPr lang="en-US" dirty="0">
                <a:solidFill>
                  <a:srgbClr val="008000"/>
                </a:solidFill>
                <a:cs typeface="Arial" charset="0"/>
              </a:rPr>
            </a:br>
            <a:r>
              <a:rPr lang="en-US" dirty="0">
                <a:solidFill>
                  <a:srgbClr val="008000"/>
                </a:solidFill>
                <a:cs typeface="Arial" charset="0"/>
              </a:rPr>
              <a:t>Jim Kurose, Keith Ross</a:t>
            </a:r>
            <a:br>
              <a:rPr lang="en-US">
                <a:solidFill>
                  <a:srgbClr val="008000"/>
                </a:solidFill>
                <a:cs typeface="Arial" charset="0"/>
              </a:rPr>
            </a:br>
            <a:r>
              <a:rPr lang="en-US" sz="1400">
                <a:solidFill>
                  <a:srgbClr val="008000"/>
                </a:solidFill>
                <a:cs typeface="Arial" charset="0"/>
              </a:rPr>
              <a:t>Pearson</a:t>
            </a:r>
            <a:br>
              <a:rPr lang="en-US" sz="1400" dirty="0">
                <a:solidFill>
                  <a:srgbClr val="008000"/>
                </a:solidFill>
                <a:cs typeface="Arial" charset="0"/>
              </a:rPr>
            </a:br>
            <a:r>
              <a:rPr lang="en-US" sz="1400" dirty="0">
                <a:solidFill>
                  <a:srgbClr val="008000"/>
                </a:solidFill>
                <a:cs typeface="Arial" charset="0"/>
              </a:rPr>
              <a:t>April 2016</a:t>
            </a:r>
          </a:p>
        </p:txBody>
      </p:sp>
      <p:sp>
        <p:nvSpPr>
          <p:cNvPr id="40967" name="Rectangle 3"/>
          <p:cNvSpPr>
            <a:spLocks noChangeArrowheads="1"/>
          </p:cNvSpPr>
          <p:nvPr/>
        </p:nvSpPr>
        <p:spPr bwMode="auto">
          <a:xfrm>
            <a:off x="371475" y="715963"/>
            <a:ext cx="4487863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ct val="85000"/>
              </a:lnSpc>
            </a:pP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Chapter 6</a:t>
            </a:r>
            <a:br>
              <a:rPr lang="en-US" sz="4800" dirty="0">
                <a:solidFill>
                  <a:srgbClr val="000099"/>
                </a:solidFill>
                <a:latin typeface="Gill Sans MT" charset="0"/>
                <a:cs typeface="Arial" charset="0"/>
              </a:rPr>
            </a:b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The Link Layer </a:t>
            </a:r>
          </a:p>
          <a:p>
            <a:pPr eaLnBrk="1" hangingPunct="1">
              <a:lnSpc>
                <a:spcPct val="85000"/>
              </a:lnSpc>
            </a:pP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and LANs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</a:t>
            </a:fld>
            <a:endParaRPr lang="en-US" sz="1200" dirty="0">
              <a:latin typeface="Tahoma" charset="0"/>
            </a:endParaRP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  <p:pic>
        <p:nvPicPr>
          <p:cNvPr id="14" name="Picture 1" descr="kurose7e_cover_smal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5712715" y="325438"/>
            <a:ext cx="3082733" cy="381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9" descr="underline_base"/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2389188"/>
            <a:ext cx="3890962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4019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7" name="Picture 5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2" y="1039813"/>
            <a:ext cx="7187487" cy="18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Chapter 6: Link layer and LANs</a:t>
            </a:r>
          </a:p>
        </p:txBody>
      </p:sp>
      <p:sp>
        <p:nvSpPr>
          <p:cNvPr id="205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371600"/>
            <a:ext cx="7305675" cy="464820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3200" i="1" dirty="0">
                <a:solidFill>
                  <a:srgbClr val="990033"/>
                </a:solidFill>
                <a:latin typeface="Gill Sans MT" charset="0"/>
                <a:cs typeface="+mn-cs"/>
              </a:rPr>
              <a:t>our goals:</a:t>
            </a:r>
            <a:r>
              <a:rPr lang="en-US" sz="3200" i="1" dirty="0">
                <a:solidFill>
                  <a:srgbClr val="FF0000"/>
                </a:solidFill>
                <a:latin typeface="Gill Sans MT" charset="0"/>
                <a:cs typeface="+mn-cs"/>
              </a:rPr>
              <a:t> </a:t>
            </a: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understand principles behind link layer services: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error detection, correction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sharing a broadcast channel: multiple access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link layer addressing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local area networks: Ethernet, VLANs</a:t>
            </a:r>
            <a:endParaRPr lang="en-US" dirty="0">
              <a:solidFill>
                <a:srgbClr val="000099"/>
              </a:solidFill>
              <a:latin typeface="Gill Sans MT" charset="0"/>
            </a:endParaRPr>
          </a:p>
          <a:p>
            <a:pPr>
              <a:defRPr/>
            </a:pPr>
            <a:r>
              <a:rPr lang="en-US" dirty="0">
                <a:latin typeface="Gill Sans MT" charset="0"/>
                <a:cs typeface="+mn-cs"/>
              </a:rPr>
              <a:t>instantiation, implementation of various link layer technologies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2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398608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5" name="Picture 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028700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Link layer, </a:t>
            </a:r>
            <a:r>
              <a:rPr lang="en-US" sz="4000" dirty="0">
                <a:latin typeface="Gill Sans MT" charset="0"/>
                <a:cs typeface="+mj-cs"/>
              </a:rPr>
              <a:t>LAN</a:t>
            </a:r>
            <a:r>
              <a:rPr lang="en-US" dirty="0">
                <a:latin typeface="Gill Sans MT" charset="0"/>
                <a:cs typeface="+mj-cs"/>
              </a:rPr>
              <a:t>s: outline</a:t>
            </a: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3922713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6.1 introduction, services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6.2</a:t>
            </a:r>
            <a:r>
              <a:rPr lang="en-US" dirty="0">
                <a:latin typeface="Gill Sans MT" charset="0"/>
                <a:cs typeface="+mn-cs"/>
              </a:rPr>
              <a:t> error detection, correction 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6.3</a:t>
            </a:r>
            <a:r>
              <a:rPr lang="en-US" dirty="0">
                <a:latin typeface="Gill Sans MT" charset="0"/>
                <a:cs typeface="+mn-cs"/>
              </a:rPr>
              <a:t> multiple access protocols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6.4</a:t>
            </a:r>
            <a:r>
              <a:rPr lang="en-US" dirty="0">
                <a:latin typeface="Gill Sans MT" charset="0"/>
                <a:cs typeface="+mn-cs"/>
              </a:rPr>
              <a:t> LANs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addressing, ARP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Ethernet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switches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VLANS</a:t>
            </a:r>
          </a:p>
        </p:txBody>
      </p:sp>
      <p:sp>
        <p:nvSpPr>
          <p:cNvPr id="307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054475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6.5</a:t>
            </a:r>
            <a:r>
              <a:rPr lang="en-US" dirty="0">
                <a:latin typeface="Gill Sans MT" charset="0"/>
                <a:cs typeface="+mn-cs"/>
              </a:rPr>
              <a:t> link virtualization: MPLS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6.6</a:t>
            </a:r>
            <a:r>
              <a:rPr lang="en-US" dirty="0">
                <a:latin typeface="Gill Sans MT" charset="0"/>
                <a:cs typeface="+mn-cs"/>
              </a:rPr>
              <a:t> data center networking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6.7</a:t>
            </a:r>
            <a:r>
              <a:rPr lang="en-US" dirty="0">
                <a:latin typeface="Gill Sans MT" charset="0"/>
                <a:cs typeface="+mn-cs"/>
              </a:rPr>
              <a:t> a day in the life of a web request</a:t>
            </a:r>
          </a:p>
          <a:p>
            <a:pPr marL="457200" indent="-457200">
              <a:buFont typeface="Wingdings" charset="0"/>
              <a:buNone/>
              <a:defRPr/>
            </a:pPr>
            <a:endParaRPr lang="en-US" sz="2600" dirty="0">
              <a:latin typeface="Gill Sans MT" charset="0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3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3147394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3" name="Picture 66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" y="868363"/>
            <a:ext cx="54848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449263" y="200025"/>
            <a:ext cx="6308725" cy="8763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Link layer: introduction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22275" y="1330325"/>
            <a:ext cx="4267200" cy="3802063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terminology: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hosts and routers: 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nodes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communication channels that connect adjacent nodes along communication path: 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links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wired links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wireless links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LANs</a:t>
            </a:r>
            <a:endParaRPr lang="en-US" b="1" dirty="0">
              <a:solidFill>
                <a:srgbClr val="FF0000"/>
              </a:solidFill>
              <a:latin typeface="Gill Sans MT" charset="0"/>
            </a:endParaRP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layer-2 packet: 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frame,</a:t>
            </a:r>
            <a:r>
              <a:rPr lang="en-US" sz="2400" b="1" dirty="0">
                <a:solidFill>
                  <a:srgbClr val="FF0000"/>
                </a:solidFill>
                <a:latin typeface="Gill Sans MT" charset="0"/>
                <a:cs typeface="+mn-cs"/>
              </a:rPr>
              <a:t> </a:t>
            </a:r>
            <a:r>
              <a:rPr lang="en-US" sz="2400" dirty="0">
                <a:latin typeface="Gill Sans MT" charset="0"/>
                <a:cs typeface="+mn-cs"/>
              </a:rPr>
              <a:t>encapsulates datagram</a:t>
            </a:r>
          </a:p>
          <a:p>
            <a:pPr>
              <a:buFont typeface="Wingdings" charset="0"/>
              <a:buNone/>
              <a:defRPr/>
            </a:pPr>
            <a:endParaRPr lang="en-US" sz="2400" dirty="0">
              <a:latin typeface="Gill Sans MT" charset="0"/>
              <a:cs typeface="+mn-cs"/>
            </a:endParaRPr>
          </a:p>
          <a:p>
            <a:pPr>
              <a:defRPr/>
            </a:pPr>
            <a:endParaRPr lang="en-US" sz="2400" dirty="0">
              <a:latin typeface="Gill Sans MT" charset="0"/>
              <a:cs typeface="+mn-cs"/>
            </a:endParaRPr>
          </a:p>
        </p:txBody>
      </p:sp>
      <p:sp>
        <p:nvSpPr>
          <p:cNvPr id="4103" name="Text Box 467"/>
          <p:cNvSpPr txBox="1">
            <a:spLocks noChangeArrowheads="1"/>
          </p:cNvSpPr>
          <p:nvPr/>
        </p:nvSpPr>
        <p:spPr bwMode="auto">
          <a:xfrm>
            <a:off x="396875" y="5299075"/>
            <a:ext cx="4881563" cy="104457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85000"/>
              </a:lnSpc>
              <a:defRPr/>
            </a:pP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data-link layer</a:t>
            </a:r>
            <a:r>
              <a:rPr lang="en-US" sz="2400" i="0" dirty="0">
                <a:latin typeface="Gill Sans MT" charset="0"/>
                <a:cs typeface="+mn-cs"/>
              </a:rPr>
              <a:t> has responsibility of </a:t>
            </a:r>
          </a:p>
          <a:p>
            <a:pPr>
              <a:lnSpc>
                <a:spcPct val="85000"/>
              </a:lnSpc>
              <a:defRPr/>
            </a:pPr>
            <a:r>
              <a:rPr lang="en-US" sz="2400" i="0" dirty="0">
                <a:latin typeface="Gill Sans MT" charset="0"/>
                <a:cs typeface="+mn-cs"/>
              </a:rPr>
              <a:t>transferring datagram from one node </a:t>
            </a:r>
          </a:p>
          <a:p>
            <a:pPr>
              <a:lnSpc>
                <a:spcPct val="85000"/>
              </a:lnSpc>
              <a:defRPr/>
            </a:pPr>
            <a:r>
              <a:rPr lang="en-US" sz="2400" i="0" dirty="0">
                <a:latin typeface="Gill Sans MT" charset="0"/>
                <a:cs typeface="+mn-cs"/>
              </a:rPr>
              <a:t>to 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physically adjacent</a:t>
            </a:r>
            <a:r>
              <a:rPr lang="en-US" sz="2400" i="0" dirty="0">
                <a:latin typeface="Gill Sans MT" charset="0"/>
                <a:cs typeface="+mn-cs"/>
              </a:rPr>
              <a:t> node over a link</a:t>
            </a:r>
            <a:endParaRPr lang="en-US" i="0" dirty="0">
              <a:latin typeface="Gill Sans MT" charset="0"/>
              <a:cs typeface="+mn-cs"/>
            </a:endParaRPr>
          </a:p>
        </p:txBody>
      </p:sp>
      <p:sp>
        <p:nvSpPr>
          <p:cNvPr id="45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4</a:t>
            </a:fld>
            <a:endParaRPr lang="en-US" sz="1200" dirty="0">
              <a:latin typeface="Tahoma" charset="0"/>
            </a:endParaRPr>
          </a:p>
        </p:txBody>
      </p:sp>
      <p:sp>
        <p:nvSpPr>
          <p:cNvPr id="45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  <p:sp>
        <p:nvSpPr>
          <p:cNvPr id="537" name="Freeform 415"/>
          <p:cNvSpPr>
            <a:spLocks/>
          </p:cNvSpPr>
          <p:nvPr/>
        </p:nvSpPr>
        <p:spPr bwMode="auto">
          <a:xfrm>
            <a:off x="7004050" y="3527425"/>
            <a:ext cx="1314450" cy="674688"/>
          </a:xfrm>
          <a:custGeom>
            <a:avLst/>
            <a:gdLst>
              <a:gd name="T0" fmla="*/ 2147483647 w 828"/>
              <a:gd name="T1" fmla="*/ 2147483647 h 425"/>
              <a:gd name="T2" fmla="*/ 2147483647 w 828"/>
              <a:gd name="T3" fmla="*/ 2147483647 h 425"/>
              <a:gd name="T4" fmla="*/ 2147483647 w 828"/>
              <a:gd name="T5" fmla="*/ 2147483647 h 425"/>
              <a:gd name="T6" fmla="*/ 2147483647 w 828"/>
              <a:gd name="T7" fmla="*/ 2147483647 h 425"/>
              <a:gd name="T8" fmla="*/ 2147483647 w 828"/>
              <a:gd name="T9" fmla="*/ 2147483647 h 425"/>
              <a:gd name="T10" fmla="*/ 2147483647 w 828"/>
              <a:gd name="T11" fmla="*/ 2147483647 h 425"/>
              <a:gd name="T12" fmla="*/ 2147483647 w 828"/>
              <a:gd name="T13" fmla="*/ 2147483647 h 425"/>
              <a:gd name="T14" fmla="*/ 2147483647 w 828"/>
              <a:gd name="T15" fmla="*/ 2147483647 h 425"/>
              <a:gd name="T16" fmla="*/ 2147483647 w 828"/>
              <a:gd name="T17" fmla="*/ 2147483647 h 425"/>
              <a:gd name="T18" fmla="*/ 2147483647 w 828"/>
              <a:gd name="T19" fmla="*/ 2147483647 h 425"/>
              <a:gd name="T20" fmla="*/ 2147483647 w 828"/>
              <a:gd name="T21" fmla="*/ 2147483647 h 425"/>
              <a:gd name="T22" fmla="*/ 2147483647 w 828"/>
              <a:gd name="T23" fmla="*/ 2147483647 h 42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828"/>
              <a:gd name="T37" fmla="*/ 0 h 425"/>
              <a:gd name="T38" fmla="*/ 828 w 828"/>
              <a:gd name="T39" fmla="*/ 425 h 42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828" h="425">
                <a:moveTo>
                  <a:pt x="382" y="30"/>
                </a:moveTo>
                <a:cubicBezTo>
                  <a:pt x="350" y="29"/>
                  <a:pt x="413" y="30"/>
                  <a:pt x="370" y="30"/>
                </a:cubicBezTo>
                <a:cubicBezTo>
                  <a:pt x="327" y="30"/>
                  <a:pt x="187" y="16"/>
                  <a:pt x="126" y="32"/>
                </a:cubicBezTo>
                <a:cubicBezTo>
                  <a:pt x="65" y="48"/>
                  <a:pt x="12" y="86"/>
                  <a:pt x="6" y="126"/>
                </a:cubicBezTo>
                <a:cubicBezTo>
                  <a:pt x="0" y="166"/>
                  <a:pt x="44" y="231"/>
                  <a:pt x="92" y="274"/>
                </a:cubicBezTo>
                <a:cubicBezTo>
                  <a:pt x="140" y="317"/>
                  <a:pt x="217" y="360"/>
                  <a:pt x="292" y="384"/>
                </a:cubicBezTo>
                <a:cubicBezTo>
                  <a:pt x="367" y="408"/>
                  <a:pt x="472" y="425"/>
                  <a:pt x="540" y="416"/>
                </a:cubicBezTo>
                <a:cubicBezTo>
                  <a:pt x="608" y="407"/>
                  <a:pt x="659" y="371"/>
                  <a:pt x="698" y="330"/>
                </a:cubicBezTo>
                <a:cubicBezTo>
                  <a:pt x="737" y="289"/>
                  <a:pt x="760" y="221"/>
                  <a:pt x="776" y="170"/>
                </a:cubicBezTo>
                <a:cubicBezTo>
                  <a:pt x="792" y="119"/>
                  <a:pt x="828" y="44"/>
                  <a:pt x="792" y="22"/>
                </a:cubicBezTo>
                <a:cubicBezTo>
                  <a:pt x="756" y="0"/>
                  <a:pt x="630" y="37"/>
                  <a:pt x="560" y="38"/>
                </a:cubicBezTo>
                <a:cubicBezTo>
                  <a:pt x="490" y="39"/>
                  <a:pt x="414" y="31"/>
                  <a:pt x="382" y="30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38" name="Freeform 416"/>
          <p:cNvSpPr>
            <a:spLocks/>
          </p:cNvSpPr>
          <p:nvPr/>
        </p:nvSpPr>
        <p:spPr bwMode="auto">
          <a:xfrm>
            <a:off x="7023100" y="2017139"/>
            <a:ext cx="1730375" cy="1125538"/>
          </a:xfrm>
          <a:custGeom>
            <a:avLst/>
            <a:gdLst>
              <a:gd name="T0" fmla="*/ 2147483647 w 765"/>
              <a:gd name="T1" fmla="*/ 2147483647 h 459"/>
              <a:gd name="T2" fmla="*/ 2147483647 w 765"/>
              <a:gd name="T3" fmla="*/ 2147483647 h 459"/>
              <a:gd name="T4" fmla="*/ 2147483647 w 765"/>
              <a:gd name="T5" fmla="*/ 2147483647 h 459"/>
              <a:gd name="T6" fmla="*/ 2147483647 w 765"/>
              <a:gd name="T7" fmla="*/ 2147483647 h 459"/>
              <a:gd name="T8" fmla="*/ 2147483647 w 765"/>
              <a:gd name="T9" fmla="*/ 2147483647 h 459"/>
              <a:gd name="T10" fmla="*/ 2147483647 w 765"/>
              <a:gd name="T11" fmla="*/ 2147483647 h 459"/>
              <a:gd name="T12" fmla="*/ 2147483647 w 765"/>
              <a:gd name="T13" fmla="*/ 2147483647 h 459"/>
              <a:gd name="T14" fmla="*/ 2147483647 w 765"/>
              <a:gd name="T15" fmla="*/ 2147483647 h 459"/>
              <a:gd name="T16" fmla="*/ 2147483647 w 765"/>
              <a:gd name="T17" fmla="*/ 2147483647 h 459"/>
              <a:gd name="T18" fmla="*/ 2147483647 w 765"/>
              <a:gd name="T19" fmla="*/ 2147483647 h 459"/>
              <a:gd name="T20" fmla="*/ 2147483647 w 765"/>
              <a:gd name="T21" fmla="*/ 2147483647 h 459"/>
              <a:gd name="T22" fmla="*/ 2147483647 w 765"/>
              <a:gd name="T23" fmla="*/ 2147483647 h 45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765"/>
              <a:gd name="T37" fmla="*/ 0 h 459"/>
              <a:gd name="T38" fmla="*/ 765 w 765"/>
              <a:gd name="T39" fmla="*/ 459 h 459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765" h="459">
                <a:moveTo>
                  <a:pt x="424" y="10"/>
                </a:moveTo>
                <a:cubicBezTo>
                  <a:pt x="362" y="16"/>
                  <a:pt x="343" y="55"/>
                  <a:pt x="288" y="70"/>
                </a:cubicBezTo>
                <a:cubicBezTo>
                  <a:pt x="233" y="85"/>
                  <a:pt x="142" y="56"/>
                  <a:pt x="96" y="100"/>
                </a:cubicBezTo>
                <a:cubicBezTo>
                  <a:pt x="50" y="144"/>
                  <a:pt x="0" y="279"/>
                  <a:pt x="14" y="336"/>
                </a:cubicBezTo>
                <a:cubicBezTo>
                  <a:pt x="28" y="393"/>
                  <a:pt x="125" y="429"/>
                  <a:pt x="180" y="444"/>
                </a:cubicBezTo>
                <a:cubicBezTo>
                  <a:pt x="235" y="459"/>
                  <a:pt x="279" y="426"/>
                  <a:pt x="346" y="426"/>
                </a:cubicBezTo>
                <a:cubicBezTo>
                  <a:pt x="413" y="426"/>
                  <a:pt x="525" y="443"/>
                  <a:pt x="584" y="444"/>
                </a:cubicBezTo>
                <a:cubicBezTo>
                  <a:pt x="643" y="445"/>
                  <a:pt x="670" y="446"/>
                  <a:pt x="698" y="434"/>
                </a:cubicBezTo>
                <a:cubicBezTo>
                  <a:pt x="726" y="422"/>
                  <a:pt x="743" y="418"/>
                  <a:pt x="752" y="372"/>
                </a:cubicBezTo>
                <a:cubicBezTo>
                  <a:pt x="761" y="326"/>
                  <a:pt x="765" y="214"/>
                  <a:pt x="750" y="158"/>
                </a:cubicBezTo>
                <a:cubicBezTo>
                  <a:pt x="735" y="102"/>
                  <a:pt x="716" y="58"/>
                  <a:pt x="662" y="34"/>
                </a:cubicBezTo>
                <a:cubicBezTo>
                  <a:pt x="608" y="10"/>
                  <a:pt x="505" y="0"/>
                  <a:pt x="424" y="10"/>
                </a:cubicBez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39" name="Freeform 417"/>
          <p:cNvSpPr>
            <a:spLocks/>
          </p:cNvSpPr>
          <p:nvPr/>
        </p:nvSpPr>
        <p:spPr bwMode="auto">
          <a:xfrm>
            <a:off x="5202238" y="1709738"/>
            <a:ext cx="1736725" cy="1071563"/>
          </a:xfrm>
          <a:custGeom>
            <a:avLst/>
            <a:gdLst>
              <a:gd name="T0" fmla="*/ 2147483647 w 1036"/>
              <a:gd name="T1" fmla="*/ 2147483647 h 675"/>
              <a:gd name="T2" fmla="*/ 2147483647 w 1036"/>
              <a:gd name="T3" fmla="*/ 2147483647 h 675"/>
              <a:gd name="T4" fmla="*/ 2147483647 w 1036"/>
              <a:gd name="T5" fmla="*/ 2147483647 h 675"/>
              <a:gd name="T6" fmla="*/ 2147483647 w 1036"/>
              <a:gd name="T7" fmla="*/ 2147483647 h 675"/>
              <a:gd name="T8" fmla="*/ 2147483647 w 1036"/>
              <a:gd name="T9" fmla="*/ 2147483647 h 675"/>
              <a:gd name="T10" fmla="*/ 2147483647 w 1036"/>
              <a:gd name="T11" fmla="*/ 2147483647 h 675"/>
              <a:gd name="T12" fmla="*/ 2147483647 w 1036"/>
              <a:gd name="T13" fmla="*/ 2147483647 h 675"/>
              <a:gd name="T14" fmla="*/ 2147483647 w 1036"/>
              <a:gd name="T15" fmla="*/ 2147483647 h 675"/>
              <a:gd name="T16" fmla="*/ 2147483647 w 1036"/>
              <a:gd name="T17" fmla="*/ 2147483647 h 675"/>
              <a:gd name="T18" fmla="*/ 2147483647 w 1036"/>
              <a:gd name="T19" fmla="*/ 2147483647 h 675"/>
              <a:gd name="T20" fmla="*/ 2147483647 w 1036"/>
              <a:gd name="T21" fmla="*/ 2147483647 h 675"/>
              <a:gd name="T22" fmla="*/ 2147483647 w 1036"/>
              <a:gd name="T23" fmla="*/ 2147483647 h 675"/>
              <a:gd name="T24" fmla="*/ 2147483647 w 1036"/>
              <a:gd name="T25" fmla="*/ 2147483647 h 675"/>
              <a:gd name="T26" fmla="*/ 2147483647 w 1036"/>
              <a:gd name="T27" fmla="*/ 2147483647 h 675"/>
              <a:gd name="T28" fmla="*/ 2147483647 w 1036"/>
              <a:gd name="T29" fmla="*/ 2147483647 h 675"/>
              <a:gd name="T30" fmla="*/ 2147483647 w 1036"/>
              <a:gd name="T31" fmla="*/ 2147483647 h 675"/>
              <a:gd name="T32" fmla="*/ 2147483647 w 1036"/>
              <a:gd name="T33" fmla="*/ 2147483647 h 675"/>
              <a:gd name="T34" fmla="*/ 2147483647 w 1036"/>
              <a:gd name="T35" fmla="*/ 2147483647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540" name="Group 418"/>
          <p:cNvGrpSpPr>
            <a:grpSpLocks/>
          </p:cNvGrpSpPr>
          <p:nvPr/>
        </p:nvGrpSpPr>
        <p:grpSpPr bwMode="auto">
          <a:xfrm>
            <a:off x="5278438" y="2974975"/>
            <a:ext cx="1458912" cy="933450"/>
            <a:chOff x="2889" y="1631"/>
            <a:chExt cx="980" cy="743"/>
          </a:xfrm>
        </p:grpSpPr>
        <p:sp>
          <p:nvSpPr>
            <p:cNvPr id="889" name="Rectangle 419"/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90" name="AutoShape 420"/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dirty="0">
                <a:solidFill>
                  <a:srgbClr val="00CCFF"/>
                </a:solidFill>
              </a:endParaRPr>
            </a:p>
          </p:txBody>
        </p:sp>
      </p:grpSp>
      <p:sp>
        <p:nvSpPr>
          <p:cNvPr id="541" name="Line 421"/>
          <p:cNvSpPr>
            <a:spLocks noChangeShapeType="1"/>
          </p:cNvSpPr>
          <p:nvPr/>
        </p:nvSpPr>
        <p:spPr bwMode="auto">
          <a:xfrm>
            <a:off x="7396163" y="3813175"/>
            <a:ext cx="163512" cy="1206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42" name="Line 422"/>
          <p:cNvSpPr>
            <a:spLocks noChangeShapeType="1"/>
          </p:cNvSpPr>
          <p:nvPr/>
        </p:nvSpPr>
        <p:spPr bwMode="auto">
          <a:xfrm>
            <a:off x="7493000" y="3733800"/>
            <a:ext cx="27940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43" name="Line 423"/>
          <p:cNvSpPr>
            <a:spLocks noChangeShapeType="1"/>
          </p:cNvSpPr>
          <p:nvPr/>
        </p:nvSpPr>
        <p:spPr bwMode="auto">
          <a:xfrm flipV="1">
            <a:off x="7729538" y="3819525"/>
            <a:ext cx="134937" cy="10477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44" name="Line 424"/>
          <p:cNvSpPr>
            <a:spLocks noChangeShapeType="1"/>
          </p:cNvSpPr>
          <p:nvPr/>
        </p:nvSpPr>
        <p:spPr bwMode="auto">
          <a:xfrm>
            <a:off x="6427788" y="3740150"/>
            <a:ext cx="67945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45" name="Line 425"/>
          <p:cNvSpPr>
            <a:spLocks noChangeShapeType="1"/>
          </p:cNvSpPr>
          <p:nvPr/>
        </p:nvSpPr>
        <p:spPr bwMode="auto">
          <a:xfrm>
            <a:off x="6723063" y="2587625"/>
            <a:ext cx="509587" cy="317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46" name="Freeform 427"/>
          <p:cNvSpPr>
            <a:spLocks/>
          </p:cNvSpPr>
          <p:nvPr/>
        </p:nvSpPr>
        <p:spPr bwMode="auto">
          <a:xfrm>
            <a:off x="5497513" y="4378325"/>
            <a:ext cx="3079750" cy="1665288"/>
          </a:xfrm>
          <a:custGeom>
            <a:avLst/>
            <a:gdLst>
              <a:gd name="T0" fmla="*/ 2147483647 w 1940"/>
              <a:gd name="T1" fmla="*/ 2147483647 h 1049"/>
              <a:gd name="T2" fmla="*/ 2147483647 w 1940"/>
              <a:gd name="T3" fmla="*/ 2147483647 h 1049"/>
              <a:gd name="T4" fmla="*/ 2147483647 w 1940"/>
              <a:gd name="T5" fmla="*/ 2147483647 h 1049"/>
              <a:gd name="T6" fmla="*/ 2147483647 w 1940"/>
              <a:gd name="T7" fmla="*/ 2147483647 h 1049"/>
              <a:gd name="T8" fmla="*/ 2147483647 w 1940"/>
              <a:gd name="T9" fmla="*/ 2147483647 h 1049"/>
              <a:gd name="T10" fmla="*/ 2147483647 w 1940"/>
              <a:gd name="T11" fmla="*/ 2147483647 h 1049"/>
              <a:gd name="T12" fmla="*/ 2147483647 w 1940"/>
              <a:gd name="T13" fmla="*/ 2147483647 h 1049"/>
              <a:gd name="T14" fmla="*/ 2147483647 w 1940"/>
              <a:gd name="T15" fmla="*/ 2147483647 h 1049"/>
              <a:gd name="T16" fmla="*/ 2147483647 w 1940"/>
              <a:gd name="T17" fmla="*/ 2147483647 h 1049"/>
              <a:gd name="T18" fmla="*/ 2147483647 w 1940"/>
              <a:gd name="T19" fmla="*/ 2147483647 h 1049"/>
              <a:gd name="T20" fmla="*/ 2147483647 w 1940"/>
              <a:gd name="T21" fmla="*/ 2147483647 h 1049"/>
              <a:gd name="T22" fmla="*/ 2147483647 w 1940"/>
              <a:gd name="T23" fmla="*/ 2147483647 h 1049"/>
              <a:gd name="T24" fmla="*/ 2147483647 w 1940"/>
              <a:gd name="T25" fmla="*/ 2147483647 h 1049"/>
              <a:gd name="T26" fmla="*/ 2147483647 w 1940"/>
              <a:gd name="T27" fmla="*/ 2147483647 h 1049"/>
              <a:gd name="T28" fmla="*/ 2147483647 w 1940"/>
              <a:gd name="T29" fmla="*/ 2147483647 h 1049"/>
              <a:gd name="T30" fmla="*/ 2147483647 w 1940"/>
              <a:gd name="T31" fmla="*/ 2147483647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47" name="Line 428"/>
          <p:cNvSpPr>
            <a:spLocks noChangeShapeType="1"/>
          </p:cNvSpPr>
          <p:nvPr/>
        </p:nvSpPr>
        <p:spPr bwMode="auto">
          <a:xfrm rot="16200000">
            <a:off x="7845425" y="5159376"/>
            <a:ext cx="523875" cy="13970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48" name="Line 429"/>
          <p:cNvSpPr>
            <a:spLocks noChangeShapeType="1"/>
          </p:cNvSpPr>
          <p:nvPr/>
        </p:nvSpPr>
        <p:spPr bwMode="auto">
          <a:xfrm rot="5400000" flipV="1">
            <a:off x="7991475" y="5440363"/>
            <a:ext cx="3175" cy="857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49" name="Line 430"/>
          <p:cNvSpPr>
            <a:spLocks noChangeShapeType="1"/>
          </p:cNvSpPr>
          <p:nvPr/>
        </p:nvSpPr>
        <p:spPr bwMode="auto">
          <a:xfrm rot="16200000" flipH="1">
            <a:off x="8207749" y="5085976"/>
            <a:ext cx="8249" cy="183622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50" name="Line 431"/>
          <p:cNvSpPr>
            <a:spLocks noChangeShapeType="1"/>
          </p:cNvSpPr>
          <p:nvPr/>
        </p:nvSpPr>
        <p:spPr bwMode="auto">
          <a:xfrm>
            <a:off x="7358063" y="4697413"/>
            <a:ext cx="390525" cy="1841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51" name="Line 432"/>
          <p:cNvSpPr>
            <a:spLocks noChangeShapeType="1"/>
          </p:cNvSpPr>
          <p:nvPr/>
        </p:nvSpPr>
        <p:spPr bwMode="auto">
          <a:xfrm flipV="1">
            <a:off x="6737350" y="4684713"/>
            <a:ext cx="322263" cy="198437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52" name="Line 433"/>
          <p:cNvSpPr>
            <a:spLocks noChangeShapeType="1"/>
          </p:cNvSpPr>
          <p:nvPr/>
        </p:nvSpPr>
        <p:spPr bwMode="auto">
          <a:xfrm flipV="1">
            <a:off x="6780213" y="4976813"/>
            <a:ext cx="97155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53" name="Line 435"/>
          <p:cNvSpPr>
            <a:spLocks noChangeShapeType="1"/>
          </p:cNvSpPr>
          <p:nvPr/>
        </p:nvSpPr>
        <p:spPr bwMode="auto">
          <a:xfrm>
            <a:off x="6100763" y="4773613"/>
            <a:ext cx="263525" cy="8572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54" name="Line 436"/>
          <p:cNvSpPr>
            <a:spLocks noChangeShapeType="1"/>
          </p:cNvSpPr>
          <p:nvPr/>
        </p:nvSpPr>
        <p:spPr bwMode="auto">
          <a:xfrm flipV="1">
            <a:off x="5841999" y="4952398"/>
            <a:ext cx="548981" cy="15776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55" name="Line 439"/>
          <p:cNvSpPr>
            <a:spLocks noChangeShapeType="1"/>
          </p:cNvSpPr>
          <p:nvPr/>
        </p:nvSpPr>
        <p:spPr bwMode="auto">
          <a:xfrm flipH="1">
            <a:off x="6278768" y="5070474"/>
            <a:ext cx="131556" cy="24404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56" name="Line 440"/>
          <p:cNvSpPr>
            <a:spLocks noChangeShapeType="1"/>
          </p:cNvSpPr>
          <p:nvPr/>
        </p:nvSpPr>
        <p:spPr bwMode="auto">
          <a:xfrm flipH="1" flipV="1">
            <a:off x="6595002" y="5008500"/>
            <a:ext cx="67735" cy="261999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57" name="Line 441"/>
          <p:cNvSpPr>
            <a:spLocks noChangeShapeType="1"/>
          </p:cNvSpPr>
          <p:nvPr/>
        </p:nvSpPr>
        <p:spPr bwMode="auto">
          <a:xfrm>
            <a:off x="6691914" y="5003401"/>
            <a:ext cx="555024" cy="319487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58" name="Line 443"/>
          <p:cNvSpPr>
            <a:spLocks noChangeShapeType="1"/>
          </p:cNvSpPr>
          <p:nvPr/>
        </p:nvSpPr>
        <p:spPr bwMode="auto">
          <a:xfrm>
            <a:off x="6281738" y="3522663"/>
            <a:ext cx="0" cy="131762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59" name="Line 444"/>
          <p:cNvSpPr>
            <a:spLocks noChangeShapeType="1"/>
          </p:cNvSpPr>
          <p:nvPr/>
        </p:nvSpPr>
        <p:spPr bwMode="auto">
          <a:xfrm flipV="1">
            <a:off x="7577138" y="2492375"/>
            <a:ext cx="123825" cy="87313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60" name="Line 445"/>
          <p:cNvSpPr>
            <a:spLocks noChangeShapeType="1"/>
          </p:cNvSpPr>
          <p:nvPr/>
        </p:nvSpPr>
        <p:spPr bwMode="auto">
          <a:xfrm>
            <a:off x="7405688" y="2675613"/>
            <a:ext cx="0" cy="825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61" name="Line 446"/>
          <p:cNvSpPr>
            <a:spLocks noChangeShapeType="1"/>
          </p:cNvSpPr>
          <p:nvPr/>
        </p:nvSpPr>
        <p:spPr bwMode="auto">
          <a:xfrm flipV="1">
            <a:off x="7577138" y="2562225"/>
            <a:ext cx="263525" cy="28892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62" name="Line 447"/>
          <p:cNvSpPr>
            <a:spLocks noChangeShapeType="1"/>
          </p:cNvSpPr>
          <p:nvPr/>
        </p:nvSpPr>
        <p:spPr bwMode="auto">
          <a:xfrm>
            <a:off x="7942263" y="2560638"/>
            <a:ext cx="0" cy="1968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63" name="Line 448"/>
          <p:cNvSpPr>
            <a:spLocks noChangeShapeType="1"/>
          </p:cNvSpPr>
          <p:nvPr/>
        </p:nvSpPr>
        <p:spPr bwMode="auto">
          <a:xfrm>
            <a:off x="7596188" y="2867025"/>
            <a:ext cx="188912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64" name="Line 449"/>
          <p:cNvSpPr>
            <a:spLocks noChangeShapeType="1"/>
          </p:cNvSpPr>
          <p:nvPr/>
        </p:nvSpPr>
        <p:spPr bwMode="auto">
          <a:xfrm flipV="1">
            <a:off x="5891213" y="3733800"/>
            <a:ext cx="168275" cy="317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65" name="Line 450"/>
          <p:cNvSpPr>
            <a:spLocks noChangeShapeType="1"/>
          </p:cNvSpPr>
          <p:nvPr/>
        </p:nvSpPr>
        <p:spPr bwMode="auto">
          <a:xfrm>
            <a:off x="8150225" y="2857500"/>
            <a:ext cx="17780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66" name="Line 451"/>
          <p:cNvSpPr>
            <a:spLocks noChangeShapeType="1"/>
          </p:cNvSpPr>
          <p:nvPr/>
        </p:nvSpPr>
        <p:spPr bwMode="auto">
          <a:xfrm flipH="1">
            <a:off x="7296150" y="2933700"/>
            <a:ext cx="98425" cy="7048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67" name="Line 452"/>
          <p:cNvSpPr>
            <a:spLocks noChangeShapeType="1"/>
          </p:cNvSpPr>
          <p:nvPr/>
        </p:nvSpPr>
        <p:spPr bwMode="auto">
          <a:xfrm flipH="1">
            <a:off x="7888288" y="2933700"/>
            <a:ext cx="111125" cy="72707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68" name="Line 541"/>
          <p:cNvSpPr>
            <a:spLocks noChangeShapeType="1"/>
          </p:cNvSpPr>
          <p:nvPr/>
        </p:nvSpPr>
        <p:spPr bwMode="auto">
          <a:xfrm flipV="1">
            <a:off x="7272338" y="4075113"/>
            <a:ext cx="227012" cy="436562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569" name="Group 590"/>
          <p:cNvGrpSpPr>
            <a:grpSpLocks/>
          </p:cNvGrpSpPr>
          <p:nvPr/>
        </p:nvGrpSpPr>
        <p:grpSpPr bwMode="auto">
          <a:xfrm flipH="1">
            <a:off x="5775325" y="4533900"/>
            <a:ext cx="414337" cy="373063"/>
            <a:chOff x="2839" y="3501"/>
            <a:chExt cx="755" cy="803"/>
          </a:xfrm>
        </p:grpSpPr>
        <p:pic>
          <p:nvPicPr>
            <p:cNvPr id="887" name="Picture 591" descr="desktop_computer_stylized_medium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8" name="Freeform 592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570" name="Group 593"/>
          <p:cNvGrpSpPr>
            <a:grpSpLocks/>
          </p:cNvGrpSpPr>
          <p:nvPr/>
        </p:nvGrpSpPr>
        <p:grpSpPr bwMode="auto">
          <a:xfrm flipH="1">
            <a:off x="5457825" y="4954588"/>
            <a:ext cx="482600" cy="406400"/>
            <a:chOff x="2839" y="3501"/>
            <a:chExt cx="755" cy="803"/>
          </a:xfrm>
        </p:grpSpPr>
        <p:pic>
          <p:nvPicPr>
            <p:cNvPr id="885" name="Picture 594" descr="desktop_computer_stylized_medium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6" name="Freeform 595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571" name="Group 596"/>
          <p:cNvGrpSpPr>
            <a:grpSpLocks/>
          </p:cNvGrpSpPr>
          <p:nvPr/>
        </p:nvGrpSpPr>
        <p:grpSpPr bwMode="auto">
          <a:xfrm flipH="1">
            <a:off x="5935663" y="5256213"/>
            <a:ext cx="427037" cy="349250"/>
            <a:chOff x="2839" y="3501"/>
            <a:chExt cx="755" cy="803"/>
          </a:xfrm>
        </p:grpSpPr>
        <p:pic>
          <p:nvPicPr>
            <p:cNvPr id="883" name="Picture 597" descr="desktop_computer_stylized_medium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4" name="Freeform 598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572" name="Group 599"/>
          <p:cNvGrpSpPr>
            <a:grpSpLocks/>
          </p:cNvGrpSpPr>
          <p:nvPr/>
        </p:nvGrpSpPr>
        <p:grpSpPr bwMode="auto">
          <a:xfrm>
            <a:off x="6550025" y="5238750"/>
            <a:ext cx="427037" cy="350838"/>
            <a:chOff x="2839" y="3501"/>
            <a:chExt cx="755" cy="803"/>
          </a:xfrm>
        </p:grpSpPr>
        <p:pic>
          <p:nvPicPr>
            <p:cNvPr id="881" name="Picture 600" descr="desktop_computer_stylized_medium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2" name="Freeform 601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573" name="Picture 603" descr="car_icon_small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715" y="1803458"/>
            <a:ext cx="849312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74" name="Group 652"/>
          <p:cNvGrpSpPr>
            <a:grpSpLocks/>
          </p:cNvGrpSpPr>
          <p:nvPr/>
        </p:nvGrpSpPr>
        <p:grpSpPr bwMode="auto">
          <a:xfrm>
            <a:off x="5613400" y="1546225"/>
            <a:ext cx="415925" cy="385763"/>
            <a:chOff x="2751" y="1851"/>
            <a:chExt cx="462" cy="478"/>
          </a:xfrm>
        </p:grpSpPr>
        <p:pic>
          <p:nvPicPr>
            <p:cNvPr id="879" name="Picture 653" descr="iphone_stylized_small"/>
            <p:cNvPicPr>
              <a:picLocks noChangeAspect="1" noChangeArrowheads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80" name="Picture 654" descr="antenna_radiation_stylized"/>
            <p:cNvPicPr>
              <a:picLocks noChangeAspect="1" noChangeArrowheads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79" name="Line 693"/>
          <p:cNvSpPr>
            <a:spLocks noChangeShapeType="1"/>
          </p:cNvSpPr>
          <p:nvPr/>
        </p:nvSpPr>
        <p:spPr bwMode="auto">
          <a:xfrm>
            <a:off x="8345488" y="2855912"/>
            <a:ext cx="305034" cy="259"/>
          </a:xfrm>
          <a:prstGeom prst="line">
            <a:avLst/>
          </a:prstGeom>
          <a:noFill/>
          <a:ln w="25400">
            <a:solidFill>
              <a:srgbClr val="CC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588" name="Group 776"/>
          <p:cNvGrpSpPr>
            <a:grpSpLocks/>
          </p:cNvGrpSpPr>
          <p:nvPr/>
        </p:nvGrpSpPr>
        <p:grpSpPr bwMode="auto">
          <a:xfrm>
            <a:off x="5611813" y="3500438"/>
            <a:ext cx="506412" cy="352425"/>
            <a:chOff x="2967" y="478"/>
            <a:chExt cx="788" cy="625"/>
          </a:xfrm>
        </p:grpSpPr>
        <p:pic>
          <p:nvPicPr>
            <p:cNvPr id="781" name="Picture 777" descr="access_point_stylized_small"/>
            <p:cNvPicPr>
              <a:picLocks noChangeAspect="1" noChangeArrowheads="1"/>
            </p:cNvPicPr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2" name="Picture 778" descr="antenna_radiation_stylized"/>
            <p:cNvPicPr>
              <a:picLocks noChangeAspect="1" noChangeArrowheads="1"/>
            </p:cNvPicPr>
            <p:nvPr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89" name="Group 779"/>
          <p:cNvGrpSpPr>
            <a:grpSpLocks/>
          </p:cNvGrpSpPr>
          <p:nvPr/>
        </p:nvGrpSpPr>
        <p:grpSpPr bwMode="auto">
          <a:xfrm>
            <a:off x="7132638" y="5003800"/>
            <a:ext cx="563562" cy="420688"/>
            <a:chOff x="2967" y="478"/>
            <a:chExt cx="788" cy="625"/>
          </a:xfrm>
        </p:grpSpPr>
        <p:pic>
          <p:nvPicPr>
            <p:cNvPr id="779" name="Picture 780" descr="access_point_stylized_small"/>
            <p:cNvPicPr>
              <a:picLocks noChangeAspect="1" noChangeArrowheads="1"/>
            </p:cNvPicPr>
            <p:nvPr/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0" name="Picture 781" descr="antenna_radiation_stylized"/>
            <p:cNvPicPr>
              <a:picLocks noChangeAspect="1" noChangeArrowheads="1"/>
            </p:cNvPicPr>
            <p:nvPr/>
          </p:nvPicPr>
          <p:blipFill>
            <a:blip r:embed="rId1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90" name="Group 523"/>
          <p:cNvGrpSpPr>
            <a:grpSpLocks/>
          </p:cNvGrpSpPr>
          <p:nvPr/>
        </p:nvGrpSpPr>
        <p:grpSpPr bwMode="auto">
          <a:xfrm>
            <a:off x="5890114" y="1844675"/>
            <a:ext cx="457200" cy="733152"/>
            <a:chOff x="6061075" y="1844675"/>
            <a:chExt cx="457200" cy="733152"/>
          </a:xfrm>
        </p:grpSpPr>
        <p:sp>
          <p:nvSpPr>
            <p:cNvPr id="759" name="Line 426"/>
            <p:cNvSpPr>
              <a:spLocks noChangeShapeType="1"/>
            </p:cNvSpPr>
            <p:nvPr/>
          </p:nvSpPr>
          <p:spPr bwMode="auto">
            <a:xfrm>
              <a:off x="6289675" y="2403475"/>
              <a:ext cx="227964" cy="174352"/>
            </a:xfrm>
            <a:prstGeom prst="line">
              <a:avLst/>
            </a:prstGeom>
            <a:noFill/>
            <a:ln w="254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760" name="Group 782"/>
            <p:cNvGrpSpPr>
              <a:grpSpLocks/>
            </p:cNvGrpSpPr>
            <p:nvPr/>
          </p:nvGrpSpPr>
          <p:grpSpPr bwMode="auto">
            <a:xfrm>
              <a:off x="6061075" y="1844675"/>
              <a:ext cx="457200" cy="631825"/>
              <a:chOff x="742" y="2409"/>
              <a:chExt cx="576" cy="881"/>
            </a:xfrm>
          </p:grpSpPr>
          <p:grpSp>
            <p:nvGrpSpPr>
              <p:cNvPr id="761" name="Group 783"/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764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65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66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67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68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69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0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1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2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3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4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5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6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7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8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pic>
            <p:nvPicPr>
              <p:cNvPr id="762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15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63" name="Oval 800"/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  <p:grpSp>
        <p:nvGrpSpPr>
          <p:cNvPr id="591" name="Group 950"/>
          <p:cNvGrpSpPr>
            <a:grpSpLocks/>
          </p:cNvGrpSpPr>
          <p:nvPr/>
        </p:nvGrpSpPr>
        <p:grpSpPr bwMode="auto">
          <a:xfrm>
            <a:off x="8240713" y="5002213"/>
            <a:ext cx="227012" cy="481013"/>
            <a:chOff x="4140" y="429"/>
            <a:chExt cx="1425" cy="2396"/>
          </a:xfrm>
        </p:grpSpPr>
        <p:sp>
          <p:nvSpPr>
            <p:cNvPr id="727" name="Freeform 951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4 w 354"/>
                <a:gd name="T1" fmla="*/ 0 h 2742"/>
                <a:gd name="T2" fmla="*/ 19 w 354"/>
                <a:gd name="T3" fmla="*/ 32 h 2742"/>
                <a:gd name="T4" fmla="*/ 19 w 354"/>
                <a:gd name="T5" fmla="*/ 246 h 2742"/>
                <a:gd name="T6" fmla="*/ 0 w 354"/>
                <a:gd name="T7" fmla="*/ 258 h 2742"/>
                <a:gd name="T8" fmla="*/ 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" name="Rectangle 952"/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29" name="Freeform 953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1 w 211"/>
                <a:gd name="T3" fmla="*/ 21 h 2537"/>
                <a:gd name="T4" fmla="*/ 2 w 211"/>
                <a:gd name="T5" fmla="*/ 23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0" name="Freeform 954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3 h 226"/>
                <a:gd name="T4" fmla="*/ 18 w 328"/>
                <a:gd name="T5" fmla="*/ 23 h 226"/>
                <a:gd name="T6" fmla="*/ 0 w 328"/>
                <a:gd name="T7" fmla="*/ 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1" name="Rectangle 955"/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732" name="Group 956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57" name="AutoShape 957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58" name="AutoShape 958"/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733" name="Rectangle 959"/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734" name="Group 960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55" name="AutoShape 961"/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56" name="AutoShape 962"/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735" name="Rectangle 963"/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36" name="Rectangle 964"/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737" name="Group 965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53" name="AutoShape 966"/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54" name="AutoShape 967"/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738" name="Freeform 968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2 h 226"/>
                <a:gd name="T4" fmla="*/ 18 w 328"/>
                <a:gd name="T5" fmla="*/ 21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739" name="Group 969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51" name="AutoShape 970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52" name="AutoShape 971"/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740" name="Rectangle 972"/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41" name="Freeform 973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7 w 296"/>
                <a:gd name="T3" fmla="*/ 12 h 256"/>
                <a:gd name="T4" fmla="*/ 17 w 296"/>
                <a:gd name="T5" fmla="*/ 23 h 256"/>
                <a:gd name="T6" fmla="*/ 0 w 296"/>
                <a:gd name="T7" fmla="*/ 8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2" name="Freeform 974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8 w 304"/>
                <a:gd name="T3" fmla="*/ 16 h 288"/>
                <a:gd name="T4" fmla="*/ 16 w 304"/>
                <a:gd name="T5" fmla="*/ 28 h 288"/>
                <a:gd name="T6" fmla="*/ 2 w 304"/>
                <a:gd name="T7" fmla="*/ 1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3" name="Oval 975"/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44" name="Freeform 976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1 h 240"/>
                <a:gd name="T2" fmla="*/ 2 w 306"/>
                <a:gd name="T3" fmla="*/ 23 h 240"/>
                <a:gd name="T4" fmla="*/ 18 w 306"/>
                <a:gd name="T5" fmla="*/ 11 h 240"/>
                <a:gd name="T6" fmla="*/ 17 w 306"/>
                <a:gd name="T7" fmla="*/ 0 h 240"/>
                <a:gd name="T8" fmla="*/ 0 w 306"/>
                <a:gd name="T9" fmla="*/ 1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5" name="AutoShape 977"/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46" name="AutoShape 978"/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47" name="Oval 979"/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48" name="Oval 980"/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1800" dirty="0">
                <a:solidFill>
                  <a:srgbClr val="FF0000"/>
                </a:solidFill>
              </a:endParaRPr>
            </a:p>
          </p:txBody>
        </p:sp>
        <p:sp>
          <p:nvSpPr>
            <p:cNvPr id="749" name="Oval 981"/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50" name="Rectangle 982"/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592" name="Group 983"/>
          <p:cNvGrpSpPr>
            <a:grpSpLocks/>
          </p:cNvGrpSpPr>
          <p:nvPr/>
        </p:nvGrpSpPr>
        <p:grpSpPr bwMode="auto">
          <a:xfrm>
            <a:off x="7924800" y="5303838"/>
            <a:ext cx="227012" cy="481013"/>
            <a:chOff x="4140" y="429"/>
            <a:chExt cx="1425" cy="2396"/>
          </a:xfrm>
        </p:grpSpPr>
        <p:sp>
          <p:nvSpPr>
            <p:cNvPr id="695" name="Freeform 984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4 w 354"/>
                <a:gd name="T1" fmla="*/ 0 h 2742"/>
                <a:gd name="T2" fmla="*/ 19 w 354"/>
                <a:gd name="T3" fmla="*/ 32 h 2742"/>
                <a:gd name="T4" fmla="*/ 19 w 354"/>
                <a:gd name="T5" fmla="*/ 246 h 2742"/>
                <a:gd name="T6" fmla="*/ 0 w 354"/>
                <a:gd name="T7" fmla="*/ 258 h 2742"/>
                <a:gd name="T8" fmla="*/ 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6" name="Rectangle 985"/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97" name="Freeform 986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1 w 211"/>
                <a:gd name="T3" fmla="*/ 21 h 2537"/>
                <a:gd name="T4" fmla="*/ 2 w 211"/>
                <a:gd name="T5" fmla="*/ 23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8" name="Freeform 987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3 h 226"/>
                <a:gd name="T4" fmla="*/ 18 w 328"/>
                <a:gd name="T5" fmla="*/ 23 h 226"/>
                <a:gd name="T6" fmla="*/ 0 w 328"/>
                <a:gd name="T7" fmla="*/ 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9" name="Rectangle 988"/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700" name="Group 989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25" name="AutoShape 990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26" name="AutoShape 991"/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701" name="Rectangle 992"/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702" name="Group 993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23" name="AutoShape 994"/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24" name="AutoShape 995"/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703" name="Rectangle 996"/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04" name="Rectangle 997"/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705" name="Group 998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21" name="AutoShape 999"/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22" name="AutoShape 1000"/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706" name="Freeform 1001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2 h 226"/>
                <a:gd name="T4" fmla="*/ 18 w 328"/>
                <a:gd name="T5" fmla="*/ 21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707" name="Group 1002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19" name="AutoShape 1003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20" name="AutoShape 1004"/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708" name="Rectangle 1005"/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09" name="Freeform 1006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7 w 296"/>
                <a:gd name="T3" fmla="*/ 12 h 256"/>
                <a:gd name="T4" fmla="*/ 17 w 296"/>
                <a:gd name="T5" fmla="*/ 23 h 256"/>
                <a:gd name="T6" fmla="*/ 0 w 296"/>
                <a:gd name="T7" fmla="*/ 8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0" name="Freeform 1007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8 w 304"/>
                <a:gd name="T3" fmla="*/ 16 h 288"/>
                <a:gd name="T4" fmla="*/ 16 w 304"/>
                <a:gd name="T5" fmla="*/ 28 h 288"/>
                <a:gd name="T6" fmla="*/ 2 w 304"/>
                <a:gd name="T7" fmla="*/ 1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1" name="Oval 1008"/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12" name="Freeform 1009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1 h 240"/>
                <a:gd name="T2" fmla="*/ 2 w 306"/>
                <a:gd name="T3" fmla="*/ 23 h 240"/>
                <a:gd name="T4" fmla="*/ 18 w 306"/>
                <a:gd name="T5" fmla="*/ 11 h 240"/>
                <a:gd name="T6" fmla="*/ 17 w 306"/>
                <a:gd name="T7" fmla="*/ 0 h 240"/>
                <a:gd name="T8" fmla="*/ 0 w 306"/>
                <a:gd name="T9" fmla="*/ 1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3" name="AutoShape 1010"/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14" name="AutoShape 1011"/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15" name="Oval 1012"/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16" name="Oval 1013"/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1800" dirty="0">
                <a:solidFill>
                  <a:srgbClr val="FF0000"/>
                </a:solidFill>
              </a:endParaRPr>
            </a:p>
          </p:txBody>
        </p:sp>
        <p:sp>
          <p:nvSpPr>
            <p:cNvPr id="717" name="Oval 1014"/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18" name="Rectangle 1015"/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pic>
        <p:nvPicPr>
          <p:cNvPr id="593" name="Picture 1017" descr="antenna_stylized"/>
          <p:cNvPicPr>
            <a:picLocks noChangeAspect="1" noChangeArrowheads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0" y="2043113"/>
            <a:ext cx="530702" cy="224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4" name="Picture 1018" descr="laptop_keyboard"/>
          <p:cNvPicPr>
            <a:picLocks noChangeAspect="1" noChangeArrowheads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5327957" y="2291590"/>
            <a:ext cx="437221" cy="159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5" name="Freeform 1019"/>
          <p:cNvSpPr>
            <a:spLocks/>
          </p:cNvSpPr>
          <p:nvPr/>
        </p:nvSpPr>
        <p:spPr bwMode="auto">
          <a:xfrm>
            <a:off x="5472854" y="2136804"/>
            <a:ext cx="351919" cy="208167"/>
          </a:xfrm>
          <a:custGeom>
            <a:avLst/>
            <a:gdLst>
              <a:gd name="T0" fmla="*/ 6573757 w 2982"/>
              <a:gd name="T1" fmla="*/ 0 h 2442"/>
              <a:gd name="T2" fmla="*/ 0 w 2982"/>
              <a:gd name="T3" fmla="*/ 2477886 h 2442"/>
              <a:gd name="T4" fmla="*/ 26294911 w 2982"/>
              <a:gd name="T5" fmla="*/ 3095568 h 2442"/>
              <a:gd name="T6" fmla="*/ 32868668 w 2982"/>
              <a:gd name="T7" fmla="*/ 617681 h 2442"/>
              <a:gd name="T8" fmla="*/ 6573757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pic>
        <p:nvPicPr>
          <p:cNvPr id="596" name="Picture 1020" descr="screen"/>
          <p:cNvPicPr>
            <a:picLocks noChangeAspect="1" noChangeArrowheads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0187" y="2142158"/>
            <a:ext cx="319785" cy="189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7" name="Freeform 1021"/>
          <p:cNvSpPr>
            <a:spLocks/>
          </p:cNvSpPr>
          <p:nvPr/>
        </p:nvSpPr>
        <p:spPr bwMode="auto">
          <a:xfrm>
            <a:off x="5536928" y="2130663"/>
            <a:ext cx="298167" cy="38736"/>
          </a:xfrm>
          <a:custGeom>
            <a:avLst/>
            <a:gdLst>
              <a:gd name="T0" fmla="*/ 1641570 w 2528"/>
              <a:gd name="T1" fmla="*/ 0 h 455"/>
              <a:gd name="T2" fmla="*/ 27891942 w 2528"/>
              <a:gd name="T3" fmla="*/ 616030 h 455"/>
              <a:gd name="T4" fmla="*/ 26250491 w 2528"/>
              <a:gd name="T5" fmla="*/ 616030 h 455"/>
              <a:gd name="T6" fmla="*/ 0 w 2528"/>
              <a:gd name="T7" fmla="*/ 616030 h 455"/>
              <a:gd name="T8" fmla="*/ 1641570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98" name="Freeform 1022"/>
          <p:cNvSpPr>
            <a:spLocks/>
          </p:cNvSpPr>
          <p:nvPr/>
        </p:nvSpPr>
        <p:spPr bwMode="auto">
          <a:xfrm>
            <a:off x="5469738" y="2130348"/>
            <a:ext cx="82770" cy="161243"/>
          </a:xfrm>
          <a:custGeom>
            <a:avLst/>
            <a:gdLst>
              <a:gd name="T0" fmla="*/ 6561704 w 702"/>
              <a:gd name="T1" fmla="*/ 0 h 1893"/>
              <a:gd name="T2" fmla="*/ 0 w 702"/>
              <a:gd name="T3" fmla="*/ 2474096 h 1893"/>
              <a:gd name="T4" fmla="*/ 1640426 w 702"/>
              <a:gd name="T5" fmla="*/ 2474096 h 1893"/>
              <a:gd name="T6" fmla="*/ 8202130 w 702"/>
              <a:gd name="T7" fmla="*/ 616693 h 1893"/>
              <a:gd name="T8" fmla="*/ 6561704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99" name="Freeform 1023"/>
          <p:cNvSpPr>
            <a:spLocks/>
          </p:cNvSpPr>
          <p:nvPr/>
        </p:nvSpPr>
        <p:spPr bwMode="auto">
          <a:xfrm>
            <a:off x="5743755" y="2159164"/>
            <a:ext cx="89197" cy="186122"/>
          </a:xfrm>
          <a:custGeom>
            <a:avLst/>
            <a:gdLst>
              <a:gd name="T0" fmla="*/ 8213085 w 756"/>
              <a:gd name="T1" fmla="*/ 0 h 2184"/>
              <a:gd name="T2" fmla="*/ 1642593 w 756"/>
              <a:gd name="T3" fmla="*/ 3093852 h 2184"/>
              <a:gd name="T4" fmla="*/ 0 w 756"/>
              <a:gd name="T5" fmla="*/ 3093852 h 2184"/>
              <a:gd name="T6" fmla="*/ 6570492 w 756"/>
              <a:gd name="T7" fmla="*/ 617339 h 2184"/>
              <a:gd name="T8" fmla="*/ 8213085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00" name="Freeform 1024"/>
          <p:cNvSpPr>
            <a:spLocks/>
          </p:cNvSpPr>
          <p:nvPr/>
        </p:nvSpPr>
        <p:spPr bwMode="auto">
          <a:xfrm>
            <a:off x="5468764" y="2283402"/>
            <a:ext cx="327185" cy="62828"/>
          </a:xfrm>
          <a:custGeom>
            <a:avLst/>
            <a:gdLst>
              <a:gd name="T0" fmla="*/ 1642768 w 2773"/>
              <a:gd name="T1" fmla="*/ 0 h 738"/>
              <a:gd name="T2" fmla="*/ 0 w 2773"/>
              <a:gd name="T3" fmla="*/ 616021 h 738"/>
              <a:gd name="T4" fmla="*/ 26283822 w 2773"/>
              <a:gd name="T5" fmla="*/ 1232127 h 738"/>
              <a:gd name="T6" fmla="*/ 26283822 w 2773"/>
              <a:gd name="T7" fmla="*/ 616021 h 738"/>
              <a:gd name="T8" fmla="*/ 1642768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01" name="Freeform 1025"/>
          <p:cNvSpPr>
            <a:spLocks/>
          </p:cNvSpPr>
          <p:nvPr/>
        </p:nvSpPr>
        <p:spPr bwMode="auto">
          <a:xfrm>
            <a:off x="5753688" y="2160738"/>
            <a:ext cx="83549" cy="186909"/>
          </a:xfrm>
          <a:custGeom>
            <a:avLst/>
            <a:gdLst>
              <a:gd name="T0" fmla="*/ 27077483 w 637"/>
              <a:gd name="T1" fmla="*/ 0 h 1659"/>
              <a:gd name="T2" fmla="*/ 27077483 w 637"/>
              <a:gd name="T3" fmla="*/ 0 h 1659"/>
              <a:gd name="T4" fmla="*/ 2253593 w 637"/>
              <a:gd name="T5" fmla="*/ 84370993 h 1659"/>
              <a:gd name="T6" fmla="*/ 0 w 637"/>
              <a:gd name="T7" fmla="*/ 81515082 h 1659"/>
              <a:gd name="T8" fmla="*/ 27077483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02" name="Freeform 1026"/>
          <p:cNvSpPr>
            <a:spLocks/>
          </p:cNvSpPr>
          <p:nvPr/>
        </p:nvSpPr>
        <p:spPr bwMode="auto">
          <a:xfrm>
            <a:off x="5469153" y="2291748"/>
            <a:ext cx="290961" cy="62041"/>
          </a:xfrm>
          <a:custGeom>
            <a:avLst/>
            <a:gdLst>
              <a:gd name="T0" fmla="*/ 0 w 2216"/>
              <a:gd name="T1" fmla="*/ 0 h 550"/>
              <a:gd name="T2" fmla="*/ 2258362 w 2216"/>
              <a:gd name="T3" fmla="*/ 2875657 h 550"/>
              <a:gd name="T4" fmla="*/ 95077021 w 2216"/>
              <a:gd name="T5" fmla="*/ 28705919 h 550"/>
              <a:gd name="T6" fmla="*/ 95077021 w 2216"/>
              <a:gd name="T7" fmla="*/ 24405125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603" name="Group 1027"/>
          <p:cNvGrpSpPr>
            <a:grpSpLocks/>
          </p:cNvGrpSpPr>
          <p:nvPr/>
        </p:nvGrpSpPr>
        <p:grpSpPr bwMode="auto">
          <a:xfrm>
            <a:off x="5464285" y="2358040"/>
            <a:ext cx="98740" cy="36846"/>
            <a:chOff x="1740" y="2642"/>
            <a:chExt cx="752" cy="327"/>
          </a:xfrm>
        </p:grpSpPr>
        <p:sp>
          <p:nvSpPr>
            <p:cNvPr id="689" name="Freeform 1028"/>
            <p:cNvSpPr>
              <a:spLocks/>
            </p:cNvSpPr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0" name="Freeform 1029"/>
            <p:cNvSpPr>
              <a:spLocks/>
            </p:cNvSpPr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1" name="Freeform 1030"/>
            <p:cNvSpPr>
              <a:spLocks/>
            </p:cNvSpPr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2" name="Freeform 1031"/>
            <p:cNvSpPr>
              <a:spLocks/>
            </p:cNvSpPr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3" name="Freeform 1032"/>
            <p:cNvSpPr>
              <a:spLocks/>
            </p:cNvSpPr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4" name="Freeform 1033"/>
            <p:cNvSpPr>
              <a:spLocks/>
            </p:cNvSpPr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604" name="Freeform 1034"/>
          <p:cNvSpPr>
            <a:spLocks/>
          </p:cNvSpPr>
          <p:nvPr/>
        </p:nvSpPr>
        <p:spPr bwMode="auto">
          <a:xfrm>
            <a:off x="5633330" y="2363551"/>
            <a:ext cx="119578" cy="80936"/>
          </a:xfrm>
          <a:custGeom>
            <a:avLst/>
            <a:gdLst>
              <a:gd name="T0" fmla="*/ 1765285 w 990"/>
              <a:gd name="T1" fmla="*/ 10672924 h 792"/>
              <a:gd name="T2" fmla="*/ 15858459 w 990"/>
              <a:gd name="T3" fmla="*/ 0 h 792"/>
              <a:gd name="T4" fmla="*/ 15858459 w 990"/>
              <a:gd name="T5" fmla="*/ 1065249 h 792"/>
              <a:gd name="T6" fmla="*/ 0 w 990"/>
              <a:gd name="T7" fmla="*/ 10672924 h 792"/>
              <a:gd name="T8" fmla="*/ 1765285 w 990"/>
              <a:gd name="T9" fmla="*/ 10672924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05" name="Freeform 1035"/>
          <p:cNvSpPr>
            <a:spLocks/>
          </p:cNvSpPr>
          <p:nvPr/>
        </p:nvSpPr>
        <p:spPr bwMode="auto">
          <a:xfrm>
            <a:off x="5328152" y="2370007"/>
            <a:ext cx="305957" cy="73850"/>
          </a:xfrm>
          <a:custGeom>
            <a:avLst/>
            <a:gdLst>
              <a:gd name="T0" fmla="*/ 1766745 w 2532"/>
              <a:gd name="T1" fmla="*/ 0 h 723"/>
              <a:gd name="T2" fmla="*/ 1766745 w 2532"/>
              <a:gd name="T3" fmla="*/ 0 h 723"/>
              <a:gd name="T4" fmla="*/ 38810380 w 2532"/>
              <a:gd name="T5" fmla="*/ 9588243 h 723"/>
              <a:gd name="T6" fmla="*/ 38810380 w 2532"/>
              <a:gd name="T7" fmla="*/ 10652479 h 723"/>
              <a:gd name="T8" fmla="*/ 0 w 2532"/>
              <a:gd name="T9" fmla="*/ 1064237 h 723"/>
              <a:gd name="T10" fmla="*/ 1766745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06" name="Freeform 1036"/>
          <p:cNvSpPr>
            <a:spLocks/>
          </p:cNvSpPr>
          <p:nvPr/>
        </p:nvSpPr>
        <p:spPr bwMode="auto">
          <a:xfrm>
            <a:off x="5328347" y="2356465"/>
            <a:ext cx="3311" cy="14959"/>
          </a:xfrm>
          <a:custGeom>
            <a:avLst/>
            <a:gdLst>
              <a:gd name="T0" fmla="*/ 2059569 w 26"/>
              <a:gd name="T1" fmla="*/ 1056289 h 147"/>
              <a:gd name="T2" fmla="*/ 2059569 w 26"/>
              <a:gd name="T3" fmla="*/ 2112475 h 147"/>
              <a:gd name="T4" fmla="*/ 0 w 26"/>
              <a:gd name="T5" fmla="*/ 2112475 h 147"/>
              <a:gd name="T6" fmla="*/ 2059569 w 26"/>
              <a:gd name="T7" fmla="*/ 0 h 147"/>
              <a:gd name="T8" fmla="*/ 2059569 w 26"/>
              <a:gd name="T9" fmla="*/ 1056289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07" name="Freeform 1037"/>
          <p:cNvSpPr>
            <a:spLocks/>
          </p:cNvSpPr>
          <p:nvPr/>
        </p:nvSpPr>
        <p:spPr bwMode="auto">
          <a:xfrm>
            <a:off x="5328542" y="2295527"/>
            <a:ext cx="142170" cy="61883"/>
          </a:xfrm>
          <a:custGeom>
            <a:avLst/>
            <a:gdLst>
              <a:gd name="T0" fmla="*/ 17669579 w 1176"/>
              <a:gd name="T1" fmla="*/ 0 h 606"/>
              <a:gd name="T2" fmla="*/ 0 w 1176"/>
              <a:gd name="T3" fmla="*/ 8519635 h 606"/>
              <a:gd name="T4" fmla="*/ 1768421 w 1176"/>
              <a:gd name="T5" fmla="*/ 8519635 h 606"/>
              <a:gd name="T6" fmla="*/ 17669579 w 1176"/>
              <a:gd name="T7" fmla="*/ 1063652 h 606"/>
              <a:gd name="T8" fmla="*/ 17669579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08" name="Freeform 1038"/>
          <p:cNvSpPr>
            <a:spLocks/>
          </p:cNvSpPr>
          <p:nvPr/>
        </p:nvSpPr>
        <p:spPr bwMode="auto">
          <a:xfrm>
            <a:off x="5338085" y="2359615"/>
            <a:ext cx="290182" cy="71016"/>
          </a:xfrm>
          <a:custGeom>
            <a:avLst/>
            <a:gdLst>
              <a:gd name="T0" fmla="*/ 1510505 w 2532"/>
              <a:gd name="T1" fmla="*/ 0 h 723"/>
              <a:gd name="T2" fmla="*/ 1510505 w 2532"/>
              <a:gd name="T3" fmla="*/ 0 h 723"/>
              <a:gd name="T4" fmla="*/ 18059933 w 2532"/>
              <a:gd name="T5" fmla="*/ 5682655 h 723"/>
              <a:gd name="T6" fmla="*/ 18059933 w 2532"/>
              <a:gd name="T7" fmla="*/ 5682655 h 723"/>
              <a:gd name="T8" fmla="*/ 0 w 2532"/>
              <a:gd name="T9" fmla="*/ 945505 h 723"/>
              <a:gd name="T10" fmla="*/ 1510505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09" name="Freeform 1039"/>
          <p:cNvSpPr>
            <a:spLocks/>
          </p:cNvSpPr>
          <p:nvPr/>
        </p:nvSpPr>
        <p:spPr bwMode="auto">
          <a:xfrm flipV="1">
            <a:off x="5627877" y="2354576"/>
            <a:ext cx="118410" cy="73535"/>
          </a:xfrm>
          <a:custGeom>
            <a:avLst/>
            <a:gdLst>
              <a:gd name="T0" fmla="*/ 0 w 2532"/>
              <a:gd name="T1" fmla="*/ 0 h 723"/>
              <a:gd name="T2" fmla="*/ 0 w 2532"/>
              <a:gd name="T3" fmla="*/ 0 h 723"/>
              <a:gd name="T4" fmla="*/ 0 w 2532"/>
              <a:gd name="T5" fmla="*/ 9465267 h 723"/>
              <a:gd name="T6" fmla="*/ 0 w 2532"/>
              <a:gd name="T7" fmla="*/ 9465267 h 723"/>
              <a:gd name="T8" fmla="*/ 0 w 2532"/>
              <a:gd name="T9" fmla="*/ 1055120 h 723"/>
              <a:gd name="T10" fmla="*/ 0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610" name="Group 1064"/>
          <p:cNvGrpSpPr>
            <a:grpSpLocks/>
          </p:cNvGrpSpPr>
          <p:nvPr/>
        </p:nvGrpSpPr>
        <p:grpSpPr bwMode="auto">
          <a:xfrm>
            <a:off x="6872288" y="5486400"/>
            <a:ext cx="474662" cy="407988"/>
            <a:chOff x="877" y="1008"/>
            <a:chExt cx="2747" cy="2591"/>
          </a:xfrm>
        </p:grpSpPr>
        <p:pic>
          <p:nvPicPr>
            <p:cNvPr id="666" name="Picture 1065" descr="antenna_stylized"/>
            <p:cNvPicPr>
              <a:picLocks noChangeAspect="1" noChangeArrowheads="1"/>
            </p:cNvPicPr>
            <p:nvPr/>
          </p:nvPicPr>
          <p:blipFill>
            <a:blip r:embed="rId1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7" name="Picture 1066" descr="laptop_keyboard"/>
            <p:cNvPicPr>
              <a:picLocks noChangeAspect="1" noChangeArrowheads="1"/>
            </p:cNvPicPr>
            <p:nvPr/>
          </p:nvPicPr>
          <p:blipFill>
            <a:blip r:embed="rId2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8" name="Freeform 1067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4 w 2982"/>
                <a:gd name="T5" fmla="*/ 1 h 2442"/>
                <a:gd name="T6" fmla="*/ 4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669" name="Picture 1068" descr="screen"/>
            <p:cNvPicPr>
              <a:picLocks noChangeAspect="1" noChangeArrowheads="1"/>
            </p:cNvPicPr>
            <p:nvPr/>
          </p:nvPicPr>
          <p:blipFill>
            <a:blip r:embed="rId21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0" name="Freeform 1069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4 w 2528"/>
                <a:gd name="T3" fmla="*/ 1 h 455"/>
                <a:gd name="T4" fmla="*/ 4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1" name="Freeform 1070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2" name="Freeform 1071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3" name="Freeform 1072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4 w 2773"/>
                <a:gd name="T5" fmla="*/ 1 h 738"/>
                <a:gd name="T6" fmla="*/ 4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4" name="Freeform 1073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3 w 637"/>
                <a:gd name="T1" fmla="*/ 0 h 1659"/>
                <a:gd name="T2" fmla="*/ 3 w 637"/>
                <a:gd name="T3" fmla="*/ 0 h 1659"/>
                <a:gd name="T4" fmla="*/ 1 w 637"/>
                <a:gd name="T5" fmla="*/ 21 h 1659"/>
                <a:gd name="T6" fmla="*/ 0 w 637"/>
                <a:gd name="T7" fmla="*/ 21 h 1659"/>
                <a:gd name="T8" fmla="*/ 3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5" name="Freeform 1074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13 w 2216"/>
                <a:gd name="T5" fmla="*/ 7 h 550"/>
                <a:gd name="T6" fmla="*/ 13 w 2216"/>
                <a:gd name="T7" fmla="*/ 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676" name="Group 1075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683" name="Freeform 1076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84" name="Freeform 1077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85" name="Freeform 1078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86" name="Freeform 1079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87" name="Freeform 1080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88" name="Freeform 1081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677" name="Freeform 1082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3 h 792"/>
                <a:gd name="T2" fmla="*/ 2 w 990"/>
                <a:gd name="T3" fmla="*/ 0 h 792"/>
                <a:gd name="T4" fmla="*/ 2 w 990"/>
                <a:gd name="T5" fmla="*/ 1 h 792"/>
                <a:gd name="T6" fmla="*/ 0 w 990"/>
                <a:gd name="T7" fmla="*/ 3 h 792"/>
                <a:gd name="T8" fmla="*/ 1 w 990"/>
                <a:gd name="T9" fmla="*/ 3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8" name="Freeform 1083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6 w 2532"/>
                <a:gd name="T5" fmla="*/ 3 h 723"/>
                <a:gd name="T6" fmla="*/ 6 w 2532"/>
                <a:gd name="T7" fmla="*/ 3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9" name="Freeform 1084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0" name="Freeform 1085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2 w 1176"/>
                <a:gd name="T1" fmla="*/ 0 h 606"/>
                <a:gd name="T2" fmla="*/ 0 w 1176"/>
                <a:gd name="T3" fmla="*/ 2 h 606"/>
                <a:gd name="T4" fmla="*/ 1 w 1176"/>
                <a:gd name="T5" fmla="*/ 2 h 606"/>
                <a:gd name="T6" fmla="*/ 2 w 1176"/>
                <a:gd name="T7" fmla="*/ 1 h 606"/>
                <a:gd name="T8" fmla="*/ 2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1" name="Freeform 1086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2 w 2532"/>
                <a:gd name="T5" fmla="*/ 1 h 723"/>
                <a:gd name="T6" fmla="*/ 2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2" name="Freeform 1087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3 h 723"/>
                <a:gd name="T6" fmla="*/ 0 w 2532"/>
                <a:gd name="T7" fmla="*/ 3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pic>
        <p:nvPicPr>
          <p:cNvPr id="611" name="Picture 1115" descr="antenna_stylized"/>
          <p:cNvPicPr>
            <a:picLocks noChangeAspect="1" noChangeArrowheads="1"/>
          </p:cNvPicPr>
          <p:nvPr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7021" y="3105640"/>
            <a:ext cx="347997" cy="167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2" name="Picture 1116" descr="laptop_keyboard"/>
          <p:cNvPicPr>
            <a:picLocks noChangeAspect="1" noChangeArrowheads="1"/>
          </p:cNvPicPr>
          <p:nvPr/>
        </p:nvPicPr>
        <p:blipFill>
          <a:blip r:embed="rId2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5513878" y="3291709"/>
            <a:ext cx="286699" cy="119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3" name="Freeform 1117"/>
          <p:cNvSpPr>
            <a:spLocks/>
          </p:cNvSpPr>
          <p:nvPr/>
        </p:nvSpPr>
        <p:spPr bwMode="auto">
          <a:xfrm>
            <a:off x="5608891" y="3175799"/>
            <a:ext cx="230764" cy="155883"/>
          </a:xfrm>
          <a:custGeom>
            <a:avLst/>
            <a:gdLst>
              <a:gd name="T0" fmla="*/ 1856482 w 2982"/>
              <a:gd name="T1" fmla="*/ 0 h 2442"/>
              <a:gd name="T2" fmla="*/ 0 w 2982"/>
              <a:gd name="T3" fmla="*/ 1039092 h 2442"/>
              <a:gd name="T4" fmla="*/ 7413777 w 2982"/>
              <a:gd name="T5" fmla="*/ 1299855 h 2442"/>
              <a:gd name="T6" fmla="*/ 9270259 w 2982"/>
              <a:gd name="T7" fmla="*/ 260763 h 2442"/>
              <a:gd name="T8" fmla="*/ 1856482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pic>
        <p:nvPicPr>
          <p:cNvPr id="614" name="Picture 1118" descr="screen"/>
          <p:cNvPicPr>
            <a:picLocks noChangeAspect="1" noChangeArrowheads="1"/>
          </p:cNvPicPr>
          <p:nvPr/>
        </p:nvPicPr>
        <p:blipFill>
          <a:blip r:embed="rId2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0257" y="3179808"/>
            <a:ext cx="209692" cy="141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" name="Freeform 1119"/>
          <p:cNvSpPr>
            <a:spLocks/>
          </p:cNvSpPr>
          <p:nvPr/>
        </p:nvSpPr>
        <p:spPr bwMode="auto">
          <a:xfrm>
            <a:off x="5650906" y="3171201"/>
            <a:ext cx="195517" cy="29007"/>
          </a:xfrm>
          <a:custGeom>
            <a:avLst/>
            <a:gdLst>
              <a:gd name="T0" fmla="*/ 460563 w 2528"/>
              <a:gd name="T1" fmla="*/ 0 h 455"/>
              <a:gd name="T2" fmla="*/ 7865770 w 2528"/>
              <a:gd name="T3" fmla="*/ 260107 h 455"/>
              <a:gd name="T4" fmla="*/ 7399174 w 2528"/>
              <a:gd name="T5" fmla="*/ 260107 h 455"/>
              <a:gd name="T6" fmla="*/ 0 w 2528"/>
              <a:gd name="T7" fmla="*/ 260107 h 455"/>
              <a:gd name="T8" fmla="*/ 460563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16" name="Freeform 1120"/>
          <p:cNvSpPr>
            <a:spLocks/>
          </p:cNvSpPr>
          <p:nvPr/>
        </p:nvSpPr>
        <p:spPr bwMode="auto">
          <a:xfrm>
            <a:off x="5606848" y="3170965"/>
            <a:ext cx="54275" cy="120745"/>
          </a:xfrm>
          <a:custGeom>
            <a:avLst/>
            <a:gdLst>
              <a:gd name="T0" fmla="*/ 1847051 w 702"/>
              <a:gd name="T1" fmla="*/ 0 h 1893"/>
              <a:gd name="T2" fmla="*/ 0 w 702"/>
              <a:gd name="T3" fmla="*/ 1037463 h 1893"/>
              <a:gd name="T4" fmla="*/ 460255 w 702"/>
              <a:gd name="T5" fmla="*/ 1037463 h 1893"/>
              <a:gd name="T6" fmla="*/ 2313337 w 702"/>
              <a:gd name="T7" fmla="*/ 260370 h 1893"/>
              <a:gd name="T8" fmla="*/ 1847051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17" name="Freeform 1121"/>
          <p:cNvSpPr>
            <a:spLocks/>
          </p:cNvSpPr>
          <p:nvPr/>
        </p:nvSpPr>
        <p:spPr bwMode="auto">
          <a:xfrm>
            <a:off x="5786529" y="3192543"/>
            <a:ext cx="58489" cy="139375"/>
          </a:xfrm>
          <a:custGeom>
            <a:avLst/>
            <a:gdLst>
              <a:gd name="T0" fmla="*/ 2316427 w 756"/>
              <a:gd name="T1" fmla="*/ 0 h 2184"/>
              <a:gd name="T2" fmla="*/ 460872 w 756"/>
              <a:gd name="T3" fmla="*/ 1299110 h 2184"/>
              <a:gd name="T4" fmla="*/ 0 w 756"/>
              <a:gd name="T5" fmla="*/ 1299110 h 2184"/>
              <a:gd name="T6" fmla="*/ 1849521 w 756"/>
              <a:gd name="T7" fmla="*/ 260626 h 2184"/>
              <a:gd name="T8" fmla="*/ 2316427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18" name="Freeform 1122"/>
          <p:cNvSpPr>
            <a:spLocks/>
          </p:cNvSpPr>
          <p:nvPr/>
        </p:nvSpPr>
        <p:spPr bwMode="auto">
          <a:xfrm>
            <a:off x="5606209" y="3285578"/>
            <a:ext cx="214545" cy="47048"/>
          </a:xfrm>
          <a:custGeom>
            <a:avLst/>
            <a:gdLst>
              <a:gd name="T0" fmla="*/ 460889 w 2773"/>
              <a:gd name="T1" fmla="*/ 0 h 738"/>
              <a:gd name="T2" fmla="*/ 0 w 2773"/>
              <a:gd name="T3" fmla="*/ 260103 h 738"/>
              <a:gd name="T4" fmla="*/ 7410661 w 2773"/>
              <a:gd name="T5" fmla="*/ 520206 h 738"/>
              <a:gd name="T6" fmla="*/ 7410661 w 2773"/>
              <a:gd name="T7" fmla="*/ 260103 h 738"/>
              <a:gd name="T8" fmla="*/ 460889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19" name="Freeform 1123"/>
          <p:cNvSpPr>
            <a:spLocks/>
          </p:cNvSpPr>
          <p:nvPr/>
        </p:nvSpPr>
        <p:spPr bwMode="auto">
          <a:xfrm>
            <a:off x="5793042" y="3193722"/>
            <a:ext cx="54786" cy="139965"/>
          </a:xfrm>
          <a:custGeom>
            <a:avLst/>
            <a:gdLst>
              <a:gd name="T0" fmla="*/ 7633745 w 637"/>
              <a:gd name="T1" fmla="*/ 0 h 1659"/>
              <a:gd name="T2" fmla="*/ 7633745 w 637"/>
              <a:gd name="T3" fmla="*/ 0 h 1659"/>
              <a:gd name="T4" fmla="*/ 636188 w 637"/>
              <a:gd name="T5" fmla="*/ 35432406 h 1659"/>
              <a:gd name="T6" fmla="*/ 0 w 637"/>
              <a:gd name="T7" fmla="*/ 34229500 h 1659"/>
              <a:gd name="T8" fmla="*/ 7633745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20" name="Freeform 1124"/>
          <p:cNvSpPr>
            <a:spLocks/>
          </p:cNvSpPr>
          <p:nvPr/>
        </p:nvSpPr>
        <p:spPr bwMode="auto">
          <a:xfrm>
            <a:off x="5606465" y="3291827"/>
            <a:ext cx="190792" cy="46458"/>
          </a:xfrm>
          <a:custGeom>
            <a:avLst/>
            <a:gdLst>
              <a:gd name="T0" fmla="*/ 0 w 2216"/>
              <a:gd name="T1" fmla="*/ 0 h 550"/>
              <a:gd name="T2" fmla="*/ 637466 w 2216"/>
              <a:gd name="T3" fmla="*/ 1205796 h 550"/>
              <a:gd name="T4" fmla="*/ 26804554 w 2216"/>
              <a:gd name="T5" fmla="*/ 12051036 h 550"/>
              <a:gd name="T6" fmla="*/ 26804554 w 2216"/>
              <a:gd name="T7" fmla="*/ 10245932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621" name="Group 1125"/>
          <p:cNvGrpSpPr>
            <a:grpSpLocks/>
          </p:cNvGrpSpPr>
          <p:nvPr/>
        </p:nvGrpSpPr>
        <p:grpSpPr bwMode="auto">
          <a:xfrm>
            <a:off x="5603272" y="3341469"/>
            <a:ext cx="64747" cy="27592"/>
            <a:chOff x="1740" y="2642"/>
            <a:chExt cx="752" cy="327"/>
          </a:xfrm>
        </p:grpSpPr>
        <p:sp>
          <p:nvSpPr>
            <p:cNvPr id="660" name="Freeform 1126"/>
            <p:cNvSpPr>
              <a:spLocks/>
            </p:cNvSpPr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1" name="Freeform 1127"/>
            <p:cNvSpPr>
              <a:spLocks/>
            </p:cNvSpPr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2" name="Freeform 1128"/>
            <p:cNvSpPr>
              <a:spLocks/>
            </p:cNvSpPr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3" name="Freeform 1129"/>
            <p:cNvSpPr>
              <a:spLocks/>
            </p:cNvSpPr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4" name="Freeform 1130"/>
            <p:cNvSpPr>
              <a:spLocks/>
            </p:cNvSpPr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5" name="Freeform 1131"/>
            <p:cNvSpPr>
              <a:spLocks/>
            </p:cNvSpPr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622" name="Freeform 1132"/>
          <p:cNvSpPr>
            <a:spLocks/>
          </p:cNvSpPr>
          <p:nvPr/>
        </p:nvSpPr>
        <p:spPr bwMode="auto">
          <a:xfrm>
            <a:off x="5714120" y="3345596"/>
            <a:ext cx="78411" cy="60608"/>
          </a:xfrm>
          <a:custGeom>
            <a:avLst/>
            <a:gdLst>
              <a:gd name="T0" fmla="*/ 495573 w 990"/>
              <a:gd name="T1" fmla="*/ 4479941 h 792"/>
              <a:gd name="T2" fmla="*/ 4472754 w 990"/>
              <a:gd name="T3" fmla="*/ 0 h 792"/>
              <a:gd name="T4" fmla="*/ 4472754 w 990"/>
              <a:gd name="T5" fmla="*/ 450887 h 792"/>
              <a:gd name="T6" fmla="*/ 0 w 990"/>
              <a:gd name="T7" fmla="*/ 4479941 h 792"/>
              <a:gd name="T8" fmla="*/ 495573 w 990"/>
              <a:gd name="T9" fmla="*/ 4479941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23" name="Freeform 1133"/>
          <p:cNvSpPr>
            <a:spLocks/>
          </p:cNvSpPr>
          <p:nvPr/>
        </p:nvSpPr>
        <p:spPr bwMode="auto">
          <a:xfrm>
            <a:off x="5514006" y="3350431"/>
            <a:ext cx="200625" cy="55302"/>
          </a:xfrm>
          <a:custGeom>
            <a:avLst/>
            <a:gdLst>
              <a:gd name="T0" fmla="*/ 496016 w 2532"/>
              <a:gd name="T1" fmla="*/ 0 h 723"/>
              <a:gd name="T2" fmla="*/ 496016 w 2532"/>
              <a:gd name="T3" fmla="*/ 0 h 723"/>
              <a:gd name="T4" fmla="*/ 10943095 w 2532"/>
              <a:gd name="T5" fmla="*/ 4025267 h 723"/>
              <a:gd name="T6" fmla="*/ 10943095 w 2532"/>
              <a:gd name="T7" fmla="*/ 4475790 h 723"/>
              <a:gd name="T8" fmla="*/ 0 w 2532"/>
              <a:gd name="T9" fmla="*/ 444634 h 723"/>
              <a:gd name="T10" fmla="*/ 496016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24" name="Freeform 1134"/>
          <p:cNvSpPr>
            <a:spLocks/>
          </p:cNvSpPr>
          <p:nvPr/>
        </p:nvSpPr>
        <p:spPr bwMode="auto">
          <a:xfrm>
            <a:off x="5514134" y="3340290"/>
            <a:ext cx="2171" cy="11202"/>
          </a:xfrm>
          <a:custGeom>
            <a:avLst/>
            <a:gdLst>
              <a:gd name="T0" fmla="*/ 585669 w 26"/>
              <a:gd name="T1" fmla="*/ 441374 h 147"/>
              <a:gd name="T2" fmla="*/ 585669 w 26"/>
              <a:gd name="T3" fmla="*/ 882672 h 147"/>
              <a:gd name="T4" fmla="*/ 0 w 26"/>
              <a:gd name="T5" fmla="*/ 882672 h 147"/>
              <a:gd name="T6" fmla="*/ 585669 w 26"/>
              <a:gd name="T7" fmla="*/ 0 h 147"/>
              <a:gd name="T8" fmla="*/ 585669 w 26"/>
              <a:gd name="T9" fmla="*/ 441374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25" name="Freeform 1135"/>
          <p:cNvSpPr>
            <a:spLocks/>
          </p:cNvSpPr>
          <p:nvPr/>
        </p:nvSpPr>
        <p:spPr bwMode="auto">
          <a:xfrm>
            <a:off x="5514261" y="3294657"/>
            <a:ext cx="93225" cy="46340"/>
          </a:xfrm>
          <a:custGeom>
            <a:avLst/>
            <a:gdLst>
              <a:gd name="T0" fmla="*/ 4983336 w 1176"/>
              <a:gd name="T1" fmla="*/ 0 h 606"/>
              <a:gd name="T2" fmla="*/ 0 w 1176"/>
              <a:gd name="T3" fmla="*/ 3578656 h 606"/>
              <a:gd name="T4" fmla="*/ 496487 w 1176"/>
              <a:gd name="T5" fmla="*/ 3578656 h 606"/>
              <a:gd name="T6" fmla="*/ 4983336 w 1176"/>
              <a:gd name="T7" fmla="*/ 444436 h 606"/>
              <a:gd name="T8" fmla="*/ 4983336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26" name="Freeform 1136"/>
          <p:cNvSpPr>
            <a:spLocks/>
          </p:cNvSpPr>
          <p:nvPr/>
        </p:nvSpPr>
        <p:spPr bwMode="auto">
          <a:xfrm>
            <a:off x="5520519" y="3342649"/>
            <a:ext cx="190281" cy="53180"/>
          </a:xfrm>
          <a:custGeom>
            <a:avLst/>
            <a:gdLst>
              <a:gd name="T0" fmla="*/ 423548 w 2532"/>
              <a:gd name="T1" fmla="*/ 0 h 723"/>
              <a:gd name="T2" fmla="*/ 423548 w 2532"/>
              <a:gd name="T3" fmla="*/ 0 h 723"/>
              <a:gd name="T4" fmla="*/ 5094150 w 2532"/>
              <a:gd name="T5" fmla="*/ 2385965 h 723"/>
              <a:gd name="T6" fmla="*/ 5094150 w 2532"/>
              <a:gd name="T7" fmla="*/ 2385965 h 723"/>
              <a:gd name="T8" fmla="*/ 0 w 2532"/>
              <a:gd name="T9" fmla="*/ 400358 h 723"/>
              <a:gd name="T10" fmla="*/ 423548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27" name="Freeform 1137"/>
          <p:cNvSpPr>
            <a:spLocks/>
          </p:cNvSpPr>
          <p:nvPr/>
        </p:nvSpPr>
        <p:spPr bwMode="auto">
          <a:xfrm flipV="1">
            <a:off x="5710545" y="3338875"/>
            <a:ext cx="77645" cy="55066"/>
          </a:xfrm>
          <a:custGeom>
            <a:avLst/>
            <a:gdLst>
              <a:gd name="T0" fmla="*/ 0 w 2532"/>
              <a:gd name="T1" fmla="*/ 0 h 723"/>
              <a:gd name="T2" fmla="*/ 0 w 2532"/>
              <a:gd name="T3" fmla="*/ 0 h 723"/>
              <a:gd name="T4" fmla="*/ 0 w 2532"/>
              <a:gd name="T5" fmla="*/ 3973587 h 723"/>
              <a:gd name="T6" fmla="*/ 0 w 2532"/>
              <a:gd name="T7" fmla="*/ 3973587 h 723"/>
              <a:gd name="T8" fmla="*/ 0 w 2532"/>
              <a:gd name="T9" fmla="*/ 440833 h 723"/>
              <a:gd name="T10" fmla="*/ 0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628" name="Group 1139"/>
          <p:cNvGrpSpPr>
            <a:grpSpLocks/>
          </p:cNvGrpSpPr>
          <p:nvPr/>
        </p:nvGrpSpPr>
        <p:grpSpPr bwMode="auto">
          <a:xfrm flipH="1">
            <a:off x="5995499" y="3253643"/>
            <a:ext cx="359261" cy="342045"/>
            <a:chOff x="2839" y="3501"/>
            <a:chExt cx="755" cy="803"/>
          </a:xfrm>
        </p:grpSpPr>
        <p:pic>
          <p:nvPicPr>
            <p:cNvPr id="658" name="Picture 1140" descr="desktop_computer_stylized_medium"/>
            <p:cNvPicPr>
              <a:picLocks noChangeAspect="1" noChangeArrowheads="1"/>
            </p:cNvPicPr>
            <p:nvPr/>
          </p:nvPicPr>
          <p:blipFill>
            <a:blip r:embed="rId2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9" name="Freeform 1141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629" name="Group 1142"/>
          <p:cNvGrpSpPr>
            <a:grpSpLocks/>
          </p:cNvGrpSpPr>
          <p:nvPr/>
        </p:nvGrpSpPr>
        <p:grpSpPr bwMode="auto">
          <a:xfrm>
            <a:off x="7307263" y="5422900"/>
            <a:ext cx="474662" cy="407988"/>
            <a:chOff x="877" y="1008"/>
            <a:chExt cx="2747" cy="2591"/>
          </a:xfrm>
        </p:grpSpPr>
        <p:pic>
          <p:nvPicPr>
            <p:cNvPr id="635" name="Picture 1143" descr="antenna_stylized"/>
            <p:cNvPicPr>
              <a:picLocks noChangeAspect="1" noChangeArrowheads="1"/>
            </p:cNvPicPr>
            <p:nvPr/>
          </p:nvPicPr>
          <p:blipFill>
            <a:blip r:embed="rId1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36" name="Picture 1144" descr="laptop_keyboard"/>
            <p:cNvPicPr>
              <a:picLocks noChangeAspect="1" noChangeArrowheads="1"/>
            </p:cNvPicPr>
            <p:nvPr/>
          </p:nvPicPr>
          <p:blipFill>
            <a:blip r:embed="rId2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7" name="Freeform 1145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4 w 2982"/>
                <a:gd name="T5" fmla="*/ 1 h 2442"/>
                <a:gd name="T6" fmla="*/ 4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638" name="Picture 1146" descr="screen"/>
            <p:cNvPicPr>
              <a:picLocks noChangeAspect="1" noChangeArrowheads="1"/>
            </p:cNvPicPr>
            <p:nvPr/>
          </p:nvPicPr>
          <p:blipFill>
            <a:blip r:embed="rId21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9" name="Freeform 1147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4 w 2528"/>
                <a:gd name="T3" fmla="*/ 1 h 455"/>
                <a:gd name="T4" fmla="*/ 4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0" name="Freeform 1148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1" name="Freeform 1149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2" name="Freeform 1150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4 w 2773"/>
                <a:gd name="T5" fmla="*/ 1 h 738"/>
                <a:gd name="T6" fmla="*/ 4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3" name="Freeform 1151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3 w 637"/>
                <a:gd name="T1" fmla="*/ 0 h 1659"/>
                <a:gd name="T2" fmla="*/ 3 w 637"/>
                <a:gd name="T3" fmla="*/ 0 h 1659"/>
                <a:gd name="T4" fmla="*/ 1 w 637"/>
                <a:gd name="T5" fmla="*/ 21 h 1659"/>
                <a:gd name="T6" fmla="*/ 0 w 637"/>
                <a:gd name="T7" fmla="*/ 21 h 1659"/>
                <a:gd name="T8" fmla="*/ 3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4" name="Freeform 1152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13 w 2216"/>
                <a:gd name="T5" fmla="*/ 7 h 550"/>
                <a:gd name="T6" fmla="*/ 13 w 2216"/>
                <a:gd name="T7" fmla="*/ 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645" name="Group 1153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652" name="Freeform 1154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3" name="Freeform 1155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4" name="Freeform 1156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5" name="Freeform 1157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6" name="Freeform 1158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7" name="Freeform 1159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646" name="Freeform 1160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3 h 792"/>
                <a:gd name="T2" fmla="*/ 2 w 990"/>
                <a:gd name="T3" fmla="*/ 0 h 792"/>
                <a:gd name="T4" fmla="*/ 2 w 990"/>
                <a:gd name="T5" fmla="*/ 1 h 792"/>
                <a:gd name="T6" fmla="*/ 0 w 990"/>
                <a:gd name="T7" fmla="*/ 3 h 792"/>
                <a:gd name="T8" fmla="*/ 1 w 990"/>
                <a:gd name="T9" fmla="*/ 3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7" name="Freeform 1161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6 w 2532"/>
                <a:gd name="T5" fmla="*/ 3 h 723"/>
                <a:gd name="T6" fmla="*/ 6 w 2532"/>
                <a:gd name="T7" fmla="*/ 3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8" name="Freeform 1162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9" name="Freeform 1163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2 w 1176"/>
                <a:gd name="T1" fmla="*/ 0 h 606"/>
                <a:gd name="T2" fmla="*/ 0 w 1176"/>
                <a:gd name="T3" fmla="*/ 2 h 606"/>
                <a:gd name="T4" fmla="*/ 1 w 1176"/>
                <a:gd name="T5" fmla="*/ 2 h 606"/>
                <a:gd name="T6" fmla="*/ 2 w 1176"/>
                <a:gd name="T7" fmla="*/ 1 h 606"/>
                <a:gd name="T8" fmla="*/ 2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0" name="Freeform 1164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2 w 2532"/>
                <a:gd name="T5" fmla="*/ 1 h 723"/>
                <a:gd name="T6" fmla="*/ 2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1" name="Freeform 1165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3 h 723"/>
                <a:gd name="T6" fmla="*/ 0 w 2532"/>
                <a:gd name="T7" fmla="*/ 3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pic>
        <p:nvPicPr>
          <p:cNvPr id="630" name="Picture 568" descr="light2.png"/>
          <p:cNvPicPr>
            <a:picLocks noChangeAspect="1"/>
          </p:cNvPicPr>
          <p:nvPr/>
        </p:nvPicPr>
        <p:blipFill>
          <a:blip r:embed="rId2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694843" y="2078789"/>
            <a:ext cx="92772" cy="405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1" name="Picture 1017" descr="antenna_stylized"/>
          <p:cNvPicPr>
            <a:picLocks noChangeAspect="1" noChangeArrowheads="1"/>
          </p:cNvPicPr>
          <p:nvPr/>
        </p:nvPicPr>
        <p:blipFill>
          <a:blip r:embed="rId2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0957" y="2006227"/>
            <a:ext cx="530702" cy="223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2" name="Picture 1017" descr="antenna_stylized"/>
          <p:cNvPicPr>
            <a:picLocks noChangeAspect="1" noChangeArrowheads="1"/>
          </p:cNvPicPr>
          <p:nvPr/>
        </p:nvPicPr>
        <p:blipFill>
          <a:blip r:embed="rId2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4195" y="1745624"/>
            <a:ext cx="530702" cy="223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3" name="Picture 571" descr="fridge2.png"/>
          <p:cNvPicPr>
            <a:picLocks noChangeAspect="1"/>
          </p:cNvPicPr>
          <p:nvPr/>
        </p:nvPicPr>
        <p:blipFill>
          <a:blip r:embed="rId2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6702" y="3071517"/>
            <a:ext cx="189578" cy="3370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" name="Picture 1115" descr="antenna_stylized"/>
          <p:cNvPicPr>
            <a:picLocks noChangeAspect="1" noChangeArrowheads="1"/>
          </p:cNvPicPr>
          <p:nvPr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6938" y="3011924"/>
            <a:ext cx="347997" cy="167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58" name="Group 850"/>
          <p:cNvGrpSpPr>
            <a:grpSpLocks/>
          </p:cNvGrpSpPr>
          <p:nvPr/>
        </p:nvGrpSpPr>
        <p:grpSpPr bwMode="auto">
          <a:xfrm>
            <a:off x="5607471" y="1538038"/>
            <a:ext cx="448245" cy="96676"/>
            <a:chOff x="2199" y="955"/>
            <a:chExt cx="2547" cy="506"/>
          </a:xfrm>
        </p:grpSpPr>
        <p:sp>
          <p:nvSpPr>
            <p:cNvPr id="531" name="Freeform 85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2" name="Freeform 85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3" name="Freeform 85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4" name="Freeform 85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5" name="Freeform 85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6" name="Freeform 85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59" name="Group 850"/>
          <p:cNvGrpSpPr>
            <a:grpSpLocks/>
          </p:cNvGrpSpPr>
          <p:nvPr/>
        </p:nvGrpSpPr>
        <p:grpSpPr bwMode="auto">
          <a:xfrm>
            <a:off x="5276468" y="2033201"/>
            <a:ext cx="448245" cy="96676"/>
            <a:chOff x="2199" y="955"/>
            <a:chExt cx="2547" cy="506"/>
          </a:xfrm>
        </p:grpSpPr>
        <p:sp>
          <p:nvSpPr>
            <p:cNvPr id="525" name="Freeform 85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6" name="Freeform 85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7" name="Freeform 85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8" name="Freeform 85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9" name="Freeform 85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0" name="Freeform 85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60" name="Group 850"/>
          <p:cNvGrpSpPr>
            <a:grpSpLocks/>
          </p:cNvGrpSpPr>
          <p:nvPr/>
        </p:nvGrpSpPr>
        <p:grpSpPr bwMode="auto">
          <a:xfrm>
            <a:off x="6495173" y="2008238"/>
            <a:ext cx="427847" cy="76292"/>
            <a:chOff x="2199" y="955"/>
            <a:chExt cx="2547" cy="506"/>
          </a:xfrm>
        </p:grpSpPr>
        <p:sp>
          <p:nvSpPr>
            <p:cNvPr id="519" name="Freeform 85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0" name="Freeform 85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1" name="Freeform 85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2" name="Freeform 85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3" name="Freeform 85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4" name="Freeform 85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61" name="Group 850"/>
          <p:cNvGrpSpPr>
            <a:grpSpLocks/>
          </p:cNvGrpSpPr>
          <p:nvPr/>
        </p:nvGrpSpPr>
        <p:grpSpPr bwMode="auto">
          <a:xfrm>
            <a:off x="6558106" y="1745978"/>
            <a:ext cx="427847" cy="76292"/>
            <a:chOff x="2199" y="955"/>
            <a:chExt cx="2547" cy="506"/>
          </a:xfrm>
        </p:grpSpPr>
        <p:sp>
          <p:nvSpPr>
            <p:cNvPr id="513" name="Freeform 85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4" name="Freeform 85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5" name="Freeform 85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6" name="Freeform 85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7" name="Freeform 85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8" name="Freeform 85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62" name="Group 850"/>
          <p:cNvGrpSpPr>
            <a:grpSpLocks/>
          </p:cNvGrpSpPr>
          <p:nvPr/>
        </p:nvGrpSpPr>
        <p:grpSpPr bwMode="auto">
          <a:xfrm>
            <a:off x="5756886" y="2979399"/>
            <a:ext cx="375111" cy="76292"/>
            <a:chOff x="2199" y="955"/>
            <a:chExt cx="2547" cy="506"/>
          </a:xfrm>
        </p:grpSpPr>
        <p:sp>
          <p:nvSpPr>
            <p:cNvPr id="507" name="Freeform 85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8" name="Freeform 85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9" name="Freeform 85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0" name="Freeform 85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1" name="Freeform 85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2" name="Freeform 85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63" name="Group 850"/>
          <p:cNvGrpSpPr>
            <a:grpSpLocks/>
          </p:cNvGrpSpPr>
          <p:nvPr/>
        </p:nvGrpSpPr>
        <p:grpSpPr bwMode="auto">
          <a:xfrm>
            <a:off x="5458054" y="3093653"/>
            <a:ext cx="373704" cy="70494"/>
            <a:chOff x="2199" y="955"/>
            <a:chExt cx="2547" cy="506"/>
          </a:xfrm>
        </p:grpSpPr>
        <p:sp>
          <p:nvSpPr>
            <p:cNvPr id="501" name="Freeform 85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2" name="Freeform 85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3" name="Freeform 85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4" name="Freeform 85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5" name="Freeform 85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6" name="Freeform 85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64" name="Group 850"/>
          <p:cNvGrpSpPr>
            <a:grpSpLocks/>
          </p:cNvGrpSpPr>
          <p:nvPr/>
        </p:nvGrpSpPr>
        <p:grpSpPr bwMode="auto">
          <a:xfrm>
            <a:off x="5616258" y="3506728"/>
            <a:ext cx="496588" cy="96676"/>
            <a:chOff x="2199" y="955"/>
            <a:chExt cx="2547" cy="506"/>
          </a:xfrm>
        </p:grpSpPr>
        <p:sp>
          <p:nvSpPr>
            <p:cNvPr id="495" name="Freeform 85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6" name="Freeform 85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7" name="Freeform 85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8" name="Freeform 85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9" name="Freeform 85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0" name="Freeform 85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65" name="Group 850"/>
          <p:cNvGrpSpPr>
            <a:grpSpLocks/>
          </p:cNvGrpSpPr>
          <p:nvPr/>
        </p:nvGrpSpPr>
        <p:grpSpPr bwMode="auto">
          <a:xfrm>
            <a:off x="7154356" y="5005218"/>
            <a:ext cx="536140" cy="131828"/>
            <a:chOff x="2199" y="955"/>
            <a:chExt cx="2547" cy="506"/>
          </a:xfrm>
        </p:grpSpPr>
        <p:sp>
          <p:nvSpPr>
            <p:cNvPr id="489" name="Freeform 85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0" name="Freeform 85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" name="Freeform 85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" name="Freeform 85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" name="Freeform 85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4" name="Freeform 85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66" name="Group 850"/>
          <p:cNvGrpSpPr>
            <a:grpSpLocks/>
          </p:cNvGrpSpPr>
          <p:nvPr/>
        </p:nvGrpSpPr>
        <p:grpSpPr bwMode="auto">
          <a:xfrm>
            <a:off x="7299376" y="5413893"/>
            <a:ext cx="408699" cy="92283"/>
            <a:chOff x="2199" y="955"/>
            <a:chExt cx="2547" cy="506"/>
          </a:xfrm>
        </p:grpSpPr>
        <p:sp>
          <p:nvSpPr>
            <p:cNvPr id="483" name="Freeform 85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4" name="Freeform 85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5" name="Freeform 85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6" name="Freeform 85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7" name="Freeform 85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8" name="Freeform 85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67" name="Group 850"/>
          <p:cNvGrpSpPr>
            <a:grpSpLocks/>
          </p:cNvGrpSpPr>
          <p:nvPr/>
        </p:nvGrpSpPr>
        <p:grpSpPr bwMode="auto">
          <a:xfrm>
            <a:off x="6881891" y="5484200"/>
            <a:ext cx="408699" cy="92283"/>
            <a:chOff x="2199" y="955"/>
            <a:chExt cx="2547" cy="506"/>
          </a:xfrm>
        </p:grpSpPr>
        <p:sp>
          <p:nvSpPr>
            <p:cNvPr id="477" name="Freeform 851"/>
            <p:cNvSpPr>
              <a:spLocks/>
            </p:cNvSpPr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8" name="Freeform 852"/>
            <p:cNvSpPr>
              <a:spLocks/>
            </p:cNvSpPr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9" name="Freeform 853"/>
            <p:cNvSpPr>
              <a:spLocks/>
            </p:cNvSpPr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0" name="Freeform 854"/>
            <p:cNvSpPr>
              <a:spLocks/>
            </p:cNvSpPr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1" name="Freeform 855"/>
            <p:cNvSpPr>
              <a:spLocks/>
            </p:cNvSpPr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2" name="Freeform 856"/>
            <p:cNvSpPr>
              <a:spLocks/>
            </p:cNvSpPr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68" name="Group 817"/>
          <p:cNvGrpSpPr>
            <a:grpSpLocks/>
          </p:cNvGrpSpPr>
          <p:nvPr/>
        </p:nvGrpSpPr>
        <p:grpSpPr bwMode="auto">
          <a:xfrm>
            <a:off x="5865009" y="1738313"/>
            <a:ext cx="517525" cy="508000"/>
            <a:chOff x="2920" y="1424"/>
            <a:chExt cx="326" cy="320"/>
          </a:xfrm>
        </p:grpSpPr>
        <p:sp>
          <p:nvSpPr>
            <p:cNvPr id="469" name="Oval 818"/>
            <p:cNvSpPr>
              <a:spLocks noChangeArrowheads="1"/>
            </p:cNvSpPr>
            <p:nvPr/>
          </p:nvSpPr>
          <p:spPr bwMode="auto">
            <a:xfrm>
              <a:off x="2920" y="1445"/>
              <a:ext cx="326" cy="28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470" name="Group 819"/>
            <p:cNvGrpSpPr>
              <a:grpSpLocks/>
            </p:cNvGrpSpPr>
            <p:nvPr/>
          </p:nvGrpSpPr>
          <p:grpSpPr bwMode="auto">
            <a:xfrm>
              <a:off x="2949" y="1424"/>
              <a:ext cx="265" cy="280"/>
              <a:chOff x="2949" y="1424"/>
              <a:chExt cx="265" cy="280"/>
            </a:xfrm>
          </p:grpSpPr>
          <p:sp>
            <p:nvSpPr>
              <p:cNvPr id="472" name="Oval 820"/>
              <p:cNvSpPr>
                <a:spLocks noChangeArrowheads="1"/>
              </p:cNvSpPr>
              <p:nvPr/>
            </p:nvSpPr>
            <p:spPr bwMode="auto">
              <a:xfrm>
                <a:off x="3030" y="1545"/>
                <a:ext cx="107" cy="9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73" name="Oval 821"/>
              <p:cNvSpPr>
                <a:spLocks noChangeArrowheads="1"/>
              </p:cNvSpPr>
              <p:nvPr/>
            </p:nvSpPr>
            <p:spPr bwMode="auto">
              <a:xfrm>
                <a:off x="3006" y="1525"/>
                <a:ext cx="154" cy="131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74" name="Oval 822"/>
              <p:cNvSpPr>
                <a:spLocks noChangeArrowheads="1"/>
              </p:cNvSpPr>
              <p:nvPr/>
            </p:nvSpPr>
            <p:spPr bwMode="auto">
              <a:xfrm>
                <a:off x="2983" y="1501"/>
                <a:ext cx="203" cy="179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75" name="Oval 823"/>
              <p:cNvSpPr>
                <a:spLocks noChangeArrowheads="1"/>
              </p:cNvSpPr>
              <p:nvPr/>
            </p:nvSpPr>
            <p:spPr bwMode="auto">
              <a:xfrm>
                <a:off x="2949" y="1476"/>
                <a:ext cx="265" cy="228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76" name="Freeform 824"/>
              <p:cNvSpPr>
                <a:spLocks/>
              </p:cNvSpPr>
              <p:nvPr/>
            </p:nvSpPr>
            <p:spPr bwMode="auto">
              <a:xfrm flipV="1">
                <a:off x="2987" y="1424"/>
                <a:ext cx="205" cy="143"/>
              </a:xfrm>
              <a:custGeom>
                <a:avLst/>
                <a:gdLst>
                  <a:gd name="T0" fmla="*/ 0 w 1180"/>
                  <a:gd name="T1" fmla="*/ 0 h 956"/>
                  <a:gd name="T2" fmla="*/ 0 w 1180"/>
                  <a:gd name="T3" fmla="*/ 0 h 956"/>
                  <a:gd name="T4" fmla="*/ 0 w 1180"/>
                  <a:gd name="T5" fmla="*/ 0 h 956"/>
                  <a:gd name="T6" fmla="*/ 0 w 1180"/>
                  <a:gd name="T7" fmla="*/ 0 h 956"/>
                  <a:gd name="T8" fmla="*/ 0 w 1180"/>
                  <a:gd name="T9" fmla="*/ 0 h 956"/>
                  <a:gd name="T10" fmla="*/ 0 w 1180"/>
                  <a:gd name="T11" fmla="*/ 0 h 956"/>
                  <a:gd name="T12" fmla="*/ 0 w 1180"/>
                  <a:gd name="T13" fmla="*/ 0 h 956"/>
                  <a:gd name="T14" fmla="*/ 0 w 1180"/>
                  <a:gd name="T15" fmla="*/ 0 h 956"/>
                  <a:gd name="T16" fmla="*/ 0 w 1180"/>
                  <a:gd name="T17" fmla="*/ 0 h 956"/>
                  <a:gd name="T18" fmla="*/ 0 w 1180"/>
                  <a:gd name="T19" fmla="*/ 0 h 95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180" h="956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mpd="sng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471" name="Freeform 825"/>
            <p:cNvSpPr>
              <a:spLocks/>
            </p:cNvSpPr>
            <p:nvPr/>
          </p:nvSpPr>
          <p:spPr bwMode="auto">
            <a:xfrm>
              <a:off x="2995" y="1615"/>
              <a:ext cx="178" cy="129"/>
            </a:xfrm>
            <a:custGeom>
              <a:avLst/>
              <a:gdLst>
                <a:gd name="T0" fmla="*/ 0 w 1180"/>
                <a:gd name="T1" fmla="*/ 0 h 956"/>
                <a:gd name="T2" fmla="*/ 0 w 1180"/>
                <a:gd name="T3" fmla="*/ 0 h 956"/>
                <a:gd name="T4" fmla="*/ 0 w 1180"/>
                <a:gd name="T5" fmla="*/ 0 h 956"/>
                <a:gd name="T6" fmla="*/ 0 w 1180"/>
                <a:gd name="T7" fmla="*/ 0 h 956"/>
                <a:gd name="T8" fmla="*/ 0 w 1180"/>
                <a:gd name="T9" fmla="*/ 0 h 956"/>
                <a:gd name="T10" fmla="*/ 0 w 1180"/>
                <a:gd name="T11" fmla="*/ 0 h 956"/>
                <a:gd name="T12" fmla="*/ 0 w 1180"/>
                <a:gd name="T13" fmla="*/ 0 h 956"/>
                <a:gd name="T14" fmla="*/ 0 w 1180"/>
                <a:gd name="T15" fmla="*/ 0 h 956"/>
                <a:gd name="T16" fmla="*/ 0 w 1180"/>
                <a:gd name="T17" fmla="*/ 0 h 956"/>
                <a:gd name="T18" fmla="*/ 0 w 1180"/>
                <a:gd name="T19" fmla="*/ 0 h 95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80" h="956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rgbClr val="66CCFF"/>
            </a:solidFill>
            <a:ln w="19050" cmpd="sng">
              <a:noFill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891" name="Group 347"/>
          <p:cNvGrpSpPr>
            <a:grpSpLocks/>
          </p:cNvGrpSpPr>
          <p:nvPr/>
        </p:nvGrpSpPr>
        <p:grpSpPr bwMode="auto">
          <a:xfrm>
            <a:off x="6326174" y="2477052"/>
            <a:ext cx="416744" cy="205711"/>
            <a:chOff x="1871277" y="1576300"/>
            <a:chExt cx="1128371" cy="437861"/>
          </a:xfrm>
        </p:grpSpPr>
        <p:sp>
          <p:nvSpPr>
            <p:cNvPr id="892" name="Oval 89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93" name="Rectangle 89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894" name="Oval 89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95" name="Freeform 89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896" name="Freeform 89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897" name="Freeform 89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898" name="Freeform 89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899" name="Straight Connector 898"/>
            <p:cNvCxnSpPr>
              <a:endCxn id="89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0" name="Straight Connector 89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1" name="Group 347"/>
          <p:cNvGrpSpPr>
            <a:grpSpLocks/>
          </p:cNvGrpSpPr>
          <p:nvPr/>
        </p:nvGrpSpPr>
        <p:grpSpPr bwMode="auto">
          <a:xfrm>
            <a:off x="7177349" y="2476441"/>
            <a:ext cx="416744" cy="205711"/>
            <a:chOff x="1871277" y="1576300"/>
            <a:chExt cx="1128371" cy="437861"/>
          </a:xfrm>
        </p:grpSpPr>
        <p:sp>
          <p:nvSpPr>
            <p:cNvPr id="902" name="Oval 90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03" name="Rectangle 90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04" name="Oval 90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05" name="Freeform 90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06" name="Freeform 90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07" name="Freeform 90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08" name="Freeform 90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909" name="Straight Connector 908"/>
            <p:cNvCxnSpPr>
              <a:endCxn id="90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0" name="Straight Connector 90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1" name="Group 347"/>
          <p:cNvGrpSpPr>
            <a:grpSpLocks/>
          </p:cNvGrpSpPr>
          <p:nvPr/>
        </p:nvGrpSpPr>
        <p:grpSpPr bwMode="auto">
          <a:xfrm>
            <a:off x="7686788" y="2399327"/>
            <a:ext cx="416744" cy="205711"/>
            <a:chOff x="1871277" y="1576300"/>
            <a:chExt cx="1128371" cy="437861"/>
          </a:xfrm>
        </p:grpSpPr>
        <p:sp>
          <p:nvSpPr>
            <p:cNvPr id="912" name="Oval 91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13" name="Rectangle 91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14" name="Oval 91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15" name="Freeform 91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16" name="Freeform 91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17" name="Freeform 91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18" name="Freeform 91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919" name="Straight Connector 918"/>
            <p:cNvCxnSpPr>
              <a:endCxn id="91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0" name="Straight Connector 91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1" name="Group 347"/>
          <p:cNvGrpSpPr>
            <a:grpSpLocks/>
          </p:cNvGrpSpPr>
          <p:nvPr/>
        </p:nvGrpSpPr>
        <p:grpSpPr bwMode="auto">
          <a:xfrm>
            <a:off x="7752480" y="2760839"/>
            <a:ext cx="416744" cy="205711"/>
            <a:chOff x="1871277" y="1576300"/>
            <a:chExt cx="1128371" cy="437861"/>
          </a:xfrm>
        </p:grpSpPr>
        <p:sp>
          <p:nvSpPr>
            <p:cNvPr id="922" name="Oval 92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23" name="Rectangle 92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24" name="Oval 92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25" name="Freeform 92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26" name="Freeform 92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27" name="Freeform 92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28" name="Freeform 92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929" name="Straight Connector 928"/>
            <p:cNvCxnSpPr>
              <a:endCxn id="92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0" name="Straight Connector 92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1" name="Group 347"/>
          <p:cNvGrpSpPr>
            <a:grpSpLocks/>
          </p:cNvGrpSpPr>
          <p:nvPr/>
        </p:nvGrpSpPr>
        <p:grpSpPr bwMode="auto">
          <a:xfrm>
            <a:off x="7201005" y="2760229"/>
            <a:ext cx="416744" cy="205711"/>
            <a:chOff x="1871277" y="1576300"/>
            <a:chExt cx="1128371" cy="437861"/>
          </a:xfrm>
        </p:grpSpPr>
        <p:sp>
          <p:nvSpPr>
            <p:cNvPr id="932" name="Oval 93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33" name="Rectangle 93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34" name="Oval 93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35" name="Freeform 93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36" name="Freeform 93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37" name="Freeform 93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38" name="Freeform 93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939" name="Straight Connector 938"/>
            <p:cNvCxnSpPr>
              <a:endCxn id="93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0" name="Straight Connector 93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1" name="Group 347"/>
          <p:cNvGrpSpPr>
            <a:grpSpLocks/>
          </p:cNvGrpSpPr>
          <p:nvPr/>
        </p:nvGrpSpPr>
        <p:grpSpPr bwMode="auto">
          <a:xfrm>
            <a:off x="7083692" y="3627282"/>
            <a:ext cx="416744" cy="205711"/>
            <a:chOff x="1871277" y="1576300"/>
            <a:chExt cx="1128371" cy="437861"/>
          </a:xfrm>
        </p:grpSpPr>
        <p:sp>
          <p:nvSpPr>
            <p:cNvPr id="942" name="Oval 94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43" name="Rectangle 94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44" name="Oval 94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45" name="Freeform 94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46" name="Freeform 94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47" name="Freeform 94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48" name="Freeform 94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949" name="Straight Connector 948"/>
            <p:cNvCxnSpPr>
              <a:endCxn id="94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Straight Connector 94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1" name="Group 347"/>
          <p:cNvGrpSpPr>
            <a:grpSpLocks/>
          </p:cNvGrpSpPr>
          <p:nvPr/>
        </p:nvGrpSpPr>
        <p:grpSpPr bwMode="auto">
          <a:xfrm>
            <a:off x="7424812" y="3896990"/>
            <a:ext cx="416744" cy="205711"/>
            <a:chOff x="1871277" y="1576300"/>
            <a:chExt cx="1128371" cy="437861"/>
          </a:xfrm>
        </p:grpSpPr>
        <p:sp>
          <p:nvSpPr>
            <p:cNvPr id="952" name="Oval 95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53" name="Rectangle 95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54" name="Oval 95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55" name="Freeform 95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56" name="Freeform 95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57" name="Freeform 95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58" name="Freeform 95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959" name="Straight Connector 958"/>
            <p:cNvCxnSpPr>
              <a:endCxn id="95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95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1" name="Group 347"/>
          <p:cNvGrpSpPr>
            <a:grpSpLocks/>
          </p:cNvGrpSpPr>
          <p:nvPr/>
        </p:nvGrpSpPr>
        <p:grpSpPr bwMode="auto">
          <a:xfrm>
            <a:off x="7740429" y="3636266"/>
            <a:ext cx="416744" cy="205711"/>
            <a:chOff x="1871277" y="1576300"/>
            <a:chExt cx="1128371" cy="437861"/>
          </a:xfrm>
        </p:grpSpPr>
        <p:sp>
          <p:nvSpPr>
            <p:cNvPr id="962" name="Oval 96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63" name="Rectangle 96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64" name="Oval 96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65" name="Freeform 96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66" name="Freeform 96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67" name="Freeform 96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68" name="Freeform 96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969" name="Straight Connector 968"/>
            <p:cNvCxnSpPr>
              <a:endCxn id="96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0" name="Straight Connector 96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1" name="Group 347"/>
          <p:cNvGrpSpPr>
            <a:grpSpLocks/>
          </p:cNvGrpSpPr>
          <p:nvPr/>
        </p:nvGrpSpPr>
        <p:grpSpPr bwMode="auto">
          <a:xfrm>
            <a:off x="6056633" y="3656920"/>
            <a:ext cx="375153" cy="169148"/>
            <a:chOff x="1871277" y="1576300"/>
            <a:chExt cx="1128371" cy="437861"/>
          </a:xfrm>
        </p:grpSpPr>
        <p:sp>
          <p:nvSpPr>
            <p:cNvPr id="972" name="Oval 97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73" name="Rectangle 97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74" name="Oval 97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75" name="Freeform 97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76" name="Freeform 97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77" name="Freeform 97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78" name="Freeform 97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979" name="Straight Connector 978"/>
            <p:cNvCxnSpPr>
              <a:endCxn id="97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0" name="Straight Connector 97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1" name="Group 347"/>
          <p:cNvGrpSpPr>
            <a:grpSpLocks/>
          </p:cNvGrpSpPr>
          <p:nvPr/>
        </p:nvGrpSpPr>
        <p:grpSpPr bwMode="auto">
          <a:xfrm>
            <a:off x="6970247" y="4493117"/>
            <a:ext cx="522452" cy="260369"/>
            <a:chOff x="1871277" y="1576300"/>
            <a:chExt cx="1128371" cy="437861"/>
          </a:xfrm>
        </p:grpSpPr>
        <p:sp>
          <p:nvSpPr>
            <p:cNvPr id="982" name="Oval 98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83" name="Rectangle 98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84" name="Oval 98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85" name="Freeform 98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86" name="Freeform 98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87" name="Freeform 98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88" name="Freeform 98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989" name="Straight Connector 988"/>
            <p:cNvCxnSpPr>
              <a:endCxn id="98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0" name="Straight Connector 98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1" name="Group 347"/>
          <p:cNvGrpSpPr>
            <a:grpSpLocks/>
          </p:cNvGrpSpPr>
          <p:nvPr/>
        </p:nvGrpSpPr>
        <p:grpSpPr bwMode="auto">
          <a:xfrm>
            <a:off x="6260655" y="4818927"/>
            <a:ext cx="522452" cy="260369"/>
            <a:chOff x="1871277" y="1576300"/>
            <a:chExt cx="1128371" cy="437861"/>
          </a:xfrm>
        </p:grpSpPr>
        <p:sp>
          <p:nvSpPr>
            <p:cNvPr id="992" name="Oval 99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93" name="Rectangle 99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94" name="Oval 99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95" name="Freeform 99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96" name="Freeform 99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97" name="Freeform 99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98" name="Freeform 99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999" name="Straight Connector 998"/>
            <p:cNvCxnSpPr>
              <a:endCxn id="99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0" name="Straight Connector 99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1" name="Group 347"/>
          <p:cNvGrpSpPr>
            <a:grpSpLocks/>
          </p:cNvGrpSpPr>
          <p:nvPr/>
        </p:nvGrpSpPr>
        <p:grpSpPr bwMode="auto">
          <a:xfrm>
            <a:off x="7693291" y="4813217"/>
            <a:ext cx="522452" cy="260369"/>
            <a:chOff x="1871277" y="1576300"/>
            <a:chExt cx="1128371" cy="437861"/>
          </a:xfrm>
        </p:grpSpPr>
        <p:sp>
          <p:nvSpPr>
            <p:cNvPr id="1002" name="Oval 100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03" name="Rectangle 100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004" name="Oval 100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05" name="Freeform 100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006" name="Freeform 100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007" name="Freeform 100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008" name="Freeform 100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1009" name="Straight Connector 1008"/>
            <p:cNvCxnSpPr>
              <a:endCxn id="100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0" name="Straight Connector 100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59804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1" name="Picture 9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925513"/>
            <a:ext cx="4570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>
          <a:xfrm>
            <a:off x="423863" y="244475"/>
            <a:ext cx="7772400" cy="898525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Link layer: context</a:t>
            </a:r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22263" y="1547813"/>
            <a:ext cx="4151312" cy="4648200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datagram transferred by different link protocols over different links: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e.g., Ethernet on first link, frame relay on intermediate links, 802.11 on last link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each  link protocol provides different services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e.g., may or may not provide </a:t>
            </a:r>
            <a:r>
              <a:rPr lang="en-US" dirty="0" err="1">
                <a:latin typeface="Gill Sans MT" charset="0"/>
              </a:rPr>
              <a:t>rdt</a:t>
            </a:r>
            <a:r>
              <a:rPr lang="en-US" dirty="0">
                <a:latin typeface="Gill Sans MT" charset="0"/>
              </a:rPr>
              <a:t> over link</a:t>
            </a:r>
          </a:p>
        </p:txBody>
      </p:sp>
      <p:sp>
        <p:nvSpPr>
          <p:cNvPr id="5127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618038" y="1479550"/>
            <a:ext cx="4187825" cy="4648200"/>
          </a:xfrm>
          <a:solidFill>
            <a:schemeClr val="bg1"/>
          </a:solidFill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transportation analogy:</a:t>
            </a:r>
          </a:p>
          <a:p>
            <a:pPr>
              <a:defRPr/>
            </a:pPr>
            <a:r>
              <a:rPr lang="en-US" sz="2000" dirty="0">
                <a:latin typeface="Gill Sans MT" charset="0"/>
                <a:cs typeface="+mn-cs"/>
              </a:rPr>
              <a:t>trip from Princeton to Lausanne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limo: Princeton to JFK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plane: JFK to Geneva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train: Geneva to Lausanne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tourist = 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datagram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transport segment = 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communication link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transportation mode = 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link layer protocol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travel agent = 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routing algorithm</a:t>
            </a:r>
          </a:p>
          <a:p>
            <a:pPr lvl="1">
              <a:defRPr/>
            </a:pPr>
            <a:endParaRPr lang="en-US" sz="2000" dirty="0">
              <a:solidFill>
                <a:srgbClr val="CC0000"/>
              </a:solidFill>
              <a:latin typeface="Gill Sans MT" charset="0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5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4059743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9" name="Picture 4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041400"/>
            <a:ext cx="4570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6176963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Link layer services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4188" y="1419225"/>
            <a:ext cx="7772400" cy="4648200"/>
          </a:xfrm>
        </p:spPr>
        <p:txBody>
          <a:bodyPr/>
          <a:lstStyle/>
          <a:p>
            <a:pPr>
              <a:lnSpc>
                <a:spcPct val="75000"/>
              </a:lnSpc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framing, link access:</a:t>
            </a:r>
            <a:r>
              <a:rPr lang="en-US" sz="3200" dirty="0">
                <a:latin typeface="Gill Sans MT" charset="0"/>
                <a:cs typeface="+mn-cs"/>
              </a:rPr>
              <a:t> 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encapsulate datagram into frame, adding header, trailer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channel access if shared medium</a:t>
            </a:r>
          </a:p>
          <a:p>
            <a:pPr lvl="1">
              <a:lnSpc>
                <a:spcPct val="75000"/>
              </a:lnSpc>
              <a:defRPr/>
            </a:pPr>
            <a:r>
              <a:rPr lang="ja-JP" altLang="en-US" dirty="0">
                <a:latin typeface="Gill Sans MT" charset="0"/>
              </a:rPr>
              <a:t>“</a:t>
            </a:r>
            <a:r>
              <a:rPr lang="en-US" dirty="0">
                <a:latin typeface="Gill Sans MT" charset="0"/>
              </a:rPr>
              <a:t>MAC</a:t>
            </a:r>
            <a:r>
              <a:rPr lang="ja-JP" altLang="en-US" dirty="0">
                <a:latin typeface="Gill Sans MT" charset="0"/>
              </a:rPr>
              <a:t>”</a:t>
            </a:r>
            <a:r>
              <a:rPr lang="en-US" dirty="0">
                <a:latin typeface="Gill Sans MT" charset="0"/>
              </a:rPr>
              <a:t> addresses used in frame headers to identify source, destination  </a:t>
            </a:r>
          </a:p>
          <a:p>
            <a:pPr lvl="2">
              <a:lnSpc>
                <a:spcPct val="90000"/>
              </a:lnSpc>
              <a:defRPr/>
            </a:pPr>
            <a:r>
              <a:rPr lang="en-US" sz="2400" dirty="0">
                <a:latin typeface="Gill Sans MT" charset="0"/>
              </a:rPr>
              <a:t>different from IP address!</a:t>
            </a:r>
          </a:p>
          <a:p>
            <a:pPr>
              <a:lnSpc>
                <a:spcPct val="75000"/>
              </a:lnSpc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reliable delivery between adjacent nodes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we learned how to do this already (chapter 3)!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seldom used on low bit-error link (fiber, some twisted pair)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wireless links: high error rates</a:t>
            </a:r>
          </a:p>
          <a:p>
            <a:pPr lvl="2">
              <a:lnSpc>
                <a:spcPct val="90000"/>
              </a:lnSpc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</a:rPr>
              <a:t>Q:</a:t>
            </a:r>
            <a:r>
              <a:rPr lang="en-US" sz="2400" dirty="0">
                <a:latin typeface="Gill Sans MT" charset="0"/>
              </a:rPr>
              <a:t> why both link-level and end-end reliability?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6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837189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7" name="Picture 7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13" y="1028700"/>
            <a:ext cx="5942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2288" y="1563688"/>
            <a:ext cx="7772400" cy="4648200"/>
          </a:xfrm>
        </p:spPr>
        <p:txBody>
          <a:bodyPr/>
          <a:lstStyle/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flow control: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pacing between adjacent sending and receiving nodes</a:t>
            </a:r>
            <a:endParaRPr lang="en-US" dirty="0">
              <a:latin typeface="Gill Sans MT" charset="0"/>
            </a:endParaRP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error detection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: 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errors caused by signal attenuation, noise. 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receiver detects presence of errors: </a:t>
            </a:r>
          </a:p>
          <a:p>
            <a:pPr lvl="2">
              <a:defRPr/>
            </a:pPr>
            <a:r>
              <a:rPr lang="en-US" dirty="0">
                <a:latin typeface="Gill Sans MT" charset="0"/>
              </a:rPr>
              <a:t>signals sender for retransmission or drops frame </a:t>
            </a: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error correction:</a:t>
            </a:r>
            <a:r>
              <a:rPr lang="en-US" dirty="0">
                <a:latin typeface="Gill Sans MT" charset="0"/>
                <a:cs typeface="+mn-cs"/>
              </a:rPr>
              <a:t> 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receiver identifies </a:t>
            </a:r>
            <a:r>
              <a:rPr lang="en-US" sz="2000" i="1" dirty="0">
                <a:solidFill>
                  <a:srgbClr val="CC0000"/>
                </a:solidFill>
                <a:latin typeface="Gill Sans MT" charset="0"/>
              </a:rPr>
              <a:t>and corrects</a:t>
            </a:r>
            <a:r>
              <a:rPr lang="en-US" sz="2000" dirty="0">
                <a:latin typeface="Gill Sans MT" charset="0"/>
              </a:rPr>
              <a:t> bit error(s) without resorting to retransmission</a:t>
            </a:r>
            <a:endParaRPr lang="en-US" dirty="0">
              <a:latin typeface="Gill Sans MT" charset="0"/>
            </a:endParaRP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half-duplex and full-duplex</a:t>
            </a:r>
            <a:endParaRPr lang="en-US" dirty="0">
              <a:solidFill>
                <a:srgbClr val="CC0000"/>
              </a:solidFill>
              <a:latin typeface="Gill Sans MT" charset="0"/>
              <a:cs typeface="+mn-cs"/>
            </a:endParaRP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with half duplex, nodes at both ends of link can transmit, but not at same time</a:t>
            </a:r>
            <a:endParaRPr lang="en-US" dirty="0">
              <a:latin typeface="Gill Sans MT" charset="0"/>
            </a:endParaRP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6176963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Link layer services (more)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7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723613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268" name="Freeform 92"/>
          <p:cNvSpPr>
            <a:spLocks/>
          </p:cNvSpPr>
          <p:nvPr/>
        </p:nvSpPr>
        <p:spPr bwMode="auto">
          <a:xfrm>
            <a:off x="5656263" y="2616200"/>
            <a:ext cx="2308225" cy="3028950"/>
          </a:xfrm>
          <a:custGeom>
            <a:avLst/>
            <a:gdLst>
              <a:gd name="T0" fmla="*/ 0 w 1454"/>
              <a:gd name="T1" fmla="*/ 2743200 h 1908"/>
              <a:gd name="T2" fmla="*/ 31750 w 1454"/>
              <a:gd name="T3" fmla="*/ 2668588 h 1908"/>
              <a:gd name="T4" fmla="*/ 446088 w 1454"/>
              <a:gd name="T5" fmla="*/ 0 h 1908"/>
              <a:gd name="T6" fmla="*/ 1978025 w 1454"/>
              <a:gd name="T7" fmla="*/ 477838 h 1908"/>
              <a:gd name="T8" fmla="*/ 2308225 w 1454"/>
              <a:gd name="T9" fmla="*/ 2370138 h 1908"/>
              <a:gd name="T10" fmla="*/ 393700 w 1454"/>
              <a:gd name="T11" fmla="*/ 3028950 h 1908"/>
              <a:gd name="T12" fmla="*/ 0 w 1454"/>
              <a:gd name="T13" fmla="*/ 2743200 h 190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54" h="1908">
                <a:moveTo>
                  <a:pt x="0" y="1728"/>
                </a:moveTo>
                <a:cubicBezTo>
                  <a:pt x="15" y="1684"/>
                  <a:pt x="4" y="1697"/>
                  <a:pt x="20" y="1681"/>
                </a:cubicBezTo>
                <a:lnTo>
                  <a:pt x="281" y="0"/>
                </a:lnTo>
                <a:lnTo>
                  <a:pt x="1246" y="301"/>
                </a:lnTo>
                <a:lnTo>
                  <a:pt x="1454" y="1493"/>
                </a:lnTo>
                <a:lnTo>
                  <a:pt x="248" y="1908"/>
                </a:lnTo>
                <a:lnTo>
                  <a:pt x="0" y="1728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50000">
                <a:schemeClr val="bg1"/>
              </a:gs>
              <a:gs pos="100000">
                <a:srgbClr val="000099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54276" name="Picture 88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63" y="887413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4175" y="100013"/>
            <a:ext cx="8251825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Where is the link layer implemented?</a:t>
            </a:r>
          </a:p>
        </p:txBody>
      </p:sp>
      <p:sp>
        <p:nvSpPr>
          <p:cNvPr id="81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8463" y="1243013"/>
            <a:ext cx="4075112" cy="4659312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in each and every host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link layer implemented in </a:t>
            </a:r>
            <a:r>
              <a:rPr lang="ja-JP" altLang="en-US" sz="2400" dirty="0">
                <a:latin typeface="Gill Sans MT" charset="0"/>
                <a:cs typeface="+mn-cs"/>
              </a:rPr>
              <a:t>“</a:t>
            </a:r>
            <a:r>
              <a:rPr lang="en-US" sz="2400" dirty="0">
                <a:latin typeface="Gill Sans MT" charset="0"/>
                <a:cs typeface="+mn-cs"/>
              </a:rPr>
              <a:t>adaptor</a:t>
            </a:r>
            <a:r>
              <a:rPr lang="ja-JP" altLang="en-US" sz="2400" dirty="0">
                <a:latin typeface="Gill Sans MT" charset="0"/>
                <a:cs typeface="+mn-cs"/>
              </a:rPr>
              <a:t>”</a:t>
            </a:r>
            <a:r>
              <a:rPr lang="en-US" sz="2400" dirty="0">
                <a:latin typeface="Gill Sans MT" charset="0"/>
                <a:cs typeface="+mn-cs"/>
              </a:rPr>
              <a:t> (aka </a:t>
            </a: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network interface card</a:t>
            </a:r>
            <a:r>
              <a:rPr lang="en-US" sz="2400" dirty="0">
                <a:latin typeface="Gill Sans MT" charset="0"/>
                <a:cs typeface="+mn-cs"/>
              </a:rPr>
              <a:t> NIC) or on a chip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Ethernet card, 802.11 card; Ethernet chipset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implements link, physical layer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attaches into host’s system buses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combination of hardware, software, firmware</a:t>
            </a:r>
          </a:p>
          <a:p>
            <a:pPr lvl="1">
              <a:defRPr/>
            </a:pPr>
            <a:endParaRPr lang="en-US" dirty="0">
              <a:latin typeface="Gill Sans MT" charset="0"/>
            </a:endParaRPr>
          </a:p>
        </p:txBody>
      </p:sp>
      <p:sp>
        <p:nvSpPr>
          <p:cNvPr id="8200" name="Rectangle 42"/>
          <p:cNvSpPr>
            <a:spLocks noChangeArrowheads="1"/>
          </p:cNvSpPr>
          <p:nvPr/>
        </p:nvSpPr>
        <p:spPr bwMode="auto">
          <a:xfrm>
            <a:off x="6129338" y="2614613"/>
            <a:ext cx="1836737" cy="24018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01" name="Rectangle 44"/>
          <p:cNvSpPr>
            <a:spLocks noChangeArrowheads="1"/>
          </p:cNvSpPr>
          <p:nvPr/>
        </p:nvSpPr>
        <p:spPr bwMode="auto">
          <a:xfrm>
            <a:off x="6578600" y="4552950"/>
            <a:ext cx="666750" cy="2825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02" name="Rectangle 45"/>
          <p:cNvSpPr>
            <a:spLocks noChangeArrowheads="1"/>
          </p:cNvSpPr>
          <p:nvPr/>
        </p:nvSpPr>
        <p:spPr bwMode="auto">
          <a:xfrm>
            <a:off x="6578600" y="3965575"/>
            <a:ext cx="657225" cy="5191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1200" i="0" dirty="0">
                <a:latin typeface="Arial" charset="0"/>
                <a:cs typeface="+mn-cs"/>
              </a:rPr>
              <a:t>controller</a:t>
            </a:r>
          </a:p>
        </p:txBody>
      </p:sp>
      <p:sp>
        <p:nvSpPr>
          <p:cNvPr id="8203" name="Text Box 46"/>
          <p:cNvSpPr txBox="1">
            <a:spLocks noChangeArrowheads="1"/>
          </p:cNvSpPr>
          <p:nvPr/>
        </p:nvSpPr>
        <p:spPr bwMode="auto">
          <a:xfrm>
            <a:off x="6384925" y="4562475"/>
            <a:ext cx="103663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sz="1200" i="0" dirty="0">
                <a:latin typeface="Arial" charset="0"/>
                <a:cs typeface="+mn-cs"/>
              </a:rPr>
              <a:t>physical</a:t>
            </a:r>
          </a:p>
          <a:p>
            <a:pPr algn="ctr" eaLnBrk="1" hangingPunct="1">
              <a:defRPr/>
            </a:pPr>
            <a:r>
              <a:rPr lang="en-US" sz="1200" i="0" dirty="0">
                <a:latin typeface="Arial" charset="0"/>
                <a:cs typeface="+mn-cs"/>
              </a:rPr>
              <a:t>transmission</a:t>
            </a:r>
          </a:p>
        </p:txBody>
      </p:sp>
      <p:sp>
        <p:nvSpPr>
          <p:cNvPr id="54283" name="Freeform 47"/>
          <p:cNvSpPr>
            <a:spLocks/>
          </p:cNvSpPr>
          <p:nvPr/>
        </p:nvSpPr>
        <p:spPr bwMode="auto">
          <a:xfrm>
            <a:off x="6630988" y="3484563"/>
            <a:ext cx="200025" cy="460375"/>
          </a:xfrm>
          <a:custGeom>
            <a:avLst/>
            <a:gdLst>
              <a:gd name="T0" fmla="*/ 0 w 361"/>
              <a:gd name="T1" fmla="*/ 0 h 478"/>
              <a:gd name="T2" fmla="*/ 0 w 361"/>
              <a:gd name="T3" fmla="*/ 2147483647 h 478"/>
              <a:gd name="T4" fmla="*/ 2147483647 w 361"/>
              <a:gd name="T5" fmla="*/ 2147483647 h 478"/>
              <a:gd name="T6" fmla="*/ 2147483647 w 361"/>
              <a:gd name="T7" fmla="*/ 2147483647 h 47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61" h="478">
                <a:moveTo>
                  <a:pt x="0" y="0"/>
                </a:moveTo>
                <a:lnTo>
                  <a:pt x="0" y="230"/>
                </a:lnTo>
                <a:lnTo>
                  <a:pt x="361" y="230"/>
                </a:lnTo>
                <a:lnTo>
                  <a:pt x="359" y="478"/>
                </a:lnTo>
              </a:path>
            </a:pathLst>
          </a:custGeom>
          <a:noFill/>
          <a:ln w="38100" cmpd="sng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8205" name="Line 48"/>
          <p:cNvSpPr>
            <a:spLocks noChangeShapeType="1"/>
          </p:cNvSpPr>
          <p:nvPr/>
        </p:nvSpPr>
        <p:spPr bwMode="auto">
          <a:xfrm>
            <a:off x="6496050" y="3657600"/>
            <a:ext cx="1358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06" name="Line 49"/>
          <p:cNvSpPr>
            <a:spLocks noChangeShapeType="1"/>
          </p:cNvSpPr>
          <p:nvPr/>
        </p:nvSpPr>
        <p:spPr bwMode="auto">
          <a:xfrm flipV="1">
            <a:off x="6891338" y="3665538"/>
            <a:ext cx="0" cy="300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07" name="Rectangle 50"/>
          <p:cNvSpPr>
            <a:spLocks noChangeArrowheads="1"/>
          </p:cNvSpPr>
          <p:nvPr/>
        </p:nvSpPr>
        <p:spPr bwMode="auto">
          <a:xfrm>
            <a:off x="6384925" y="2967038"/>
            <a:ext cx="657225" cy="519112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1200" i="0" dirty="0">
                <a:latin typeface="Arial" charset="0"/>
                <a:cs typeface="+mn-cs"/>
              </a:rPr>
              <a:t>cpu</a:t>
            </a:r>
          </a:p>
        </p:txBody>
      </p:sp>
      <p:sp>
        <p:nvSpPr>
          <p:cNvPr id="8208" name="Rectangle 51"/>
          <p:cNvSpPr>
            <a:spLocks noChangeArrowheads="1"/>
          </p:cNvSpPr>
          <p:nvPr/>
        </p:nvSpPr>
        <p:spPr bwMode="auto">
          <a:xfrm>
            <a:off x="7204075" y="2968625"/>
            <a:ext cx="657225" cy="5191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1200" i="0" dirty="0">
                <a:latin typeface="Arial" charset="0"/>
                <a:cs typeface="+mn-cs"/>
              </a:rPr>
              <a:t>memory</a:t>
            </a:r>
          </a:p>
        </p:txBody>
      </p:sp>
      <p:sp>
        <p:nvSpPr>
          <p:cNvPr id="8209" name="Line 52"/>
          <p:cNvSpPr>
            <a:spLocks noChangeShapeType="1"/>
          </p:cNvSpPr>
          <p:nvPr/>
        </p:nvSpPr>
        <p:spPr bwMode="auto">
          <a:xfrm flipH="1" flipV="1">
            <a:off x="6688138" y="3487738"/>
            <a:ext cx="1587" cy="169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10" name="Line 53"/>
          <p:cNvSpPr>
            <a:spLocks noChangeShapeType="1"/>
          </p:cNvSpPr>
          <p:nvPr/>
        </p:nvSpPr>
        <p:spPr bwMode="auto">
          <a:xfrm flipH="1" flipV="1">
            <a:off x="7561263" y="3489325"/>
            <a:ext cx="1587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11" name="Text Box 54"/>
          <p:cNvSpPr txBox="1">
            <a:spLocks noChangeArrowheads="1"/>
          </p:cNvSpPr>
          <p:nvPr/>
        </p:nvSpPr>
        <p:spPr bwMode="auto">
          <a:xfrm>
            <a:off x="8008938" y="3786188"/>
            <a:ext cx="879475" cy="63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host </a:t>
            </a:r>
          </a:p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bus </a:t>
            </a:r>
          </a:p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(e.g., PCI)</a:t>
            </a:r>
          </a:p>
        </p:txBody>
      </p:sp>
      <p:sp>
        <p:nvSpPr>
          <p:cNvPr id="8212" name="Line 55"/>
          <p:cNvSpPr>
            <a:spLocks noChangeShapeType="1"/>
          </p:cNvSpPr>
          <p:nvPr/>
        </p:nvSpPr>
        <p:spPr bwMode="auto">
          <a:xfrm flipH="1">
            <a:off x="6891338" y="4273550"/>
            <a:ext cx="12700" cy="3397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13" name="Line 56"/>
          <p:cNvSpPr>
            <a:spLocks noChangeShapeType="1"/>
          </p:cNvSpPr>
          <p:nvPr/>
        </p:nvSpPr>
        <p:spPr bwMode="auto">
          <a:xfrm>
            <a:off x="6889750" y="4806950"/>
            <a:ext cx="0" cy="3667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14" name="Line 57"/>
          <p:cNvSpPr>
            <a:spLocks noChangeShapeType="1"/>
          </p:cNvSpPr>
          <p:nvPr/>
        </p:nvSpPr>
        <p:spPr bwMode="auto">
          <a:xfrm flipH="1" flipV="1">
            <a:off x="7686675" y="3662363"/>
            <a:ext cx="382588" cy="268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15" name="Text Box 58"/>
          <p:cNvSpPr txBox="1">
            <a:spLocks noChangeArrowheads="1"/>
          </p:cNvSpPr>
          <p:nvPr/>
        </p:nvSpPr>
        <p:spPr bwMode="auto">
          <a:xfrm>
            <a:off x="7296150" y="5356225"/>
            <a:ext cx="1273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network adapter</a:t>
            </a:r>
          </a:p>
          <a:p>
            <a:pPr eaLnBrk="1" hangingPunct="1">
              <a:defRPr/>
            </a:pPr>
            <a:r>
              <a:rPr lang="en-US" sz="1200" dirty="0">
                <a:latin typeface="Arial" charset="0"/>
                <a:cs typeface="+mn-cs"/>
              </a:rPr>
              <a:t>card</a:t>
            </a:r>
          </a:p>
        </p:txBody>
      </p:sp>
      <p:sp>
        <p:nvSpPr>
          <p:cNvPr id="8216" name="Line 59"/>
          <p:cNvSpPr>
            <a:spLocks noChangeShapeType="1"/>
          </p:cNvSpPr>
          <p:nvPr/>
        </p:nvSpPr>
        <p:spPr bwMode="auto">
          <a:xfrm flipH="1" flipV="1">
            <a:off x="7504113" y="4679950"/>
            <a:ext cx="271462" cy="750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17" name="Rectangle 43"/>
          <p:cNvSpPr>
            <a:spLocks noChangeArrowheads="1"/>
          </p:cNvSpPr>
          <p:nvPr/>
        </p:nvSpPr>
        <p:spPr bwMode="auto">
          <a:xfrm>
            <a:off x="6351588" y="3854450"/>
            <a:ext cx="1122362" cy="108267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306260" name="Group 84"/>
          <p:cNvGrpSpPr>
            <a:grpSpLocks/>
          </p:cNvGrpSpPr>
          <p:nvPr/>
        </p:nvGrpSpPr>
        <p:grpSpPr bwMode="auto">
          <a:xfrm>
            <a:off x="5091113" y="2743200"/>
            <a:ext cx="1466850" cy="2065338"/>
            <a:chOff x="2691" y="1728"/>
            <a:chExt cx="924" cy="1301"/>
          </a:xfrm>
        </p:grpSpPr>
        <p:sp>
          <p:nvSpPr>
            <p:cNvPr id="54303" name="Freeform 62"/>
            <p:cNvSpPr>
              <a:spLocks/>
            </p:cNvSpPr>
            <p:nvPr/>
          </p:nvSpPr>
          <p:spPr bwMode="auto">
            <a:xfrm>
              <a:off x="3225" y="2509"/>
              <a:ext cx="390" cy="520"/>
            </a:xfrm>
            <a:custGeom>
              <a:avLst/>
              <a:gdLst>
                <a:gd name="T0" fmla="*/ 390 w 390"/>
                <a:gd name="T1" fmla="*/ 0 h 520"/>
                <a:gd name="T2" fmla="*/ 0 w 390"/>
                <a:gd name="T3" fmla="*/ 221 h 520"/>
                <a:gd name="T4" fmla="*/ 3 w 390"/>
                <a:gd name="T5" fmla="*/ 433 h 520"/>
                <a:gd name="T6" fmla="*/ 388 w 390"/>
                <a:gd name="T7" fmla="*/ 520 h 520"/>
                <a:gd name="T8" fmla="*/ 390 w 390"/>
                <a:gd name="T9" fmla="*/ 0 h 5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0" h="520">
                  <a:moveTo>
                    <a:pt x="390" y="0"/>
                  </a:moveTo>
                  <a:lnTo>
                    <a:pt x="0" y="221"/>
                  </a:lnTo>
                  <a:lnTo>
                    <a:pt x="3" y="433"/>
                  </a:lnTo>
                  <a:lnTo>
                    <a:pt x="388" y="520"/>
                  </a:lnTo>
                  <a:lnTo>
                    <a:pt x="39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304" name="Freeform 63"/>
            <p:cNvSpPr>
              <a:spLocks/>
            </p:cNvSpPr>
            <p:nvPr/>
          </p:nvSpPr>
          <p:spPr bwMode="auto">
            <a:xfrm>
              <a:off x="3222" y="1767"/>
              <a:ext cx="275" cy="443"/>
            </a:xfrm>
            <a:custGeom>
              <a:avLst/>
              <a:gdLst>
                <a:gd name="T0" fmla="*/ 264 w 275"/>
                <a:gd name="T1" fmla="*/ 108 h 443"/>
                <a:gd name="T2" fmla="*/ 0 w 275"/>
                <a:gd name="T3" fmla="*/ 0 h 443"/>
                <a:gd name="T4" fmla="*/ 2 w 275"/>
                <a:gd name="T5" fmla="*/ 443 h 443"/>
                <a:gd name="T6" fmla="*/ 275 w 275"/>
                <a:gd name="T7" fmla="*/ 412 h 443"/>
                <a:gd name="T8" fmla="*/ 264 w 275"/>
                <a:gd name="T9" fmla="*/ 108 h 4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5" h="443">
                  <a:moveTo>
                    <a:pt x="264" y="108"/>
                  </a:moveTo>
                  <a:lnTo>
                    <a:pt x="0" y="0"/>
                  </a:lnTo>
                  <a:lnTo>
                    <a:pt x="2" y="443"/>
                  </a:lnTo>
                  <a:lnTo>
                    <a:pt x="275" y="412"/>
                  </a:lnTo>
                  <a:lnTo>
                    <a:pt x="264" y="108"/>
                  </a:lnTo>
                  <a:close/>
                </a:path>
              </a:pathLst>
            </a:cu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26" name="Rectangle 64"/>
            <p:cNvSpPr>
              <a:spLocks noChangeArrowheads="1"/>
            </p:cNvSpPr>
            <p:nvPr/>
          </p:nvSpPr>
          <p:spPr bwMode="auto">
            <a:xfrm>
              <a:off x="2737" y="1775"/>
              <a:ext cx="489" cy="52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27" name="Text Box 65"/>
            <p:cNvSpPr txBox="1">
              <a:spLocks noChangeArrowheads="1"/>
            </p:cNvSpPr>
            <p:nvPr/>
          </p:nvSpPr>
          <p:spPr bwMode="auto">
            <a:xfrm>
              <a:off x="2691" y="1728"/>
              <a:ext cx="572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application</a:t>
              </a:r>
            </a:p>
            <a:p>
              <a:pPr algn="ctr" eaLnBrk="1" hangingPunct="1"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transport</a:t>
              </a:r>
            </a:p>
            <a:p>
              <a:pPr algn="ctr" eaLnBrk="1" hangingPunct="1"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network</a:t>
              </a:r>
            </a:p>
            <a:p>
              <a:pPr algn="ctr" eaLnBrk="1" hangingPunct="1"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link</a:t>
              </a:r>
            </a:p>
          </p:txBody>
        </p:sp>
        <p:sp>
          <p:nvSpPr>
            <p:cNvPr id="8228" name="Line 66"/>
            <p:cNvSpPr>
              <a:spLocks noChangeShapeType="1"/>
            </p:cNvSpPr>
            <p:nvPr/>
          </p:nvSpPr>
          <p:spPr bwMode="auto">
            <a:xfrm>
              <a:off x="2737" y="188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29" name="Line 67"/>
            <p:cNvSpPr>
              <a:spLocks noChangeShapeType="1"/>
            </p:cNvSpPr>
            <p:nvPr/>
          </p:nvSpPr>
          <p:spPr bwMode="auto">
            <a:xfrm>
              <a:off x="2737" y="1991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0" name="Line 68"/>
            <p:cNvSpPr>
              <a:spLocks noChangeShapeType="1"/>
            </p:cNvSpPr>
            <p:nvPr/>
          </p:nvSpPr>
          <p:spPr bwMode="auto">
            <a:xfrm>
              <a:off x="2735" y="209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1" name="Line 69"/>
            <p:cNvSpPr>
              <a:spLocks noChangeShapeType="1"/>
            </p:cNvSpPr>
            <p:nvPr/>
          </p:nvSpPr>
          <p:spPr bwMode="auto">
            <a:xfrm>
              <a:off x="2738" y="2206"/>
              <a:ext cx="48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2" name="Rectangle 70"/>
            <p:cNvSpPr>
              <a:spLocks noChangeArrowheads="1"/>
            </p:cNvSpPr>
            <p:nvPr/>
          </p:nvSpPr>
          <p:spPr bwMode="auto">
            <a:xfrm>
              <a:off x="2695" y="2212"/>
              <a:ext cx="552" cy="1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3" name="Line 71"/>
            <p:cNvSpPr>
              <a:spLocks noChangeShapeType="1"/>
            </p:cNvSpPr>
            <p:nvPr/>
          </p:nvSpPr>
          <p:spPr bwMode="auto">
            <a:xfrm>
              <a:off x="2738" y="2224"/>
              <a:ext cx="0" cy="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4" name="Line 72"/>
            <p:cNvSpPr>
              <a:spLocks noChangeShapeType="1"/>
            </p:cNvSpPr>
            <p:nvPr/>
          </p:nvSpPr>
          <p:spPr bwMode="auto">
            <a:xfrm>
              <a:off x="3225" y="2218"/>
              <a:ext cx="0" cy="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5" name="Rectangle 73"/>
            <p:cNvSpPr>
              <a:spLocks noChangeArrowheads="1"/>
            </p:cNvSpPr>
            <p:nvPr/>
          </p:nvSpPr>
          <p:spPr bwMode="auto">
            <a:xfrm>
              <a:off x="2737" y="2415"/>
              <a:ext cx="489" cy="5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6" name="Text Box 74"/>
            <p:cNvSpPr txBox="1">
              <a:spLocks noChangeArrowheads="1"/>
            </p:cNvSpPr>
            <p:nvPr/>
          </p:nvSpPr>
          <p:spPr bwMode="auto">
            <a:xfrm>
              <a:off x="2745" y="2345"/>
              <a:ext cx="462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endParaRPr lang="en-US" sz="1200" i="0" dirty="0">
                <a:latin typeface="Arial" charset="0"/>
                <a:cs typeface="+mn-cs"/>
              </a:endParaRPr>
            </a:p>
            <a:p>
              <a:pPr algn="ctr" eaLnBrk="1" hangingPunct="1">
                <a:defRPr/>
              </a:pPr>
              <a:endParaRPr lang="en-US" sz="1200" i="0" dirty="0">
                <a:latin typeface="Arial" charset="0"/>
                <a:cs typeface="+mn-cs"/>
              </a:endParaRPr>
            </a:p>
            <a:p>
              <a:pPr algn="ctr" eaLnBrk="1" hangingPunct="1">
                <a:defRPr/>
              </a:pPr>
              <a:endParaRPr lang="en-US" sz="1200" i="0" dirty="0">
                <a:latin typeface="Arial" charset="0"/>
                <a:cs typeface="+mn-cs"/>
              </a:endParaRPr>
            </a:p>
            <a:p>
              <a:pPr algn="ctr" eaLnBrk="1" hangingPunct="1"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link</a:t>
              </a:r>
            </a:p>
            <a:p>
              <a:pPr algn="ctr" eaLnBrk="1" hangingPunct="1">
                <a:defRPr/>
              </a:pPr>
              <a:r>
                <a:rPr lang="en-US" sz="1200" i="0" dirty="0">
                  <a:latin typeface="Arial" charset="0"/>
                  <a:cs typeface="+mn-cs"/>
                </a:rPr>
                <a:t>physical</a:t>
              </a:r>
            </a:p>
          </p:txBody>
        </p:sp>
        <p:sp>
          <p:nvSpPr>
            <p:cNvPr id="8237" name="Line 75"/>
            <p:cNvSpPr>
              <a:spLocks noChangeShapeType="1"/>
            </p:cNvSpPr>
            <p:nvPr/>
          </p:nvSpPr>
          <p:spPr bwMode="auto">
            <a:xfrm>
              <a:off x="2737" y="252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8" name="Line 76"/>
            <p:cNvSpPr>
              <a:spLocks noChangeShapeType="1"/>
            </p:cNvSpPr>
            <p:nvPr/>
          </p:nvSpPr>
          <p:spPr bwMode="auto">
            <a:xfrm>
              <a:off x="2737" y="2632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9" name="Line 77"/>
            <p:cNvSpPr>
              <a:spLocks noChangeShapeType="1"/>
            </p:cNvSpPr>
            <p:nvPr/>
          </p:nvSpPr>
          <p:spPr bwMode="auto">
            <a:xfrm>
              <a:off x="2735" y="2721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40" name="Line 78"/>
            <p:cNvSpPr>
              <a:spLocks noChangeShapeType="1"/>
            </p:cNvSpPr>
            <p:nvPr/>
          </p:nvSpPr>
          <p:spPr bwMode="auto">
            <a:xfrm>
              <a:off x="2733" y="283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41" name="Rectangle 79"/>
            <p:cNvSpPr>
              <a:spLocks noChangeArrowheads="1"/>
            </p:cNvSpPr>
            <p:nvPr/>
          </p:nvSpPr>
          <p:spPr bwMode="auto">
            <a:xfrm>
              <a:off x="2719" y="2390"/>
              <a:ext cx="518" cy="2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42" name="Line 80"/>
            <p:cNvSpPr>
              <a:spLocks noChangeShapeType="1"/>
            </p:cNvSpPr>
            <p:nvPr/>
          </p:nvSpPr>
          <p:spPr bwMode="auto">
            <a:xfrm>
              <a:off x="2737" y="2614"/>
              <a:ext cx="0" cy="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43" name="Line 81"/>
            <p:cNvSpPr>
              <a:spLocks noChangeShapeType="1"/>
            </p:cNvSpPr>
            <p:nvPr/>
          </p:nvSpPr>
          <p:spPr bwMode="auto">
            <a:xfrm>
              <a:off x="3226" y="2614"/>
              <a:ext cx="0" cy="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44" name="Rectangle 82"/>
            <p:cNvSpPr>
              <a:spLocks noChangeArrowheads="1"/>
            </p:cNvSpPr>
            <p:nvPr/>
          </p:nvSpPr>
          <p:spPr bwMode="auto">
            <a:xfrm>
              <a:off x="2736" y="1778"/>
              <a:ext cx="490" cy="431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45" name="Rectangle 83"/>
            <p:cNvSpPr>
              <a:spLocks noChangeArrowheads="1"/>
            </p:cNvSpPr>
            <p:nvPr/>
          </p:nvSpPr>
          <p:spPr bwMode="auto">
            <a:xfrm>
              <a:off x="2733" y="2721"/>
              <a:ext cx="489" cy="219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pic>
        <p:nvPicPr>
          <p:cNvPr id="8219" name="Picture 8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3300" y="1122363"/>
            <a:ext cx="1350963" cy="1350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8220" name="Picture 8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317625"/>
            <a:ext cx="1143000" cy="117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54300" name="Group 89"/>
          <p:cNvGrpSpPr>
            <a:grpSpLocks/>
          </p:cNvGrpSpPr>
          <p:nvPr/>
        </p:nvGrpSpPr>
        <p:grpSpPr bwMode="auto">
          <a:xfrm>
            <a:off x="5062538" y="5251450"/>
            <a:ext cx="1109662" cy="1095375"/>
            <a:chOff x="-44" y="1473"/>
            <a:chExt cx="981" cy="1105"/>
          </a:xfrm>
        </p:grpSpPr>
        <p:pic>
          <p:nvPicPr>
            <p:cNvPr id="54301" name="Picture 90" descr="desktop_computer_stylized_medium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4302" name="Freeform 91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5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8</a:t>
            </a:fld>
            <a:endParaRPr lang="en-US" sz="1200" dirty="0">
              <a:latin typeface="Tahoma" charset="0"/>
            </a:endParaRPr>
          </a:p>
        </p:txBody>
      </p:sp>
      <p:sp>
        <p:nvSpPr>
          <p:cNvPr id="5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82153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30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889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Adaptors communicating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25450" y="4275138"/>
            <a:ext cx="4067175" cy="1935162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sending side: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encapsulates datagram in frame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adds error checking bits, rdt, flow control, etc.</a:t>
            </a:r>
          </a:p>
        </p:txBody>
      </p:sp>
      <p:sp>
        <p:nvSpPr>
          <p:cNvPr id="922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508500" y="4273550"/>
            <a:ext cx="4090988" cy="1851025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receiving side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looks for errors, rdt, flow control, etc.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extracts datagram, passes to upper layer at receiving side</a:t>
            </a:r>
          </a:p>
        </p:txBody>
      </p:sp>
      <p:sp>
        <p:nvSpPr>
          <p:cNvPr id="9223" name="Rectangle 27"/>
          <p:cNvSpPr>
            <a:spLocks noChangeArrowheads="1"/>
          </p:cNvSpPr>
          <p:nvPr/>
        </p:nvSpPr>
        <p:spPr bwMode="auto">
          <a:xfrm>
            <a:off x="4113213" y="3394075"/>
            <a:ext cx="1444625" cy="2127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24" name="Rectangle 28"/>
          <p:cNvSpPr>
            <a:spLocks noChangeArrowheads="1"/>
          </p:cNvSpPr>
          <p:nvPr/>
        </p:nvSpPr>
        <p:spPr bwMode="auto">
          <a:xfrm>
            <a:off x="1957388" y="1373188"/>
            <a:ext cx="1944687" cy="17700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25" name="Line 29"/>
          <p:cNvSpPr>
            <a:spLocks noChangeShapeType="1"/>
          </p:cNvSpPr>
          <p:nvPr/>
        </p:nvSpPr>
        <p:spPr bwMode="auto">
          <a:xfrm>
            <a:off x="2052638" y="1892300"/>
            <a:ext cx="0" cy="393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26" name="Rectangle 30"/>
          <p:cNvSpPr>
            <a:spLocks noChangeArrowheads="1"/>
          </p:cNvSpPr>
          <p:nvPr/>
        </p:nvSpPr>
        <p:spPr bwMode="auto">
          <a:xfrm>
            <a:off x="2193925" y="2212975"/>
            <a:ext cx="1187450" cy="866775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27" name="Rectangle 31"/>
          <p:cNvSpPr>
            <a:spLocks noChangeArrowheads="1"/>
          </p:cNvSpPr>
          <p:nvPr/>
        </p:nvSpPr>
        <p:spPr bwMode="auto">
          <a:xfrm>
            <a:off x="2435225" y="2773363"/>
            <a:ext cx="704850" cy="2254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28" name="Rectangle 32"/>
          <p:cNvSpPr>
            <a:spLocks noChangeArrowheads="1"/>
          </p:cNvSpPr>
          <p:nvPr/>
        </p:nvSpPr>
        <p:spPr bwMode="auto">
          <a:xfrm>
            <a:off x="2435225" y="2301875"/>
            <a:ext cx="695325" cy="415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1200" i="0" dirty="0">
                <a:latin typeface="Arial" charset="0"/>
                <a:cs typeface="+mn-cs"/>
              </a:rPr>
              <a:t>controller</a:t>
            </a:r>
          </a:p>
        </p:txBody>
      </p:sp>
      <p:sp>
        <p:nvSpPr>
          <p:cNvPr id="9229" name="Line 33"/>
          <p:cNvSpPr>
            <a:spLocks noChangeShapeType="1"/>
          </p:cNvSpPr>
          <p:nvPr/>
        </p:nvSpPr>
        <p:spPr bwMode="auto">
          <a:xfrm>
            <a:off x="2346325" y="2055813"/>
            <a:ext cx="143827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30" name="Line 34"/>
          <p:cNvSpPr>
            <a:spLocks noChangeShapeType="1"/>
          </p:cNvSpPr>
          <p:nvPr/>
        </p:nvSpPr>
        <p:spPr bwMode="auto">
          <a:xfrm flipV="1">
            <a:off x="2763838" y="2062163"/>
            <a:ext cx="0" cy="23971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31" name="Rectangle 35"/>
          <p:cNvSpPr>
            <a:spLocks noChangeArrowheads="1"/>
          </p:cNvSpPr>
          <p:nvPr/>
        </p:nvSpPr>
        <p:spPr bwMode="auto">
          <a:xfrm>
            <a:off x="2228850" y="1501775"/>
            <a:ext cx="695325" cy="415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lang="en-US" sz="1400" i="0" dirty="0">
              <a:latin typeface="Arial" charset="0"/>
              <a:cs typeface="+mn-cs"/>
            </a:endParaRPr>
          </a:p>
        </p:txBody>
      </p:sp>
      <p:sp>
        <p:nvSpPr>
          <p:cNvPr id="9232" name="Rectangle 36"/>
          <p:cNvSpPr>
            <a:spLocks noChangeArrowheads="1"/>
          </p:cNvSpPr>
          <p:nvPr/>
        </p:nvSpPr>
        <p:spPr bwMode="auto">
          <a:xfrm>
            <a:off x="3095625" y="1503363"/>
            <a:ext cx="695325" cy="415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lang="en-US" sz="1400" i="0" dirty="0">
              <a:latin typeface="Arial" charset="0"/>
              <a:cs typeface="+mn-cs"/>
            </a:endParaRPr>
          </a:p>
        </p:txBody>
      </p:sp>
      <p:sp>
        <p:nvSpPr>
          <p:cNvPr id="9233" name="Line 37"/>
          <p:cNvSpPr>
            <a:spLocks noChangeShapeType="1"/>
          </p:cNvSpPr>
          <p:nvPr/>
        </p:nvSpPr>
        <p:spPr bwMode="auto">
          <a:xfrm flipH="1" flipV="1">
            <a:off x="2551113" y="1917700"/>
            <a:ext cx="1587" cy="138113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34" name="Line 38"/>
          <p:cNvSpPr>
            <a:spLocks noChangeShapeType="1"/>
          </p:cNvSpPr>
          <p:nvPr/>
        </p:nvSpPr>
        <p:spPr bwMode="auto">
          <a:xfrm flipH="1" flipV="1">
            <a:off x="3475038" y="1920875"/>
            <a:ext cx="0" cy="13652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35" name="Rectangle 39"/>
          <p:cNvSpPr>
            <a:spLocks noChangeArrowheads="1"/>
          </p:cNvSpPr>
          <p:nvPr/>
        </p:nvSpPr>
        <p:spPr bwMode="auto">
          <a:xfrm>
            <a:off x="5832475" y="1430338"/>
            <a:ext cx="1944688" cy="17319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36" name="Rectangle 40"/>
          <p:cNvSpPr>
            <a:spLocks noChangeArrowheads="1"/>
          </p:cNvSpPr>
          <p:nvPr/>
        </p:nvSpPr>
        <p:spPr bwMode="auto">
          <a:xfrm>
            <a:off x="6069013" y="2232025"/>
            <a:ext cx="1187450" cy="866775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37" name="Rectangle 41"/>
          <p:cNvSpPr>
            <a:spLocks noChangeArrowheads="1"/>
          </p:cNvSpPr>
          <p:nvPr/>
        </p:nvSpPr>
        <p:spPr bwMode="auto">
          <a:xfrm>
            <a:off x="6310313" y="2792413"/>
            <a:ext cx="703262" cy="2254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38" name="Rectangle 42"/>
          <p:cNvSpPr>
            <a:spLocks noChangeArrowheads="1"/>
          </p:cNvSpPr>
          <p:nvPr/>
        </p:nvSpPr>
        <p:spPr bwMode="auto">
          <a:xfrm>
            <a:off x="6310313" y="2320925"/>
            <a:ext cx="695325" cy="415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1200" i="0" dirty="0">
                <a:latin typeface="Arial" charset="0"/>
                <a:cs typeface="+mn-cs"/>
              </a:rPr>
              <a:t>controller</a:t>
            </a:r>
          </a:p>
        </p:txBody>
      </p:sp>
      <p:sp>
        <p:nvSpPr>
          <p:cNvPr id="9239" name="Line 43"/>
          <p:cNvSpPr>
            <a:spLocks noChangeShapeType="1"/>
          </p:cNvSpPr>
          <p:nvPr/>
        </p:nvSpPr>
        <p:spPr bwMode="auto">
          <a:xfrm>
            <a:off x="6221413" y="2074863"/>
            <a:ext cx="143827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40" name="Line 44"/>
          <p:cNvSpPr>
            <a:spLocks noChangeShapeType="1"/>
          </p:cNvSpPr>
          <p:nvPr/>
        </p:nvSpPr>
        <p:spPr bwMode="auto">
          <a:xfrm flipV="1">
            <a:off x="6638925" y="2081213"/>
            <a:ext cx="0" cy="23971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41" name="Rectangle 45"/>
          <p:cNvSpPr>
            <a:spLocks noChangeArrowheads="1"/>
          </p:cNvSpPr>
          <p:nvPr/>
        </p:nvSpPr>
        <p:spPr bwMode="auto">
          <a:xfrm>
            <a:off x="6103938" y="1520825"/>
            <a:ext cx="695325" cy="415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lang="en-US" sz="1400" i="0" dirty="0">
              <a:latin typeface="Arial" charset="0"/>
              <a:cs typeface="+mn-cs"/>
            </a:endParaRPr>
          </a:p>
        </p:txBody>
      </p:sp>
      <p:sp>
        <p:nvSpPr>
          <p:cNvPr id="9242" name="Rectangle 46"/>
          <p:cNvSpPr>
            <a:spLocks noChangeArrowheads="1"/>
          </p:cNvSpPr>
          <p:nvPr/>
        </p:nvSpPr>
        <p:spPr bwMode="auto">
          <a:xfrm>
            <a:off x="6970713" y="1522413"/>
            <a:ext cx="695325" cy="415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lang="en-US" sz="1400" i="0" dirty="0">
              <a:latin typeface="Arial" charset="0"/>
              <a:cs typeface="+mn-cs"/>
            </a:endParaRPr>
          </a:p>
        </p:txBody>
      </p:sp>
      <p:sp>
        <p:nvSpPr>
          <p:cNvPr id="9243" name="Line 47"/>
          <p:cNvSpPr>
            <a:spLocks noChangeShapeType="1"/>
          </p:cNvSpPr>
          <p:nvPr/>
        </p:nvSpPr>
        <p:spPr bwMode="auto">
          <a:xfrm flipH="1" flipV="1">
            <a:off x="6426200" y="1936750"/>
            <a:ext cx="1588" cy="138113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44" name="Line 48"/>
          <p:cNvSpPr>
            <a:spLocks noChangeShapeType="1"/>
          </p:cNvSpPr>
          <p:nvPr/>
        </p:nvSpPr>
        <p:spPr bwMode="auto">
          <a:xfrm flipH="1" flipV="1">
            <a:off x="7350125" y="1939925"/>
            <a:ext cx="0" cy="13652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45" name="Text Box 49"/>
          <p:cNvSpPr txBox="1">
            <a:spLocks noChangeArrowheads="1"/>
          </p:cNvSpPr>
          <p:nvPr/>
        </p:nvSpPr>
        <p:spPr bwMode="auto">
          <a:xfrm>
            <a:off x="1935163" y="3059113"/>
            <a:ext cx="13350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dirty="0">
                <a:latin typeface="Arial" charset="0"/>
                <a:cs typeface="+mn-cs"/>
              </a:rPr>
              <a:t>sending host</a:t>
            </a:r>
          </a:p>
        </p:txBody>
      </p:sp>
      <p:sp>
        <p:nvSpPr>
          <p:cNvPr id="9246" name="Text Box 50"/>
          <p:cNvSpPr txBox="1">
            <a:spLocks noChangeArrowheads="1"/>
          </p:cNvSpPr>
          <p:nvPr/>
        </p:nvSpPr>
        <p:spPr bwMode="auto">
          <a:xfrm>
            <a:off x="5727700" y="3057525"/>
            <a:ext cx="14382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dirty="0">
                <a:latin typeface="Arial" charset="0"/>
                <a:cs typeface="+mn-cs"/>
              </a:rPr>
              <a:t>receiving host</a:t>
            </a:r>
          </a:p>
        </p:txBody>
      </p:sp>
      <p:sp>
        <p:nvSpPr>
          <p:cNvPr id="9247" name="Rectangle 51"/>
          <p:cNvSpPr>
            <a:spLocks noChangeArrowheads="1"/>
          </p:cNvSpPr>
          <p:nvPr/>
        </p:nvSpPr>
        <p:spPr bwMode="auto">
          <a:xfrm>
            <a:off x="1512888" y="1966913"/>
            <a:ext cx="717550" cy="1698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48" name="Text Box 52"/>
          <p:cNvSpPr txBox="1">
            <a:spLocks noChangeArrowheads="1"/>
          </p:cNvSpPr>
          <p:nvPr/>
        </p:nvSpPr>
        <p:spPr bwMode="auto">
          <a:xfrm>
            <a:off x="1476375" y="1922463"/>
            <a:ext cx="8255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i="0" dirty="0">
                <a:latin typeface="Arial" charset="0"/>
                <a:cs typeface="+mn-cs"/>
              </a:rPr>
              <a:t>datagram</a:t>
            </a:r>
          </a:p>
        </p:txBody>
      </p:sp>
      <p:sp>
        <p:nvSpPr>
          <p:cNvPr id="9249" name="Line 53"/>
          <p:cNvSpPr>
            <a:spLocks noChangeShapeType="1"/>
          </p:cNvSpPr>
          <p:nvPr/>
        </p:nvSpPr>
        <p:spPr bwMode="auto">
          <a:xfrm>
            <a:off x="5961063" y="1870075"/>
            <a:ext cx="0" cy="392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50" name="Rectangle 54"/>
          <p:cNvSpPr>
            <a:spLocks noChangeArrowheads="1"/>
          </p:cNvSpPr>
          <p:nvPr/>
        </p:nvSpPr>
        <p:spPr bwMode="auto">
          <a:xfrm>
            <a:off x="5422900" y="1985963"/>
            <a:ext cx="715963" cy="1698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51" name="Text Box 55"/>
          <p:cNvSpPr txBox="1">
            <a:spLocks noChangeArrowheads="1"/>
          </p:cNvSpPr>
          <p:nvPr/>
        </p:nvSpPr>
        <p:spPr bwMode="auto">
          <a:xfrm>
            <a:off x="5386388" y="1941513"/>
            <a:ext cx="82391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i="0" dirty="0">
                <a:latin typeface="Arial" charset="0"/>
                <a:cs typeface="+mn-cs"/>
              </a:rPr>
              <a:t>datagram</a:t>
            </a:r>
          </a:p>
        </p:txBody>
      </p:sp>
      <p:sp>
        <p:nvSpPr>
          <p:cNvPr id="56355" name="Freeform 56"/>
          <p:cNvSpPr>
            <a:spLocks/>
          </p:cNvSpPr>
          <p:nvPr/>
        </p:nvSpPr>
        <p:spPr bwMode="auto">
          <a:xfrm>
            <a:off x="2768600" y="2903538"/>
            <a:ext cx="3883025" cy="447675"/>
          </a:xfrm>
          <a:custGeom>
            <a:avLst/>
            <a:gdLst>
              <a:gd name="T0" fmla="*/ 0 w 2597"/>
              <a:gd name="T1" fmla="*/ 0 h 384"/>
              <a:gd name="T2" fmla="*/ 0 w 2597"/>
              <a:gd name="T3" fmla="*/ 2147483647 h 384"/>
              <a:gd name="T4" fmla="*/ 2147483647 w 2597"/>
              <a:gd name="T5" fmla="*/ 2147483647 h 384"/>
              <a:gd name="T6" fmla="*/ 2147483647 w 2597"/>
              <a:gd name="T7" fmla="*/ 2147483647 h 38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597" h="384">
                <a:moveTo>
                  <a:pt x="0" y="0"/>
                </a:moveTo>
                <a:lnTo>
                  <a:pt x="0" y="384"/>
                </a:lnTo>
                <a:lnTo>
                  <a:pt x="2597" y="384"/>
                </a:lnTo>
                <a:lnTo>
                  <a:pt x="2597" y="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9253" name="Rectangle 57"/>
          <p:cNvSpPr>
            <a:spLocks noChangeArrowheads="1"/>
          </p:cNvSpPr>
          <p:nvPr/>
        </p:nvSpPr>
        <p:spPr bwMode="auto">
          <a:xfrm>
            <a:off x="4681538" y="3419475"/>
            <a:ext cx="717550" cy="169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54" name="Text Box 58"/>
          <p:cNvSpPr txBox="1">
            <a:spLocks noChangeArrowheads="1"/>
          </p:cNvSpPr>
          <p:nvPr/>
        </p:nvSpPr>
        <p:spPr bwMode="auto">
          <a:xfrm>
            <a:off x="4654550" y="3375025"/>
            <a:ext cx="8239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i="0" dirty="0">
                <a:latin typeface="Arial" charset="0"/>
                <a:cs typeface="+mn-cs"/>
              </a:rPr>
              <a:t>datagram</a:t>
            </a:r>
          </a:p>
        </p:txBody>
      </p:sp>
      <p:sp>
        <p:nvSpPr>
          <p:cNvPr id="9255" name="Line 59"/>
          <p:cNvSpPr>
            <a:spLocks noChangeShapeType="1"/>
          </p:cNvSpPr>
          <p:nvPr/>
        </p:nvSpPr>
        <p:spPr bwMode="auto">
          <a:xfrm>
            <a:off x="5654675" y="3511550"/>
            <a:ext cx="276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56" name="Text Box 60"/>
          <p:cNvSpPr txBox="1">
            <a:spLocks noChangeArrowheads="1"/>
          </p:cNvSpPr>
          <p:nvPr/>
        </p:nvSpPr>
        <p:spPr bwMode="auto">
          <a:xfrm>
            <a:off x="2244725" y="3668713"/>
            <a:ext cx="7048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dirty="0">
                <a:latin typeface="Arial" charset="0"/>
                <a:cs typeface="+mn-cs"/>
              </a:rPr>
              <a:t>frame</a:t>
            </a:r>
          </a:p>
        </p:txBody>
      </p:sp>
      <p:sp>
        <p:nvSpPr>
          <p:cNvPr id="9257" name="Line 61"/>
          <p:cNvSpPr>
            <a:spLocks noChangeShapeType="1"/>
          </p:cNvSpPr>
          <p:nvPr/>
        </p:nvSpPr>
        <p:spPr bwMode="auto">
          <a:xfrm flipV="1">
            <a:off x="2873375" y="3575050"/>
            <a:ext cx="1155700" cy="212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56361" name="Picture 63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00" y="914400"/>
            <a:ext cx="54848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9</a:t>
            </a:fld>
            <a:endParaRPr lang="en-US" sz="1200" dirty="0">
              <a:latin typeface="Tahoma" charset="0"/>
            </a:endParaRPr>
          </a:p>
        </p:txBody>
      </p:sp>
      <p:sp>
        <p:nvSpPr>
          <p:cNvPr id="4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70307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1" name="Picture 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028700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Link layer, </a:t>
            </a:r>
            <a:r>
              <a:rPr lang="en-US" sz="4000" dirty="0">
                <a:latin typeface="Gill Sans MT" charset="0"/>
                <a:cs typeface="+mj-cs"/>
              </a:rPr>
              <a:t>LAN</a:t>
            </a:r>
            <a:r>
              <a:rPr lang="en-US" dirty="0">
                <a:latin typeface="Gill Sans MT" charset="0"/>
                <a:cs typeface="+mj-cs"/>
              </a:rPr>
              <a:t>s: outline</a:t>
            </a: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3922713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6.1</a:t>
            </a: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 </a:t>
            </a:r>
            <a:r>
              <a:rPr lang="en-US" dirty="0">
                <a:latin typeface="Gill Sans MT" charset="0"/>
                <a:cs typeface="+mn-cs"/>
              </a:rPr>
              <a:t>introduction, services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  <a:latin typeface="Gill Sans MT" charset="0"/>
                <a:cs typeface="+mn-cs"/>
              </a:rPr>
              <a:t>6.2 error detection, correction 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6.3</a:t>
            </a:r>
            <a:r>
              <a:rPr lang="en-US" dirty="0">
                <a:latin typeface="Gill Sans MT" charset="0"/>
                <a:cs typeface="+mn-cs"/>
              </a:rPr>
              <a:t> multiple access protocols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6.4</a:t>
            </a:r>
            <a:r>
              <a:rPr lang="en-US" dirty="0">
                <a:latin typeface="Gill Sans MT" charset="0"/>
                <a:cs typeface="+mn-cs"/>
              </a:rPr>
              <a:t> LANs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addressing, ARP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Ethernet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switches</a:t>
            </a:r>
          </a:p>
          <a:p>
            <a:pPr lvl="1">
              <a:defRPr/>
            </a:pPr>
            <a:r>
              <a:rPr lang="en-US" dirty="0">
                <a:latin typeface="Gill Sans MT" charset="0"/>
              </a:rPr>
              <a:t>VLANS</a:t>
            </a:r>
          </a:p>
        </p:txBody>
      </p:sp>
      <p:sp>
        <p:nvSpPr>
          <p:cNvPr id="307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054475" cy="4648200"/>
          </a:xfrm>
        </p:spPr>
        <p:txBody>
          <a:bodyPr/>
          <a:lstStyle/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6.5</a:t>
            </a:r>
            <a:r>
              <a:rPr lang="en-US" dirty="0">
                <a:latin typeface="Gill Sans MT" charset="0"/>
                <a:cs typeface="+mn-cs"/>
              </a:rPr>
              <a:t> link virtualization: MPLS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6.6</a:t>
            </a:r>
            <a:r>
              <a:rPr lang="en-US" dirty="0">
                <a:latin typeface="Gill Sans MT" charset="0"/>
                <a:cs typeface="+mn-cs"/>
              </a:rPr>
              <a:t> data center networking</a:t>
            </a:r>
          </a:p>
          <a:p>
            <a:pPr marL="457200" indent="-457200"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6.7</a:t>
            </a:r>
            <a:r>
              <a:rPr lang="en-US" dirty="0">
                <a:latin typeface="Gill Sans MT" charset="0"/>
                <a:cs typeface="+mn-cs"/>
              </a:rPr>
              <a:t> a day in the life of a web request</a:t>
            </a:r>
          </a:p>
          <a:p>
            <a:pPr marL="457200" indent="-457200">
              <a:buFont typeface="Wingdings" charset="0"/>
              <a:buNone/>
              <a:defRPr/>
            </a:pPr>
            <a:endParaRPr lang="en-US" sz="2600" dirty="0">
              <a:latin typeface="Gill Sans MT" charset="0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10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266620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44475"/>
            <a:ext cx="7772400" cy="1016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Error detection</a:t>
            </a:r>
          </a:p>
        </p:txBody>
      </p:sp>
      <p:pic>
        <p:nvPicPr>
          <p:cNvPr id="60420" name="Picture 3" descr="521 Error Detection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0" y="3322638"/>
            <a:ext cx="5670550" cy="310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0" name="Text Box 4"/>
          <p:cNvSpPr txBox="1">
            <a:spLocks noChangeArrowheads="1"/>
          </p:cNvSpPr>
          <p:nvPr/>
        </p:nvSpPr>
        <p:spPr bwMode="auto">
          <a:xfrm>
            <a:off x="533400" y="1312863"/>
            <a:ext cx="8331200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000" i="0" dirty="0">
                <a:latin typeface="Arial" charset="0"/>
                <a:cs typeface="+mn-cs"/>
              </a:rPr>
              <a:t>EDC= Error Detection and Correction bits (redundancy)</a:t>
            </a:r>
          </a:p>
          <a:p>
            <a:pPr>
              <a:defRPr/>
            </a:pPr>
            <a:r>
              <a:rPr lang="en-US" sz="2000" i="0" dirty="0">
                <a:latin typeface="Arial" charset="0"/>
                <a:cs typeface="+mn-cs"/>
              </a:rPr>
              <a:t>D    = Data protected by error checking, may include header fields </a:t>
            </a:r>
            <a:br>
              <a:rPr lang="en-US" sz="2000" i="0" dirty="0">
                <a:latin typeface="Arial" charset="0"/>
                <a:cs typeface="+mn-cs"/>
              </a:rPr>
            </a:br>
            <a:endParaRPr lang="en-US" sz="2000" i="0" dirty="0">
              <a:latin typeface="Arial" charset="0"/>
              <a:cs typeface="+mn-cs"/>
            </a:endParaRPr>
          </a:p>
          <a:p>
            <a:pPr>
              <a:buFontTx/>
              <a:buChar char="•"/>
              <a:defRPr/>
            </a:pPr>
            <a:r>
              <a:rPr lang="en-US" sz="2000" i="0" dirty="0">
                <a:latin typeface="Arial" charset="0"/>
                <a:cs typeface="+mn-cs"/>
              </a:rPr>
              <a:t> Error detection not 100% reliable!</a:t>
            </a:r>
          </a:p>
          <a:p>
            <a:pPr lvl="1">
              <a:buFontTx/>
              <a:buChar char="•"/>
              <a:defRPr/>
            </a:pPr>
            <a:r>
              <a:rPr lang="en-US" sz="2000" i="0" dirty="0">
                <a:latin typeface="Arial" charset="0"/>
                <a:cs typeface="+mn-cs"/>
              </a:rPr>
              <a:t> protocol may miss some errors, but rarely</a:t>
            </a:r>
          </a:p>
          <a:p>
            <a:pPr lvl="1">
              <a:buFontTx/>
              <a:buChar char="•"/>
              <a:defRPr/>
            </a:pPr>
            <a:r>
              <a:rPr lang="en-US" sz="2000" i="0" dirty="0">
                <a:latin typeface="Arial" charset="0"/>
                <a:cs typeface="+mn-cs"/>
              </a:rPr>
              <a:t> larger EDC field yields better detection and correction</a:t>
            </a:r>
          </a:p>
        </p:txBody>
      </p:sp>
      <p:sp>
        <p:nvSpPr>
          <p:cNvPr id="11271" name="Rectangle 6"/>
          <p:cNvSpPr>
            <a:spLocks noChangeArrowheads="1"/>
          </p:cNvSpPr>
          <p:nvPr/>
        </p:nvSpPr>
        <p:spPr bwMode="auto">
          <a:xfrm>
            <a:off x="5384800" y="3916363"/>
            <a:ext cx="176213" cy="1936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1272" name="Text Box 5"/>
          <p:cNvSpPr txBox="1">
            <a:spLocks noChangeArrowheads="1"/>
          </p:cNvSpPr>
          <p:nvPr/>
        </p:nvSpPr>
        <p:spPr bwMode="auto">
          <a:xfrm>
            <a:off x="4773613" y="3873500"/>
            <a:ext cx="9429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i="0" dirty="0">
                <a:latin typeface="Arial" charset="0"/>
                <a:cs typeface="+mn-cs"/>
              </a:rPr>
              <a:t>otherwise</a:t>
            </a:r>
          </a:p>
        </p:txBody>
      </p:sp>
      <p:pic>
        <p:nvPicPr>
          <p:cNvPr id="60424" name="Picture 7" descr="underline_base"/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971165"/>
            <a:ext cx="3737081" cy="175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11</a:t>
            </a:fld>
            <a:endParaRPr lang="en-US" sz="1200" dirty="0">
              <a:latin typeface="Tahoma" charset="0"/>
            </a:endParaRP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868532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7" name="Picture 11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" y="936625"/>
            <a:ext cx="3656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285750"/>
            <a:ext cx="5334000" cy="8382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Parity checking</a:t>
            </a:r>
          </a:p>
        </p:txBody>
      </p:sp>
      <p:pic>
        <p:nvPicPr>
          <p:cNvPr id="62469" name="Picture 3" descr="522 Single Bit Parity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" y="2727325"/>
            <a:ext cx="2609850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5" name="Text Box 4"/>
          <p:cNvSpPr txBox="1">
            <a:spLocks noChangeArrowheads="1"/>
          </p:cNvSpPr>
          <p:nvPr/>
        </p:nvSpPr>
        <p:spPr bwMode="auto">
          <a:xfrm>
            <a:off x="661988" y="1416050"/>
            <a:ext cx="28194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33363" indent="-233363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400" dirty="0">
                <a:solidFill>
                  <a:srgbClr val="CC0000"/>
                </a:solidFill>
                <a:latin typeface="Arial" charset="0"/>
                <a:cs typeface="+mn-cs"/>
              </a:rPr>
              <a:t>single bit parity:</a:t>
            </a:r>
            <a:r>
              <a:rPr lang="en-US" sz="2400" b="1" dirty="0">
                <a:solidFill>
                  <a:srgbClr val="CC0000"/>
                </a:solidFill>
                <a:latin typeface="Arial" charset="0"/>
                <a:cs typeface="+mn-cs"/>
              </a:rPr>
              <a:t> </a:t>
            </a:r>
          </a:p>
          <a:p>
            <a:pPr marL="342900" indent="-3429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dirty="0">
                <a:latin typeface="Arial" charset="0"/>
                <a:cs typeface="+mn-cs"/>
              </a:rPr>
              <a:t>d</a:t>
            </a:r>
            <a:r>
              <a:rPr lang="en-US" sz="2000" i="0" dirty="0">
                <a:latin typeface="Arial" charset="0"/>
                <a:cs typeface="+mn-cs"/>
              </a:rPr>
              <a:t>etect single bit errors</a:t>
            </a:r>
          </a:p>
        </p:txBody>
      </p:sp>
      <p:pic>
        <p:nvPicPr>
          <p:cNvPr id="62471" name="Picture 5" descr="523 Double Bit Parity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0213" y="2327275"/>
            <a:ext cx="375126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7" name="Text Box 6"/>
          <p:cNvSpPr txBox="1">
            <a:spLocks noChangeArrowheads="1"/>
          </p:cNvSpPr>
          <p:nvPr/>
        </p:nvSpPr>
        <p:spPr bwMode="auto">
          <a:xfrm>
            <a:off x="3825875" y="1409700"/>
            <a:ext cx="4484211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400" dirty="0">
                <a:solidFill>
                  <a:srgbClr val="CC0000"/>
                </a:solidFill>
                <a:latin typeface="Arial" charset="0"/>
                <a:cs typeface="+mn-cs"/>
              </a:rPr>
              <a:t>two-dimensional bit parity:</a:t>
            </a:r>
          </a:p>
          <a:p>
            <a:pPr marL="342900" indent="-3429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2000" i="0" dirty="0">
                <a:latin typeface="Arial" charset="0"/>
                <a:cs typeface="+mn-cs"/>
              </a:rPr>
              <a:t> detect and correct single bit errors</a:t>
            </a:r>
          </a:p>
        </p:txBody>
      </p:sp>
      <p:sp>
        <p:nvSpPr>
          <p:cNvPr id="12298" name="Oval 7"/>
          <p:cNvSpPr>
            <a:spLocks noChangeArrowheads="1"/>
          </p:cNvSpPr>
          <p:nvPr/>
        </p:nvSpPr>
        <p:spPr bwMode="auto">
          <a:xfrm>
            <a:off x="4572000" y="5338763"/>
            <a:ext cx="163513" cy="211137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2299" name="Oval 9"/>
          <p:cNvSpPr>
            <a:spLocks noChangeArrowheads="1"/>
          </p:cNvSpPr>
          <p:nvPr/>
        </p:nvSpPr>
        <p:spPr bwMode="auto">
          <a:xfrm>
            <a:off x="6248400" y="5334000"/>
            <a:ext cx="147638" cy="207963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2475" name="TextBox 1"/>
          <p:cNvSpPr txBox="1">
            <a:spLocks noChangeArrowheads="1"/>
          </p:cNvSpPr>
          <p:nvPr/>
        </p:nvSpPr>
        <p:spPr bwMode="auto">
          <a:xfrm>
            <a:off x="4503738" y="5241925"/>
            <a:ext cx="3079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600" i="0" dirty="0">
                <a:latin typeface="Courier New" charset="0"/>
                <a:cs typeface="Courier New" charset="0"/>
              </a:rPr>
              <a:t>0</a:t>
            </a:r>
          </a:p>
        </p:txBody>
      </p:sp>
      <p:sp>
        <p:nvSpPr>
          <p:cNvPr id="62476" name="TextBox 13"/>
          <p:cNvSpPr txBox="1">
            <a:spLocks noChangeArrowheads="1"/>
          </p:cNvSpPr>
          <p:nvPr/>
        </p:nvSpPr>
        <p:spPr bwMode="auto">
          <a:xfrm>
            <a:off x="6162675" y="5232400"/>
            <a:ext cx="3079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600" i="0" dirty="0">
                <a:latin typeface="Courier New" charset="0"/>
                <a:cs typeface="Courier New" charset="0"/>
              </a:rPr>
              <a:t>0</a:t>
            </a: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12</a:t>
            </a:fld>
            <a:endParaRPr lang="en-US" sz="1200" dirty="0">
              <a:latin typeface="Tahoma" charset="0"/>
            </a:endParaRPr>
          </a:p>
        </p:txBody>
      </p:sp>
      <p:sp>
        <p:nvSpPr>
          <p:cNvPr id="1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720426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3838"/>
            <a:ext cx="7772400" cy="1014412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Internet checksum </a:t>
            </a:r>
            <a:r>
              <a:rPr lang="en-US" sz="3600" dirty="0">
                <a:latin typeface="Gill Sans MT" charset="0"/>
                <a:cs typeface="+mj-cs"/>
              </a:rPr>
              <a:t>(review)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2625" y="2519363"/>
            <a:ext cx="3657600" cy="3495675"/>
          </a:xfrm>
        </p:spPr>
        <p:txBody>
          <a:bodyPr/>
          <a:lstStyle/>
          <a:p>
            <a:pPr>
              <a:lnSpc>
                <a:spcPct val="75000"/>
              </a:lnSpc>
              <a:buFont typeface="Wingdings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charset="0"/>
                <a:cs typeface="+mn-cs"/>
              </a:rPr>
              <a:t>sender:</a:t>
            </a:r>
          </a:p>
          <a:p>
            <a:pPr>
              <a:lnSpc>
                <a:spcPct val="75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treat segment contents as sequence of 16-bit integers</a:t>
            </a:r>
          </a:p>
          <a:p>
            <a:pPr>
              <a:lnSpc>
                <a:spcPct val="75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checksum: addition (1</a:t>
            </a:r>
            <a:r>
              <a:rPr lang="ja-JP" altLang="en-US" sz="2400">
                <a:latin typeface="Gill Sans MT" charset="0"/>
                <a:cs typeface="+mn-cs"/>
              </a:rPr>
              <a:t>’</a:t>
            </a:r>
            <a:r>
              <a:rPr lang="en-US" sz="2400" dirty="0">
                <a:latin typeface="Gill Sans MT" charset="0"/>
                <a:cs typeface="+mn-cs"/>
              </a:rPr>
              <a:t>s complement sum) of segment contents</a:t>
            </a:r>
          </a:p>
          <a:p>
            <a:pPr>
              <a:lnSpc>
                <a:spcPct val="75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sender puts checksum value into UDP checksum field</a:t>
            </a:r>
          </a:p>
          <a:p>
            <a:pPr>
              <a:lnSpc>
                <a:spcPct val="75000"/>
              </a:lnSpc>
              <a:buFont typeface="Wingdings" charset="0"/>
              <a:buNone/>
              <a:defRPr/>
            </a:pPr>
            <a:endParaRPr lang="en-US" dirty="0">
              <a:latin typeface="Gill Sans MT" charset="0"/>
              <a:cs typeface="+mn-cs"/>
            </a:endParaRPr>
          </a:p>
          <a:p>
            <a:pPr>
              <a:lnSpc>
                <a:spcPct val="75000"/>
              </a:lnSpc>
              <a:defRPr/>
            </a:pPr>
            <a:endParaRPr lang="en-US" dirty="0">
              <a:latin typeface="Gill Sans MT" charset="0"/>
              <a:cs typeface="+mn-cs"/>
            </a:endParaRPr>
          </a:p>
        </p:txBody>
      </p:sp>
      <p:sp>
        <p:nvSpPr>
          <p:cNvPr id="1331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2552700"/>
            <a:ext cx="4057650" cy="3414713"/>
          </a:xfrm>
        </p:spPr>
        <p:txBody>
          <a:bodyPr/>
          <a:lstStyle/>
          <a:p>
            <a:pPr>
              <a:lnSpc>
                <a:spcPct val="75000"/>
              </a:lnSpc>
              <a:buFont typeface="Wingdings" charset="0"/>
              <a:buNone/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charset="0"/>
                <a:cs typeface="+mn-cs"/>
              </a:rPr>
              <a:t>receiver:</a:t>
            </a:r>
          </a:p>
          <a:p>
            <a:pPr>
              <a:lnSpc>
                <a:spcPct val="75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compute checksum of received segment</a:t>
            </a:r>
          </a:p>
          <a:p>
            <a:pPr>
              <a:lnSpc>
                <a:spcPct val="75000"/>
              </a:lnSpc>
              <a:defRPr/>
            </a:pPr>
            <a:r>
              <a:rPr lang="en-US" sz="2400" dirty="0">
                <a:latin typeface="Gill Sans MT" charset="0"/>
                <a:cs typeface="+mn-cs"/>
              </a:rPr>
              <a:t>check if computed checksum equals checksum field value: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NO - error detected</a:t>
            </a: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charset="0"/>
              </a:rPr>
              <a:t>YES - no error detected. </a:t>
            </a:r>
            <a:r>
              <a:rPr lang="en-US" i="1" dirty="0">
                <a:latin typeface="Gill Sans MT" charset="0"/>
              </a:rPr>
              <a:t>But maybe errors nonetheless?</a:t>
            </a:r>
            <a:r>
              <a:rPr lang="en-US" dirty="0">
                <a:latin typeface="Gill Sans MT" charset="0"/>
              </a:rPr>
              <a:t> </a:t>
            </a:r>
            <a:endParaRPr lang="en-US" sz="2000" dirty="0">
              <a:latin typeface="Gill Sans MT" charset="0"/>
            </a:endParaRPr>
          </a:p>
        </p:txBody>
      </p:sp>
      <p:sp>
        <p:nvSpPr>
          <p:cNvPr id="13319" name="Rectangle 5"/>
          <p:cNvSpPr>
            <a:spLocks noChangeArrowheads="1"/>
          </p:cNvSpPr>
          <p:nvPr/>
        </p:nvSpPr>
        <p:spPr bwMode="auto">
          <a:xfrm>
            <a:off x="695325" y="1457325"/>
            <a:ext cx="7924800" cy="84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  <a:defRPr/>
            </a:pPr>
            <a:r>
              <a:rPr lang="en-US" sz="2800" dirty="0">
                <a:solidFill>
                  <a:srgbClr val="CC0000"/>
                </a:solidFill>
                <a:latin typeface="Gill Sans MT" charset="0"/>
                <a:cs typeface="+mn-cs"/>
              </a:rPr>
              <a:t>goal:</a:t>
            </a:r>
            <a:r>
              <a:rPr lang="en-US" sz="2400" i="0" dirty="0">
                <a:latin typeface="Gill Sans MT" charset="0"/>
                <a:cs typeface="+mn-cs"/>
              </a:rPr>
              <a:t> detect </a:t>
            </a:r>
            <a:r>
              <a:rPr lang="ja-JP" altLang="en-US" sz="2400" i="0">
                <a:latin typeface="Gill Sans MT" charset="0"/>
                <a:cs typeface="+mn-cs"/>
              </a:rPr>
              <a:t>“</a:t>
            </a:r>
            <a:r>
              <a:rPr lang="en-US" sz="2400" i="0" dirty="0">
                <a:latin typeface="Gill Sans MT" charset="0"/>
                <a:cs typeface="+mn-cs"/>
              </a:rPr>
              <a:t>errors</a:t>
            </a:r>
            <a:r>
              <a:rPr lang="ja-JP" altLang="en-US" sz="2400" i="0">
                <a:latin typeface="Gill Sans MT" charset="0"/>
                <a:cs typeface="+mn-cs"/>
              </a:rPr>
              <a:t>”</a:t>
            </a:r>
            <a:r>
              <a:rPr lang="en-US" sz="2400" i="0" dirty="0">
                <a:latin typeface="Gill Sans MT" charset="0"/>
                <a:cs typeface="+mn-cs"/>
              </a:rPr>
              <a:t> (e.g., flipped bits) in transmitted packet (note: used at transport layer</a:t>
            </a:r>
            <a:r>
              <a:rPr lang="en-US" sz="2400" dirty="0">
                <a:latin typeface="Gill Sans MT" charset="0"/>
                <a:cs typeface="+mn-cs"/>
              </a:rPr>
              <a:t> only</a:t>
            </a:r>
            <a:r>
              <a:rPr lang="en-US" sz="2400" i="0" dirty="0">
                <a:latin typeface="Gill Sans MT" charset="0"/>
                <a:cs typeface="+mn-cs"/>
              </a:rPr>
              <a:t>)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  <a:defRPr/>
            </a:pPr>
            <a:endParaRPr lang="en-US" sz="2400" i="0" dirty="0">
              <a:latin typeface="Gill Sans MT" charset="0"/>
              <a:cs typeface="+mn-cs"/>
            </a:endParaRPr>
          </a:p>
        </p:txBody>
      </p:sp>
      <p:pic>
        <p:nvPicPr>
          <p:cNvPr id="64519" name="Picture 8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" y="962025"/>
            <a:ext cx="5942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13</a:t>
            </a:fld>
            <a:endParaRPr lang="en-US" sz="1200" dirty="0">
              <a:latin typeface="Tahoma" charset="0"/>
            </a:endParaRP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714562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3" name="Picture 5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75" y="922338"/>
            <a:ext cx="54848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>
          <a:xfrm>
            <a:off x="466725" y="211138"/>
            <a:ext cx="8231188" cy="1004887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Cyclic redundancy check</a:t>
            </a:r>
            <a:endParaRPr lang="en-US" sz="4800" dirty="0">
              <a:latin typeface="Gill Sans MT" charset="0"/>
              <a:cs typeface="+mj-cs"/>
            </a:endParaRPr>
          </a:p>
        </p:txBody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7688" y="1319213"/>
            <a:ext cx="7772400" cy="3360737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more powerful error-detection coding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view data bits, 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D</a:t>
            </a:r>
            <a:r>
              <a:rPr lang="en-US" sz="2400" dirty="0">
                <a:latin typeface="Gill Sans MT" charset="0"/>
                <a:cs typeface="+mn-cs"/>
              </a:rPr>
              <a:t>, as a binary number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choose r+1 bit pattern (generator), 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G</a:t>
            </a:r>
            <a:r>
              <a:rPr lang="en-US" sz="2400" dirty="0">
                <a:latin typeface="Gill Sans MT" charset="0"/>
                <a:cs typeface="+mn-cs"/>
              </a:rPr>
              <a:t> 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goal: choose r CRC bits, </a:t>
            </a:r>
            <a:r>
              <a:rPr lang="en-US" sz="2400" dirty="0">
                <a:solidFill>
                  <a:srgbClr val="CC0000"/>
                </a:solidFill>
                <a:latin typeface="Gill Sans MT" charset="0"/>
                <a:cs typeface="+mn-cs"/>
              </a:rPr>
              <a:t>R</a:t>
            </a:r>
            <a:r>
              <a:rPr lang="en-US" sz="2400" dirty="0">
                <a:latin typeface="Gill Sans MT" charset="0"/>
                <a:cs typeface="+mn-cs"/>
              </a:rPr>
              <a:t>, such that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 &lt;D,R&gt; exactly divisible by G (modulo 2) 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receiver knows G, divides &lt;D,R&gt; by G.  If non-zero remainder: error detected!</a:t>
            </a:r>
          </a:p>
          <a:p>
            <a:pPr lvl="1">
              <a:defRPr/>
            </a:pPr>
            <a:r>
              <a:rPr lang="en-US" sz="2000" dirty="0">
                <a:latin typeface="Gill Sans MT" charset="0"/>
              </a:rPr>
              <a:t>can detect all burst errors less than r+1 bits</a:t>
            </a:r>
          </a:p>
          <a:p>
            <a:pPr>
              <a:defRPr/>
            </a:pPr>
            <a:r>
              <a:rPr lang="en-US" sz="2400" dirty="0">
                <a:latin typeface="Gill Sans MT" charset="0"/>
                <a:cs typeface="+mn-cs"/>
              </a:rPr>
              <a:t>widely used in practice (Ethernet, 802.11 WiFi, ATM)</a:t>
            </a:r>
          </a:p>
        </p:txBody>
      </p:sp>
      <p:pic>
        <p:nvPicPr>
          <p:cNvPr id="66566" name="Picture 4" descr="524 CRC code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4950" y="4743450"/>
            <a:ext cx="5738813" cy="158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14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756082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128588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CRC example</a:t>
            </a:r>
            <a:endParaRPr lang="en-US" dirty="0">
              <a:latin typeface="Gill Sans MT" charset="0"/>
              <a:cs typeface="+mj-cs"/>
            </a:endParaRPr>
          </a:p>
        </p:txBody>
      </p:sp>
      <p:sp>
        <p:nvSpPr>
          <p:cNvPr id="1536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81025" y="1447800"/>
            <a:ext cx="3711575" cy="3244850"/>
          </a:xfrm>
        </p:spPr>
        <p:txBody>
          <a:bodyPr/>
          <a:lstStyle/>
          <a:p>
            <a:pPr>
              <a:lnSpc>
                <a:spcPct val="75000"/>
              </a:lnSpc>
              <a:buFont typeface="Wingdings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charset="0"/>
                <a:cs typeface="+mn-cs"/>
              </a:rPr>
              <a:t>want:</a:t>
            </a:r>
            <a:endParaRPr lang="en-US" sz="3200" dirty="0">
              <a:solidFill>
                <a:srgbClr val="000099"/>
              </a:solidFill>
              <a:latin typeface="Gill Sans MT" charset="0"/>
              <a:cs typeface="+mn-cs"/>
            </a:endParaRPr>
          </a:p>
          <a:p>
            <a:pPr lvl="1">
              <a:lnSpc>
                <a:spcPct val="75000"/>
              </a:lnSpc>
              <a:buFont typeface="Wingdings" charset="0"/>
              <a:buNone/>
              <a:defRPr/>
            </a:pPr>
            <a:r>
              <a:rPr lang="en-US" sz="2800" dirty="0">
                <a:latin typeface="Gill Sans MT" charset="0"/>
              </a:rPr>
              <a:t>D</a:t>
            </a:r>
            <a:r>
              <a:rPr lang="en-US" sz="2800" baseline="26000" dirty="0">
                <a:latin typeface="Gill Sans MT" charset="0"/>
              </a:rPr>
              <a:t>.</a:t>
            </a:r>
            <a:r>
              <a:rPr lang="en-US" sz="2800" dirty="0">
                <a:latin typeface="Gill Sans MT" charset="0"/>
              </a:rPr>
              <a:t>2</a:t>
            </a:r>
            <a:r>
              <a:rPr lang="en-US" sz="2800" baseline="30000" dirty="0">
                <a:latin typeface="Gill Sans MT" charset="0"/>
              </a:rPr>
              <a:t>r</a:t>
            </a:r>
            <a:r>
              <a:rPr lang="en-US" sz="2800" dirty="0">
                <a:latin typeface="Gill Sans MT" charset="0"/>
              </a:rPr>
              <a:t> XOR R = nG</a:t>
            </a:r>
          </a:p>
          <a:p>
            <a:pPr>
              <a:lnSpc>
                <a:spcPct val="75000"/>
              </a:lnSpc>
              <a:buFont typeface="Wingdings" charset="0"/>
              <a:buNone/>
              <a:defRPr/>
            </a:pPr>
            <a:r>
              <a:rPr lang="en-US" i="1" dirty="0">
                <a:solidFill>
                  <a:srgbClr val="000099"/>
                </a:solidFill>
                <a:latin typeface="Gill Sans MT" charset="0"/>
                <a:cs typeface="+mn-cs"/>
              </a:rPr>
              <a:t>equivalently:</a:t>
            </a:r>
            <a:endParaRPr lang="en-US" sz="3200" dirty="0">
              <a:solidFill>
                <a:srgbClr val="000099"/>
              </a:solidFill>
              <a:latin typeface="Gill Sans MT" charset="0"/>
              <a:cs typeface="+mn-cs"/>
            </a:endParaRPr>
          </a:p>
          <a:p>
            <a:pPr lvl="1">
              <a:lnSpc>
                <a:spcPct val="75000"/>
              </a:lnSpc>
              <a:buFont typeface="Wingdings" charset="0"/>
              <a:buNone/>
              <a:defRPr/>
            </a:pPr>
            <a:r>
              <a:rPr lang="en-US" sz="2800" dirty="0">
                <a:latin typeface="Gill Sans MT" charset="0"/>
              </a:rPr>
              <a:t>D</a:t>
            </a:r>
            <a:r>
              <a:rPr lang="en-US" sz="2800" baseline="26000" dirty="0">
                <a:latin typeface="Gill Sans MT" charset="0"/>
              </a:rPr>
              <a:t>.</a:t>
            </a:r>
            <a:r>
              <a:rPr lang="en-US" sz="2800" dirty="0">
                <a:latin typeface="Gill Sans MT" charset="0"/>
              </a:rPr>
              <a:t>2</a:t>
            </a:r>
            <a:r>
              <a:rPr lang="en-US" sz="2800" baseline="30000" dirty="0">
                <a:latin typeface="Gill Sans MT" charset="0"/>
              </a:rPr>
              <a:t>r</a:t>
            </a:r>
            <a:r>
              <a:rPr lang="en-US" sz="2800" dirty="0">
                <a:latin typeface="Gill Sans MT" charset="0"/>
              </a:rPr>
              <a:t> = nG XOR R </a:t>
            </a:r>
          </a:p>
          <a:p>
            <a:pPr>
              <a:lnSpc>
                <a:spcPct val="75000"/>
              </a:lnSpc>
              <a:buFont typeface="Wingdings" charset="0"/>
              <a:buNone/>
              <a:defRPr/>
            </a:pPr>
            <a:r>
              <a:rPr lang="en-US" i="1" dirty="0">
                <a:solidFill>
                  <a:srgbClr val="000099"/>
                </a:solidFill>
                <a:latin typeface="Gill Sans MT" charset="0"/>
                <a:cs typeface="+mn-cs"/>
              </a:rPr>
              <a:t>equivalently:</a:t>
            </a:r>
            <a:r>
              <a:rPr lang="en-US" dirty="0">
                <a:latin typeface="Gill Sans MT" charset="0"/>
                <a:cs typeface="+mn-cs"/>
              </a:rPr>
              <a:t>  </a:t>
            </a:r>
          </a:p>
          <a:p>
            <a:pPr>
              <a:lnSpc>
                <a:spcPct val="75000"/>
              </a:lnSpc>
              <a:buFont typeface="Wingdings" charset="0"/>
              <a:buNone/>
              <a:defRPr/>
            </a:pPr>
            <a:r>
              <a:rPr lang="en-US" dirty="0">
                <a:latin typeface="Gill Sans MT" charset="0"/>
                <a:cs typeface="+mn-cs"/>
              </a:rPr>
              <a:t>    if we divide D</a:t>
            </a:r>
            <a:r>
              <a:rPr lang="en-US" baseline="26000" dirty="0">
                <a:latin typeface="Gill Sans MT" charset="0"/>
                <a:cs typeface="+mn-cs"/>
              </a:rPr>
              <a:t>.</a:t>
            </a:r>
            <a:r>
              <a:rPr lang="en-US" dirty="0">
                <a:latin typeface="Gill Sans MT" charset="0"/>
                <a:cs typeface="+mn-cs"/>
              </a:rPr>
              <a:t>2</a:t>
            </a:r>
            <a:r>
              <a:rPr lang="en-US" baseline="30000" dirty="0">
                <a:latin typeface="Gill Sans MT" charset="0"/>
                <a:cs typeface="+mn-cs"/>
              </a:rPr>
              <a:t>r</a:t>
            </a:r>
            <a:r>
              <a:rPr lang="en-US" dirty="0">
                <a:latin typeface="Gill Sans MT" charset="0"/>
                <a:cs typeface="+mn-cs"/>
              </a:rPr>
              <a:t> by G, want remainder R to satisfy:</a:t>
            </a:r>
            <a:endParaRPr lang="en-US" sz="3200" dirty="0">
              <a:latin typeface="Gill Sans MT" charset="0"/>
              <a:cs typeface="+mn-cs"/>
            </a:endParaRPr>
          </a:p>
        </p:txBody>
      </p:sp>
      <p:sp>
        <p:nvSpPr>
          <p:cNvPr id="15367" name="Text Box 5"/>
          <p:cNvSpPr txBox="1">
            <a:spLocks noChangeArrowheads="1"/>
          </p:cNvSpPr>
          <p:nvPr/>
        </p:nvSpPr>
        <p:spPr bwMode="auto">
          <a:xfrm>
            <a:off x="1227138" y="4957763"/>
            <a:ext cx="3767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2400" dirty="0">
                <a:latin typeface="Arial" charset="0"/>
                <a:cs typeface="+mn-cs"/>
              </a:rPr>
              <a:t>R</a:t>
            </a:r>
            <a:r>
              <a:rPr lang="en-US" dirty="0">
                <a:latin typeface="Arial" charset="0"/>
                <a:cs typeface="+mn-cs"/>
              </a:rPr>
              <a:t> = remainder[           ]</a:t>
            </a:r>
          </a:p>
        </p:txBody>
      </p:sp>
      <p:sp>
        <p:nvSpPr>
          <p:cNvPr id="15368" name="Text Box 6"/>
          <p:cNvSpPr txBox="1">
            <a:spLocks noChangeArrowheads="1"/>
          </p:cNvSpPr>
          <p:nvPr/>
        </p:nvSpPr>
        <p:spPr bwMode="auto">
          <a:xfrm>
            <a:off x="2641600" y="4797425"/>
            <a:ext cx="13366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 sz="2400" dirty="0">
                <a:latin typeface="Arial" charset="0"/>
                <a:cs typeface="+mn-cs"/>
              </a:rPr>
              <a:t>D</a:t>
            </a:r>
            <a:r>
              <a:rPr lang="en-US" sz="2400" baseline="26000" dirty="0">
                <a:latin typeface="Arial" charset="0"/>
                <a:cs typeface="+mn-cs"/>
              </a:rPr>
              <a:t>.</a:t>
            </a:r>
            <a:r>
              <a:rPr lang="en-US" sz="2400" dirty="0">
                <a:latin typeface="Arial" charset="0"/>
                <a:cs typeface="+mn-cs"/>
              </a:rPr>
              <a:t>2</a:t>
            </a:r>
            <a:r>
              <a:rPr lang="en-US" sz="2400" baseline="30000" dirty="0">
                <a:latin typeface="Arial" charset="0"/>
                <a:cs typeface="+mn-cs"/>
              </a:rPr>
              <a:t>r</a:t>
            </a:r>
          </a:p>
          <a:p>
            <a:pPr algn="ctr">
              <a:defRPr/>
            </a:pPr>
            <a:r>
              <a:rPr lang="en-US" sz="2400" dirty="0">
                <a:latin typeface="Arial" charset="0"/>
                <a:cs typeface="+mn-cs"/>
              </a:rPr>
              <a:t>G</a:t>
            </a:r>
          </a:p>
        </p:txBody>
      </p:sp>
      <p:sp>
        <p:nvSpPr>
          <p:cNvPr id="15369" name="Line 7"/>
          <p:cNvSpPr>
            <a:spLocks noChangeShapeType="1"/>
          </p:cNvSpPr>
          <p:nvPr/>
        </p:nvSpPr>
        <p:spPr bwMode="auto">
          <a:xfrm>
            <a:off x="2984500" y="5213350"/>
            <a:ext cx="6318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5370" name="Rectangle 8"/>
          <p:cNvSpPr>
            <a:spLocks noChangeArrowheads="1"/>
          </p:cNvSpPr>
          <p:nvPr/>
        </p:nvSpPr>
        <p:spPr bwMode="auto">
          <a:xfrm>
            <a:off x="1055688" y="4622800"/>
            <a:ext cx="3201987" cy="1190625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68617" name="Picture 9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3" y="914400"/>
            <a:ext cx="2970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8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8988" y="1028700"/>
            <a:ext cx="4106862" cy="502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15</a:t>
            </a:fld>
            <a:endParaRPr lang="en-US" sz="1200" dirty="0">
              <a:latin typeface="Tahoma" charset="0"/>
            </a:endParaRP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2994793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128588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charset="0"/>
                <a:cs typeface="+mj-cs"/>
              </a:rPr>
              <a:t>CRC example</a:t>
            </a:r>
            <a:endParaRPr lang="en-US" dirty="0">
              <a:latin typeface="Gill Sans MT" charset="0"/>
              <a:cs typeface="+mj-cs"/>
            </a:endParaRPr>
          </a:p>
        </p:txBody>
      </p:sp>
      <p:sp>
        <p:nvSpPr>
          <p:cNvPr id="1536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293234" y="700088"/>
            <a:ext cx="3711575" cy="5555644"/>
          </a:xfrm>
        </p:spPr>
        <p:txBody>
          <a:bodyPr/>
          <a:lstStyle/>
          <a:p>
            <a:pPr>
              <a:lnSpc>
                <a:spcPct val="75000"/>
              </a:lnSpc>
              <a:buFont typeface="Wingdings" charset="0"/>
              <a:buNone/>
              <a:defRPr/>
            </a:pPr>
            <a:r>
              <a:rPr lang="en-US" sz="1800" dirty="0">
                <a:solidFill>
                  <a:srgbClr val="000099"/>
                </a:solidFill>
                <a:latin typeface="Gill Sans MT" charset="0"/>
                <a:cs typeface="+mn-cs"/>
              </a:rPr>
              <a:t>                    1 0 1 0 1 1</a:t>
            </a:r>
          </a:p>
          <a:p>
            <a:pPr>
              <a:lnSpc>
                <a:spcPct val="75000"/>
              </a:lnSpc>
              <a:buFont typeface="Wingdings" charset="0"/>
              <a:buNone/>
              <a:defRPr/>
            </a:pPr>
            <a:r>
              <a:rPr lang="en-US" sz="1800" dirty="0">
                <a:solidFill>
                  <a:srgbClr val="000099"/>
                </a:solidFill>
                <a:latin typeface="Gill Sans MT" charset="0"/>
                <a:cs typeface="+mn-cs"/>
              </a:rPr>
              <a:t>         -----------------------</a:t>
            </a:r>
          </a:p>
          <a:p>
            <a:pPr>
              <a:lnSpc>
                <a:spcPct val="75000"/>
              </a:lnSpc>
              <a:buFont typeface="Wingdings" charset="0"/>
              <a:buNone/>
              <a:defRPr/>
            </a:pPr>
            <a:r>
              <a:rPr lang="en-US" sz="1800" dirty="0">
                <a:solidFill>
                  <a:srgbClr val="000099"/>
                </a:solidFill>
                <a:latin typeface="Gill Sans MT" charset="0"/>
                <a:cs typeface="+mn-cs"/>
              </a:rPr>
              <a:t>1001  | 1 0 1 1 1 0 0 1 1</a:t>
            </a:r>
          </a:p>
          <a:p>
            <a:pPr>
              <a:lnSpc>
                <a:spcPct val="75000"/>
              </a:lnSpc>
              <a:buFont typeface="Wingdings" charset="0"/>
              <a:buNone/>
              <a:defRPr/>
            </a:pPr>
            <a:r>
              <a:rPr lang="en-US" sz="1800" dirty="0">
                <a:solidFill>
                  <a:srgbClr val="000099"/>
                </a:solidFill>
                <a:latin typeface="Gill Sans MT" charset="0"/>
                <a:cs typeface="+mn-cs"/>
              </a:rPr>
              <a:t>           1 0 0 1</a:t>
            </a:r>
          </a:p>
          <a:p>
            <a:pPr>
              <a:lnSpc>
                <a:spcPct val="75000"/>
              </a:lnSpc>
              <a:buFont typeface="Wingdings" charset="0"/>
              <a:buNone/>
              <a:defRPr/>
            </a:pPr>
            <a:r>
              <a:rPr lang="en-US" sz="1800" dirty="0">
                <a:solidFill>
                  <a:srgbClr val="000099"/>
                </a:solidFill>
                <a:latin typeface="Gill Sans MT" charset="0"/>
                <a:cs typeface="+mn-cs"/>
              </a:rPr>
              <a:t>         -------------</a:t>
            </a:r>
          </a:p>
          <a:p>
            <a:pPr>
              <a:lnSpc>
                <a:spcPct val="75000"/>
              </a:lnSpc>
              <a:buFont typeface="Wingdings" charset="0"/>
              <a:buNone/>
              <a:defRPr/>
            </a:pPr>
            <a:r>
              <a:rPr lang="en-US" sz="1800" dirty="0">
                <a:solidFill>
                  <a:srgbClr val="000099"/>
                </a:solidFill>
                <a:latin typeface="Gill Sans MT" charset="0"/>
                <a:cs typeface="+mn-cs"/>
              </a:rPr>
              <a:t>                 1 0 1 </a:t>
            </a:r>
          </a:p>
          <a:p>
            <a:pPr>
              <a:lnSpc>
                <a:spcPct val="75000"/>
              </a:lnSpc>
              <a:buFont typeface="Wingdings" charset="0"/>
              <a:buNone/>
              <a:defRPr/>
            </a:pPr>
            <a:r>
              <a:rPr lang="en-US" sz="1800" dirty="0">
                <a:solidFill>
                  <a:srgbClr val="000099"/>
                </a:solidFill>
                <a:latin typeface="Gill Sans MT" charset="0"/>
                <a:cs typeface="+mn-cs"/>
              </a:rPr>
              <a:t>                 0 0 0</a:t>
            </a:r>
          </a:p>
          <a:p>
            <a:pPr>
              <a:lnSpc>
                <a:spcPct val="75000"/>
              </a:lnSpc>
              <a:buFont typeface="Wingdings" charset="0"/>
              <a:buNone/>
              <a:defRPr/>
            </a:pPr>
            <a:r>
              <a:rPr lang="en-US" sz="1800" dirty="0">
                <a:solidFill>
                  <a:srgbClr val="000099"/>
                </a:solidFill>
                <a:latin typeface="Gill Sans MT" charset="0"/>
                <a:cs typeface="+mn-cs"/>
              </a:rPr>
              <a:t>                -----------</a:t>
            </a:r>
          </a:p>
          <a:p>
            <a:pPr>
              <a:lnSpc>
                <a:spcPct val="75000"/>
              </a:lnSpc>
              <a:buFont typeface="Wingdings" charset="0"/>
              <a:buNone/>
              <a:defRPr/>
            </a:pPr>
            <a:r>
              <a:rPr lang="en-US" sz="1800" dirty="0">
                <a:solidFill>
                  <a:srgbClr val="000099"/>
                </a:solidFill>
                <a:latin typeface="Gill Sans MT" charset="0"/>
                <a:cs typeface="+mn-cs"/>
              </a:rPr>
              <a:t>                 1 0 1 0</a:t>
            </a:r>
          </a:p>
          <a:p>
            <a:pPr>
              <a:lnSpc>
                <a:spcPct val="75000"/>
              </a:lnSpc>
              <a:buFont typeface="Wingdings" charset="0"/>
              <a:buNone/>
              <a:defRPr/>
            </a:pPr>
            <a:r>
              <a:rPr lang="en-US" sz="1800" dirty="0">
                <a:solidFill>
                  <a:srgbClr val="000099"/>
                </a:solidFill>
                <a:latin typeface="Gill Sans MT" charset="0"/>
                <a:cs typeface="+mn-cs"/>
              </a:rPr>
              <a:t>                 1 0 0 1</a:t>
            </a:r>
          </a:p>
          <a:p>
            <a:pPr>
              <a:lnSpc>
                <a:spcPct val="75000"/>
              </a:lnSpc>
              <a:buFont typeface="Wingdings" charset="0"/>
              <a:buNone/>
              <a:defRPr/>
            </a:pPr>
            <a:r>
              <a:rPr lang="en-US" sz="1800" dirty="0">
                <a:solidFill>
                  <a:srgbClr val="000099"/>
                </a:solidFill>
                <a:latin typeface="Gill Sans MT" charset="0"/>
                <a:cs typeface="+mn-cs"/>
              </a:rPr>
              <a:t>                --------------</a:t>
            </a:r>
          </a:p>
          <a:p>
            <a:pPr>
              <a:lnSpc>
                <a:spcPct val="75000"/>
              </a:lnSpc>
              <a:buFont typeface="Wingdings" charset="0"/>
              <a:buNone/>
              <a:defRPr/>
            </a:pPr>
            <a:r>
              <a:rPr lang="en-US" sz="1800" dirty="0">
                <a:solidFill>
                  <a:srgbClr val="000099"/>
                </a:solidFill>
                <a:latin typeface="Gill Sans MT" charset="0"/>
                <a:cs typeface="+mn-cs"/>
              </a:rPr>
              <a:t>                       1 1 0</a:t>
            </a:r>
          </a:p>
          <a:p>
            <a:pPr>
              <a:lnSpc>
                <a:spcPct val="75000"/>
              </a:lnSpc>
              <a:buFont typeface="Wingdings" charset="0"/>
              <a:buNone/>
              <a:defRPr/>
            </a:pPr>
            <a:r>
              <a:rPr lang="en-US" sz="1800" dirty="0">
                <a:solidFill>
                  <a:srgbClr val="000099"/>
                </a:solidFill>
                <a:latin typeface="Gill Sans MT" charset="0"/>
                <a:cs typeface="+mn-cs"/>
              </a:rPr>
              <a:t>                       0 0 0</a:t>
            </a:r>
          </a:p>
          <a:p>
            <a:pPr>
              <a:lnSpc>
                <a:spcPct val="75000"/>
              </a:lnSpc>
              <a:buFont typeface="Wingdings" charset="0"/>
              <a:buNone/>
              <a:defRPr/>
            </a:pPr>
            <a:r>
              <a:rPr lang="en-US" sz="1800" dirty="0">
                <a:solidFill>
                  <a:srgbClr val="000099"/>
                </a:solidFill>
                <a:latin typeface="Gill Sans MT" charset="0"/>
                <a:cs typeface="+mn-cs"/>
              </a:rPr>
              <a:t>                      -----------</a:t>
            </a:r>
          </a:p>
          <a:p>
            <a:pPr>
              <a:lnSpc>
                <a:spcPct val="75000"/>
              </a:lnSpc>
              <a:buFont typeface="Wingdings" charset="0"/>
              <a:buNone/>
              <a:defRPr/>
            </a:pPr>
            <a:r>
              <a:rPr lang="en-US" sz="1800" dirty="0">
                <a:solidFill>
                  <a:srgbClr val="000099"/>
                </a:solidFill>
                <a:latin typeface="Gill Sans MT" charset="0"/>
                <a:cs typeface="+mn-cs"/>
              </a:rPr>
              <a:t>                       1 1 0 1</a:t>
            </a:r>
          </a:p>
          <a:p>
            <a:pPr>
              <a:lnSpc>
                <a:spcPct val="75000"/>
              </a:lnSpc>
              <a:buFont typeface="Wingdings" charset="0"/>
              <a:buNone/>
              <a:defRPr/>
            </a:pPr>
            <a:r>
              <a:rPr lang="en-US" sz="1800" dirty="0">
                <a:solidFill>
                  <a:srgbClr val="000099"/>
                </a:solidFill>
                <a:latin typeface="Gill Sans MT" charset="0"/>
                <a:cs typeface="+mn-cs"/>
              </a:rPr>
              <a:t>                       1 0 0 1</a:t>
            </a:r>
          </a:p>
          <a:p>
            <a:pPr>
              <a:lnSpc>
                <a:spcPct val="75000"/>
              </a:lnSpc>
              <a:buFont typeface="Wingdings" charset="0"/>
              <a:buNone/>
              <a:defRPr/>
            </a:pPr>
            <a:r>
              <a:rPr lang="en-US" sz="1800" dirty="0">
                <a:solidFill>
                  <a:srgbClr val="000099"/>
                </a:solidFill>
                <a:latin typeface="Gill Sans MT" charset="0"/>
                <a:cs typeface="+mn-cs"/>
              </a:rPr>
              <a:t>                      -------------</a:t>
            </a:r>
          </a:p>
          <a:p>
            <a:pPr>
              <a:lnSpc>
                <a:spcPct val="75000"/>
              </a:lnSpc>
              <a:buFont typeface="Wingdings" charset="0"/>
              <a:buNone/>
              <a:defRPr/>
            </a:pPr>
            <a:r>
              <a:rPr lang="en-US" sz="1800" dirty="0">
                <a:solidFill>
                  <a:srgbClr val="000099"/>
                </a:solidFill>
                <a:latin typeface="Gill Sans MT" charset="0"/>
                <a:cs typeface="+mn-cs"/>
              </a:rPr>
              <a:t>                          1 0 0 1</a:t>
            </a:r>
          </a:p>
          <a:p>
            <a:pPr>
              <a:lnSpc>
                <a:spcPct val="75000"/>
              </a:lnSpc>
              <a:buFont typeface="Wingdings" charset="0"/>
              <a:buNone/>
              <a:defRPr/>
            </a:pPr>
            <a:r>
              <a:rPr lang="en-US" sz="1800" dirty="0">
                <a:solidFill>
                  <a:srgbClr val="000099"/>
                </a:solidFill>
                <a:latin typeface="Gill Sans MT" charset="0"/>
                <a:cs typeface="+mn-cs"/>
              </a:rPr>
              <a:t>                          1 0 0 1</a:t>
            </a:r>
          </a:p>
          <a:p>
            <a:pPr>
              <a:lnSpc>
                <a:spcPct val="75000"/>
              </a:lnSpc>
              <a:buFont typeface="Wingdings" charset="0"/>
              <a:buNone/>
              <a:defRPr/>
            </a:pPr>
            <a:r>
              <a:rPr lang="en-US" sz="1800" dirty="0">
                <a:solidFill>
                  <a:srgbClr val="000099"/>
                </a:solidFill>
                <a:latin typeface="Gill Sans MT" charset="0"/>
                <a:cs typeface="+mn-cs"/>
              </a:rPr>
              <a:t>                         -----------</a:t>
            </a:r>
          </a:p>
          <a:p>
            <a:pPr>
              <a:lnSpc>
                <a:spcPct val="75000"/>
              </a:lnSpc>
              <a:buFont typeface="Wingdings" charset="0"/>
              <a:buNone/>
              <a:defRPr/>
            </a:pPr>
            <a:r>
              <a:rPr lang="en-US" sz="1800" dirty="0">
                <a:solidFill>
                  <a:srgbClr val="000099"/>
                </a:solidFill>
                <a:latin typeface="Gill Sans MT" charset="0"/>
                <a:cs typeface="+mn-cs"/>
              </a:rPr>
              <a:t>                                  0      </a:t>
            </a:r>
          </a:p>
          <a:p>
            <a:pPr>
              <a:lnSpc>
                <a:spcPct val="75000"/>
              </a:lnSpc>
              <a:buFont typeface="Wingdings" charset="0"/>
              <a:buNone/>
              <a:defRPr/>
            </a:pPr>
            <a:endParaRPr lang="en-US" sz="1800" dirty="0">
              <a:solidFill>
                <a:srgbClr val="000099"/>
              </a:solidFill>
              <a:latin typeface="Gill Sans MT" charset="0"/>
              <a:cs typeface="+mn-cs"/>
            </a:endParaRPr>
          </a:p>
        </p:txBody>
      </p:sp>
      <p:pic>
        <p:nvPicPr>
          <p:cNvPr id="68617" name="Picture 9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3" y="914400"/>
            <a:ext cx="2970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8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241" y="1232861"/>
            <a:ext cx="4106862" cy="4376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6-</a:t>
            </a:r>
            <a:fld id="{8E8C6E93-DF5B-BC4B-80F9-500DED1EEDCC}" type="slidenum">
              <a:rPr lang="en-US" sz="1200">
                <a:latin typeface="Tahoma" charset="0"/>
              </a:rPr>
              <a:pPr/>
              <a:t>16</a:t>
            </a:fld>
            <a:endParaRPr lang="en-US" sz="1200" dirty="0">
              <a:latin typeface="Tahoma" charset="0"/>
            </a:endParaRP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Link Layer and LANs</a:t>
            </a:r>
          </a:p>
        </p:txBody>
      </p:sp>
    </p:spTree>
    <p:extLst>
      <p:ext uri="{BB962C8B-B14F-4D97-AF65-F5344CB8AC3E}">
        <p14:creationId xmlns:p14="http://schemas.microsoft.com/office/powerpoint/2010/main" val="16117905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>
          <a:xfrm>
            <a:off x="373063" y="83409"/>
            <a:ext cx="7772400" cy="981075"/>
          </a:xfrm>
        </p:spPr>
        <p:txBody>
          <a:bodyPr/>
          <a:lstStyle/>
          <a:p>
            <a:r>
              <a:rPr lang="en-US" altLang="ko-KR" dirty="0"/>
              <a:t>Q &amp; A</a:t>
            </a:r>
          </a:p>
        </p:txBody>
      </p:sp>
      <p:sp>
        <p:nvSpPr>
          <p:cNvPr id="3379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33413" y="1360488"/>
            <a:ext cx="4398962" cy="395287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dirty="0"/>
              <a:t>Q &amp; A </a:t>
            </a:r>
            <a:r>
              <a:rPr lang="ko-KR" altLang="en-US" dirty="0"/>
              <a:t>게시판</a:t>
            </a:r>
          </a:p>
        </p:txBody>
      </p:sp>
      <p:pic>
        <p:nvPicPr>
          <p:cNvPr id="33798" name="그림 3" descr="그리기이(가) 표시된 사진&#10;&#10;자동 생성된 설명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513" y="1793875"/>
            <a:ext cx="4410075" cy="440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33627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17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32813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Layer: Control Plane</a:t>
            </a:r>
          </a:p>
        </p:txBody>
      </p:sp>
      <p:pic>
        <p:nvPicPr>
          <p:cNvPr id="9" name="Picture 224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25" y="836613"/>
            <a:ext cx="6856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0609459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>
          <a:gsLst>
            <a:gs pos="0">
              <a:schemeClr val="bg1">
                <a:lumMod val="95000"/>
              </a:schemeClr>
            </a:gs>
            <a:gs pos="100000">
              <a:schemeClr val="accent5">
                <a:lumMod val="75000"/>
              </a:schemeClr>
            </a:gs>
          </a:gsLst>
        </a:gra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19183</TotalTime>
  <Words>1297</Words>
  <Application>Microsoft Office PowerPoint</Application>
  <PresentationFormat>화면 슬라이드 쇼(4:3)</PresentationFormat>
  <Paragraphs>254</Paragraphs>
  <Slides>17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5" baseType="lpstr">
      <vt:lpstr>Arial</vt:lpstr>
      <vt:lpstr>Comic Sans MS</vt:lpstr>
      <vt:lpstr>Courier New</vt:lpstr>
      <vt:lpstr>Gill Sans MT</vt:lpstr>
      <vt:lpstr>Tahoma</vt:lpstr>
      <vt:lpstr>Times New Roman</vt:lpstr>
      <vt:lpstr>Wingdings</vt:lpstr>
      <vt:lpstr>Default Design</vt:lpstr>
      <vt:lpstr>PowerPoint 프레젠테이션</vt:lpstr>
      <vt:lpstr>Chapter 6: Link layer and LANs</vt:lpstr>
      <vt:lpstr>Link layer, LANs: outline</vt:lpstr>
      <vt:lpstr>Link layer: introduction</vt:lpstr>
      <vt:lpstr>Link layer: context</vt:lpstr>
      <vt:lpstr>Link layer services</vt:lpstr>
      <vt:lpstr>Link layer services (more)</vt:lpstr>
      <vt:lpstr>Where is the link layer implemented?</vt:lpstr>
      <vt:lpstr>Adaptors communicating</vt:lpstr>
      <vt:lpstr>Link layer, LANs: outline</vt:lpstr>
      <vt:lpstr>Error detection</vt:lpstr>
      <vt:lpstr>Parity checking</vt:lpstr>
      <vt:lpstr>Internet checksum (review)</vt:lpstr>
      <vt:lpstr>Cyclic redundancy check</vt:lpstr>
      <vt:lpstr>CRC example</vt:lpstr>
      <vt:lpstr>CRC example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3rd Edition: Chapter 4</dc:title>
  <dc:creator>Jim Kurose and Keith Ross</dc:creator>
  <cp:lastModifiedBy>Seyoung Park</cp:lastModifiedBy>
  <cp:revision>536</cp:revision>
  <dcterms:created xsi:type="dcterms:W3CDTF">1999-10-08T19:08:27Z</dcterms:created>
  <dcterms:modified xsi:type="dcterms:W3CDTF">2020-09-29T12:43:14Z</dcterms:modified>
</cp:coreProperties>
</file>